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90" r:id="rId5"/>
    <p:sldId id="293" r:id="rId6"/>
    <p:sldId id="259" r:id="rId7"/>
    <p:sldId id="260" r:id="rId8"/>
    <p:sldId id="261" r:id="rId9"/>
    <p:sldId id="262" r:id="rId10"/>
    <p:sldId id="281" r:id="rId11"/>
    <p:sldId id="282" r:id="rId12"/>
    <p:sldId id="283" r:id="rId13"/>
    <p:sldId id="284" r:id="rId14"/>
    <p:sldId id="285" r:id="rId15"/>
    <p:sldId id="287" r:id="rId16"/>
    <p:sldId id="288" r:id="rId17"/>
    <p:sldId id="289" r:id="rId18"/>
    <p:sldId id="263" r:id="rId19"/>
    <p:sldId id="294" r:id="rId20"/>
    <p:sldId id="304" r:id="rId21"/>
    <p:sldId id="264" r:id="rId22"/>
    <p:sldId id="265" r:id="rId23"/>
    <p:sldId id="266" r:id="rId24"/>
    <p:sldId id="307" r:id="rId25"/>
    <p:sldId id="267" r:id="rId26"/>
    <p:sldId id="295" r:id="rId27"/>
    <p:sldId id="305" r:id="rId28"/>
    <p:sldId id="268" r:id="rId29"/>
    <p:sldId id="269" r:id="rId30"/>
    <p:sldId id="270" r:id="rId31"/>
    <p:sldId id="271" r:id="rId32"/>
    <p:sldId id="272" r:id="rId33"/>
    <p:sldId id="273" r:id="rId34"/>
    <p:sldId id="308" r:id="rId35"/>
    <p:sldId id="296" r:id="rId36"/>
    <p:sldId id="306" r:id="rId37"/>
    <p:sldId id="274" r:id="rId38"/>
    <p:sldId id="275" r:id="rId39"/>
    <p:sldId id="309" r:id="rId40"/>
    <p:sldId id="297" r:id="rId41"/>
    <p:sldId id="292" r:id="rId42"/>
    <p:sldId id="298" r:id="rId43"/>
    <p:sldId id="299" r:id="rId44"/>
    <p:sldId id="300" r:id="rId45"/>
    <p:sldId id="301" r:id="rId46"/>
    <p:sldId id="302" r:id="rId47"/>
    <p:sldId id="303" r:id="rId48"/>
    <p:sldId id="276" r:id="rId49"/>
    <p:sldId id="279" r:id="rId50"/>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A847CFC-816F-41D0-AAC0-9BF4FEBC753E}" type="datetimeFigureOut">
              <a:rPr lang="es-ES" smtClean="0"/>
              <a:pPr/>
              <a:t>24/05/2016</a:t>
            </a:fld>
            <a:endParaRPr lang="es-ES"/>
          </a:p>
        </p:txBody>
      </p:sp>
      <p:sp>
        <p:nvSpPr>
          <p:cNvPr id="17" name="16 Marcador de pie de página"/>
          <p:cNvSpPr>
            <a:spLocks noGrp="1"/>
          </p:cNvSpPr>
          <p:nvPr>
            <p:ph type="ftr" sz="quarter" idx="11"/>
          </p:nvPr>
        </p:nvSpPr>
        <p:spPr/>
        <p:txBody>
          <a:bodyPr/>
          <a:lstStyle/>
          <a:p>
            <a:endParaRPr lang="es-ES"/>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132FADFE-3B8F-471C-ABF0-DBC7717ECBBC}" type="slidenum">
              <a:rPr lang="es-ES" smtClean="0"/>
              <a:pPr/>
              <a:t>‹Nº›</a:t>
            </a:fld>
            <a:endParaRPr lang="es-ES"/>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24/05/2016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24/05/2016</a:t>
            </a:fld>
            <a:endParaRPr lang="es-ES"/>
          </a:p>
        </p:txBody>
      </p:sp>
      <p:sp>
        <p:nvSpPr>
          <p:cNvPr id="5" name="4 Marcador de pie de página"/>
          <p:cNvSpPr>
            <a:spLocks noGrp="1"/>
          </p:cNvSpPr>
          <p:nvPr>
            <p:ph type="ftr" sz="quarter" idx="11"/>
          </p:nvPr>
        </p:nvSpPr>
        <p:spPr>
          <a:xfrm>
            <a:off x="800100" y="6172200"/>
            <a:ext cx="4000500" cy="457200"/>
          </a:xfrm>
        </p:spPr>
        <p:txBody>
          <a:bodyPr/>
          <a:lstStyle/>
          <a:p>
            <a:endParaRPr lang="es-ES"/>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pPr/>
              <a:t>24/05/2016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7A847CFC-816F-41D0-AAC0-9BF4FEBC753E}" type="datetimeFigureOut">
              <a:rPr lang="es-ES" smtClean="0"/>
              <a:pPr/>
              <a:t>24/05/2016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pPr/>
              <a:t>24/05/2016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24/05/2016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24/05/2016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24/05/2016</a:t>
            </a:fld>
            <a:endParaRPr lang="es-ES"/>
          </a:p>
        </p:txBody>
      </p:sp>
      <p:sp>
        <p:nvSpPr>
          <p:cNvPr id="6" name="5 Marcador de pie de página"/>
          <p:cNvSpPr>
            <a:spLocks noGrp="1"/>
          </p:cNvSpPr>
          <p:nvPr>
            <p:ph type="ftr" sz="quarter" idx="11"/>
          </p:nvPr>
        </p:nvSpPr>
        <p:spPr>
          <a:xfrm>
            <a:off x="914400" y="6172200"/>
            <a:ext cx="3886200" cy="457200"/>
          </a:xfrm>
        </p:spPr>
        <p:txBody>
          <a:bodyPr/>
          <a:lstStyle/>
          <a:p>
            <a:endParaRPr lang="es-ES"/>
          </a:p>
        </p:txBody>
      </p:sp>
      <p:sp>
        <p:nvSpPr>
          <p:cNvPr id="7" name="6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smtClean="0"/>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24/05/2016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24/05/2016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A847CFC-816F-41D0-AAC0-9BF4FEBC753E}" type="datetimeFigureOut">
              <a:rPr lang="es-ES" smtClean="0"/>
              <a:pPr/>
              <a:t>24/05/2016</a:t>
            </a:fld>
            <a:endParaRPr lang="es-ES"/>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s-ES"/>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2FADFE-3B8F-471C-ABF0-DBC7717ECBBC}"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image" Target="../media/image38.jpe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gif"/><Relationship Id="rId5" Type="http://schemas.openxmlformats.org/officeDocument/2006/relationships/image" Target="../media/image48.jpeg"/><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8.gif"/><Relationship Id="rId2" Type="http://schemas.openxmlformats.org/officeDocument/2006/relationships/image" Target="../media/image57.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jpeg"/></Relationships>
</file>

<file path=ppt/slides/_rels/slide43.xml.rels><?xml version="1.0" encoding="UTF-8" standalone="yes"?>
<Relationships xmlns="http://schemas.openxmlformats.org/package/2006/relationships"><Relationship Id="rId3" Type="http://schemas.openxmlformats.org/officeDocument/2006/relationships/image" Target="../media/image63.gif"/><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2.xml"/><Relationship Id="rId5" Type="http://schemas.openxmlformats.org/officeDocument/2006/relationships/image" Target="../media/image70.jpeg"/><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3" Type="http://schemas.openxmlformats.org/officeDocument/2006/relationships/image" Target="../media/image72.gif"/><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gif"/></Relationships>
</file>

<file path=ppt/slides/_rels/slide48.xml.rels><?xml version="1.0" encoding="UTF-8" standalone="yes"?>
<Relationships xmlns="http://schemas.openxmlformats.org/package/2006/relationships"><Relationship Id="rId3" Type="http://schemas.openxmlformats.org/officeDocument/2006/relationships/image" Target="../media/image75.gif"/><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p:txBody>
          <a:bodyPr/>
          <a:lstStyle/>
          <a:p>
            <a:endParaRPr lang="es-CR"/>
          </a:p>
        </p:txBody>
      </p:sp>
      <p:pic>
        <p:nvPicPr>
          <p:cNvPr id="1026" name="Picture 2" descr="http://ciencimat.files.wordpress.com/2010/03/probabilidad2.jpg"/>
          <p:cNvPicPr>
            <a:picLocks noChangeAspect="1" noChangeArrowheads="1"/>
          </p:cNvPicPr>
          <p:nvPr/>
        </p:nvPicPr>
        <p:blipFill>
          <a:blip r:embed="rId2" cstate="print"/>
          <a:srcRect/>
          <a:stretch>
            <a:fillRect/>
          </a:stretch>
        </p:blipFill>
        <p:spPr bwMode="auto">
          <a:xfrm>
            <a:off x="-32" y="-24"/>
            <a:ext cx="9144032" cy="6858024"/>
          </a:xfrm>
          <a:prstGeom prst="rect">
            <a:avLst/>
          </a:prstGeom>
          <a:noFill/>
        </p:spPr>
      </p:pic>
      <p:sp>
        <p:nvSpPr>
          <p:cNvPr id="8" name="7 CuadroTexto"/>
          <p:cNvSpPr txBox="1"/>
          <p:nvPr/>
        </p:nvSpPr>
        <p:spPr>
          <a:xfrm>
            <a:off x="357158" y="55883"/>
            <a:ext cx="4572032" cy="1015663"/>
          </a:xfrm>
          <a:prstGeom prst="rect">
            <a:avLst/>
          </a:prstGeom>
          <a:noFill/>
        </p:spPr>
        <p:txBody>
          <a:bodyPr wrap="square" rtlCol="0">
            <a:spAutoFit/>
          </a:bodyPr>
          <a:lstStyle/>
          <a:p>
            <a:r>
              <a:rPr lang="es-CR" sz="6000" dirty="0" smtClean="0"/>
              <a:t>Probabilidad</a:t>
            </a:r>
          </a:p>
        </p:txBody>
      </p:sp>
      <p:sp>
        <p:nvSpPr>
          <p:cNvPr id="9" name="8 CuadroTexto"/>
          <p:cNvSpPr txBox="1"/>
          <p:nvPr/>
        </p:nvSpPr>
        <p:spPr>
          <a:xfrm>
            <a:off x="142844" y="5997379"/>
            <a:ext cx="6357982" cy="707886"/>
          </a:xfrm>
          <a:prstGeom prst="rect">
            <a:avLst/>
          </a:prstGeom>
          <a:noFill/>
        </p:spPr>
        <p:txBody>
          <a:bodyPr wrap="square" rtlCol="0">
            <a:spAutoFit/>
          </a:bodyPr>
          <a:lstStyle/>
          <a:p>
            <a:r>
              <a:rPr lang="es-CR" sz="4000" dirty="0" smtClean="0"/>
              <a:t>Oscar Centeno Mora</a:t>
            </a:r>
            <a:endParaRPr lang="es-CR" sz="4000" dirty="0"/>
          </a:p>
        </p:txBody>
      </p:sp>
    </p:spTree>
  </p:cSld>
  <p:clrMapOvr>
    <a:masterClrMapping/>
  </p:clrMapOvr>
  <p:transition>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6"/>
            <a:ext cx="8229600" cy="1143000"/>
          </a:xfrm>
        </p:spPr>
        <p:txBody>
          <a:bodyPr/>
          <a:lstStyle/>
          <a:p>
            <a:pPr algn="ctr"/>
            <a:r>
              <a:rPr lang="es-CR" dirty="0" smtClean="0"/>
              <a:t>Introducción</a:t>
            </a:r>
            <a:endParaRPr lang="es-CR" dirty="0"/>
          </a:p>
        </p:txBody>
      </p:sp>
      <p:sp>
        <p:nvSpPr>
          <p:cNvPr id="3" name="2 Marcador de contenido"/>
          <p:cNvSpPr>
            <a:spLocks noGrp="1"/>
          </p:cNvSpPr>
          <p:nvPr>
            <p:ph sz="quarter" idx="1"/>
          </p:nvPr>
        </p:nvSpPr>
        <p:spPr>
          <a:xfrm>
            <a:off x="214282" y="1142984"/>
            <a:ext cx="5857916" cy="5715016"/>
          </a:xfrm>
        </p:spPr>
        <p:txBody>
          <a:bodyPr>
            <a:normAutofit lnSpcReduction="10000"/>
          </a:bodyPr>
          <a:lstStyle/>
          <a:p>
            <a:r>
              <a:rPr lang="es-CR" sz="2400" dirty="0" smtClean="0"/>
              <a:t>La probabilidad es un concepto muy común en la comunicación diaria:</a:t>
            </a:r>
          </a:p>
          <a:p>
            <a:pPr>
              <a:buNone/>
            </a:pPr>
            <a:endParaRPr lang="es-CR" sz="2400" dirty="0" smtClean="0"/>
          </a:p>
          <a:p>
            <a:pPr>
              <a:buNone/>
            </a:pPr>
            <a:r>
              <a:rPr lang="es-CR" sz="2300" dirty="0" smtClean="0"/>
              <a:t>-Los pronósticos meteorológicos pronostican una probabilidad de que llueva en la tarde.</a:t>
            </a:r>
          </a:p>
          <a:p>
            <a:pPr>
              <a:buNone/>
            </a:pPr>
            <a:endParaRPr lang="es-CR" sz="2300" dirty="0" smtClean="0"/>
          </a:p>
          <a:p>
            <a:pPr>
              <a:buNone/>
            </a:pPr>
            <a:r>
              <a:rPr lang="es-CR" sz="2300" dirty="0" smtClean="0"/>
              <a:t>-Los médicos que si consume cierto medicamento , con qué probabilidad podría sanar en un determinado tiempo.</a:t>
            </a:r>
          </a:p>
          <a:p>
            <a:pPr>
              <a:buNone/>
            </a:pPr>
            <a:endParaRPr lang="es-CR" sz="2300" dirty="0" smtClean="0"/>
          </a:p>
          <a:p>
            <a:pPr>
              <a:buNone/>
            </a:pPr>
            <a:r>
              <a:rPr lang="es-CR" sz="2300" dirty="0" smtClean="0"/>
              <a:t>-Los consejeros escolares especulan sobre la probabilidad de éxito en cierta Universidad.</a:t>
            </a:r>
          </a:p>
          <a:p>
            <a:pPr>
              <a:buNone/>
            </a:pPr>
            <a:endParaRPr lang="es-CR" sz="2300" dirty="0" smtClean="0"/>
          </a:p>
          <a:p>
            <a:pPr>
              <a:buNone/>
            </a:pPr>
            <a:r>
              <a:rPr lang="es-CR" sz="2300" dirty="0" smtClean="0"/>
              <a:t>-Las encuestas  políticas indican cierta probabilidad  que tiene el candidato de ganar las elecciones.</a:t>
            </a:r>
            <a:endParaRPr lang="es-CR" sz="2300" dirty="0"/>
          </a:p>
        </p:txBody>
      </p:sp>
      <p:pic>
        <p:nvPicPr>
          <p:cNvPr id="41986" name="Picture 2" descr="http://www.cincodias.com/recorte.php/20090210cdscdseco_2/XLCOH635/Ies/Pronostico_meteorologico_dias_febrero.jpg"/>
          <p:cNvPicPr>
            <a:picLocks noChangeAspect="1" noChangeArrowheads="1"/>
          </p:cNvPicPr>
          <p:nvPr/>
        </p:nvPicPr>
        <p:blipFill>
          <a:blip r:embed="rId2" cstate="print"/>
          <a:srcRect/>
          <a:stretch>
            <a:fillRect/>
          </a:stretch>
        </p:blipFill>
        <p:spPr bwMode="auto">
          <a:xfrm>
            <a:off x="6286512" y="1285860"/>
            <a:ext cx="2589626" cy="2571768"/>
          </a:xfrm>
          <a:prstGeom prst="rect">
            <a:avLst/>
          </a:prstGeom>
          <a:noFill/>
        </p:spPr>
      </p:pic>
      <p:pic>
        <p:nvPicPr>
          <p:cNvPr id="41988" name="Picture 4" descr="http://www.arkinetia.com/_recursos/Articulos/Images/Arkinetia__Facultad_de_Psicologia__Universidad_Nacional_de_Buenos_Aires_Dieguez_Fridman_qqqNOTID0000000379-IMG001_r178.jpg"/>
          <p:cNvPicPr>
            <a:picLocks noChangeAspect="1" noChangeArrowheads="1"/>
          </p:cNvPicPr>
          <p:nvPr/>
        </p:nvPicPr>
        <p:blipFill>
          <a:blip r:embed="rId3" cstate="print"/>
          <a:srcRect/>
          <a:stretch>
            <a:fillRect/>
          </a:stretch>
        </p:blipFill>
        <p:spPr bwMode="auto">
          <a:xfrm>
            <a:off x="6215074" y="4071942"/>
            <a:ext cx="2714644" cy="2286016"/>
          </a:xfrm>
          <a:prstGeom prst="rect">
            <a:avLst/>
          </a:prstGeom>
          <a:noFill/>
        </p:spPr>
      </p:pic>
    </p:spTree>
  </p:cSld>
  <p:clrMapOvr>
    <a:masterClrMapping/>
  </p:clrMapOvr>
  <p:transition>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457200" y="-16"/>
            <a:ext cx="8229600" cy="980744"/>
          </a:xfrm>
        </p:spPr>
        <p:txBody>
          <a:bodyPr/>
          <a:lstStyle/>
          <a:p>
            <a:pPr algn="ctr"/>
            <a:r>
              <a:rPr lang="es-CR" dirty="0" smtClean="0"/>
              <a:t>Introducción</a:t>
            </a:r>
            <a:endParaRPr lang="es-CR" dirty="0"/>
          </a:p>
        </p:txBody>
      </p:sp>
      <p:sp>
        <p:nvSpPr>
          <p:cNvPr id="3" name="2 Marcador de contenido"/>
          <p:cNvSpPr>
            <a:spLocks noGrp="1"/>
          </p:cNvSpPr>
          <p:nvPr>
            <p:ph sz="quarter" idx="1"/>
          </p:nvPr>
        </p:nvSpPr>
        <p:spPr>
          <a:xfrm>
            <a:off x="357158" y="1142984"/>
            <a:ext cx="5078938" cy="5214974"/>
          </a:xfrm>
        </p:spPr>
        <p:txBody>
          <a:bodyPr>
            <a:normAutofit/>
          </a:bodyPr>
          <a:lstStyle/>
          <a:p>
            <a:r>
              <a:rPr lang="es-CR" sz="2400" dirty="0" smtClean="0"/>
              <a:t>La inferencia estadística se basa en los fundamentos de la teoría de la probabilidad , rama de la matemática que se ocupa de los fenómenos que se producen al azar, o fenómenos aleatorios.</a:t>
            </a:r>
          </a:p>
          <a:p>
            <a:endParaRPr lang="es-CR" sz="2400" dirty="0" smtClean="0"/>
          </a:p>
          <a:p>
            <a:r>
              <a:rPr lang="es-CR" sz="2400" dirty="0" smtClean="0"/>
              <a:t>Del puno anterior la gran importancia de tener los conceptos básicos de lo que a la probabilidad se refiere.</a:t>
            </a:r>
            <a:endParaRPr lang="es-CR" sz="2400" dirty="0"/>
          </a:p>
        </p:txBody>
      </p:sp>
      <p:pic>
        <p:nvPicPr>
          <p:cNvPr id="40962" name="Picture 2" descr="http://predictive.files.wordpress.com/2008/05/quick1.jpg"/>
          <p:cNvPicPr>
            <a:picLocks noChangeAspect="1" noChangeArrowheads="1"/>
          </p:cNvPicPr>
          <p:nvPr/>
        </p:nvPicPr>
        <p:blipFill>
          <a:blip r:embed="rId2" cstate="print"/>
          <a:srcRect/>
          <a:stretch>
            <a:fillRect/>
          </a:stretch>
        </p:blipFill>
        <p:spPr bwMode="auto">
          <a:xfrm>
            <a:off x="5786446" y="1214422"/>
            <a:ext cx="3143272" cy="2571768"/>
          </a:xfrm>
          <a:prstGeom prst="rect">
            <a:avLst/>
          </a:prstGeom>
          <a:noFill/>
        </p:spPr>
      </p:pic>
      <p:pic>
        <p:nvPicPr>
          <p:cNvPr id="40964" name="Picture 4" descr="http://dawkinswatch.files.wordpress.com/2009/02/probability.jpg"/>
          <p:cNvPicPr>
            <a:picLocks noChangeAspect="1" noChangeArrowheads="1"/>
          </p:cNvPicPr>
          <p:nvPr/>
        </p:nvPicPr>
        <p:blipFill>
          <a:blip r:embed="rId3" cstate="print"/>
          <a:srcRect/>
          <a:stretch>
            <a:fillRect/>
          </a:stretch>
        </p:blipFill>
        <p:spPr bwMode="auto">
          <a:xfrm>
            <a:off x="5786446" y="3929066"/>
            <a:ext cx="2928958" cy="2693295"/>
          </a:xfrm>
          <a:prstGeom prst="rect">
            <a:avLst/>
          </a:prstGeom>
          <a:noFill/>
        </p:spPr>
      </p:pic>
    </p:spTree>
  </p:cSld>
  <p:clrMapOvr>
    <a:masterClrMapping/>
  </p:clrMapOvr>
  <p:transition>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7584" y="116632"/>
            <a:ext cx="7772400" cy="1066130"/>
          </a:xfrm>
        </p:spPr>
        <p:txBody>
          <a:bodyPr/>
          <a:lstStyle/>
          <a:p>
            <a:pPr algn="ctr"/>
            <a:r>
              <a:rPr lang="es-CR" dirty="0" smtClean="0"/>
              <a:t>Índice</a:t>
            </a:r>
            <a:endParaRPr lang="es-CR" dirty="0"/>
          </a:p>
        </p:txBody>
      </p:sp>
      <p:sp>
        <p:nvSpPr>
          <p:cNvPr id="4" name="3 Elipse"/>
          <p:cNvSpPr/>
          <p:nvPr/>
        </p:nvSpPr>
        <p:spPr>
          <a:xfrm>
            <a:off x="323528" y="1556792"/>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323528" y="3432836"/>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323528" y="5301208"/>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7" name="6 Elipse"/>
          <p:cNvSpPr/>
          <p:nvPr/>
        </p:nvSpPr>
        <p:spPr>
          <a:xfrm>
            <a:off x="4644008" y="1556792"/>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8" name="7 Elipse"/>
          <p:cNvSpPr/>
          <p:nvPr/>
        </p:nvSpPr>
        <p:spPr>
          <a:xfrm>
            <a:off x="4644008" y="3432836"/>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9" name="8 Elipse"/>
          <p:cNvSpPr/>
          <p:nvPr/>
        </p:nvSpPr>
        <p:spPr>
          <a:xfrm>
            <a:off x="4644008" y="5301208"/>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6</a:t>
            </a:r>
            <a:endParaRPr lang="es-CR" dirty="0"/>
          </a:p>
        </p:txBody>
      </p:sp>
      <p:sp>
        <p:nvSpPr>
          <p:cNvPr id="12" name="11 Rectángulo redondeado"/>
          <p:cNvSpPr/>
          <p:nvPr/>
        </p:nvSpPr>
        <p:spPr>
          <a:xfrm>
            <a:off x="1817084" y="3425164"/>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Probabilidad clásica o a </a:t>
            </a:r>
            <a:r>
              <a:rPr lang="es-CR" dirty="0" smtClean="0"/>
              <a:t>priori</a:t>
            </a:r>
            <a:endParaRPr lang="es-CR" dirty="0"/>
          </a:p>
        </p:txBody>
      </p:sp>
      <p:sp>
        <p:nvSpPr>
          <p:cNvPr id="13" name="12 Rectángulo redondeado"/>
          <p:cNvSpPr/>
          <p:nvPr/>
        </p:nvSpPr>
        <p:spPr>
          <a:xfrm>
            <a:off x="1817084" y="5373216"/>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Probabilidad frecuencia relativa</a:t>
            </a:r>
            <a:endParaRPr lang="es-CR" dirty="0"/>
          </a:p>
        </p:txBody>
      </p:sp>
      <p:sp>
        <p:nvSpPr>
          <p:cNvPr id="14" name="13 Rectángulo redondeado"/>
          <p:cNvSpPr/>
          <p:nvPr/>
        </p:nvSpPr>
        <p:spPr>
          <a:xfrm>
            <a:off x="6372200" y="1632636"/>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Probabilidad clásica o a </a:t>
            </a:r>
            <a:r>
              <a:rPr lang="es-CR" dirty="0" smtClean="0"/>
              <a:t>priori</a:t>
            </a:r>
            <a:endParaRPr lang="es-CR" dirty="0"/>
          </a:p>
        </p:txBody>
      </p:sp>
      <p:sp>
        <p:nvSpPr>
          <p:cNvPr id="16" name="15 Rectángulo redondeado"/>
          <p:cNvSpPr/>
          <p:nvPr/>
        </p:nvSpPr>
        <p:spPr>
          <a:xfrm>
            <a:off x="6372200" y="3501008"/>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Distribución de probabilidad discreta</a:t>
            </a:r>
            <a:endParaRPr lang="es-CR" dirty="0"/>
          </a:p>
        </p:txBody>
      </p:sp>
      <p:sp>
        <p:nvSpPr>
          <p:cNvPr id="17" name="16 Rectángulo redondeado"/>
          <p:cNvSpPr/>
          <p:nvPr/>
        </p:nvSpPr>
        <p:spPr>
          <a:xfrm>
            <a:off x="1817084" y="1556792"/>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esencia de la probabilidad y conceptos </a:t>
            </a:r>
            <a:endParaRPr lang="es-CR" dirty="0"/>
          </a:p>
        </p:txBody>
      </p:sp>
      <p:sp>
        <p:nvSpPr>
          <p:cNvPr id="18" name="17 Rectángulo redondeado"/>
          <p:cNvSpPr/>
          <p:nvPr/>
        </p:nvSpPr>
        <p:spPr>
          <a:xfrm>
            <a:off x="6372200" y="5373216"/>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Distribución de probabilidad continua</a:t>
            </a:r>
            <a:endParaRPr lang="es-CR" dirty="0"/>
          </a:p>
        </p:txBody>
      </p:sp>
    </p:spTree>
    <p:extLst>
      <p:ext uri="{BB962C8B-B14F-4D97-AF65-F5344CB8AC3E}">
        <p14:creationId xmlns:p14="http://schemas.microsoft.com/office/powerpoint/2010/main" val="25577019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7584" y="116632"/>
            <a:ext cx="7772400" cy="1066130"/>
          </a:xfrm>
        </p:spPr>
        <p:txBody>
          <a:bodyPr/>
          <a:lstStyle/>
          <a:p>
            <a:pPr algn="ctr"/>
            <a:r>
              <a:rPr lang="es-CR" dirty="0" smtClean="0"/>
              <a:t>Índice</a:t>
            </a:r>
            <a:endParaRPr lang="es-CR" dirty="0"/>
          </a:p>
        </p:txBody>
      </p:sp>
      <p:sp>
        <p:nvSpPr>
          <p:cNvPr id="4" name="3 Elipse"/>
          <p:cNvSpPr/>
          <p:nvPr/>
        </p:nvSpPr>
        <p:spPr>
          <a:xfrm>
            <a:off x="323528" y="1556792"/>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17" name="16 Rectángulo redondeado"/>
          <p:cNvSpPr/>
          <p:nvPr/>
        </p:nvSpPr>
        <p:spPr>
          <a:xfrm>
            <a:off x="1817084" y="1556792"/>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esencia de la probabilidad y conceptos </a:t>
            </a:r>
            <a:endParaRPr lang="es-CR" dirty="0"/>
          </a:p>
        </p:txBody>
      </p:sp>
    </p:spTree>
    <p:extLst>
      <p:ext uri="{BB962C8B-B14F-4D97-AF65-F5344CB8AC3E}">
        <p14:creationId xmlns:p14="http://schemas.microsoft.com/office/powerpoint/2010/main" val="4026641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457200" y="-16"/>
            <a:ext cx="8229600" cy="785810"/>
          </a:xfrm>
        </p:spPr>
        <p:txBody>
          <a:bodyPr/>
          <a:lstStyle/>
          <a:p>
            <a:pPr algn="ctr"/>
            <a:r>
              <a:rPr lang="es-CR" dirty="0" smtClean="0"/>
              <a:t>La esencia de la probabilidad</a:t>
            </a:r>
            <a:endParaRPr lang="es-CR" dirty="0"/>
          </a:p>
        </p:txBody>
      </p:sp>
      <p:sp>
        <p:nvSpPr>
          <p:cNvPr id="3" name="2 Marcador de contenido"/>
          <p:cNvSpPr>
            <a:spLocks noGrp="1"/>
          </p:cNvSpPr>
          <p:nvPr>
            <p:ph sz="quarter" idx="1"/>
          </p:nvPr>
        </p:nvSpPr>
        <p:spPr>
          <a:xfrm>
            <a:off x="285720" y="1000108"/>
            <a:ext cx="5643602" cy="5572164"/>
          </a:xfrm>
        </p:spPr>
        <p:txBody>
          <a:bodyPr>
            <a:normAutofit/>
          </a:bodyPr>
          <a:lstStyle/>
          <a:p>
            <a:r>
              <a:rPr lang="es-CR" sz="2400" dirty="0" smtClean="0"/>
              <a:t>Las probabilidad nacen en Francia en el XVII siglo, a razón de los juegos de azar de la época (cartas y dados).</a:t>
            </a:r>
          </a:p>
          <a:p>
            <a:endParaRPr lang="es-CR" sz="2400" dirty="0" smtClean="0"/>
          </a:p>
          <a:p>
            <a:r>
              <a:rPr lang="es-CR" sz="2400" dirty="0" smtClean="0"/>
              <a:t>La probabilidad es un número (resultado) que está siempre en “0” y “1”</a:t>
            </a:r>
          </a:p>
          <a:p>
            <a:endParaRPr lang="es-CR" sz="2400" dirty="0" smtClean="0"/>
          </a:p>
          <a:p>
            <a:r>
              <a:rPr lang="es-CR" sz="2400" dirty="0" smtClean="0"/>
              <a:t>Matemáticamente:</a:t>
            </a:r>
            <a:endParaRPr lang="es-CR" sz="2400" dirty="0"/>
          </a:p>
        </p:txBody>
      </p:sp>
      <p:sp>
        <p:nvSpPr>
          <p:cNvPr id="8" name="7 Rectángulo redondeado"/>
          <p:cNvSpPr/>
          <p:nvPr/>
        </p:nvSpPr>
        <p:spPr>
          <a:xfrm>
            <a:off x="1071538" y="4786322"/>
            <a:ext cx="6929486" cy="15716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6000" dirty="0" smtClean="0"/>
              <a:t>0 ≤ Probabilidad ≤ 1</a:t>
            </a:r>
            <a:endParaRPr lang="es-CR" sz="6000" dirty="0"/>
          </a:p>
        </p:txBody>
      </p:sp>
      <p:pic>
        <p:nvPicPr>
          <p:cNvPr id="39941" name="Picture 5" descr="http://www.mapasdechile.com.ar/blog/wp-content/uploads/2008/09/casino-chile.jpg"/>
          <p:cNvPicPr>
            <a:picLocks noChangeAspect="1" noChangeArrowheads="1"/>
          </p:cNvPicPr>
          <p:nvPr/>
        </p:nvPicPr>
        <p:blipFill>
          <a:blip r:embed="rId2" cstate="print"/>
          <a:srcRect/>
          <a:stretch>
            <a:fillRect/>
          </a:stretch>
        </p:blipFill>
        <p:spPr bwMode="auto">
          <a:xfrm>
            <a:off x="5929322" y="1071546"/>
            <a:ext cx="3000396" cy="3429024"/>
          </a:xfrm>
          <a:prstGeom prst="rect">
            <a:avLst/>
          </a:prstGeom>
          <a:noFill/>
        </p:spPr>
      </p:pic>
    </p:spTree>
  </p:cSld>
  <p:clrMapOvr>
    <a:masterClrMapping/>
  </p:clrMapOvr>
  <p:transition>
    <p:wipe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000108"/>
            <a:ext cx="6000792" cy="5857892"/>
          </a:xfrm>
        </p:spPr>
        <p:txBody>
          <a:bodyPr>
            <a:normAutofit/>
          </a:bodyPr>
          <a:lstStyle/>
          <a:p>
            <a:r>
              <a:rPr lang="es-CR" sz="2400" dirty="0" smtClean="0"/>
              <a:t>Si el número o el resultado tiene muchos chances de que </a:t>
            </a:r>
            <a:r>
              <a:rPr lang="es-CR" sz="2400" dirty="0" err="1" smtClean="0"/>
              <a:t>ocuarra</a:t>
            </a:r>
            <a:r>
              <a:rPr lang="es-CR" sz="2400" dirty="0" smtClean="0"/>
              <a:t>, entonces se tendrá una probabilidad muy cercana a “1”.</a:t>
            </a:r>
          </a:p>
          <a:p>
            <a:r>
              <a:rPr lang="es-CR" sz="2400" dirty="0" smtClean="0"/>
              <a:t>De lo contrario, si las posibilidades son muy reducidas, entonces se tendrá una probabilidad muy cercana a “0”.</a:t>
            </a:r>
          </a:p>
          <a:p>
            <a:endParaRPr lang="es-CR" sz="2400" dirty="0" smtClean="0"/>
          </a:p>
          <a:p>
            <a:r>
              <a:rPr lang="es-CR" sz="2400" dirty="0" smtClean="0"/>
              <a:t>También están los casos extremos:</a:t>
            </a:r>
          </a:p>
          <a:p>
            <a:endParaRPr lang="es-CR" sz="2400" dirty="0" smtClean="0"/>
          </a:p>
          <a:p>
            <a:pPr>
              <a:buNone/>
            </a:pPr>
            <a:r>
              <a:rPr lang="es-CR" sz="2400" dirty="0" smtClean="0"/>
              <a:t>	-La probabilidad de que el sol brille 	tiene una </a:t>
            </a:r>
            <a:r>
              <a:rPr lang="es-CR" sz="2400" dirty="0" err="1" smtClean="0"/>
              <a:t>probabilidadd</a:t>
            </a:r>
            <a:r>
              <a:rPr lang="es-CR" sz="2400" dirty="0" smtClean="0"/>
              <a:t> de “1”.</a:t>
            </a:r>
          </a:p>
          <a:p>
            <a:pPr>
              <a:buNone/>
            </a:pPr>
            <a:r>
              <a:rPr lang="es-CR" sz="2400" dirty="0" smtClean="0"/>
              <a:t>	-La probabilidad de que el cuerpo de un ser humano viva durante 200 años tiene una probabilidad de “0”.</a:t>
            </a:r>
          </a:p>
          <a:p>
            <a:pPr>
              <a:buNone/>
            </a:pPr>
            <a:endParaRPr lang="es-CR" dirty="0"/>
          </a:p>
        </p:txBody>
      </p:sp>
      <p:sp>
        <p:nvSpPr>
          <p:cNvPr id="4" name="1 Título"/>
          <p:cNvSpPr>
            <a:spLocks noGrp="1"/>
          </p:cNvSpPr>
          <p:nvPr>
            <p:ph type="title"/>
          </p:nvPr>
        </p:nvSpPr>
        <p:spPr>
          <a:xfrm>
            <a:off x="457200" y="-16"/>
            <a:ext cx="8229600" cy="785810"/>
          </a:xfrm>
        </p:spPr>
        <p:txBody>
          <a:bodyPr/>
          <a:lstStyle/>
          <a:p>
            <a:pPr algn="ctr"/>
            <a:r>
              <a:rPr lang="es-CR" dirty="0" smtClean="0"/>
              <a:t>La esencia de la probabilidad</a:t>
            </a:r>
            <a:endParaRPr lang="es-CR" dirty="0"/>
          </a:p>
        </p:txBody>
      </p:sp>
      <p:pic>
        <p:nvPicPr>
          <p:cNvPr id="38914" name="Picture 2" descr="http://gonzalezdelariva.files.wordpress.com/2008/03/dados.jpg"/>
          <p:cNvPicPr>
            <a:picLocks noChangeAspect="1" noChangeArrowheads="1"/>
          </p:cNvPicPr>
          <p:nvPr/>
        </p:nvPicPr>
        <p:blipFill>
          <a:blip r:embed="rId2" cstate="print"/>
          <a:srcRect/>
          <a:stretch>
            <a:fillRect/>
          </a:stretch>
        </p:blipFill>
        <p:spPr bwMode="auto">
          <a:xfrm>
            <a:off x="6215074" y="1071546"/>
            <a:ext cx="2714644" cy="2714644"/>
          </a:xfrm>
          <a:prstGeom prst="rect">
            <a:avLst/>
          </a:prstGeom>
          <a:noFill/>
        </p:spPr>
      </p:pic>
      <p:pic>
        <p:nvPicPr>
          <p:cNvPr id="38916" name="Picture 4" descr="http://sites.google.com/site/mates1sec2/dados.jpg"/>
          <p:cNvPicPr>
            <a:picLocks noChangeAspect="1" noChangeArrowheads="1"/>
          </p:cNvPicPr>
          <p:nvPr/>
        </p:nvPicPr>
        <p:blipFill>
          <a:blip r:embed="rId3" cstate="print"/>
          <a:srcRect/>
          <a:stretch>
            <a:fillRect/>
          </a:stretch>
        </p:blipFill>
        <p:spPr bwMode="auto">
          <a:xfrm>
            <a:off x="6286512" y="4000504"/>
            <a:ext cx="2428892" cy="2643206"/>
          </a:xfrm>
          <a:prstGeom prst="rect">
            <a:avLst/>
          </a:prstGeom>
          <a:noFill/>
        </p:spPr>
      </p:pic>
    </p:spTree>
  </p:cSld>
  <p:clrMapOvr>
    <a:masterClrMapping/>
  </p:clrMapOvr>
  <p:transition>
    <p:wedg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000108"/>
            <a:ext cx="5941894" cy="5500726"/>
          </a:xfrm>
        </p:spPr>
        <p:txBody>
          <a:bodyPr>
            <a:normAutofit/>
          </a:bodyPr>
          <a:lstStyle/>
          <a:p>
            <a:pPr algn="just"/>
            <a:r>
              <a:rPr lang="es-CR" sz="2400" dirty="0" smtClean="0"/>
              <a:t>En el primer caso, cuando se tiene certeza de que la probabilidad de ocurrencia sea de “1”, entonces es un “</a:t>
            </a:r>
            <a:r>
              <a:rPr lang="es-CR" sz="2400" i="1" dirty="0" smtClean="0"/>
              <a:t>evento completamente seguro</a:t>
            </a:r>
            <a:r>
              <a:rPr lang="es-CR" sz="2400" dirty="0" smtClean="0"/>
              <a:t>”.</a:t>
            </a:r>
          </a:p>
          <a:p>
            <a:pPr algn="just">
              <a:buNone/>
            </a:pPr>
            <a:endParaRPr lang="es-CR" sz="2400" dirty="0" smtClean="0"/>
          </a:p>
          <a:p>
            <a:pPr algn="just"/>
            <a:r>
              <a:rPr lang="es-CR" sz="2400" dirty="0" smtClean="0"/>
              <a:t>El segundo caso, cuando se tiene certeza de que la probabilidad de ocurrencia es de “0”, entonces es un evento “completamente imposible”.</a:t>
            </a:r>
          </a:p>
          <a:p>
            <a:pPr algn="just">
              <a:buNone/>
            </a:pPr>
            <a:endParaRPr lang="es-CR" sz="2400" dirty="0" smtClean="0"/>
          </a:p>
          <a:p>
            <a:pPr algn="just"/>
            <a:r>
              <a:rPr lang="es-CR" sz="2400" dirty="0" smtClean="0"/>
              <a:t>También le asignamos una probabilidad de 0.5 a un fenómeno que tenga la misma posibilidad de ocurrir y de no ocurrir. Somos totalmente indiferentes ante el evento.</a:t>
            </a:r>
          </a:p>
        </p:txBody>
      </p:sp>
      <p:sp>
        <p:nvSpPr>
          <p:cNvPr id="4" name="1 Título"/>
          <p:cNvSpPr>
            <a:spLocks noGrp="1"/>
          </p:cNvSpPr>
          <p:nvPr>
            <p:ph type="title"/>
          </p:nvPr>
        </p:nvSpPr>
        <p:spPr>
          <a:xfrm>
            <a:off x="457200" y="-16"/>
            <a:ext cx="8229600" cy="785810"/>
          </a:xfrm>
        </p:spPr>
        <p:txBody>
          <a:bodyPr/>
          <a:lstStyle/>
          <a:p>
            <a:pPr algn="ctr"/>
            <a:r>
              <a:rPr lang="es-CR" dirty="0" smtClean="0"/>
              <a:t>La esencia de la probabilidad</a:t>
            </a:r>
            <a:endParaRPr lang="es-CR" dirty="0"/>
          </a:p>
        </p:txBody>
      </p:sp>
      <p:pic>
        <p:nvPicPr>
          <p:cNvPr id="37890" name="Picture 2" descr="http://www.casinosdeluxe.com/wp-content/uploads/roulette965-500x300.jpg"/>
          <p:cNvPicPr>
            <a:picLocks noChangeAspect="1" noChangeArrowheads="1"/>
          </p:cNvPicPr>
          <p:nvPr/>
        </p:nvPicPr>
        <p:blipFill>
          <a:blip r:embed="rId2" cstate="print"/>
          <a:srcRect/>
          <a:stretch>
            <a:fillRect/>
          </a:stretch>
        </p:blipFill>
        <p:spPr bwMode="auto">
          <a:xfrm>
            <a:off x="6429388" y="3929066"/>
            <a:ext cx="2500330" cy="2571768"/>
          </a:xfrm>
          <a:prstGeom prst="rect">
            <a:avLst/>
          </a:prstGeom>
          <a:noFill/>
        </p:spPr>
      </p:pic>
      <p:pic>
        <p:nvPicPr>
          <p:cNvPr id="37892" name="Picture 4" descr="http://www.sistemasderuleta.com/blog/wp-content/uploads/2009/10/PokerCards.jpg"/>
          <p:cNvPicPr>
            <a:picLocks noChangeAspect="1" noChangeArrowheads="1"/>
          </p:cNvPicPr>
          <p:nvPr/>
        </p:nvPicPr>
        <p:blipFill>
          <a:blip r:embed="rId3" cstate="print"/>
          <a:srcRect/>
          <a:stretch>
            <a:fillRect/>
          </a:stretch>
        </p:blipFill>
        <p:spPr bwMode="auto">
          <a:xfrm>
            <a:off x="6429388" y="928670"/>
            <a:ext cx="2508965" cy="2857520"/>
          </a:xfrm>
          <a:prstGeom prst="rect">
            <a:avLst/>
          </a:prstGeom>
          <a:noFill/>
        </p:spPr>
      </p:pic>
    </p:spTree>
  </p:cSld>
  <p:clrMapOvr>
    <a:masterClrMapping/>
  </p:clrMapOvr>
  <p:transition>
    <p:pull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28596" y="1000108"/>
            <a:ext cx="5871596" cy="5500726"/>
          </a:xfrm>
        </p:spPr>
        <p:txBody>
          <a:bodyPr>
            <a:normAutofit/>
          </a:bodyPr>
          <a:lstStyle/>
          <a:p>
            <a:r>
              <a:rPr lang="es-CR" sz="2400" dirty="0" smtClean="0"/>
              <a:t>En resumidas cuentas</a:t>
            </a:r>
          </a:p>
          <a:p>
            <a:pPr>
              <a:buNone/>
            </a:pPr>
            <a:endParaRPr lang="es-CR" sz="2400" dirty="0" smtClean="0"/>
          </a:p>
          <a:p>
            <a:pPr algn="just">
              <a:buNone/>
            </a:pPr>
            <a:r>
              <a:rPr lang="es-CR" sz="2400" dirty="0" smtClean="0"/>
              <a:t>	-Asignamos una probabilidad mayor o igual a “0”, pero menor a “0.5”, a un fenómeno que tenga más posibilidad de no ocurrir que de ocurrir.</a:t>
            </a:r>
          </a:p>
          <a:p>
            <a:pPr algn="just">
              <a:buNone/>
            </a:pPr>
            <a:endParaRPr lang="es-CR" sz="2400" dirty="0" smtClean="0"/>
          </a:p>
          <a:p>
            <a:pPr algn="just">
              <a:buNone/>
            </a:pPr>
            <a:r>
              <a:rPr lang="es-CR" sz="2400" dirty="0" smtClean="0"/>
              <a:t>	-Asignamos una probabilidad mayor a 0.5 pero menor o igual a 1, a un fenómeno que tenga más posibilidad de ocurrir que de no ocurrir.</a:t>
            </a:r>
          </a:p>
          <a:p>
            <a:pPr algn="just">
              <a:buNone/>
            </a:pPr>
            <a:endParaRPr lang="es-CR" sz="2400" dirty="0" smtClean="0"/>
          </a:p>
          <a:p>
            <a:pPr algn="just">
              <a:buNone/>
            </a:pPr>
            <a:r>
              <a:rPr lang="es-CR" sz="2400" dirty="0" smtClean="0"/>
              <a:t>	-Asignamos una probabilidad de 0.5 si somos completamente indiferentes a la ocurrencia del evento.</a:t>
            </a:r>
          </a:p>
          <a:p>
            <a:pPr>
              <a:buNone/>
            </a:pPr>
            <a:endParaRPr lang="es-CR" dirty="0"/>
          </a:p>
        </p:txBody>
      </p:sp>
      <p:sp>
        <p:nvSpPr>
          <p:cNvPr id="4" name="1 Título"/>
          <p:cNvSpPr>
            <a:spLocks noGrp="1"/>
          </p:cNvSpPr>
          <p:nvPr>
            <p:ph type="title"/>
          </p:nvPr>
        </p:nvSpPr>
        <p:spPr>
          <a:xfrm>
            <a:off x="457200" y="-16"/>
            <a:ext cx="8229600" cy="785810"/>
          </a:xfrm>
        </p:spPr>
        <p:txBody>
          <a:bodyPr/>
          <a:lstStyle/>
          <a:p>
            <a:pPr algn="ctr"/>
            <a:r>
              <a:rPr lang="es-CR" dirty="0" smtClean="0"/>
              <a:t>La esencia de la probabilidad</a:t>
            </a:r>
            <a:endParaRPr lang="es-CR" dirty="0"/>
          </a:p>
        </p:txBody>
      </p:sp>
      <p:pic>
        <p:nvPicPr>
          <p:cNvPr id="3074" name="Picture 2" descr="http://blogs.adobe.com/captivate/files/2012/01/Book_Rapid-eLearni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0232" y="1412776"/>
            <a:ext cx="2254622" cy="244827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mollymediastudios.files.wordpress.com/2011/07/learn.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1838" y="4437112"/>
            <a:ext cx="1991407" cy="17238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214422"/>
            <a:ext cx="8643998" cy="4572000"/>
          </a:xfrm>
        </p:spPr>
        <p:txBody>
          <a:bodyPr/>
          <a:lstStyle/>
          <a:p>
            <a:pPr>
              <a:buNone/>
            </a:pPr>
            <a:r>
              <a:rPr lang="es-CR" sz="2400" u="sng" dirty="0" smtClean="0"/>
              <a:t>Conjunto y elemento</a:t>
            </a:r>
          </a:p>
          <a:p>
            <a:pPr>
              <a:buNone/>
            </a:pPr>
            <a:r>
              <a:rPr lang="es-CR" sz="2400" dirty="0" smtClean="0"/>
              <a:t>“Un conjunto es una colección bien definida de objetos. Normalmente a los objetos que forman el conjunto se le conoce como elementos”.</a:t>
            </a:r>
            <a:endParaRPr lang="es-CR" sz="2400" dirty="0"/>
          </a:p>
        </p:txBody>
      </p:sp>
      <p:sp>
        <p:nvSpPr>
          <p:cNvPr id="4" name="1 Título"/>
          <p:cNvSpPr>
            <a:spLocks noGrp="1"/>
          </p:cNvSpPr>
          <p:nvPr>
            <p:ph type="title"/>
          </p:nvPr>
        </p:nvSpPr>
        <p:spPr>
          <a:xfrm>
            <a:off x="0" y="0"/>
            <a:ext cx="9144000" cy="1143000"/>
          </a:xfrm>
        </p:spPr>
        <p:txBody>
          <a:bodyPr>
            <a:normAutofit/>
          </a:bodyPr>
          <a:lstStyle/>
          <a:p>
            <a:pPr algn="ctr"/>
            <a:r>
              <a:rPr lang="es-CR" dirty="0" smtClean="0"/>
              <a:t>Ideas fundamentales de las </a:t>
            </a:r>
            <a:r>
              <a:rPr lang="es-CR" dirty="0" err="1" smtClean="0"/>
              <a:t>probabilidas</a:t>
            </a:r>
            <a:endParaRPr lang="es-CR" dirty="0"/>
          </a:p>
        </p:txBody>
      </p:sp>
      <p:sp>
        <p:nvSpPr>
          <p:cNvPr id="5" name="4 Elipse"/>
          <p:cNvSpPr/>
          <p:nvPr/>
        </p:nvSpPr>
        <p:spPr>
          <a:xfrm>
            <a:off x="3286116" y="3071810"/>
            <a:ext cx="4572032" cy="3071834"/>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CR"/>
          </a:p>
        </p:txBody>
      </p:sp>
      <p:sp>
        <p:nvSpPr>
          <p:cNvPr id="7" name="6 Elipse"/>
          <p:cNvSpPr/>
          <p:nvPr/>
        </p:nvSpPr>
        <p:spPr>
          <a:xfrm>
            <a:off x="4500562" y="4929198"/>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8" name="7 Elipse"/>
          <p:cNvSpPr/>
          <p:nvPr/>
        </p:nvSpPr>
        <p:spPr>
          <a:xfrm>
            <a:off x="5643570" y="3214686"/>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9" name="8 Elipse"/>
          <p:cNvSpPr/>
          <p:nvPr/>
        </p:nvSpPr>
        <p:spPr>
          <a:xfrm>
            <a:off x="5214942" y="4000504"/>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0" name="9 Elipse"/>
          <p:cNvSpPr/>
          <p:nvPr/>
        </p:nvSpPr>
        <p:spPr>
          <a:xfrm>
            <a:off x="5643570" y="5143512"/>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1" name="10 Elipse"/>
          <p:cNvSpPr/>
          <p:nvPr/>
        </p:nvSpPr>
        <p:spPr>
          <a:xfrm>
            <a:off x="6357950" y="4357694"/>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2" name="11 Arco"/>
          <p:cNvSpPr/>
          <p:nvPr/>
        </p:nvSpPr>
        <p:spPr>
          <a:xfrm>
            <a:off x="2143108" y="3143248"/>
            <a:ext cx="2071702" cy="785818"/>
          </a:xfrm>
          <a:prstGeom prst="arc">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s-CR"/>
          </a:p>
        </p:txBody>
      </p:sp>
      <p:sp>
        <p:nvSpPr>
          <p:cNvPr id="13" name="12 Rectángulo redondeado"/>
          <p:cNvSpPr/>
          <p:nvPr/>
        </p:nvSpPr>
        <p:spPr>
          <a:xfrm>
            <a:off x="942956" y="2728914"/>
            <a:ext cx="2128846" cy="91440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3600" dirty="0" smtClean="0"/>
              <a:t>Conjunto</a:t>
            </a:r>
            <a:endParaRPr lang="es-CR" sz="3600" dirty="0"/>
          </a:p>
        </p:txBody>
      </p:sp>
      <p:sp>
        <p:nvSpPr>
          <p:cNvPr id="14" name="13 Elipse"/>
          <p:cNvSpPr/>
          <p:nvPr/>
        </p:nvSpPr>
        <p:spPr>
          <a:xfrm>
            <a:off x="4357686" y="3857628"/>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cxnSp>
        <p:nvCxnSpPr>
          <p:cNvPr id="22" name="21 Conector recto"/>
          <p:cNvCxnSpPr/>
          <p:nvPr/>
        </p:nvCxnSpPr>
        <p:spPr>
          <a:xfrm rot="10800000">
            <a:off x="2928926" y="5214950"/>
            <a:ext cx="1857388" cy="0"/>
          </a:xfrm>
          <a:prstGeom prst="line">
            <a:avLst/>
          </a:prstGeom>
        </p:spPr>
        <p:style>
          <a:lnRef idx="2">
            <a:schemeClr val="accent5"/>
          </a:lnRef>
          <a:fillRef idx="0">
            <a:schemeClr val="accent5"/>
          </a:fillRef>
          <a:effectRef idx="1">
            <a:schemeClr val="accent5"/>
          </a:effectRef>
          <a:fontRef idx="minor">
            <a:schemeClr val="tx1"/>
          </a:fontRef>
        </p:style>
      </p:cxnSp>
      <p:sp>
        <p:nvSpPr>
          <p:cNvPr id="23" name="22 Rectángulo redondeado"/>
          <p:cNvSpPr/>
          <p:nvPr/>
        </p:nvSpPr>
        <p:spPr>
          <a:xfrm>
            <a:off x="500034" y="4786322"/>
            <a:ext cx="2128846" cy="91440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3600" dirty="0" smtClean="0"/>
              <a:t>Elemento</a:t>
            </a:r>
            <a:endParaRPr lang="es-CR" sz="3600" dirty="0"/>
          </a:p>
        </p:txBody>
      </p:sp>
    </p:spTree>
  </p:cSld>
  <p:clrMapOvr>
    <a:masterClrMapping/>
  </p:clrMapOvr>
  <p:transition>
    <p:pull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14422"/>
            <a:ext cx="6302504" cy="5286412"/>
          </a:xfrm>
        </p:spPr>
        <p:txBody>
          <a:bodyPr>
            <a:normAutofit lnSpcReduction="10000"/>
          </a:bodyPr>
          <a:lstStyle/>
          <a:p>
            <a:pPr>
              <a:buNone/>
            </a:pPr>
            <a:r>
              <a:rPr lang="es-CR" sz="2400" u="sng" dirty="0" smtClean="0"/>
              <a:t>Conjunto y elemento</a:t>
            </a:r>
          </a:p>
          <a:p>
            <a:pPr>
              <a:buNone/>
            </a:pPr>
            <a:endParaRPr lang="es-CR" sz="2400" u="sng" dirty="0" smtClean="0"/>
          </a:p>
          <a:p>
            <a:pPr>
              <a:buNone/>
            </a:pPr>
            <a:r>
              <a:rPr lang="es-CR" sz="2400" dirty="0" smtClean="0"/>
              <a:t>	-Los presidentes de CR desde 1960 constituyen un conjunto de todos los presidentes, siendo cada presidente un  elemento.</a:t>
            </a:r>
          </a:p>
          <a:p>
            <a:pPr>
              <a:buNone/>
            </a:pPr>
            <a:r>
              <a:rPr lang="es-CR" sz="2400" dirty="0" smtClean="0"/>
              <a:t>	-El planeta tierra constituye un elemento, del conjunto de los primeros 5 plantes cercanos al sol.</a:t>
            </a:r>
          </a:p>
          <a:p>
            <a:pPr>
              <a:buNone/>
            </a:pPr>
            <a:endParaRPr lang="es-CR" sz="2400" dirty="0" smtClean="0"/>
          </a:p>
          <a:p>
            <a:pPr>
              <a:buNone/>
            </a:pPr>
            <a:r>
              <a:rPr lang="es-CR" sz="2400" dirty="0" smtClean="0"/>
              <a:t>	Por ejemplo, sea “A” el siguiente conjunto, constituido por los siguientes elementos.</a:t>
            </a:r>
          </a:p>
          <a:p>
            <a:pPr>
              <a:buNone/>
            </a:pPr>
            <a:endParaRPr lang="es-CR" sz="2400" dirty="0" smtClean="0"/>
          </a:p>
          <a:p>
            <a:pPr>
              <a:buNone/>
            </a:pPr>
            <a:r>
              <a:rPr lang="es-CR" sz="2400" dirty="0" smtClean="0"/>
              <a:t> A= {Sra. Allen; Sta. Brown; Sr. Smith; Sr. Walker}. ¿Un elemento?</a:t>
            </a:r>
          </a:p>
        </p:txBody>
      </p:sp>
      <p:sp>
        <p:nvSpPr>
          <p:cNvPr id="4" name="1 Título"/>
          <p:cNvSpPr>
            <a:spLocks noGrp="1"/>
          </p:cNvSpPr>
          <p:nvPr>
            <p:ph type="title"/>
          </p:nvPr>
        </p:nvSpPr>
        <p:spPr>
          <a:xfrm>
            <a:off x="0" y="0"/>
            <a:ext cx="9144000" cy="1000108"/>
          </a:xfrm>
        </p:spPr>
        <p:txBody>
          <a:bodyPr>
            <a:normAutofit fontScale="90000"/>
          </a:bodyPr>
          <a:lstStyle/>
          <a:p>
            <a:pPr algn="ctr"/>
            <a:r>
              <a:rPr lang="es-CR" dirty="0" smtClean="0"/>
              <a:t>Ideas fundamentales de las probabilidades</a:t>
            </a:r>
            <a:endParaRPr lang="es-CR" dirty="0"/>
          </a:p>
        </p:txBody>
      </p:sp>
      <p:pic>
        <p:nvPicPr>
          <p:cNvPr id="4098" name="Picture 2" descr="http://www.maravillasdeaprender.com/shop/images/LAM128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24" y="2492896"/>
            <a:ext cx="2088232" cy="23042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l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71406" y="1214422"/>
            <a:ext cx="9072594" cy="5286412"/>
          </a:xfrm>
        </p:spPr>
        <p:txBody>
          <a:bodyPr/>
          <a:lstStyle/>
          <a:p>
            <a:pPr>
              <a:buNone/>
            </a:pPr>
            <a:r>
              <a:rPr lang="es-CR" sz="2400" u="sng" dirty="0" smtClean="0"/>
              <a:t>Conjunto Universal</a:t>
            </a:r>
          </a:p>
          <a:p>
            <a:pPr>
              <a:buNone/>
            </a:pPr>
            <a:r>
              <a:rPr lang="es-CR" sz="2400" dirty="0" smtClean="0"/>
              <a:t>“Es el conjunto más extenso por el cual hay interés en un análisis dado”.</a:t>
            </a:r>
          </a:p>
          <a:p>
            <a:pPr>
              <a:buNone/>
            </a:pPr>
            <a:r>
              <a:rPr lang="es-CR" sz="2400" dirty="0" smtClean="0"/>
              <a:t>La definición de conjunto universal generalmente se indica por medio de una U.</a:t>
            </a:r>
          </a:p>
          <a:p>
            <a:pPr>
              <a:buNone/>
            </a:pPr>
            <a:endParaRPr lang="es-CR" dirty="0" smtClean="0"/>
          </a:p>
          <a:p>
            <a:pPr>
              <a:buNone/>
            </a:pPr>
            <a:endParaRPr lang="es-CR" dirty="0" smtClean="0"/>
          </a:p>
          <a:p>
            <a:pPr>
              <a:buNone/>
            </a:pPr>
            <a:endParaRPr lang="es-CR" u="sng" dirty="0"/>
          </a:p>
        </p:txBody>
      </p:sp>
      <p:sp>
        <p:nvSpPr>
          <p:cNvPr id="6" name="1 Título"/>
          <p:cNvSpPr>
            <a:spLocks noGrp="1"/>
          </p:cNvSpPr>
          <p:nvPr>
            <p:ph type="title"/>
          </p:nvPr>
        </p:nvSpPr>
        <p:spPr>
          <a:xfrm>
            <a:off x="0" y="0"/>
            <a:ext cx="9144000" cy="1000108"/>
          </a:xfrm>
        </p:spPr>
        <p:txBody>
          <a:bodyPr>
            <a:normAutofit fontScale="90000"/>
          </a:bodyPr>
          <a:lstStyle/>
          <a:p>
            <a:pPr algn="ctr"/>
            <a:r>
              <a:rPr lang="es-CR" dirty="0" smtClean="0"/>
              <a:t>Ideas fundamentales de las probabilidades</a:t>
            </a:r>
            <a:endParaRPr lang="es-CR" dirty="0"/>
          </a:p>
        </p:txBody>
      </p:sp>
      <p:sp>
        <p:nvSpPr>
          <p:cNvPr id="7" name="6 Elipse"/>
          <p:cNvSpPr/>
          <p:nvPr/>
        </p:nvSpPr>
        <p:spPr>
          <a:xfrm>
            <a:off x="2500298" y="3429000"/>
            <a:ext cx="4572032" cy="3071834"/>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CR"/>
          </a:p>
        </p:txBody>
      </p:sp>
      <p:sp>
        <p:nvSpPr>
          <p:cNvPr id="8" name="7 Elipse"/>
          <p:cNvSpPr/>
          <p:nvPr/>
        </p:nvSpPr>
        <p:spPr>
          <a:xfrm>
            <a:off x="3714744" y="5286388"/>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9" name="8 Elipse"/>
          <p:cNvSpPr/>
          <p:nvPr/>
        </p:nvSpPr>
        <p:spPr>
          <a:xfrm>
            <a:off x="4857752" y="3571876"/>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0" name="9 Elipse"/>
          <p:cNvSpPr/>
          <p:nvPr/>
        </p:nvSpPr>
        <p:spPr>
          <a:xfrm>
            <a:off x="4429124" y="4357694"/>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1" name="10 Elipse"/>
          <p:cNvSpPr/>
          <p:nvPr/>
        </p:nvSpPr>
        <p:spPr>
          <a:xfrm>
            <a:off x="4857752" y="5500702"/>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2" name="11 Elipse"/>
          <p:cNvSpPr/>
          <p:nvPr/>
        </p:nvSpPr>
        <p:spPr>
          <a:xfrm>
            <a:off x="5572132" y="4714884"/>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3" name="12 Arco"/>
          <p:cNvSpPr/>
          <p:nvPr/>
        </p:nvSpPr>
        <p:spPr>
          <a:xfrm>
            <a:off x="1357290" y="3500438"/>
            <a:ext cx="2071702" cy="785818"/>
          </a:xfrm>
          <a:prstGeom prst="arc">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s-CR"/>
          </a:p>
        </p:txBody>
      </p:sp>
      <p:sp>
        <p:nvSpPr>
          <p:cNvPr id="14" name="13 Rectángulo redondeado"/>
          <p:cNvSpPr/>
          <p:nvPr/>
        </p:nvSpPr>
        <p:spPr>
          <a:xfrm>
            <a:off x="157138" y="3086104"/>
            <a:ext cx="2128846" cy="91440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3600" dirty="0" smtClean="0"/>
              <a:t>Conjunto</a:t>
            </a:r>
            <a:endParaRPr lang="es-CR" sz="3600" dirty="0"/>
          </a:p>
        </p:txBody>
      </p:sp>
      <p:sp>
        <p:nvSpPr>
          <p:cNvPr id="15" name="14 Elipse"/>
          <p:cNvSpPr/>
          <p:nvPr/>
        </p:nvSpPr>
        <p:spPr>
          <a:xfrm>
            <a:off x="3571868" y="4214818"/>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cxnSp>
        <p:nvCxnSpPr>
          <p:cNvPr id="16" name="15 Conector recto"/>
          <p:cNvCxnSpPr/>
          <p:nvPr/>
        </p:nvCxnSpPr>
        <p:spPr>
          <a:xfrm rot="10800000">
            <a:off x="1785919" y="4429132"/>
            <a:ext cx="1857388" cy="0"/>
          </a:xfrm>
          <a:prstGeom prst="line">
            <a:avLst/>
          </a:prstGeom>
        </p:spPr>
        <p:style>
          <a:lnRef idx="2">
            <a:schemeClr val="accent5"/>
          </a:lnRef>
          <a:fillRef idx="0">
            <a:schemeClr val="accent5"/>
          </a:fillRef>
          <a:effectRef idx="1">
            <a:schemeClr val="accent5"/>
          </a:effectRef>
          <a:fontRef idx="minor">
            <a:schemeClr val="tx1"/>
          </a:fontRef>
        </p:style>
      </p:cxnSp>
      <p:sp>
        <p:nvSpPr>
          <p:cNvPr id="17" name="16 Rectángulo redondeado"/>
          <p:cNvSpPr/>
          <p:nvPr/>
        </p:nvSpPr>
        <p:spPr>
          <a:xfrm>
            <a:off x="142844" y="4143380"/>
            <a:ext cx="2128846" cy="91440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3600" dirty="0" smtClean="0"/>
              <a:t>Elemento</a:t>
            </a:r>
            <a:endParaRPr lang="es-CR" sz="3600" dirty="0"/>
          </a:p>
        </p:txBody>
      </p:sp>
      <p:cxnSp>
        <p:nvCxnSpPr>
          <p:cNvPr id="19" name="18 Conector recto"/>
          <p:cNvCxnSpPr/>
          <p:nvPr/>
        </p:nvCxnSpPr>
        <p:spPr>
          <a:xfrm rot="5400000">
            <a:off x="-1714543" y="4786322"/>
            <a:ext cx="3571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19 Conector recto"/>
          <p:cNvCxnSpPr/>
          <p:nvPr/>
        </p:nvCxnSpPr>
        <p:spPr>
          <a:xfrm rot="5400000">
            <a:off x="7072330" y="4786322"/>
            <a:ext cx="3571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21 Conector recto"/>
          <p:cNvCxnSpPr/>
          <p:nvPr/>
        </p:nvCxnSpPr>
        <p:spPr>
          <a:xfrm rot="10800000">
            <a:off x="0" y="3000372"/>
            <a:ext cx="88582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22 Conector recto"/>
          <p:cNvCxnSpPr/>
          <p:nvPr/>
        </p:nvCxnSpPr>
        <p:spPr>
          <a:xfrm rot="10800000">
            <a:off x="0" y="6572272"/>
            <a:ext cx="8858282"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25 Elipse"/>
          <p:cNvSpPr/>
          <p:nvPr/>
        </p:nvSpPr>
        <p:spPr>
          <a:xfrm>
            <a:off x="7072330" y="3429000"/>
            <a:ext cx="642942"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27" name="26 Elipse"/>
          <p:cNvSpPr/>
          <p:nvPr/>
        </p:nvSpPr>
        <p:spPr>
          <a:xfrm>
            <a:off x="6929454" y="5857892"/>
            <a:ext cx="642942"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28" name="27 Elipse"/>
          <p:cNvSpPr/>
          <p:nvPr/>
        </p:nvSpPr>
        <p:spPr>
          <a:xfrm>
            <a:off x="7358082" y="4857760"/>
            <a:ext cx="642942"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29" name="28 Elipse"/>
          <p:cNvSpPr/>
          <p:nvPr/>
        </p:nvSpPr>
        <p:spPr>
          <a:xfrm>
            <a:off x="7929586" y="5929330"/>
            <a:ext cx="642942"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30" name="29 Elipse"/>
          <p:cNvSpPr/>
          <p:nvPr/>
        </p:nvSpPr>
        <p:spPr>
          <a:xfrm>
            <a:off x="8001024" y="3929066"/>
            <a:ext cx="642942"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31" name="30 Rectángulo redondeado"/>
          <p:cNvSpPr/>
          <p:nvPr/>
        </p:nvSpPr>
        <p:spPr>
          <a:xfrm>
            <a:off x="142844" y="5572140"/>
            <a:ext cx="2128846" cy="91440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3600" dirty="0" smtClean="0"/>
              <a:t>Universo</a:t>
            </a:r>
            <a:endParaRPr lang="es-CR" sz="3600" dirty="0"/>
          </a:p>
        </p:txBody>
      </p:sp>
    </p:spTree>
  </p:cSld>
  <p:clrMapOvr>
    <a:masterClrMapping/>
  </p:clrMapOvr>
  <p:transition>
    <p:pull dir="l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142984"/>
            <a:ext cx="7772400" cy="5429288"/>
          </a:xfrm>
        </p:spPr>
        <p:txBody>
          <a:bodyPr/>
          <a:lstStyle/>
          <a:p>
            <a:pPr>
              <a:buNone/>
            </a:pPr>
            <a:r>
              <a:rPr lang="es-CR" dirty="0" smtClean="0"/>
              <a:t>	</a:t>
            </a:r>
            <a:r>
              <a:rPr lang="es-CR" sz="2400" u="sng" dirty="0" smtClean="0"/>
              <a:t>Subconjunto</a:t>
            </a:r>
          </a:p>
          <a:p>
            <a:pPr>
              <a:buNone/>
            </a:pPr>
            <a:endParaRPr lang="es-CR" sz="2400" u="sng" dirty="0" smtClean="0"/>
          </a:p>
          <a:p>
            <a:pPr>
              <a:buNone/>
            </a:pPr>
            <a:r>
              <a:rPr lang="es-CR" sz="2400" dirty="0" smtClean="0"/>
              <a:t>Un subconjunto es una porción del conjunto. Formalmente:</a:t>
            </a:r>
          </a:p>
          <a:p>
            <a:pPr>
              <a:buNone/>
            </a:pPr>
            <a:r>
              <a:rPr lang="es-CR" sz="2400" dirty="0" smtClean="0"/>
              <a:t> </a:t>
            </a:r>
            <a:r>
              <a:rPr lang="es-CR" sz="2400" i="1" dirty="0" smtClean="0"/>
              <a:t>	“El conjunto de B es un subconjunto de A si cada elemento de también un elemento de A”</a:t>
            </a:r>
            <a:endParaRPr lang="es-CR" sz="2400" i="1" dirty="0"/>
          </a:p>
        </p:txBody>
      </p:sp>
      <p:sp>
        <p:nvSpPr>
          <p:cNvPr id="4" name="1 Título"/>
          <p:cNvSpPr>
            <a:spLocks noGrp="1"/>
          </p:cNvSpPr>
          <p:nvPr>
            <p:ph type="title"/>
          </p:nvPr>
        </p:nvSpPr>
        <p:spPr>
          <a:xfrm>
            <a:off x="0" y="0"/>
            <a:ext cx="9144000" cy="1000108"/>
          </a:xfrm>
        </p:spPr>
        <p:txBody>
          <a:bodyPr>
            <a:normAutofit fontScale="90000"/>
          </a:bodyPr>
          <a:lstStyle/>
          <a:p>
            <a:pPr algn="ctr"/>
            <a:r>
              <a:rPr lang="es-CR" dirty="0" smtClean="0"/>
              <a:t>Ideas fundamentales de las probabilidades</a:t>
            </a:r>
            <a:endParaRPr lang="es-CR" dirty="0"/>
          </a:p>
        </p:txBody>
      </p:sp>
      <p:sp>
        <p:nvSpPr>
          <p:cNvPr id="5" name="4 Elipse"/>
          <p:cNvSpPr/>
          <p:nvPr/>
        </p:nvSpPr>
        <p:spPr>
          <a:xfrm>
            <a:off x="3500430" y="3357562"/>
            <a:ext cx="4572032" cy="3071834"/>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s-CR"/>
          </a:p>
        </p:txBody>
      </p:sp>
      <p:sp>
        <p:nvSpPr>
          <p:cNvPr id="6" name="5 Elipse"/>
          <p:cNvSpPr/>
          <p:nvPr/>
        </p:nvSpPr>
        <p:spPr>
          <a:xfrm>
            <a:off x="4714876" y="5214950"/>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7" name="6 Elipse"/>
          <p:cNvSpPr/>
          <p:nvPr/>
        </p:nvSpPr>
        <p:spPr>
          <a:xfrm>
            <a:off x="5857884" y="3500438"/>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9" name="8 Elipse"/>
          <p:cNvSpPr/>
          <p:nvPr/>
        </p:nvSpPr>
        <p:spPr>
          <a:xfrm>
            <a:off x="6286512" y="5572140"/>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0" name="9 Elipse"/>
          <p:cNvSpPr/>
          <p:nvPr/>
        </p:nvSpPr>
        <p:spPr>
          <a:xfrm>
            <a:off x="7143768" y="4643446"/>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1" name="10 Elipse"/>
          <p:cNvSpPr/>
          <p:nvPr/>
        </p:nvSpPr>
        <p:spPr>
          <a:xfrm>
            <a:off x="4572000" y="4143380"/>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2" name="11 Elipse"/>
          <p:cNvSpPr/>
          <p:nvPr/>
        </p:nvSpPr>
        <p:spPr>
          <a:xfrm>
            <a:off x="3714744" y="3714752"/>
            <a:ext cx="2214578" cy="214314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CR"/>
          </a:p>
        </p:txBody>
      </p:sp>
      <p:sp>
        <p:nvSpPr>
          <p:cNvPr id="13" name="12 Elipse"/>
          <p:cNvSpPr/>
          <p:nvPr/>
        </p:nvSpPr>
        <p:spPr>
          <a:xfrm>
            <a:off x="4071934" y="4071942"/>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4" name="13 Elipse"/>
          <p:cNvSpPr/>
          <p:nvPr/>
        </p:nvSpPr>
        <p:spPr>
          <a:xfrm>
            <a:off x="4500562" y="4786322"/>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5" name="14 Elipse"/>
          <p:cNvSpPr/>
          <p:nvPr/>
        </p:nvSpPr>
        <p:spPr>
          <a:xfrm>
            <a:off x="6572264" y="3929066"/>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6" name="15 Elipse"/>
          <p:cNvSpPr/>
          <p:nvPr/>
        </p:nvSpPr>
        <p:spPr>
          <a:xfrm>
            <a:off x="6143636" y="4572008"/>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7" name="16 Elipse"/>
          <p:cNvSpPr/>
          <p:nvPr/>
        </p:nvSpPr>
        <p:spPr>
          <a:xfrm>
            <a:off x="5000628" y="4071942"/>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8" name="17 Elipse"/>
          <p:cNvSpPr/>
          <p:nvPr/>
        </p:nvSpPr>
        <p:spPr>
          <a:xfrm>
            <a:off x="5429256" y="5715016"/>
            <a:ext cx="571504"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9" name="18 Rectángulo redondeado"/>
          <p:cNvSpPr/>
          <p:nvPr/>
        </p:nvSpPr>
        <p:spPr>
          <a:xfrm>
            <a:off x="857224" y="5500702"/>
            <a:ext cx="2128846" cy="91440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3600" dirty="0" smtClean="0"/>
              <a:t>Conjunto</a:t>
            </a:r>
            <a:endParaRPr lang="es-CR" sz="3600" dirty="0"/>
          </a:p>
        </p:txBody>
      </p:sp>
      <p:sp>
        <p:nvSpPr>
          <p:cNvPr id="20" name="19 Arco"/>
          <p:cNvSpPr/>
          <p:nvPr/>
        </p:nvSpPr>
        <p:spPr>
          <a:xfrm>
            <a:off x="500034" y="6072206"/>
            <a:ext cx="4500594" cy="214314"/>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1" name="20 Rectángulo redondeado"/>
          <p:cNvSpPr/>
          <p:nvPr/>
        </p:nvSpPr>
        <p:spPr>
          <a:xfrm>
            <a:off x="500034" y="4071942"/>
            <a:ext cx="2414566" cy="91440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3600" dirty="0" smtClean="0"/>
              <a:t>Subconjunto</a:t>
            </a:r>
            <a:endParaRPr lang="es-CR" sz="3600" dirty="0"/>
          </a:p>
        </p:txBody>
      </p:sp>
      <p:sp>
        <p:nvSpPr>
          <p:cNvPr id="22" name="21 Arco"/>
          <p:cNvSpPr/>
          <p:nvPr/>
        </p:nvSpPr>
        <p:spPr>
          <a:xfrm>
            <a:off x="928662" y="4714884"/>
            <a:ext cx="3571900" cy="14287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Tree>
  </p:cSld>
  <p:clrMapOvr>
    <a:masterClrMapping/>
  </p:clrMapOvr>
  <p:transition>
    <p:pull dir="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1071546"/>
            <a:ext cx="5482538" cy="5500726"/>
          </a:xfrm>
        </p:spPr>
        <p:txBody>
          <a:bodyPr>
            <a:normAutofit/>
          </a:bodyPr>
          <a:lstStyle/>
          <a:p>
            <a:pPr algn="just"/>
            <a:r>
              <a:rPr lang="es-CR" sz="2400" dirty="0" smtClean="0"/>
              <a:t>Por ejemplo, según el ejemplo de hace un rato:</a:t>
            </a:r>
          </a:p>
          <a:p>
            <a:pPr algn="just">
              <a:buNone/>
            </a:pPr>
            <a:endParaRPr lang="es-CR" sz="2400" dirty="0" smtClean="0"/>
          </a:p>
          <a:p>
            <a:pPr algn="just">
              <a:buNone/>
            </a:pPr>
            <a:r>
              <a:rPr lang="es-CR" sz="2400" dirty="0" smtClean="0"/>
              <a:t>A= {Sra. Allen; Sta. Brown; Sr. Smith; Sr. Walker}</a:t>
            </a:r>
          </a:p>
          <a:p>
            <a:pPr algn="just">
              <a:buNone/>
            </a:pPr>
            <a:endParaRPr lang="es-CR" sz="2400" dirty="0" smtClean="0"/>
          </a:p>
          <a:p>
            <a:pPr algn="just">
              <a:buNone/>
            </a:pPr>
            <a:r>
              <a:rPr lang="es-CR" sz="2400" dirty="0" smtClean="0"/>
              <a:t>Y sea </a:t>
            </a:r>
          </a:p>
          <a:p>
            <a:pPr algn="just">
              <a:buNone/>
            </a:pPr>
            <a:endParaRPr lang="es-CR" sz="2400" dirty="0" smtClean="0"/>
          </a:p>
          <a:p>
            <a:pPr algn="just">
              <a:buNone/>
            </a:pPr>
            <a:r>
              <a:rPr lang="es-CR" sz="2400" dirty="0" smtClean="0"/>
              <a:t>B= {Sra. Allen; Sta. Brown; Sr. Smith}</a:t>
            </a:r>
          </a:p>
          <a:p>
            <a:pPr algn="just">
              <a:buNone/>
            </a:pPr>
            <a:endParaRPr lang="es-CR" sz="2400" dirty="0" smtClean="0"/>
          </a:p>
          <a:p>
            <a:pPr algn="just">
              <a:buNone/>
            </a:pPr>
            <a:r>
              <a:rPr lang="es-CR" sz="2400" dirty="0" smtClean="0"/>
              <a:t>Como se puede notar,  todos los elementos que están dentro de B, también están contenidos en A, por lo que B es un subconjunto de A</a:t>
            </a:r>
          </a:p>
          <a:p>
            <a:pPr algn="just">
              <a:buNone/>
            </a:pPr>
            <a:endParaRPr lang="es-CR" sz="2400" dirty="0"/>
          </a:p>
        </p:txBody>
      </p:sp>
      <p:sp>
        <p:nvSpPr>
          <p:cNvPr id="4" name="1 Título"/>
          <p:cNvSpPr>
            <a:spLocks noGrp="1"/>
          </p:cNvSpPr>
          <p:nvPr>
            <p:ph type="title"/>
          </p:nvPr>
        </p:nvSpPr>
        <p:spPr>
          <a:xfrm>
            <a:off x="0" y="0"/>
            <a:ext cx="9144000" cy="1000108"/>
          </a:xfrm>
        </p:spPr>
        <p:txBody>
          <a:bodyPr>
            <a:normAutofit fontScale="90000"/>
          </a:bodyPr>
          <a:lstStyle/>
          <a:p>
            <a:pPr algn="ctr"/>
            <a:r>
              <a:rPr lang="es-CR" dirty="0" smtClean="0"/>
              <a:t>Ideas fundamentales de las probabilidades</a:t>
            </a:r>
            <a:endParaRPr lang="es-CR" dirty="0"/>
          </a:p>
        </p:txBody>
      </p:sp>
      <p:pic>
        <p:nvPicPr>
          <p:cNvPr id="55298" name="Picture 2" descr="http://foroalfa.org/articulos/images/Luciano_Cassisi/subconjuntos_de_la_grafica.jpg"/>
          <p:cNvPicPr>
            <a:picLocks noChangeAspect="1" noChangeArrowheads="1"/>
          </p:cNvPicPr>
          <p:nvPr/>
        </p:nvPicPr>
        <p:blipFill>
          <a:blip r:embed="rId2" cstate="print"/>
          <a:srcRect/>
          <a:stretch>
            <a:fillRect/>
          </a:stretch>
        </p:blipFill>
        <p:spPr bwMode="auto">
          <a:xfrm>
            <a:off x="5839696" y="1000108"/>
            <a:ext cx="3088806" cy="3071834"/>
          </a:xfrm>
          <a:prstGeom prst="rect">
            <a:avLst/>
          </a:prstGeom>
          <a:noFill/>
        </p:spPr>
      </p:pic>
      <p:pic>
        <p:nvPicPr>
          <p:cNvPr id="55300" name="Picture 4" descr="http://cms7.blogia.com/blogs/y/yo/yol/yolaalarcon/upload/20080919132027-subconjunto.png"/>
          <p:cNvPicPr>
            <a:picLocks noChangeAspect="1" noChangeArrowheads="1"/>
          </p:cNvPicPr>
          <p:nvPr/>
        </p:nvPicPr>
        <p:blipFill>
          <a:blip r:embed="rId3" cstate="print"/>
          <a:srcRect/>
          <a:stretch>
            <a:fillRect/>
          </a:stretch>
        </p:blipFill>
        <p:spPr bwMode="auto">
          <a:xfrm>
            <a:off x="6072198" y="4357694"/>
            <a:ext cx="2857500" cy="2500306"/>
          </a:xfrm>
          <a:prstGeom prst="rect">
            <a:avLst/>
          </a:prstGeom>
          <a:noFill/>
        </p:spPr>
      </p:pic>
    </p:spTree>
  </p:cSld>
  <p:clrMapOvr>
    <a:masterClrMapping/>
  </p:clrMapOvr>
  <p:transition>
    <p:pull dir="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4282" y="0"/>
            <a:ext cx="8715436" cy="928670"/>
          </a:xfrm>
        </p:spPr>
        <p:txBody>
          <a:bodyPr/>
          <a:lstStyle/>
          <a:p>
            <a:pPr algn="ctr"/>
            <a:r>
              <a:rPr lang="es-CR" dirty="0" smtClean="0"/>
              <a:t>Conceptos</a:t>
            </a:r>
            <a:endParaRPr lang="es-CR" dirty="0"/>
          </a:p>
        </p:txBody>
      </p:sp>
      <p:sp>
        <p:nvSpPr>
          <p:cNvPr id="3" name="2 Marcador de contenido"/>
          <p:cNvSpPr>
            <a:spLocks noGrp="1"/>
          </p:cNvSpPr>
          <p:nvPr>
            <p:ph sz="quarter" idx="1"/>
          </p:nvPr>
        </p:nvSpPr>
        <p:spPr>
          <a:xfrm>
            <a:off x="142844" y="1000108"/>
            <a:ext cx="5929354" cy="5643602"/>
          </a:xfrm>
        </p:spPr>
        <p:txBody>
          <a:bodyPr>
            <a:normAutofit/>
          </a:bodyPr>
          <a:lstStyle/>
          <a:p>
            <a:pPr>
              <a:buNone/>
            </a:pPr>
            <a:r>
              <a:rPr lang="es-CR" sz="2400" u="sng" dirty="0" smtClean="0"/>
              <a:t>Experimento</a:t>
            </a:r>
          </a:p>
          <a:p>
            <a:pPr>
              <a:buNone/>
            </a:pPr>
            <a:r>
              <a:rPr lang="es-CR" sz="2400" dirty="0" smtClean="0"/>
              <a:t>Proceso o actividad que conduce a un resultado u observación.</a:t>
            </a:r>
          </a:p>
          <a:p>
            <a:pPr>
              <a:buNone/>
            </a:pPr>
            <a:endParaRPr lang="es-CR" sz="2400" dirty="0" smtClean="0"/>
          </a:p>
          <a:p>
            <a:pPr>
              <a:buNone/>
            </a:pPr>
            <a:r>
              <a:rPr lang="es-CR" sz="2400" dirty="0" smtClean="0"/>
              <a:t>Ejemplos: </a:t>
            </a:r>
          </a:p>
          <a:p>
            <a:pPr>
              <a:buNone/>
            </a:pPr>
            <a:endParaRPr lang="es-CR" sz="2400" dirty="0" smtClean="0"/>
          </a:p>
          <a:p>
            <a:pPr>
              <a:buNone/>
            </a:pPr>
            <a:r>
              <a:rPr lang="es-CR" sz="2400" dirty="0" smtClean="0"/>
              <a:t>-Lanzar un dado</a:t>
            </a:r>
          </a:p>
          <a:p>
            <a:pPr>
              <a:buNone/>
            </a:pPr>
            <a:r>
              <a:rPr lang="es-CR" sz="2400" dirty="0" smtClean="0"/>
              <a:t>-Lanzar dos dados</a:t>
            </a:r>
          </a:p>
          <a:p>
            <a:pPr>
              <a:buNone/>
            </a:pPr>
            <a:r>
              <a:rPr lang="es-CR" sz="2400" dirty="0" smtClean="0"/>
              <a:t>-Jugar cartas (</a:t>
            </a:r>
            <a:r>
              <a:rPr lang="es-CR" sz="2400" dirty="0" err="1" smtClean="0"/>
              <a:t>poker</a:t>
            </a:r>
            <a:r>
              <a:rPr lang="es-CR" sz="2400" dirty="0" smtClean="0"/>
              <a:t>).</a:t>
            </a:r>
          </a:p>
          <a:p>
            <a:pPr>
              <a:buNone/>
            </a:pPr>
            <a:r>
              <a:rPr lang="es-CR" sz="2400" dirty="0" smtClean="0"/>
              <a:t>-Tirar una moneda al aire.</a:t>
            </a:r>
          </a:p>
          <a:p>
            <a:pPr>
              <a:buNone/>
            </a:pPr>
            <a:r>
              <a:rPr lang="es-CR" sz="2400" dirty="0" smtClean="0"/>
              <a:t>-Tirar la </a:t>
            </a:r>
            <a:r>
              <a:rPr lang="es-CR" sz="2400" dirty="0" err="1" smtClean="0"/>
              <a:t>monerda</a:t>
            </a:r>
            <a:r>
              <a:rPr lang="es-CR" sz="2400" dirty="0" smtClean="0"/>
              <a:t> 3 veces al aire</a:t>
            </a:r>
          </a:p>
        </p:txBody>
      </p:sp>
      <p:pic>
        <p:nvPicPr>
          <p:cNvPr id="53250" name="Picture 2" descr="http://www.sistemasderuleta.com/blog/wp-content/uploads/2009/07/dados.jpg"/>
          <p:cNvPicPr>
            <a:picLocks noChangeAspect="1" noChangeArrowheads="1"/>
          </p:cNvPicPr>
          <p:nvPr/>
        </p:nvPicPr>
        <p:blipFill>
          <a:blip r:embed="rId2" cstate="print"/>
          <a:srcRect/>
          <a:stretch>
            <a:fillRect/>
          </a:stretch>
        </p:blipFill>
        <p:spPr bwMode="auto">
          <a:xfrm>
            <a:off x="5929322" y="1500174"/>
            <a:ext cx="2667000" cy="2686051"/>
          </a:xfrm>
          <a:prstGeom prst="rect">
            <a:avLst/>
          </a:prstGeom>
          <a:noFill/>
        </p:spPr>
      </p:pic>
      <p:pic>
        <p:nvPicPr>
          <p:cNvPr id="6" name="Picture 2" descr="http://www.yonkisdelpoker.com/wp/wp-content/uploads/2010/02/cara-de-poker.jpg"/>
          <p:cNvPicPr>
            <a:picLocks noChangeAspect="1" noChangeArrowheads="1"/>
          </p:cNvPicPr>
          <p:nvPr/>
        </p:nvPicPr>
        <p:blipFill>
          <a:blip r:embed="rId3" cstate="print"/>
          <a:srcRect/>
          <a:stretch>
            <a:fillRect/>
          </a:stretch>
        </p:blipFill>
        <p:spPr bwMode="auto">
          <a:xfrm>
            <a:off x="5072066" y="4286256"/>
            <a:ext cx="3571900" cy="2357454"/>
          </a:xfrm>
          <a:prstGeom prst="rect">
            <a:avLst/>
          </a:prstGeom>
          <a:noFill/>
        </p:spPr>
      </p:pic>
    </p:spTree>
  </p:cSld>
  <p:clrMapOvr>
    <a:masterClrMapping/>
  </p:clrMapOvr>
  <p:transition>
    <p:zoom dir="in"/>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85860"/>
            <a:ext cx="5715040" cy="5214974"/>
          </a:xfrm>
        </p:spPr>
        <p:txBody>
          <a:bodyPr>
            <a:normAutofit/>
          </a:bodyPr>
          <a:lstStyle/>
          <a:p>
            <a:pPr>
              <a:buNone/>
            </a:pPr>
            <a:r>
              <a:rPr lang="es-CR" sz="2400" u="sng" dirty="0" smtClean="0"/>
              <a:t>Evento</a:t>
            </a:r>
          </a:p>
          <a:p>
            <a:pPr>
              <a:buNone/>
            </a:pPr>
            <a:r>
              <a:rPr lang="es-CR" sz="2400" dirty="0" smtClean="0"/>
              <a:t>	A cada uno de los posibles resultados de un experimento, se le conoce como eventos.</a:t>
            </a:r>
          </a:p>
          <a:p>
            <a:pPr>
              <a:buNone/>
            </a:pPr>
            <a:endParaRPr lang="es-CR" sz="2400" dirty="0" smtClean="0"/>
          </a:p>
          <a:p>
            <a:pPr>
              <a:buNone/>
            </a:pPr>
            <a:r>
              <a:rPr lang="es-CR" sz="2400" dirty="0" smtClean="0"/>
              <a:t>Ejemplos:</a:t>
            </a:r>
          </a:p>
          <a:p>
            <a:pPr>
              <a:buNone/>
            </a:pPr>
            <a:endParaRPr lang="es-CR" sz="2400" dirty="0" smtClean="0"/>
          </a:p>
          <a:p>
            <a:pPr>
              <a:buNone/>
            </a:pPr>
            <a:r>
              <a:rPr lang="es-CR" sz="2400" dirty="0" smtClean="0"/>
              <a:t>-Obtener un “4” en el lanzamiento de un dado. </a:t>
            </a:r>
          </a:p>
          <a:p>
            <a:pPr>
              <a:buNone/>
            </a:pPr>
            <a:r>
              <a:rPr lang="es-CR" sz="2400" dirty="0" smtClean="0"/>
              <a:t>-  Obtener un “4” y un “2” en el lanzamiento de dos dados</a:t>
            </a:r>
          </a:p>
          <a:p>
            <a:pPr>
              <a:buNone/>
            </a:pPr>
            <a:r>
              <a:rPr lang="es-CR" sz="2400" dirty="0" smtClean="0"/>
              <a:t>-Obtener 3 “As” y dos “Reyes”</a:t>
            </a:r>
          </a:p>
          <a:p>
            <a:pPr>
              <a:buNone/>
            </a:pPr>
            <a:r>
              <a:rPr lang="es-CR" sz="2400" dirty="0" smtClean="0"/>
              <a:t>-Obtener un escudo.</a:t>
            </a:r>
          </a:p>
          <a:p>
            <a:pPr>
              <a:buNone/>
            </a:pPr>
            <a:r>
              <a:rPr lang="es-CR" sz="2400" dirty="0" smtClean="0"/>
              <a:t>-obtener dos escudos y una corona.</a:t>
            </a:r>
            <a:endParaRPr lang="es-CR" sz="2400" dirty="0"/>
          </a:p>
        </p:txBody>
      </p:sp>
      <p:sp>
        <p:nvSpPr>
          <p:cNvPr id="4" name="1 Título"/>
          <p:cNvSpPr>
            <a:spLocks noGrp="1"/>
          </p:cNvSpPr>
          <p:nvPr>
            <p:ph type="title"/>
          </p:nvPr>
        </p:nvSpPr>
        <p:spPr>
          <a:xfrm>
            <a:off x="214282" y="0"/>
            <a:ext cx="8715436" cy="1143000"/>
          </a:xfrm>
        </p:spPr>
        <p:txBody>
          <a:bodyPr/>
          <a:lstStyle/>
          <a:p>
            <a:pPr algn="ctr"/>
            <a:r>
              <a:rPr lang="es-CR" dirty="0" smtClean="0"/>
              <a:t>Conceptos</a:t>
            </a:r>
            <a:endParaRPr lang="es-CR" dirty="0"/>
          </a:p>
        </p:txBody>
      </p:sp>
      <p:pic>
        <p:nvPicPr>
          <p:cNvPr id="5" name="Picture 4" descr="http://jmhernandez.files.wordpress.com/2009/06/dados-thumb851750.jpg"/>
          <p:cNvPicPr>
            <a:picLocks noChangeAspect="1" noChangeArrowheads="1"/>
          </p:cNvPicPr>
          <p:nvPr/>
        </p:nvPicPr>
        <p:blipFill>
          <a:blip r:embed="rId2" cstate="print"/>
          <a:srcRect/>
          <a:stretch>
            <a:fillRect/>
          </a:stretch>
        </p:blipFill>
        <p:spPr bwMode="auto">
          <a:xfrm>
            <a:off x="6072198" y="1000108"/>
            <a:ext cx="2857520" cy="1928826"/>
          </a:xfrm>
          <a:prstGeom prst="rect">
            <a:avLst/>
          </a:prstGeom>
          <a:noFill/>
        </p:spPr>
      </p:pic>
      <p:pic>
        <p:nvPicPr>
          <p:cNvPr id="52228" name="Picture 4" descr="http://republicadominicana.pordescubrir.com/wp-content/uploads/2008/06/watt-boyce-poker-9960983.jpg"/>
          <p:cNvPicPr>
            <a:picLocks noChangeAspect="1" noChangeArrowheads="1"/>
          </p:cNvPicPr>
          <p:nvPr/>
        </p:nvPicPr>
        <p:blipFill>
          <a:blip r:embed="rId3" cstate="print"/>
          <a:srcRect/>
          <a:stretch>
            <a:fillRect/>
          </a:stretch>
        </p:blipFill>
        <p:spPr bwMode="auto">
          <a:xfrm>
            <a:off x="6072198" y="2928934"/>
            <a:ext cx="2761706" cy="3690959"/>
          </a:xfrm>
          <a:prstGeom prst="rect">
            <a:avLst/>
          </a:prstGeom>
          <a:noFill/>
        </p:spPr>
      </p:pic>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071546"/>
            <a:ext cx="5726440" cy="5786454"/>
          </a:xfrm>
        </p:spPr>
        <p:txBody>
          <a:bodyPr>
            <a:normAutofit/>
          </a:bodyPr>
          <a:lstStyle/>
          <a:p>
            <a:pPr>
              <a:buNone/>
            </a:pPr>
            <a:r>
              <a:rPr lang="es-CR" sz="2400" u="sng" dirty="0" smtClean="0"/>
              <a:t>Eventos mutuamente excluyentes</a:t>
            </a:r>
          </a:p>
          <a:p>
            <a:pPr>
              <a:buNone/>
            </a:pPr>
            <a:endParaRPr lang="es-CR" sz="2400" u="sng" dirty="0" smtClean="0"/>
          </a:p>
          <a:p>
            <a:pPr>
              <a:buNone/>
            </a:pPr>
            <a:r>
              <a:rPr lang="es-CR" sz="2400" dirty="0" smtClean="0"/>
              <a:t>	Dos o más eventos son mutuamente excluyentes o disjuntos, si no pueden ocurrir simultáneamente. Es decir, la ocurrencia de un evento impide automáticamente la ocurrencia del otro evento (o eventos).</a:t>
            </a:r>
          </a:p>
          <a:p>
            <a:pPr>
              <a:buNone/>
            </a:pPr>
            <a:r>
              <a:rPr lang="es-CR" sz="2400" dirty="0" smtClean="0"/>
              <a:t>	</a:t>
            </a:r>
          </a:p>
          <a:p>
            <a:pPr>
              <a:buNone/>
            </a:pPr>
            <a:r>
              <a:rPr lang="es-CR" sz="2400" dirty="0" smtClean="0"/>
              <a:t>	Ejemplo:</a:t>
            </a:r>
          </a:p>
          <a:p>
            <a:pPr>
              <a:buNone/>
            </a:pPr>
            <a:r>
              <a:rPr lang="es-CR" sz="2400" dirty="0" smtClean="0"/>
              <a:t>	</a:t>
            </a:r>
          </a:p>
          <a:p>
            <a:pPr>
              <a:buNone/>
            </a:pPr>
            <a:r>
              <a:rPr lang="es-CR" sz="2400" dirty="0" smtClean="0"/>
              <a:t>	Al lanzar una moneda solo puede ocurrir que salga cara o sello pero no los dos a la vez, esto quiere decir que estos eventos son excluyentes.</a:t>
            </a:r>
            <a:endParaRPr lang="es-CR" sz="2400" dirty="0"/>
          </a:p>
        </p:txBody>
      </p:sp>
      <p:sp>
        <p:nvSpPr>
          <p:cNvPr id="4" name="1 Título"/>
          <p:cNvSpPr>
            <a:spLocks noGrp="1"/>
          </p:cNvSpPr>
          <p:nvPr>
            <p:ph type="title"/>
          </p:nvPr>
        </p:nvSpPr>
        <p:spPr>
          <a:xfrm>
            <a:off x="214282" y="0"/>
            <a:ext cx="8715436" cy="1000108"/>
          </a:xfrm>
        </p:spPr>
        <p:txBody>
          <a:bodyPr/>
          <a:lstStyle/>
          <a:p>
            <a:pPr algn="ctr"/>
            <a:r>
              <a:rPr lang="es-CR" dirty="0" smtClean="0"/>
              <a:t>Conceptos</a:t>
            </a:r>
            <a:endParaRPr lang="es-CR" dirty="0"/>
          </a:p>
        </p:txBody>
      </p:sp>
      <p:pic>
        <p:nvPicPr>
          <p:cNvPr id="51202" name="Picture 2" descr="moneda en una mesa, por Carlos Paes, http://www.sxc.hu/profile/wax115"/>
          <p:cNvPicPr>
            <a:picLocks noChangeAspect="1" noChangeArrowheads="1"/>
          </p:cNvPicPr>
          <p:nvPr/>
        </p:nvPicPr>
        <p:blipFill>
          <a:blip r:embed="rId2" cstate="print"/>
          <a:srcRect/>
          <a:stretch>
            <a:fillRect/>
          </a:stretch>
        </p:blipFill>
        <p:spPr bwMode="auto">
          <a:xfrm>
            <a:off x="6286512" y="1214422"/>
            <a:ext cx="2643206" cy="2571768"/>
          </a:xfrm>
          <a:prstGeom prst="rect">
            <a:avLst/>
          </a:prstGeom>
          <a:noFill/>
        </p:spPr>
      </p:pic>
      <p:pic>
        <p:nvPicPr>
          <p:cNvPr id="51204" name="Picture 4" descr="http://cms7.blogia.com/blogs/p/pe/pep/pepedosmil/upload/20080609040441-cara-cruz.jpg"/>
          <p:cNvPicPr>
            <a:picLocks noChangeAspect="1" noChangeArrowheads="1"/>
          </p:cNvPicPr>
          <p:nvPr/>
        </p:nvPicPr>
        <p:blipFill>
          <a:blip r:embed="rId3" cstate="print"/>
          <a:srcRect/>
          <a:stretch>
            <a:fillRect/>
          </a:stretch>
        </p:blipFill>
        <p:spPr bwMode="auto">
          <a:xfrm>
            <a:off x="6286512" y="3929066"/>
            <a:ext cx="2571768" cy="2725924"/>
          </a:xfrm>
          <a:prstGeom prst="rect">
            <a:avLst/>
          </a:prstGeom>
          <a:noFill/>
        </p:spPr>
      </p:pic>
    </p:spTree>
  </p:cSld>
  <p:clrMapOvr>
    <a:masterClrMapping/>
  </p:clrMapOvr>
  <p:transition>
    <p:wheel spokes="1"/>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0"/>
            <a:ext cx="8358246" cy="928670"/>
          </a:xfrm>
        </p:spPr>
        <p:txBody>
          <a:bodyPr/>
          <a:lstStyle/>
          <a:p>
            <a:pPr algn="ctr"/>
            <a:r>
              <a:rPr lang="es-CR" dirty="0" smtClean="0"/>
              <a:t>Los 3 enfoques de la probabilidad</a:t>
            </a:r>
            <a:endParaRPr lang="es-CR" dirty="0"/>
          </a:p>
        </p:txBody>
      </p:sp>
      <p:sp>
        <p:nvSpPr>
          <p:cNvPr id="3" name="2 Marcador de contenido"/>
          <p:cNvSpPr>
            <a:spLocks noGrp="1"/>
          </p:cNvSpPr>
          <p:nvPr>
            <p:ph sz="quarter" idx="1"/>
          </p:nvPr>
        </p:nvSpPr>
        <p:spPr>
          <a:xfrm>
            <a:off x="285720" y="1214422"/>
            <a:ext cx="7772400" cy="4572000"/>
          </a:xfrm>
        </p:spPr>
        <p:txBody>
          <a:bodyPr>
            <a:normAutofit/>
          </a:bodyPr>
          <a:lstStyle/>
          <a:p>
            <a:r>
              <a:rPr lang="es-CR" sz="2400" dirty="0" smtClean="0"/>
              <a:t>Actualmente hay 3 grandes conceptos o formas de ver la probabilidad. </a:t>
            </a:r>
            <a:endParaRPr lang="es-CR" sz="2400" dirty="0"/>
          </a:p>
        </p:txBody>
      </p:sp>
      <p:sp>
        <p:nvSpPr>
          <p:cNvPr id="4" name="3 Elipse"/>
          <p:cNvSpPr/>
          <p:nvPr/>
        </p:nvSpPr>
        <p:spPr>
          <a:xfrm>
            <a:off x="3357554" y="2000240"/>
            <a:ext cx="2500330" cy="1928826"/>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es-CR" sz="2400" dirty="0" smtClean="0"/>
              <a:t>Probabilidad</a:t>
            </a:r>
            <a:endParaRPr lang="es-CR" sz="2400" dirty="0"/>
          </a:p>
        </p:txBody>
      </p:sp>
      <p:sp>
        <p:nvSpPr>
          <p:cNvPr id="5" name="4 Rectángulo redondeado"/>
          <p:cNvSpPr/>
          <p:nvPr/>
        </p:nvSpPr>
        <p:spPr>
          <a:xfrm>
            <a:off x="142844" y="5072074"/>
            <a:ext cx="2786082" cy="142876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800" dirty="0" smtClean="0"/>
              <a:t>Probabilidad clásica o a priori</a:t>
            </a:r>
            <a:endParaRPr lang="es-CR" sz="2800" dirty="0"/>
          </a:p>
        </p:txBody>
      </p:sp>
      <p:sp>
        <p:nvSpPr>
          <p:cNvPr id="6" name="5 Rectángulo redondeado"/>
          <p:cNvSpPr/>
          <p:nvPr/>
        </p:nvSpPr>
        <p:spPr>
          <a:xfrm>
            <a:off x="3214678" y="5072074"/>
            <a:ext cx="2786082" cy="142876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CR" sz="2800" dirty="0" smtClean="0"/>
              <a:t>Probabilidad según la frecuencia relativa</a:t>
            </a:r>
            <a:endParaRPr lang="es-CR" sz="2800" dirty="0"/>
          </a:p>
        </p:txBody>
      </p:sp>
      <p:sp>
        <p:nvSpPr>
          <p:cNvPr id="7" name="6 Rectángulo redondeado"/>
          <p:cNvSpPr/>
          <p:nvPr/>
        </p:nvSpPr>
        <p:spPr>
          <a:xfrm>
            <a:off x="6286512" y="5000636"/>
            <a:ext cx="2786082" cy="142876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s-CR" sz="2800" dirty="0" smtClean="0"/>
              <a:t>Probabilidad subjetiva</a:t>
            </a:r>
            <a:endParaRPr lang="es-CR" sz="2800" dirty="0"/>
          </a:p>
        </p:txBody>
      </p:sp>
      <p:cxnSp>
        <p:nvCxnSpPr>
          <p:cNvPr id="9" name="8 Conector recto"/>
          <p:cNvCxnSpPr>
            <a:stCxn id="4" idx="3"/>
            <a:endCxn id="5" idx="0"/>
          </p:cNvCxnSpPr>
          <p:nvPr/>
        </p:nvCxnSpPr>
        <p:spPr>
          <a:xfrm rot="5400000">
            <a:off x="1917063" y="3265418"/>
            <a:ext cx="1425478" cy="21878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a:stCxn id="4" idx="4"/>
            <a:endCxn id="6" idx="0"/>
          </p:cNvCxnSpPr>
          <p:nvPr/>
        </p:nvCxnSpPr>
        <p:spPr>
          <a:xfrm rot="5400000">
            <a:off x="4036215" y="4500570"/>
            <a:ext cx="11430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p:cNvCxnSpPr>
            <a:stCxn id="4" idx="5"/>
            <a:endCxn id="7" idx="0"/>
          </p:cNvCxnSpPr>
          <p:nvPr/>
        </p:nvCxnSpPr>
        <p:spPr>
          <a:xfrm rot="16200000" flipH="1">
            <a:off x="5908616" y="3229699"/>
            <a:ext cx="1354040" cy="218783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wheel spokes="2"/>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7584" y="116632"/>
            <a:ext cx="7772400" cy="1066130"/>
          </a:xfrm>
        </p:spPr>
        <p:txBody>
          <a:bodyPr/>
          <a:lstStyle/>
          <a:p>
            <a:pPr algn="ctr"/>
            <a:r>
              <a:rPr lang="es-CR" dirty="0" smtClean="0"/>
              <a:t>Índice</a:t>
            </a:r>
            <a:endParaRPr lang="es-CR" dirty="0"/>
          </a:p>
        </p:txBody>
      </p:sp>
      <p:sp>
        <p:nvSpPr>
          <p:cNvPr id="4" name="3 Elipse"/>
          <p:cNvSpPr/>
          <p:nvPr/>
        </p:nvSpPr>
        <p:spPr>
          <a:xfrm>
            <a:off x="323528" y="1556792"/>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323528" y="3432836"/>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12" name="11 Rectángulo redondeado"/>
          <p:cNvSpPr/>
          <p:nvPr/>
        </p:nvSpPr>
        <p:spPr>
          <a:xfrm>
            <a:off x="1817084" y="3425164"/>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Probabilidad clásica o a </a:t>
            </a:r>
            <a:r>
              <a:rPr lang="es-CR" dirty="0" smtClean="0"/>
              <a:t>priori</a:t>
            </a:r>
            <a:endParaRPr lang="es-CR" dirty="0"/>
          </a:p>
        </p:txBody>
      </p:sp>
      <p:sp>
        <p:nvSpPr>
          <p:cNvPr id="17" name="16 Rectángulo redondeado"/>
          <p:cNvSpPr/>
          <p:nvPr/>
        </p:nvSpPr>
        <p:spPr>
          <a:xfrm>
            <a:off x="1817084" y="1556792"/>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esencia de la probabilidad y conceptos </a:t>
            </a:r>
            <a:endParaRPr lang="es-CR" dirty="0"/>
          </a:p>
        </p:txBody>
      </p:sp>
    </p:spTree>
    <p:extLst>
      <p:ext uri="{BB962C8B-B14F-4D97-AF65-F5344CB8AC3E}">
        <p14:creationId xmlns:p14="http://schemas.microsoft.com/office/powerpoint/2010/main" val="37795193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67544" y="836712"/>
            <a:ext cx="7772400" cy="4572000"/>
          </a:xfrm>
        </p:spPr>
        <p:txBody>
          <a:bodyPr>
            <a:normAutofit/>
          </a:bodyPr>
          <a:lstStyle/>
          <a:p>
            <a:pPr marL="0" indent="0">
              <a:buNone/>
            </a:pPr>
            <a:r>
              <a:rPr lang="es-CR" sz="3600" dirty="0" smtClean="0"/>
              <a:t>¿De cuerdo al total de resultados posible, cuál es la posibilidad de obtener… o de que..?</a:t>
            </a:r>
            <a:endParaRPr lang="es-CR" sz="3600" dirty="0"/>
          </a:p>
        </p:txBody>
      </p:sp>
      <p:pic>
        <p:nvPicPr>
          <p:cNvPr id="4" name="Picture 2" descr="https://agencelitterairelaens.files.wordpress.com/2013/08/bonhomme_ques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764097"/>
            <a:ext cx="2771775" cy="372427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instruction2.mtsac.edu/french/french4/images/MC900078711%5b1%5d.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4501" y="2363300"/>
            <a:ext cx="1628775" cy="394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7770643"/>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3218" y="-20783"/>
            <a:ext cx="8676499" cy="1143000"/>
          </a:xfrm>
        </p:spPr>
        <p:txBody>
          <a:bodyPr>
            <a:normAutofit/>
          </a:bodyPr>
          <a:lstStyle/>
          <a:p>
            <a:pPr algn="ctr"/>
            <a:r>
              <a:rPr lang="es-CR" sz="4800" dirty="0" smtClean="0"/>
              <a:t>Probabilidad clásica o a priori</a:t>
            </a:r>
            <a:endParaRPr lang="es-CR" sz="4800" dirty="0"/>
          </a:p>
        </p:txBody>
      </p:sp>
      <p:sp>
        <p:nvSpPr>
          <p:cNvPr id="3" name="2 Marcador de contenido"/>
          <p:cNvSpPr>
            <a:spLocks noGrp="1"/>
          </p:cNvSpPr>
          <p:nvPr>
            <p:ph sz="quarter" idx="1"/>
          </p:nvPr>
        </p:nvSpPr>
        <p:spPr>
          <a:xfrm>
            <a:off x="214282" y="1285860"/>
            <a:ext cx="6500858" cy="5572140"/>
          </a:xfrm>
        </p:spPr>
        <p:txBody>
          <a:bodyPr>
            <a:normAutofit/>
          </a:bodyPr>
          <a:lstStyle/>
          <a:p>
            <a:r>
              <a:rPr lang="es-CR" sz="2400" dirty="0" smtClean="0"/>
              <a:t>La definición formal de la </a:t>
            </a:r>
            <a:r>
              <a:rPr lang="es-CR" sz="2400" i="1" dirty="0" smtClean="0"/>
              <a:t>Probabilidad Clásica </a:t>
            </a:r>
            <a:r>
              <a:rPr lang="es-CR" sz="2400" dirty="0" smtClean="0"/>
              <a:t>es la siguiente:</a:t>
            </a:r>
          </a:p>
          <a:p>
            <a:pPr>
              <a:buNone/>
            </a:pPr>
            <a:endParaRPr lang="es-CR" sz="2400" dirty="0" smtClean="0"/>
          </a:p>
          <a:p>
            <a:pPr>
              <a:buNone/>
            </a:pPr>
            <a:r>
              <a:rPr lang="es-CR" sz="2400" i="1" dirty="0" smtClean="0"/>
              <a:t>	“Si un experimento puede ocurrir de N resultados igualmente probables y mutuamente excluyentes y si dentro de estos N resultados el eventos “E” puede ocurrir Ne veces, entonces la </a:t>
            </a:r>
            <a:r>
              <a:rPr lang="es-CR" sz="2400" i="1" dirty="0" err="1" smtClean="0"/>
              <a:t>proabilidad</a:t>
            </a:r>
            <a:r>
              <a:rPr lang="es-CR" sz="2400" i="1" dirty="0" smtClean="0"/>
              <a:t> del evento E, que se escribe P(E), está dada por:</a:t>
            </a:r>
          </a:p>
          <a:p>
            <a:pPr>
              <a:buNone/>
            </a:pPr>
            <a:endParaRPr lang="es-CR" sz="2400" i="1" dirty="0" smtClean="0"/>
          </a:p>
          <a:p>
            <a:pPr>
              <a:buNone/>
            </a:pPr>
            <a:endParaRPr lang="es-CR" sz="2400" i="1" dirty="0" smtClean="0"/>
          </a:p>
          <a:p>
            <a:pPr>
              <a:buNone/>
            </a:pPr>
            <a:endParaRPr lang="es-CR" sz="2400" i="1" dirty="0" smtClean="0"/>
          </a:p>
          <a:p>
            <a:pPr>
              <a:buNone/>
            </a:pPr>
            <a:endParaRPr lang="es-CR" sz="2400" i="1" dirty="0" smtClean="0"/>
          </a:p>
          <a:p>
            <a:pPr>
              <a:buNone/>
            </a:pPr>
            <a:r>
              <a:rPr lang="es-CR" sz="2400" dirty="0" smtClean="0"/>
              <a:t>….ejemplifiquemos la definición anterior…..</a:t>
            </a:r>
          </a:p>
          <a:p>
            <a:pPr>
              <a:buNone/>
            </a:pPr>
            <a:endParaRPr lang="es-CR" i="1" dirty="0"/>
          </a:p>
        </p:txBody>
      </p:sp>
      <p:sp>
        <p:nvSpPr>
          <p:cNvPr id="348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4817"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357422" y="4714884"/>
            <a:ext cx="2071702" cy="1077285"/>
          </a:xfrm>
          <a:prstGeom prst="rect">
            <a:avLst/>
          </a:prstGeom>
          <a:noFill/>
        </p:spPr>
      </p:pic>
      <p:pic>
        <p:nvPicPr>
          <p:cNvPr id="34820" name="Picture 4" descr="http://4.bp.blogspot.com/_n0EM_zLV8hI/SZlu8gi-82I/AAAAAAAACHU/UZ28E_3ZBMQ/s400/Probabilidad+y+Estadistica+-+Alejandro+D.+Zylberberg-book+.jpg"/>
          <p:cNvPicPr>
            <a:picLocks noChangeAspect="1" noChangeArrowheads="1"/>
          </p:cNvPicPr>
          <p:nvPr/>
        </p:nvPicPr>
        <p:blipFill>
          <a:blip r:embed="rId3" cstate="print"/>
          <a:srcRect/>
          <a:stretch>
            <a:fillRect/>
          </a:stretch>
        </p:blipFill>
        <p:spPr bwMode="auto">
          <a:xfrm>
            <a:off x="6643702" y="1785926"/>
            <a:ext cx="2286016" cy="2500330"/>
          </a:xfrm>
          <a:prstGeom prst="rect">
            <a:avLst/>
          </a:prstGeom>
          <a:noFill/>
        </p:spPr>
      </p:pic>
      <p:pic>
        <p:nvPicPr>
          <p:cNvPr id="34822" name="Picture 6" descr="confuse por Tall Chris."/>
          <p:cNvPicPr>
            <a:picLocks noChangeAspect="1" noChangeArrowheads="1"/>
          </p:cNvPicPr>
          <p:nvPr/>
        </p:nvPicPr>
        <p:blipFill>
          <a:blip r:embed="rId4" cstate="print"/>
          <a:srcRect/>
          <a:stretch>
            <a:fillRect/>
          </a:stretch>
        </p:blipFill>
        <p:spPr bwMode="auto">
          <a:xfrm>
            <a:off x="6500826" y="4500570"/>
            <a:ext cx="2428892" cy="2139420"/>
          </a:xfrm>
          <a:prstGeom prst="rect">
            <a:avLst/>
          </a:prstGeom>
          <a:noFill/>
        </p:spPr>
      </p:pic>
    </p:spTree>
  </p:cSld>
  <p:clrMapOvr>
    <a:masterClrMapping/>
  </p:clrMapOvr>
  <p:transition>
    <p:wheel spokes="8"/>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1214422"/>
            <a:ext cx="5943034" cy="5357850"/>
          </a:xfrm>
        </p:spPr>
        <p:txBody>
          <a:bodyPr>
            <a:normAutofit lnSpcReduction="10000"/>
          </a:bodyPr>
          <a:lstStyle/>
          <a:p>
            <a:pPr algn="just"/>
            <a:r>
              <a:rPr lang="es-CR" sz="2400" dirty="0" smtClean="0"/>
              <a:t>Supongamos un experimento como el lanzamiento de un dado, que consta de un total de 6 resultados (N=6).</a:t>
            </a:r>
          </a:p>
          <a:p>
            <a:pPr algn="just">
              <a:buNone/>
            </a:pPr>
            <a:endParaRPr lang="es-CR" sz="2400" dirty="0" smtClean="0"/>
          </a:p>
          <a:p>
            <a:pPr algn="just"/>
            <a:r>
              <a:rPr lang="es-CR" sz="2400" dirty="0" smtClean="0"/>
              <a:t>Además se sabe que todos los resultados son igualmente probables, ya que tienen la misma oportunidad de salir, y que son mutuamente excluyentes , ya que o sale un “1”, o sale “3”, pero no puede salir un “1” o un “3”  a la vez.</a:t>
            </a:r>
          </a:p>
          <a:p>
            <a:pPr algn="just"/>
            <a:endParaRPr lang="es-CR" sz="2400" dirty="0" smtClean="0"/>
          </a:p>
          <a:p>
            <a:pPr algn="just"/>
            <a:r>
              <a:rPr lang="es-CR" sz="2400" dirty="0" smtClean="0"/>
              <a:t>Ahora, supongamos que queremos saber la probabilidad de sacar un “4” en un dado. En este caso el evento “4” (E) , puede ocurrir una única vez (Ne).</a:t>
            </a:r>
            <a:endParaRPr lang="es-CR" sz="2400" dirty="0"/>
          </a:p>
        </p:txBody>
      </p:sp>
      <p:sp>
        <p:nvSpPr>
          <p:cNvPr id="4" name="1 Título"/>
          <p:cNvSpPr>
            <a:spLocks noGrp="1"/>
          </p:cNvSpPr>
          <p:nvPr>
            <p:ph type="title"/>
          </p:nvPr>
        </p:nvSpPr>
        <p:spPr>
          <a:xfrm>
            <a:off x="253218" y="116632"/>
            <a:ext cx="8676499" cy="933577"/>
          </a:xfrm>
        </p:spPr>
        <p:txBody>
          <a:bodyPr>
            <a:normAutofit/>
          </a:bodyPr>
          <a:lstStyle/>
          <a:p>
            <a:pPr algn="ctr"/>
            <a:r>
              <a:rPr lang="es-CR" dirty="0" smtClean="0"/>
              <a:t>Probabilidad clásica o a priori</a:t>
            </a:r>
            <a:endParaRPr lang="es-CR" dirty="0"/>
          </a:p>
        </p:txBody>
      </p:sp>
      <p:pic>
        <p:nvPicPr>
          <p:cNvPr id="5122" name="Picture 2" descr="http://www.lasmanualidades.com/wp-content/uploads/2010/05/di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0232" y="1628799"/>
            <a:ext cx="2088232" cy="43624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plit dir="in"/>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1692" y="1293056"/>
            <a:ext cx="6756357" cy="5350654"/>
          </a:xfrm>
        </p:spPr>
        <p:txBody>
          <a:bodyPr>
            <a:normAutofit/>
          </a:bodyPr>
          <a:lstStyle/>
          <a:p>
            <a:r>
              <a:rPr lang="es-CR" sz="2400" dirty="0" smtClean="0"/>
              <a:t>Entonces la probabilidad del evento “4” (E), se escribe como P(4), y está dado por: </a:t>
            </a:r>
          </a:p>
          <a:p>
            <a:endParaRPr lang="es-CR" sz="2400" dirty="0" smtClean="0"/>
          </a:p>
          <a:p>
            <a:endParaRPr lang="es-CR" sz="2400" dirty="0" smtClean="0"/>
          </a:p>
          <a:p>
            <a:endParaRPr lang="es-CR" sz="2400" dirty="0" smtClean="0"/>
          </a:p>
          <a:p>
            <a:r>
              <a:rPr lang="es-CR" sz="2400" dirty="0" smtClean="0"/>
              <a:t>De acuerdo a todo lo anterior, cuál sería la probabilidad de tener:</a:t>
            </a:r>
          </a:p>
          <a:p>
            <a:pPr>
              <a:buNone/>
            </a:pPr>
            <a:r>
              <a:rPr lang="es-CR" sz="2400" dirty="0" smtClean="0"/>
              <a:t>	-Un número par.</a:t>
            </a:r>
          </a:p>
          <a:p>
            <a:pPr>
              <a:buNone/>
            </a:pPr>
            <a:r>
              <a:rPr lang="es-CR" sz="2400" dirty="0" smtClean="0"/>
              <a:t>	-Un número impar.</a:t>
            </a:r>
          </a:p>
          <a:p>
            <a:pPr>
              <a:buNone/>
            </a:pPr>
            <a:r>
              <a:rPr lang="es-CR" sz="2400" dirty="0" smtClean="0"/>
              <a:t>	-Un número menor a 5.</a:t>
            </a:r>
          </a:p>
          <a:p>
            <a:pPr>
              <a:buNone/>
            </a:pPr>
            <a:r>
              <a:rPr lang="es-CR" sz="2400" dirty="0" smtClean="0"/>
              <a:t>	-Un número mayor o igual a 3.</a:t>
            </a:r>
            <a:endParaRPr lang="es-CR" sz="2400" dirty="0"/>
          </a:p>
        </p:txBody>
      </p:sp>
      <p:sp>
        <p:nvSpPr>
          <p:cNvPr id="4" name="1 Título"/>
          <p:cNvSpPr>
            <a:spLocks noGrp="1"/>
          </p:cNvSpPr>
          <p:nvPr>
            <p:ph type="title"/>
          </p:nvPr>
        </p:nvSpPr>
        <p:spPr>
          <a:xfrm>
            <a:off x="253218" y="-20783"/>
            <a:ext cx="8676499" cy="1143000"/>
          </a:xfrm>
        </p:spPr>
        <p:txBody>
          <a:bodyPr>
            <a:normAutofit/>
          </a:bodyPr>
          <a:lstStyle/>
          <a:p>
            <a:pPr algn="ctr"/>
            <a:r>
              <a:rPr lang="es-CR" sz="4800" dirty="0" smtClean="0"/>
              <a:t>Probabilidad clásica o a priori</a:t>
            </a:r>
            <a:endParaRPr lang="es-CR" sz="4800" dirty="0"/>
          </a:p>
        </p:txBody>
      </p:sp>
      <p:sp>
        <p:nvSpPr>
          <p:cNvPr id="327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276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428992" y="2285992"/>
            <a:ext cx="1785950" cy="1123420"/>
          </a:xfrm>
          <a:prstGeom prst="rect">
            <a:avLst/>
          </a:prstGeom>
          <a:noFill/>
        </p:spPr>
      </p:pic>
      <p:pic>
        <p:nvPicPr>
          <p:cNvPr id="32772" name="Picture 4" descr="http://juventudcristiana.files.wordpress.com/2009/03/questions.jpg"/>
          <p:cNvPicPr>
            <a:picLocks noChangeAspect="1" noChangeArrowheads="1"/>
          </p:cNvPicPr>
          <p:nvPr/>
        </p:nvPicPr>
        <p:blipFill>
          <a:blip r:embed="rId3" cstate="print"/>
          <a:srcRect/>
          <a:stretch>
            <a:fillRect/>
          </a:stretch>
        </p:blipFill>
        <p:spPr bwMode="auto">
          <a:xfrm>
            <a:off x="5500694" y="4000504"/>
            <a:ext cx="3214710" cy="2667019"/>
          </a:xfrm>
          <a:prstGeom prst="rect">
            <a:avLst/>
          </a:prstGeom>
          <a:noFill/>
        </p:spPr>
      </p:pic>
    </p:spTree>
  </p:cSld>
  <p:clrMapOvr>
    <a:masterClrMapping/>
  </p:clrMapOvr>
  <p:transition>
    <p:spli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16632"/>
            <a:ext cx="7772400" cy="854968"/>
          </a:xfrm>
        </p:spPr>
        <p:txBody>
          <a:bodyPr/>
          <a:lstStyle/>
          <a:p>
            <a:pPr algn="ctr"/>
            <a:r>
              <a:rPr lang="es-CR" dirty="0" smtClean="0"/>
              <a:t>Juguemos cartas</a:t>
            </a:r>
            <a:endParaRPr lang="es-CR" dirty="0"/>
          </a:p>
        </p:txBody>
      </p:sp>
      <p:sp>
        <p:nvSpPr>
          <p:cNvPr id="3" name="2 Marcador de contenido"/>
          <p:cNvSpPr>
            <a:spLocks noGrp="1"/>
          </p:cNvSpPr>
          <p:nvPr>
            <p:ph sz="quarter" idx="1"/>
          </p:nvPr>
        </p:nvSpPr>
        <p:spPr>
          <a:xfrm>
            <a:off x="144016" y="1340768"/>
            <a:ext cx="6012160" cy="5112568"/>
          </a:xfrm>
        </p:spPr>
        <p:txBody>
          <a:bodyPr>
            <a:normAutofit/>
          </a:bodyPr>
          <a:lstStyle/>
          <a:p>
            <a:pPr marL="0" lvl="0" indent="0">
              <a:buNone/>
            </a:pPr>
            <a:r>
              <a:rPr lang="es-ES_tradnl" dirty="0" smtClean="0"/>
              <a:t>Supóngase </a:t>
            </a:r>
            <a:r>
              <a:rPr lang="es-ES_tradnl" dirty="0"/>
              <a:t>que se  va a jugar </a:t>
            </a:r>
            <a:r>
              <a:rPr lang="es-ES_tradnl" dirty="0" smtClean="0"/>
              <a:t>cartas…</a:t>
            </a:r>
            <a:endParaRPr lang="es-CR" dirty="0"/>
          </a:p>
          <a:p>
            <a:endParaRPr lang="es-CR" dirty="0"/>
          </a:p>
          <a:p>
            <a:pPr marL="0" lvl="0" indent="0">
              <a:buNone/>
            </a:pPr>
            <a:r>
              <a:rPr lang="es-ES_tradnl" dirty="0" smtClean="0"/>
              <a:t>1. Cuántos </a:t>
            </a:r>
            <a:r>
              <a:rPr lang="es-ES_tradnl" dirty="0"/>
              <a:t>son todos los posibles resultados en un juego de cartas.</a:t>
            </a:r>
            <a:endParaRPr lang="es-CR" dirty="0"/>
          </a:p>
          <a:p>
            <a:pPr marL="0" lvl="0" indent="0">
              <a:buNone/>
            </a:pPr>
            <a:r>
              <a:rPr lang="es-ES_tradnl" dirty="0" smtClean="0"/>
              <a:t>2. Si </a:t>
            </a:r>
            <a:r>
              <a:rPr lang="es-ES_tradnl" dirty="0"/>
              <a:t>un evento consta en sacar un “10”, cuál sería esa probabilidad.</a:t>
            </a:r>
            <a:endParaRPr lang="es-CR" dirty="0"/>
          </a:p>
          <a:p>
            <a:pPr marL="0" lvl="0" indent="0">
              <a:buNone/>
            </a:pPr>
            <a:r>
              <a:rPr lang="es-ES_tradnl" dirty="0" smtClean="0"/>
              <a:t>3.Si </a:t>
            </a:r>
            <a:r>
              <a:rPr lang="es-ES_tradnl" dirty="0"/>
              <a:t>un evento consta en obtener cartas mayores o iguales a una “Jota”, cuál sería la probabilidad.</a:t>
            </a:r>
            <a:endParaRPr lang="es-CR" dirty="0"/>
          </a:p>
          <a:p>
            <a:pPr marL="0" lvl="0" indent="0">
              <a:buNone/>
            </a:pPr>
            <a:r>
              <a:rPr lang="es-ES_tradnl" dirty="0" smtClean="0"/>
              <a:t>4. Si </a:t>
            </a:r>
            <a:r>
              <a:rPr lang="es-ES_tradnl" dirty="0"/>
              <a:t>un evento consta en tener sólo cartas menores a 6, cuál sería la probabilidad.</a:t>
            </a:r>
            <a:endParaRPr lang="es-CR" dirty="0"/>
          </a:p>
          <a:p>
            <a:endParaRPr lang="es-CR" dirty="0"/>
          </a:p>
        </p:txBody>
      </p:sp>
      <p:pic>
        <p:nvPicPr>
          <p:cNvPr id="2050" name="Picture 2" descr="https://encrypted-tbn2.gstatic.com/images?q=tbn:ANd9GcSZ6oRbyyFZOhQrSxo6KTSA6hwUqPyGLDA9tmxoZpMEqCTOAtf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1057" y="1628800"/>
            <a:ext cx="2705100" cy="169545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encrypted-tbn3.gstatic.com/images?q=tbn:ANd9GcS30pytyZaRpmZXw6Fk8M1vzTYLhCpQUrmcmq1LgrQLWRR5qxS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9679" y="4005064"/>
            <a:ext cx="2367855" cy="2243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524268"/>
      </p:ext>
    </p:extLst>
  </p:cSld>
  <p:clrMapOvr>
    <a:masterClrMapping/>
  </p:clrMapOvr>
  <p:transition spd="slow">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85720" y="1214422"/>
            <a:ext cx="5429288" cy="5286412"/>
          </a:xfrm>
        </p:spPr>
        <p:txBody>
          <a:bodyPr/>
          <a:lstStyle/>
          <a:p>
            <a:r>
              <a:rPr lang="es-CR" sz="2400" dirty="0" smtClean="0"/>
              <a:t>El enfoque de la probabilidad clásica es el emplear un razonamiento lógico previo o a priori. </a:t>
            </a:r>
          </a:p>
          <a:p>
            <a:endParaRPr lang="es-CR" dirty="0" smtClean="0"/>
          </a:p>
          <a:p>
            <a:pPr>
              <a:buNone/>
            </a:pPr>
            <a:endParaRPr lang="es-CR" dirty="0" smtClean="0"/>
          </a:p>
          <a:p>
            <a:pPr>
              <a:buNone/>
            </a:pPr>
            <a:endParaRPr lang="es-CR" dirty="0" smtClean="0"/>
          </a:p>
          <a:p>
            <a:pPr algn="ctr">
              <a:buNone/>
            </a:pPr>
            <a:r>
              <a:rPr lang="es-CR" sz="9600" dirty="0" smtClean="0"/>
              <a:t>¿Por qué?</a:t>
            </a:r>
            <a:endParaRPr lang="es-CR" sz="9600" dirty="0"/>
          </a:p>
        </p:txBody>
      </p:sp>
      <p:sp>
        <p:nvSpPr>
          <p:cNvPr id="4" name="1 Título"/>
          <p:cNvSpPr>
            <a:spLocks noGrp="1"/>
          </p:cNvSpPr>
          <p:nvPr>
            <p:ph type="title"/>
          </p:nvPr>
        </p:nvSpPr>
        <p:spPr>
          <a:xfrm>
            <a:off x="253218" y="-20783"/>
            <a:ext cx="8676499" cy="1143000"/>
          </a:xfrm>
        </p:spPr>
        <p:txBody>
          <a:bodyPr>
            <a:normAutofit/>
          </a:bodyPr>
          <a:lstStyle/>
          <a:p>
            <a:pPr algn="ctr"/>
            <a:r>
              <a:rPr lang="es-CR" sz="4800" dirty="0" smtClean="0"/>
              <a:t>Probabilidad clásica o a priori</a:t>
            </a:r>
            <a:endParaRPr lang="es-CR" sz="4800" dirty="0"/>
          </a:p>
        </p:txBody>
      </p:sp>
      <p:pic>
        <p:nvPicPr>
          <p:cNvPr id="31746" name="Picture 2" descr="http://www.healthcareersinteraction.com/images/faq_questionmark.jpg"/>
          <p:cNvPicPr>
            <a:picLocks noChangeAspect="1" noChangeArrowheads="1"/>
          </p:cNvPicPr>
          <p:nvPr/>
        </p:nvPicPr>
        <p:blipFill>
          <a:blip r:embed="rId2" cstate="print"/>
          <a:srcRect/>
          <a:stretch>
            <a:fillRect/>
          </a:stretch>
        </p:blipFill>
        <p:spPr bwMode="auto">
          <a:xfrm>
            <a:off x="6000760" y="2000240"/>
            <a:ext cx="2857500" cy="4572032"/>
          </a:xfrm>
          <a:prstGeom prst="rect">
            <a:avLst/>
          </a:prstGeom>
          <a:noFill/>
        </p:spPr>
      </p:pic>
    </p:spTree>
  </p:cSld>
  <p:clrMapOvr>
    <a:masterClrMapping/>
  </p:clrMapOvr>
  <p:transition>
    <p:split orient="vert" dir="in"/>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7584" y="116632"/>
            <a:ext cx="7772400" cy="1066130"/>
          </a:xfrm>
        </p:spPr>
        <p:txBody>
          <a:bodyPr/>
          <a:lstStyle/>
          <a:p>
            <a:pPr algn="ctr"/>
            <a:r>
              <a:rPr lang="es-CR" dirty="0" smtClean="0"/>
              <a:t>Índice</a:t>
            </a:r>
            <a:endParaRPr lang="es-CR" dirty="0"/>
          </a:p>
        </p:txBody>
      </p:sp>
      <p:sp>
        <p:nvSpPr>
          <p:cNvPr id="4" name="3 Elipse"/>
          <p:cNvSpPr/>
          <p:nvPr/>
        </p:nvSpPr>
        <p:spPr>
          <a:xfrm>
            <a:off x="323528" y="1556792"/>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323528" y="3432836"/>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323528" y="5301208"/>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12" name="11 Rectángulo redondeado"/>
          <p:cNvSpPr/>
          <p:nvPr/>
        </p:nvSpPr>
        <p:spPr>
          <a:xfrm>
            <a:off x="1817084" y="3425164"/>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Probabilidad clásica o a </a:t>
            </a:r>
            <a:r>
              <a:rPr lang="es-CR" dirty="0" smtClean="0"/>
              <a:t>priori</a:t>
            </a:r>
            <a:endParaRPr lang="es-CR" dirty="0"/>
          </a:p>
        </p:txBody>
      </p:sp>
      <p:sp>
        <p:nvSpPr>
          <p:cNvPr id="13" name="12 Rectángulo redondeado"/>
          <p:cNvSpPr/>
          <p:nvPr/>
        </p:nvSpPr>
        <p:spPr>
          <a:xfrm>
            <a:off x="1817084" y="5373216"/>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Probabilidad frecuencia relativa</a:t>
            </a:r>
            <a:endParaRPr lang="es-CR" dirty="0"/>
          </a:p>
        </p:txBody>
      </p:sp>
      <p:sp>
        <p:nvSpPr>
          <p:cNvPr id="17" name="16 Rectángulo redondeado"/>
          <p:cNvSpPr/>
          <p:nvPr/>
        </p:nvSpPr>
        <p:spPr>
          <a:xfrm>
            <a:off x="1817084" y="1556792"/>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esencia de la probabilidad y conceptos </a:t>
            </a:r>
            <a:endParaRPr lang="es-CR" dirty="0"/>
          </a:p>
        </p:txBody>
      </p:sp>
    </p:spTree>
    <p:extLst>
      <p:ext uri="{BB962C8B-B14F-4D97-AF65-F5344CB8AC3E}">
        <p14:creationId xmlns:p14="http://schemas.microsoft.com/office/powerpoint/2010/main" val="37795193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txBox="1">
            <a:spLocks/>
          </p:cNvSpPr>
          <p:nvPr/>
        </p:nvSpPr>
        <p:spPr>
          <a:xfrm>
            <a:off x="467544" y="836712"/>
            <a:ext cx="7772400" cy="4572000"/>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buFont typeface="Wingdings 2"/>
              <a:buNone/>
            </a:pPr>
            <a:r>
              <a:rPr lang="es-CR" sz="3600" dirty="0" smtClean="0"/>
              <a:t>¿De cuerdo al total de resultados que se observan, cuál es la posibilidad de obtener… o de que..?</a:t>
            </a:r>
            <a:endParaRPr lang="es-CR" sz="3600" dirty="0"/>
          </a:p>
        </p:txBody>
      </p:sp>
      <p:pic>
        <p:nvPicPr>
          <p:cNvPr id="5" name="Picture 2" descr="https://agencelitterairelaens.files.wordpress.com/2013/08/bonhomme_ques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764097"/>
            <a:ext cx="2771775" cy="37242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instruction2.mtsac.edu/french/french4/images/MC900078711%5b1%5d.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4501" y="2363300"/>
            <a:ext cx="1628775" cy="394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8111570"/>
      </p:ext>
    </p:extLst>
  </p:cSld>
  <p:clrMapOvr>
    <a:masterClrMapping/>
  </p:clrMapOvr>
  <p:transition spd="slow">
    <p:randomBar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0"/>
            <a:ext cx="9144000" cy="1000108"/>
          </a:xfrm>
        </p:spPr>
        <p:txBody>
          <a:bodyPr/>
          <a:lstStyle/>
          <a:p>
            <a:r>
              <a:rPr lang="es-CR" dirty="0" smtClean="0"/>
              <a:t>Probabilidad según la frecuencia relativa</a:t>
            </a:r>
            <a:endParaRPr lang="es-CR" dirty="0"/>
          </a:p>
        </p:txBody>
      </p:sp>
      <p:sp>
        <p:nvSpPr>
          <p:cNvPr id="3" name="2 Marcador de contenido"/>
          <p:cNvSpPr>
            <a:spLocks noGrp="1"/>
          </p:cNvSpPr>
          <p:nvPr>
            <p:ph sz="quarter" idx="1"/>
          </p:nvPr>
        </p:nvSpPr>
        <p:spPr>
          <a:xfrm>
            <a:off x="214282" y="1285860"/>
            <a:ext cx="5715040" cy="5214974"/>
          </a:xfrm>
        </p:spPr>
        <p:txBody>
          <a:bodyPr>
            <a:normAutofit/>
          </a:bodyPr>
          <a:lstStyle/>
          <a:p>
            <a:pPr algn="just"/>
            <a:r>
              <a:rPr lang="es-CR" sz="2400" dirty="0" smtClean="0"/>
              <a:t>Un problema de la probabilidad a priori consiste en que se supone que los resultados son igualmente probables, pero en la práctica esto casi nunca sucede.</a:t>
            </a:r>
          </a:p>
          <a:p>
            <a:pPr algn="just"/>
            <a:endParaRPr lang="es-CR" sz="2400" dirty="0" smtClean="0"/>
          </a:p>
          <a:p>
            <a:pPr algn="just"/>
            <a:r>
              <a:rPr lang="es-CR" sz="2400" dirty="0" smtClean="0"/>
              <a:t>Además, hay muchos casos en donde no se puede establecer desde antes las probabilidades a priori de cierto acontecimiento.</a:t>
            </a:r>
          </a:p>
          <a:p>
            <a:pPr algn="just"/>
            <a:endParaRPr lang="es-CR" sz="2400" dirty="0" smtClean="0"/>
          </a:p>
          <a:p>
            <a:pPr algn="just"/>
            <a:r>
              <a:rPr lang="es-CR" sz="2400" dirty="0" smtClean="0"/>
              <a:t>En la actualidad, el concepto más frecuente es el de la </a:t>
            </a:r>
            <a:r>
              <a:rPr lang="es-CR" sz="2400" i="1" dirty="0" smtClean="0"/>
              <a:t>Frecuencia Relativa</a:t>
            </a:r>
            <a:r>
              <a:rPr lang="es-CR" sz="2400" dirty="0" smtClean="0"/>
              <a:t>.</a:t>
            </a:r>
            <a:endParaRPr lang="es-CR" sz="2400" dirty="0"/>
          </a:p>
        </p:txBody>
      </p:sp>
      <p:pic>
        <p:nvPicPr>
          <p:cNvPr id="30722" name="Picture 2" descr="http://3.bp.blogspot.com/__bNUpLq1CS4/SSCtffCHUYI/AAAAAAAAAt0/Q-Z-y2KL6Mk/s400/la+teor%C3%ADa+y+la+pr%C3%A1ctica.jpg"/>
          <p:cNvPicPr>
            <a:picLocks noChangeAspect="1" noChangeArrowheads="1"/>
          </p:cNvPicPr>
          <p:nvPr/>
        </p:nvPicPr>
        <p:blipFill>
          <a:blip r:embed="rId2" cstate="print"/>
          <a:srcRect/>
          <a:stretch>
            <a:fillRect/>
          </a:stretch>
        </p:blipFill>
        <p:spPr bwMode="auto">
          <a:xfrm>
            <a:off x="6215074" y="1214422"/>
            <a:ext cx="2500330" cy="2500330"/>
          </a:xfrm>
          <a:prstGeom prst="rect">
            <a:avLst/>
          </a:prstGeom>
          <a:noFill/>
        </p:spPr>
      </p:pic>
      <p:pic>
        <p:nvPicPr>
          <p:cNvPr id="30724" name="Picture 4" descr="http://images01.olx.cl/ui/4/81/88/68527388_1-Fotos-de-Se-necesita-auxiliar-de-parvulos-y-alumnas-en-practica-de-auxiliar-de-parvulos.jpg"/>
          <p:cNvPicPr>
            <a:picLocks noChangeAspect="1" noChangeArrowheads="1"/>
          </p:cNvPicPr>
          <p:nvPr/>
        </p:nvPicPr>
        <p:blipFill>
          <a:blip r:embed="rId3" cstate="print"/>
          <a:srcRect/>
          <a:stretch>
            <a:fillRect/>
          </a:stretch>
        </p:blipFill>
        <p:spPr bwMode="auto">
          <a:xfrm>
            <a:off x="5929322" y="3929066"/>
            <a:ext cx="2861917" cy="2643206"/>
          </a:xfrm>
          <a:prstGeom prst="rect">
            <a:avLst/>
          </a:prstGeom>
          <a:noFill/>
        </p:spPr>
      </p:pic>
    </p:spTree>
  </p:cSld>
  <p:clrMapOvr>
    <a:masterClrMapping/>
  </p:clrMapOvr>
  <p:transition>
    <p:split orient="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14282" y="1214422"/>
            <a:ext cx="5941894" cy="5357850"/>
          </a:xfrm>
        </p:spPr>
        <p:txBody>
          <a:bodyPr>
            <a:normAutofit/>
          </a:bodyPr>
          <a:lstStyle/>
          <a:p>
            <a:pPr algn="just"/>
            <a:r>
              <a:rPr lang="es-CR" sz="2400" dirty="0" smtClean="0"/>
              <a:t>Imaginemos que se quiere saber la probabilidad de que al nacer un bebe, este sea un hombre o una mujer.</a:t>
            </a:r>
          </a:p>
          <a:p>
            <a:pPr algn="just">
              <a:buNone/>
            </a:pPr>
            <a:endParaRPr lang="es-CR" sz="2400" dirty="0" smtClean="0"/>
          </a:p>
          <a:p>
            <a:pPr algn="just"/>
            <a:r>
              <a:rPr lang="es-CR" sz="2400" dirty="0" smtClean="0"/>
              <a:t>Aunque si se establece que la mitad de los chances es que sea un hombre, y la otra parte mujer, en la práctica esto no ha resultado de la misma forma: suelen nacer más hombres que mujeres.</a:t>
            </a:r>
          </a:p>
          <a:p>
            <a:pPr algn="just"/>
            <a:endParaRPr lang="es-CR" sz="2400" dirty="0" smtClean="0"/>
          </a:p>
          <a:p>
            <a:pPr algn="just"/>
            <a:r>
              <a:rPr lang="es-CR" sz="2400" dirty="0" smtClean="0"/>
              <a:t>¿ Cómo podríamos calcular entonces una probabilidad de tal forma de no pasar por el enfoque clásico?</a:t>
            </a:r>
          </a:p>
          <a:p>
            <a:endParaRPr lang="es-CR" sz="2400" dirty="0" smtClean="0"/>
          </a:p>
          <a:p>
            <a:pPr>
              <a:buNone/>
            </a:pPr>
            <a:endParaRPr lang="es-CR" dirty="0"/>
          </a:p>
        </p:txBody>
      </p:sp>
      <p:sp>
        <p:nvSpPr>
          <p:cNvPr id="4" name="1 Título"/>
          <p:cNvSpPr>
            <a:spLocks noGrp="1"/>
          </p:cNvSpPr>
          <p:nvPr>
            <p:ph type="title"/>
          </p:nvPr>
        </p:nvSpPr>
        <p:spPr>
          <a:xfrm>
            <a:off x="0" y="0"/>
            <a:ext cx="9144000" cy="1000108"/>
          </a:xfrm>
        </p:spPr>
        <p:txBody>
          <a:bodyPr/>
          <a:lstStyle/>
          <a:p>
            <a:r>
              <a:rPr lang="es-CR" dirty="0" smtClean="0"/>
              <a:t>Probabilidad según la frecuencia relativa</a:t>
            </a:r>
            <a:endParaRPr lang="es-CR" dirty="0"/>
          </a:p>
        </p:txBody>
      </p:sp>
      <p:pic>
        <p:nvPicPr>
          <p:cNvPr id="9220" name="Picture 4" descr="http://josejerez.webcindario.com/Calculo.JPG"/>
          <p:cNvPicPr>
            <a:picLocks noChangeAspect="1" noChangeArrowheads="1"/>
          </p:cNvPicPr>
          <p:nvPr/>
        </p:nvPicPr>
        <p:blipFill>
          <a:blip r:embed="rId2" cstate="print"/>
          <a:srcRect/>
          <a:stretch>
            <a:fillRect/>
          </a:stretch>
        </p:blipFill>
        <p:spPr bwMode="auto">
          <a:xfrm>
            <a:off x="6572264" y="1268760"/>
            <a:ext cx="2214578" cy="2214578"/>
          </a:xfrm>
          <a:prstGeom prst="rect">
            <a:avLst/>
          </a:prstGeom>
          <a:noFill/>
        </p:spPr>
      </p:pic>
      <p:pic>
        <p:nvPicPr>
          <p:cNvPr id="5122" name="Picture 2" descr="http://thumb1.shutterstock.com/display_pic_with_logo/495346/232580698/stock-photo-probability-word-cloud-concept-232580698.jpg"/>
          <p:cNvPicPr>
            <a:picLocks noChangeAspect="1" noChangeArrowheads="1"/>
          </p:cNvPicPr>
          <p:nvPr/>
        </p:nvPicPr>
        <p:blipFill rotWithShape="1">
          <a:blip r:embed="rId3">
            <a:extLst>
              <a:ext uri="{28A0092B-C50C-407E-A947-70E740481C1C}">
                <a14:useLocalDpi xmlns:a14="http://schemas.microsoft.com/office/drawing/2010/main" val="0"/>
              </a:ext>
            </a:extLst>
          </a:blip>
          <a:srcRect t="24618" b="28833"/>
          <a:stretch/>
        </p:blipFill>
        <p:spPr bwMode="auto">
          <a:xfrm>
            <a:off x="6419413" y="4149080"/>
            <a:ext cx="2520280" cy="23042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trips/>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71406" y="1000108"/>
            <a:ext cx="6143668" cy="5572164"/>
          </a:xfrm>
        </p:spPr>
        <p:txBody>
          <a:bodyPr>
            <a:normAutofit fontScale="92500"/>
          </a:bodyPr>
          <a:lstStyle/>
          <a:p>
            <a:r>
              <a:rPr lang="es-CR" dirty="0" smtClean="0"/>
              <a:t>La probabilidad según el concepto de frecuencia relativa se suele expresar de la siguiente forma:</a:t>
            </a:r>
          </a:p>
          <a:p>
            <a:endParaRPr lang="es-CR" dirty="0" smtClean="0"/>
          </a:p>
          <a:p>
            <a:pPr>
              <a:buNone/>
            </a:pPr>
            <a:endParaRPr lang="es-CR" dirty="0" smtClean="0"/>
          </a:p>
          <a:p>
            <a:pPr>
              <a:buNone/>
            </a:pPr>
            <a:endParaRPr lang="es-CR" dirty="0" smtClean="0"/>
          </a:p>
          <a:p>
            <a:pPr>
              <a:buNone/>
            </a:pPr>
            <a:r>
              <a:rPr lang="es-CR" dirty="0" smtClean="0"/>
              <a:t>P(E)= es la probabilidad de ocurrencia del evento de  </a:t>
            </a:r>
          </a:p>
          <a:p>
            <a:pPr>
              <a:buNone/>
            </a:pPr>
            <a:r>
              <a:rPr lang="es-CR" dirty="0" smtClean="0"/>
              <a:t>		interés.</a:t>
            </a:r>
          </a:p>
          <a:p>
            <a:pPr>
              <a:buNone/>
            </a:pPr>
            <a:r>
              <a:rPr lang="es-CR" dirty="0" smtClean="0"/>
              <a:t>  </a:t>
            </a:r>
            <a:r>
              <a:rPr lang="es-CR" dirty="0" err="1" smtClean="0"/>
              <a:t>ne</a:t>
            </a:r>
            <a:r>
              <a:rPr lang="es-CR" dirty="0" smtClean="0"/>
              <a:t> = es el número de veces que ocurre el evento E en   </a:t>
            </a:r>
          </a:p>
          <a:p>
            <a:pPr>
              <a:buNone/>
            </a:pPr>
            <a:r>
              <a:rPr lang="es-CR" dirty="0" smtClean="0"/>
              <a:t>	        los n ensayos.</a:t>
            </a:r>
          </a:p>
          <a:p>
            <a:pPr>
              <a:buNone/>
            </a:pPr>
            <a:r>
              <a:rPr lang="es-CR" dirty="0" smtClean="0"/>
              <a:t>    n = el total de ensayos de un posible experimento.</a:t>
            </a:r>
          </a:p>
          <a:p>
            <a:pPr>
              <a:buNone/>
            </a:pPr>
            <a:endParaRPr lang="es-CR" dirty="0"/>
          </a:p>
        </p:txBody>
      </p:sp>
      <p:sp>
        <p:nvSpPr>
          <p:cNvPr id="4" name="1 Título"/>
          <p:cNvSpPr>
            <a:spLocks noGrp="1"/>
          </p:cNvSpPr>
          <p:nvPr>
            <p:ph type="title"/>
          </p:nvPr>
        </p:nvSpPr>
        <p:spPr>
          <a:xfrm>
            <a:off x="0" y="0"/>
            <a:ext cx="9144000" cy="928670"/>
          </a:xfrm>
        </p:spPr>
        <p:txBody>
          <a:bodyPr/>
          <a:lstStyle/>
          <a:p>
            <a:r>
              <a:rPr lang="es-CR" dirty="0" smtClean="0"/>
              <a:t>Probabilidad según la frecuencia relativa</a:t>
            </a:r>
            <a:endParaRPr lang="es-CR" dirty="0"/>
          </a:p>
        </p:txBody>
      </p:sp>
      <p:sp>
        <p:nvSpPr>
          <p:cNvPr id="286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4" name="Picture 2" descr="http://nihilnovum.files.wordpress.com/2009/05/matematicas1.jpg"/>
          <p:cNvPicPr>
            <a:picLocks noChangeAspect="1" noChangeArrowheads="1"/>
          </p:cNvPicPr>
          <p:nvPr/>
        </p:nvPicPr>
        <p:blipFill>
          <a:blip r:embed="rId2" cstate="print"/>
          <a:srcRect/>
          <a:stretch>
            <a:fillRect/>
          </a:stretch>
        </p:blipFill>
        <p:spPr bwMode="auto">
          <a:xfrm>
            <a:off x="6643702" y="1214422"/>
            <a:ext cx="2000264" cy="1940256"/>
          </a:xfrm>
          <a:prstGeom prst="rect">
            <a:avLst/>
          </a:prstGeom>
          <a:noFill/>
        </p:spPr>
      </p:pic>
      <p:pic>
        <p:nvPicPr>
          <p:cNvPr id="8195" name="Picture 3" descr="C:\Users\Oscar\Downloads\pensar (1).jpg"/>
          <p:cNvPicPr>
            <a:picLocks noChangeAspect="1" noChangeArrowheads="1" noCrop="1"/>
          </p:cNvPicPr>
          <p:nvPr/>
        </p:nvPicPr>
        <p:blipFill>
          <a:blip r:embed="rId3" cstate="print"/>
          <a:srcRect/>
          <a:stretch>
            <a:fillRect/>
          </a:stretch>
        </p:blipFill>
        <p:spPr bwMode="auto">
          <a:xfrm>
            <a:off x="6500825" y="3857628"/>
            <a:ext cx="2291969" cy="2357454"/>
          </a:xfrm>
          <a:prstGeom prst="rect">
            <a:avLst/>
          </a:prstGeom>
          <a:noFill/>
        </p:spPr>
      </p:pic>
      <mc:AlternateContent xmlns:mc="http://schemas.openxmlformats.org/markup-compatibility/2006">
        <mc:Choice xmlns:a14="http://schemas.microsoft.com/office/drawing/2010/main" Requires="a14">
          <p:sp>
            <p:nvSpPr>
              <p:cNvPr id="2" name="1 Rectángulo"/>
              <p:cNvSpPr/>
              <p:nvPr/>
            </p:nvSpPr>
            <p:spPr>
              <a:xfrm>
                <a:off x="467544" y="2184550"/>
                <a:ext cx="1214563" cy="56669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s-CR" i="1"/>
                        <m:t>𝑃</m:t>
                      </m:r>
                      <m:d>
                        <m:dPr>
                          <m:ctrlPr>
                            <a:rPr lang="es-CR" i="1"/>
                          </m:ctrlPr>
                        </m:dPr>
                        <m:e>
                          <m:r>
                            <a:rPr lang="es-CR" i="1"/>
                            <m:t>𝑒</m:t>
                          </m:r>
                        </m:e>
                      </m:d>
                      <m:r>
                        <a:rPr lang="es-CR" i="1"/>
                        <m:t>≈</m:t>
                      </m:r>
                      <m:f>
                        <m:fPr>
                          <m:ctrlPr>
                            <a:rPr lang="es-CR" i="1"/>
                          </m:ctrlPr>
                        </m:fPr>
                        <m:num>
                          <m:sSub>
                            <m:sSubPr>
                              <m:ctrlPr>
                                <a:rPr lang="es-CR" i="1"/>
                              </m:ctrlPr>
                            </m:sSubPr>
                            <m:e>
                              <m:r>
                                <a:rPr lang="es-CR" i="1"/>
                                <m:t>𝑛</m:t>
                              </m:r>
                            </m:e>
                            <m:sub>
                              <m:r>
                                <a:rPr lang="es-CR" i="1"/>
                                <m:t>𝑥</m:t>
                              </m:r>
                            </m:sub>
                          </m:sSub>
                        </m:num>
                        <m:den>
                          <m:r>
                            <a:rPr lang="es-CR" i="1"/>
                            <m:t>𝑛</m:t>
                          </m:r>
                        </m:den>
                      </m:f>
                    </m:oMath>
                  </m:oMathPara>
                </a14:m>
                <a:endParaRPr lang="es-CR" dirty="0"/>
              </a:p>
            </p:txBody>
          </p:sp>
        </mc:Choice>
        <mc:Fallback>
          <p:sp>
            <p:nvSpPr>
              <p:cNvPr id="2" name="1 Rectángulo"/>
              <p:cNvSpPr>
                <a:spLocks noRot="1" noChangeAspect="1" noMove="1" noResize="1" noEditPoints="1" noAdjustHandles="1" noChangeArrowheads="1" noChangeShapeType="1" noTextEdit="1"/>
              </p:cNvSpPr>
              <p:nvPr/>
            </p:nvSpPr>
            <p:spPr>
              <a:xfrm>
                <a:off x="467544" y="2184550"/>
                <a:ext cx="1214563" cy="566694"/>
              </a:xfrm>
              <a:prstGeom prst="rect">
                <a:avLst/>
              </a:prstGeom>
              <a:blipFill rotWithShape="1">
                <a:blip r:embed="rId4"/>
                <a:stretch>
                  <a:fillRect/>
                </a:stretch>
              </a:blipFill>
            </p:spPr>
            <p:txBody>
              <a:bodyPr/>
              <a:lstStyle/>
              <a:p>
                <a:r>
                  <a:rPr lang="es-CR">
                    <a:noFill/>
                  </a:rPr>
                  <a:t> </a:t>
                </a:r>
              </a:p>
            </p:txBody>
          </p:sp>
        </mc:Fallback>
      </mc:AlternateContent>
      <p:cxnSp>
        <p:nvCxnSpPr>
          <p:cNvPr id="6" name="5 Conector recto de flecha"/>
          <p:cNvCxnSpPr/>
          <p:nvPr/>
        </p:nvCxnSpPr>
        <p:spPr>
          <a:xfrm>
            <a:off x="1979712" y="2467897"/>
            <a:ext cx="1008112"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7" name="6 Rectángulo"/>
              <p:cNvSpPr/>
              <p:nvPr/>
            </p:nvSpPr>
            <p:spPr>
              <a:xfrm>
                <a:off x="3635896" y="2184550"/>
                <a:ext cx="1687449" cy="56669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s-CR" i="1"/>
                        <m:t>𝑃</m:t>
                      </m:r>
                      <m:d>
                        <m:dPr>
                          <m:ctrlPr>
                            <a:rPr lang="es-CR" i="1"/>
                          </m:ctrlPr>
                        </m:dPr>
                        <m:e>
                          <m:r>
                            <a:rPr lang="es-CR" i="1"/>
                            <m:t>𝑒</m:t>
                          </m:r>
                        </m:e>
                      </m:d>
                      <m:r>
                        <a:rPr lang="es-CR" i="1"/>
                        <m:t>=</m:t>
                      </m:r>
                      <m:func>
                        <m:funcPr>
                          <m:ctrlPr>
                            <a:rPr lang="es-CR" i="1"/>
                          </m:ctrlPr>
                        </m:funcPr>
                        <m:fName>
                          <m:limLow>
                            <m:limLowPr>
                              <m:ctrlPr>
                                <a:rPr lang="es-CR" i="1"/>
                              </m:ctrlPr>
                            </m:limLowPr>
                            <m:e>
                              <m:r>
                                <m:rPr>
                                  <m:sty m:val="p"/>
                                </m:rPr>
                                <a:rPr lang="es-CR"/>
                                <m:t>lim</m:t>
                              </m:r>
                            </m:e>
                            <m:lim>
                              <m:r>
                                <a:rPr lang="es-CR" i="1"/>
                                <m:t>𝑛</m:t>
                              </m:r>
                              <m:r>
                                <a:rPr lang="es-CR" i="1"/>
                                <m:t>→∞</m:t>
                              </m:r>
                            </m:lim>
                          </m:limLow>
                        </m:fName>
                        <m:e>
                          <m:f>
                            <m:fPr>
                              <m:ctrlPr>
                                <a:rPr lang="es-CR" i="1"/>
                              </m:ctrlPr>
                            </m:fPr>
                            <m:num>
                              <m:sSub>
                                <m:sSubPr>
                                  <m:ctrlPr>
                                    <a:rPr lang="es-CR" i="1"/>
                                  </m:ctrlPr>
                                </m:sSubPr>
                                <m:e>
                                  <m:r>
                                    <a:rPr lang="es-CR" i="1"/>
                                    <m:t>𝑛</m:t>
                                  </m:r>
                                </m:e>
                                <m:sub>
                                  <m:r>
                                    <a:rPr lang="es-CR" i="1"/>
                                    <m:t>𝑥</m:t>
                                  </m:r>
                                </m:sub>
                              </m:sSub>
                            </m:num>
                            <m:den>
                              <m:r>
                                <a:rPr lang="es-CR" i="1"/>
                                <m:t>𝑛</m:t>
                              </m:r>
                            </m:den>
                          </m:f>
                        </m:e>
                      </m:func>
                      <m:r>
                        <a:rPr lang="es-CR" i="1"/>
                        <m:t> </m:t>
                      </m:r>
                    </m:oMath>
                  </m:oMathPara>
                </a14:m>
                <a:endParaRPr lang="es-CR" dirty="0"/>
              </a:p>
            </p:txBody>
          </p:sp>
        </mc:Choice>
        <mc:Fallback>
          <p:sp>
            <p:nvSpPr>
              <p:cNvPr id="7" name="6 Rectángulo"/>
              <p:cNvSpPr>
                <a:spLocks noRot="1" noChangeAspect="1" noMove="1" noResize="1" noEditPoints="1" noAdjustHandles="1" noChangeArrowheads="1" noChangeShapeType="1" noTextEdit="1"/>
              </p:cNvSpPr>
              <p:nvPr/>
            </p:nvSpPr>
            <p:spPr>
              <a:xfrm>
                <a:off x="3635896" y="2184550"/>
                <a:ext cx="1687449" cy="566694"/>
              </a:xfrm>
              <a:prstGeom prst="rect">
                <a:avLst/>
              </a:prstGeom>
              <a:blipFill rotWithShape="1">
                <a:blip r:embed="rId5"/>
                <a:stretch>
                  <a:fillRect/>
                </a:stretch>
              </a:blipFill>
            </p:spPr>
            <p:txBody>
              <a:bodyPr/>
              <a:lstStyle/>
              <a:p>
                <a:r>
                  <a:rPr lang="es-CR">
                    <a:noFill/>
                  </a:rPr>
                  <a:t> </a:t>
                </a:r>
              </a:p>
            </p:txBody>
          </p:sp>
        </mc:Fallback>
      </mc:AlternateContent>
    </p:spTree>
  </p:cSld>
  <p:clrMapOvr>
    <a:masterClrMapping/>
  </p:clrMapOvr>
  <p:transition>
    <p:circl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 y="1142984"/>
            <a:ext cx="6215106" cy="5357850"/>
          </a:xfrm>
        </p:spPr>
        <p:txBody>
          <a:bodyPr>
            <a:normAutofit/>
          </a:bodyPr>
          <a:lstStyle/>
          <a:p>
            <a:pPr algn="just"/>
            <a:r>
              <a:rPr lang="es-CR" sz="2400" dirty="0" smtClean="0"/>
              <a:t>Ahora, supongamos que queremos saber con qué probabilidad podría nacer un niño en CR en el 2010. Según los registros se tiene que para el presente año hubo  105 nacimientos de hombres y 100 nacimientos de mujeres.</a:t>
            </a:r>
          </a:p>
          <a:p>
            <a:pPr algn="just"/>
            <a:endParaRPr lang="es-CR" sz="2400" dirty="0" smtClean="0"/>
          </a:p>
          <a:p>
            <a:pPr algn="just"/>
            <a:r>
              <a:rPr lang="es-CR" sz="2400" dirty="0" smtClean="0"/>
              <a:t>Entonces en total hubo 205 nacimientos.</a:t>
            </a:r>
          </a:p>
          <a:p>
            <a:pPr algn="just"/>
            <a:endParaRPr lang="es-CR" sz="2400" dirty="0" smtClean="0"/>
          </a:p>
          <a:p>
            <a:pPr algn="just"/>
            <a:r>
              <a:rPr lang="es-CR" sz="2400" dirty="0" smtClean="0"/>
              <a:t>¿Cómo calculamos la probabilidad según el enfoque de frecuencia relativa?</a:t>
            </a:r>
          </a:p>
        </p:txBody>
      </p:sp>
      <p:sp>
        <p:nvSpPr>
          <p:cNvPr id="4" name="1 Título"/>
          <p:cNvSpPr>
            <a:spLocks noGrp="1"/>
          </p:cNvSpPr>
          <p:nvPr>
            <p:ph type="title"/>
          </p:nvPr>
        </p:nvSpPr>
        <p:spPr>
          <a:xfrm>
            <a:off x="0" y="0"/>
            <a:ext cx="9144000" cy="1000108"/>
          </a:xfrm>
        </p:spPr>
        <p:txBody>
          <a:bodyPr/>
          <a:lstStyle/>
          <a:p>
            <a:r>
              <a:rPr lang="es-CR" dirty="0" smtClean="0"/>
              <a:t>Probabilidad según la frecuencia relativa</a:t>
            </a:r>
            <a:endParaRPr lang="es-CR" dirty="0"/>
          </a:p>
        </p:txBody>
      </p:sp>
      <p:pic>
        <p:nvPicPr>
          <p:cNvPr id="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214678" y="5643578"/>
            <a:ext cx="1714512" cy="845513"/>
          </a:xfrm>
          <a:prstGeom prst="rect">
            <a:avLst/>
          </a:prstGeom>
          <a:noFill/>
        </p:spPr>
      </p:pic>
      <p:pic>
        <p:nvPicPr>
          <p:cNvPr id="7170" name="Picture 2" descr="http://www.ilhn.com/datos/saber/imagenes/matematico.jpg"/>
          <p:cNvPicPr>
            <a:picLocks noChangeAspect="1" noChangeArrowheads="1"/>
          </p:cNvPicPr>
          <p:nvPr/>
        </p:nvPicPr>
        <p:blipFill>
          <a:blip r:embed="rId3" cstate="print"/>
          <a:srcRect/>
          <a:stretch>
            <a:fillRect/>
          </a:stretch>
        </p:blipFill>
        <p:spPr bwMode="auto">
          <a:xfrm>
            <a:off x="6643702" y="1214422"/>
            <a:ext cx="2000264" cy="2725712"/>
          </a:xfrm>
          <a:prstGeom prst="rect">
            <a:avLst/>
          </a:prstGeom>
          <a:noFill/>
        </p:spPr>
      </p:pic>
      <p:pic>
        <p:nvPicPr>
          <p:cNvPr id="7172" name="Picture 4" descr="http://3.bp.blogspot.com/_x5dWpZechS8/SG3e13OcVyI/AAAAAAAABK0/0AeMTTfjA1Y/s400/matematica.png"/>
          <p:cNvPicPr>
            <a:picLocks noChangeAspect="1" noChangeArrowheads="1"/>
          </p:cNvPicPr>
          <p:nvPr/>
        </p:nvPicPr>
        <p:blipFill>
          <a:blip r:embed="rId4" cstate="print"/>
          <a:srcRect/>
          <a:stretch>
            <a:fillRect/>
          </a:stretch>
        </p:blipFill>
        <p:spPr bwMode="auto">
          <a:xfrm>
            <a:off x="6429388" y="4071942"/>
            <a:ext cx="2286016" cy="2286016"/>
          </a:xfrm>
          <a:prstGeom prst="rect">
            <a:avLst/>
          </a:prstGeom>
          <a:noFill/>
        </p:spPr>
      </p:pic>
    </p:spTree>
  </p:cSld>
  <p:clrMapOvr>
    <a:masterClrMapping/>
  </p:clrMapOvr>
  <p:transition>
    <p:diamon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7158" y="1357298"/>
            <a:ext cx="5786478" cy="4572000"/>
          </a:xfrm>
        </p:spPr>
        <p:txBody>
          <a:bodyPr>
            <a:normAutofit/>
          </a:bodyPr>
          <a:lstStyle/>
          <a:p>
            <a:r>
              <a:rPr lang="es-CR" sz="2400" dirty="0" smtClean="0"/>
              <a:t>El resultado es muy similar a una proporción:</a:t>
            </a:r>
            <a:endParaRPr lang="es-CR" sz="2400" dirty="0"/>
          </a:p>
        </p:txBody>
      </p:sp>
      <p:sp>
        <p:nvSpPr>
          <p:cNvPr id="4" name="1 Título"/>
          <p:cNvSpPr>
            <a:spLocks noGrp="1"/>
          </p:cNvSpPr>
          <p:nvPr>
            <p:ph type="title"/>
          </p:nvPr>
        </p:nvSpPr>
        <p:spPr>
          <a:xfrm>
            <a:off x="0" y="0"/>
            <a:ext cx="9144000" cy="1000108"/>
          </a:xfrm>
        </p:spPr>
        <p:txBody>
          <a:bodyPr/>
          <a:lstStyle/>
          <a:p>
            <a:r>
              <a:rPr lang="es-CR" dirty="0" smtClean="0"/>
              <a:t>Probabilidad según la frecuencia relativa</a:t>
            </a:r>
            <a:endParaRPr lang="es-CR" dirty="0"/>
          </a:p>
        </p:txBody>
      </p:sp>
      <p:sp>
        <p:nvSpPr>
          <p:cNvPr id="266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662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857224" y="2571744"/>
            <a:ext cx="4359550" cy="714380"/>
          </a:xfrm>
          <a:prstGeom prst="rect">
            <a:avLst/>
          </a:prstGeom>
          <a:noFill/>
        </p:spPr>
      </p:pic>
      <p:sp>
        <p:nvSpPr>
          <p:cNvPr id="266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266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6629" name="Picture 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857224" y="3929066"/>
            <a:ext cx="2786082" cy="944845"/>
          </a:xfrm>
          <a:prstGeom prst="rect">
            <a:avLst/>
          </a:prstGeom>
          <a:noFill/>
        </p:spPr>
      </p:pic>
      <p:sp>
        <p:nvSpPr>
          <p:cNvPr id="2663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6631" name="Picture 7"/>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928662" y="5286388"/>
            <a:ext cx="3299137" cy="571504"/>
          </a:xfrm>
          <a:prstGeom prst="rect">
            <a:avLst/>
          </a:prstGeom>
          <a:noFill/>
        </p:spPr>
      </p:pic>
      <p:pic>
        <p:nvPicPr>
          <p:cNvPr id="6146" name="Picture 2" descr="http://www.ahorroconsejos.com/wp-content/uploads/2010/01/porcentaje.jpg"/>
          <p:cNvPicPr>
            <a:picLocks noChangeAspect="1" noChangeArrowheads="1"/>
          </p:cNvPicPr>
          <p:nvPr/>
        </p:nvPicPr>
        <p:blipFill>
          <a:blip r:embed="rId5" cstate="print"/>
          <a:srcRect/>
          <a:stretch>
            <a:fillRect/>
          </a:stretch>
        </p:blipFill>
        <p:spPr bwMode="auto">
          <a:xfrm>
            <a:off x="6143636" y="1000108"/>
            <a:ext cx="2857500" cy="2857500"/>
          </a:xfrm>
          <a:prstGeom prst="rect">
            <a:avLst/>
          </a:prstGeom>
          <a:noFill/>
        </p:spPr>
      </p:pic>
      <p:pic>
        <p:nvPicPr>
          <p:cNvPr id="6148" name="Picture 4" descr="http://www.ceibal.edu.uy/contenidos/areas_conocimiento/mat/comparaciondefracciones/porcentaje4.gif"/>
          <p:cNvPicPr>
            <a:picLocks noChangeAspect="1" noChangeArrowheads="1"/>
          </p:cNvPicPr>
          <p:nvPr/>
        </p:nvPicPr>
        <p:blipFill>
          <a:blip r:embed="rId6" cstate="print"/>
          <a:srcRect/>
          <a:stretch>
            <a:fillRect/>
          </a:stretch>
        </p:blipFill>
        <p:spPr bwMode="auto">
          <a:xfrm>
            <a:off x="6000760" y="3429000"/>
            <a:ext cx="2514600" cy="2733676"/>
          </a:xfrm>
          <a:prstGeom prst="rect">
            <a:avLst/>
          </a:prstGeom>
          <a:noFill/>
        </p:spPr>
      </p:pic>
    </p:spTree>
  </p:cSld>
  <p:clrMapOvr>
    <a:masterClrMapping/>
  </p:clrMapOvr>
  <p:transition>
    <p:plus/>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196752"/>
            <a:ext cx="5688632" cy="5143536"/>
          </a:xfrm>
        </p:spPr>
        <p:txBody>
          <a:bodyPr>
            <a:normAutofit/>
          </a:bodyPr>
          <a:lstStyle/>
          <a:p>
            <a:pPr algn="just"/>
            <a:r>
              <a:rPr lang="es-CR" sz="2400" dirty="0" smtClean="0"/>
              <a:t>Entonces, de acuerdo al resultado anterior, la probabilidad de nacer de un niño en CR es de 0.512.</a:t>
            </a:r>
          </a:p>
          <a:p>
            <a:pPr algn="just"/>
            <a:endParaRPr lang="es-CR" sz="2400" dirty="0" smtClean="0"/>
          </a:p>
          <a:p>
            <a:pPr algn="just"/>
            <a:r>
              <a:rPr lang="es-CR" sz="2400" dirty="0" smtClean="0"/>
              <a:t>Nótese que el resultado de la presente probabilidad recurrió la necesidad de los datos obtenidos.</a:t>
            </a:r>
          </a:p>
          <a:p>
            <a:pPr algn="just"/>
            <a:endParaRPr lang="es-CR" sz="2400" dirty="0" smtClean="0"/>
          </a:p>
          <a:p>
            <a:pPr algn="just"/>
            <a:r>
              <a:rPr lang="es-CR" sz="2400" dirty="0" smtClean="0"/>
              <a:t>Además, en este caso no hay ningún pensamiento anterior o posterior, todo se fundamente en la información presente.</a:t>
            </a:r>
            <a:endParaRPr lang="es-CR" sz="2400" dirty="0"/>
          </a:p>
        </p:txBody>
      </p:sp>
      <p:sp>
        <p:nvSpPr>
          <p:cNvPr id="4" name="1 Título"/>
          <p:cNvSpPr>
            <a:spLocks noGrp="1"/>
          </p:cNvSpPr>
          <p:nvPr>
            <p:ph type="title"/>
          </p:nvPr>
        </p:nvSpPr>
        <p:spPr>
          <a:xfrm>
            <a:off x="0" y="0"/>
            <a:ext cx="9144000" cy="1000108"/>
          </a:xfrm>
        </p:spPr>
        <p:txBody>
          <a:bodyPr/>
          <a:lstStyle/>
          <a:p>
            <a:r>
              <a:rPr lang="es-CR" dirty="0" smtClean="0"/>
              <a:t>Probabilidad según la frecuencia relativa</a:t>
            </a:r>
            <a:endParaRPr lang="es-CR" dirty="0"/>
          </a:p>
        </p:txBody>
      </p:sp>
      <p:pic>
        <p:nvPicPr>
          <p:cNvPr id="6146" name="Picture 2" descr="http://abcallaccess.com/wp-content/uploads/2013/10/LOGO_BornToExplore.png"/>
          <p:cNvPicPr>
            <a:picLocks noChangeAspect="1" noChangeArrowheads="1"/>
          </p:cNvPicPr>
          <p:nvPr/>
        </p:nvPicPr>
        <p:blipFill rotWithShape="1">
          <a:blip r:embed="rId2">
            <a:extLst>
              <a:ext uri="{28A0092B-C50C-407E-A947-70E740481C1C}">
                <a14:useLocalDpi xmlns:a14="http://schemas.microsoft.com/office/drawing/2010/main" val="0"/>
              </a:ext>
            </a:extLst>
          </a:blip>
          <a:srcRect l="31309" r="31786"/>
          <a:stretch/>
        </p:blipFill>
        <p:spPr bwMode="auto">
          <a:xfrm>
            <a:off x="6084168" y="1340768"/>
            <a:ext cx="2708515" cy="41283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newsfla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95536" y="1412776"/>
            <a:ext cx="7772400" cy="4572000"/>
          </a:xfrm>
        </p:spPr>
        <p:txBody>
          <a:bodyPr/>
          <a:lstStyle/>
          <a:p>
            <a:r>
              <a:rPr lang="es-CR" dirty="0" smtClean="0"/>
              <a:t>Con este nuevo concepto de la probabilidad según la frecuencia relativa, que pasó con el enfoque clásico….</a:t>
            </a:r>
            <a:endParaRPr lang="es-CR" dirty="0"/>
          </a:p>
        </p:txBody>
      </p:sp>
      <p:sp>
        <p:nvSpPr>
          <p:cNvPr id="4" name="1 Título"/>
          <p:cNvSpPr>
            <a:spLocks noGrp="1"/>
          </p:cNvSpPr>
          <p:nvPr>
            <p:ph type="title"/>
          </p:nvPr>
        </p:nvSpPr>
        <p:spPr>
          <a:xfrm>
            <a:off x="0" y="0"/>
            <a:ext cx="9144000" cy="1000108"/>
          </a:xfrm>
        </p:spPr>
        <p:txBody>
          <a:bodyPr/>
          <a:lstStyle/>
          <a:p>
            <a:r>
              <a:rPr lang="es-CR" dirty="0" smtClean="0"/>
              <a:t>Probabilidad según la frecuencia relativa</a:t>
            </a:r>
            <a:endParaRPr lang="es-CR" dirty="0"/>
          </a:p>
        </p:txBody>
      </p:sp>
      <p:pic>
        <p:nvPicPr>
          <p:cNvPr id="6146" name="Picture 2" descr="https://encrypted-tbn2.gstatic.com/images?q=tbn:ANd9GcRL7DqjZvJZfymh4lvEV75Jb6Iwkg8FqJxcpeO6TBrVxtQ6WK4MJ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924944"/>
            <a:ext cx="3790950" cy="165618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3.bp.blogspot.com/-LDq5G0a29v0/VcmBGo56HFI/AAAAAAAAENE/ZFBgJ60VNCg/s1600/Permutation%2B%252C%2BCombination%2Band%2BProbability.jpg"/>
          <p:cNvPicPr>
            <a:picLocks noChangeAspect="1" noChangeArrowheads="1"/>
          </p:cNvPicPr>
          <p:nvPr/>
        </p:nvPicPr>
        <p:blipFill rotWithShape="1">
          <a:blip r:embed="rId3">
            <a:extLst>
              <a:ext uri="{28A0092B-C50C-407E-A947-70E740481C1C}">
                <a14:useLocalDpi xmlns:a14="http://schemas.microsoft.com/office/drawing/2010/main" val="0"/>
              </a:ext>
            </a:extLst>
          </a:blip>
          <a:srcRect l="5010" t="28269" r="8241" b="13606"/>
          <a:stretch/>
        </p:blipFill>
        <p:spPr bwMode="auto">
          <a:xfrm>
            <a:off x="3563888" y="4725144"/>
            <a:ext cx="4775200" cy="1799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153854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7584" y="116632"/>
            <a:ext cx="7772400" cy="1066130"/>
          </a:xfrm>
        </p:spPr>
        <p:txBody>
          <a:bodyPr/>
          <a:lstStyle/>
          <a:p>
            <a:pPr algn="ctr"/>
            <a:r>
              <a:rPr lang="es-CR" dirty="0" smtClean="0"/>
              <a:t>Índice</a:t>
            </a:r>
            <a:endParaRPr lang="es-CR" dirty="0"/>
          </a:p>
        </p:txBody>
      </p:sp>
      <p:sp>
        <p:nvSpPr>
          <p:cNvPr id="4" name="3 Elipse"/>
          <p:cNvSpPr/>
          <p:nvPr/>
        </p:nvSpPr>
        <p:spPr>
          <a:xfrm>
            <a:off x="323528" y="1556792"/>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323528" y="3432836"/>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323528" y="5301208"/>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7" name="6 Elipse"/>
          <p:cNvSpPr/>
          <p:nvPr/>
        </p:nvSpPr>
        <p:spPr>
          <a:xfrm>
            <a:off x="4644008" y="1556792"/>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12" name="11 Rectángulo redondeado"/>
          <p:cNvSpPr/>
          <p:nvPr/>
        </p:nvSpPr>
        <p:spPr>
          <a:xfrm>
            <a:off x="1817084" y="3425164"/>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Probabilidad clásica o a </a:t>
            </a:r>
            <a:r>
              <a:rPr lang="es-CR" dirty="0" smtClean="0"/>
              <a:t>priori</a:t>
            </a:r>
            <a:endParaRPr lang="es-CR" dirty="0"/>
          </a:p>
        </p:txBody>
      </p:sp>
      <p:sp>
        <p:nvSpPr>
          <p:cNvPr id="13" name="12 Rectángulo redondeado"/>
          <p:cNvSpPr/>
          <p:nvPr/>
        </p:nvSpPr>
        <p:spPr>
          <a:xfrm>
            <a:off x="1817084" y="5373216"/>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Probabilidad frecuencia relativa</a:t>
            </a:r>
            <a:endParaRPr lang="es-CR" dirty="0"/>
          </a:p>
        </p:txBody>
      </p:sp>
      <p:sp>
        <p:nvSpPr>
          <p:cNvPr id="14" name="13 Rectángulo redondeado"/>
          <p:cNvSpPr/>
          <p:nvPr/>
        </p:nvSpPr>
        <p:spPr>
          <a:xfrm>
            <a:off x="6372200" y="1632636"/>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Probabilidad </a:t>
            </a:r>
            <a:r>
              <a:rPr lang="es-CR" dirty="0" smtClean="0"/>
              <a:t>subjetiva</a:t>
            </a:r>
            <a:endParaRPr lang="es-CR" dirty="0"/>
          </a:p>
        </p:txBody>
      </p:sp>
      <p:sp>
        <p:nvSpPr>
          <p:cNvPr id="17" name="16 Rectángulo redondeado"/>
          <p:cNvSpPr/>
          <p:nvPr/>
        </p:nvSpPr>
        <p:spPr>
          <a:xfrm>
            <a:off x="1817084" y="1556792"/>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esencia de la probabilidad y conceptos </a:t>
            </a:r>
            <a:endParaRPr lang="es-CR" dirty="0"/>
          </a:p>
        </p:txBody>
      </p:sp>
    </p:spTree>
    <p:extLst>
      <p:ext uri="{BB962C8B-B14F-4D97-AF65-F5344CB8AC3E}">
        <p14:creationId xmlns:p14="http://schemas.microsoft.com/office/powerpoint/2010/main" val="37795193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txBox="1">
            <a:spLocks/>
          </p:cNvSpPr>
          <p:nvPr/>
        </p:nvSpPr>
        <p:spPr>
          <a:xfrm>
            <a:off x="467544" y="836712"/>
            <a:ext cx="7772400" cy="4572000"/>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buFont typeface="Wingdings 2"/>
              <a:buNone/>
            </a:pPr>
            <a:r>
              <a:rPr lang="es-CR" sz="3600" dirty="0" smtClean="0"/>
              <a:t>¿De cuerdo a la información que manejo o poseo, cuál es la posibilidad de obtener… o de que..?</a:t>
            </a:r>
            <a:endParaRPr lang="es-CR" sz="3600" dirty="0"/>
          </a:p>
        </p:txBody>
      </p:sp>
      <p:pic>
        <p:nvPicPr>
          <p:cNvPr id="1026" name="Picture 2" descr="https://agencelitterairelaens.files.wordpress.com/2013/08/bonhomme_ques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764097"/>
            <a:ext cx="2771775" cy="37242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instruction2.mtsac.edu/french/french4/images/MC900078711%5b1%5d.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4501" y="2363300"/>
            <a:ext cx="1628775" cy="394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75039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4282" y="0"/>
            <a:ext cx="8715436" cy="1000108"/>
          </a:xfrm>
        </p:spPr>
        <p:txBody>
          <a:bodyPr/>
          <a:lstStyle/>
          <a:p>
            <a:pPr algn="ctr"/>
            <a:r>
              <a:rPr lang="es-CR" dirty="0" smtClean="0"/>
              <a:t>Probabilidad subjetiva</a:t>
            </a:r>
            <a:endParaRPr lang="es-CR" dirty="0"/>
          </a:p>
        </p:txBody>
      </p:sp>
      <p:sp>
        <p:nvSpPr>
          <p:cNvPr id="3" name="2 Marcador de contenido"/>
          <p:cNvSpPr>
            <a:spLocks noGrp="1"/>
          </p:cNvSpPr>
          <p:nvPr>
            <p:ph sz="quarter" idx="1"/>
          </p:nvPr>
        </p:nvSpPr>
        <p:spPr>
          <a:xfrm>
            <a:off x="214282" y="1071546"/>
            <a:ext cx="6357982" cy="5500726"/>
          </a:xfrm>
        </p:spPr>
        <p:txBody>
          <a:bodyPr>
            <a:normAutofit fontScale="92500"/>
          </a:bodyPr>
          <a:lstStyle/>
          <a:p>
            <a:pPr algn="just"/>
            <a:r>
              <a:rPr lang="es-CR" dirty="0" smtClean="0"/>
              <a:t>Existen muchos eventos de interés cuyas probabilidades de ocurrencia no se pueden calcular de acuerdo con los métodos de frecuencia relativa o de probabilidad a priori.</a:t>
            </a:r>
          </a:p>
          <a:p>
            <a:pPr algn="just"/>
            <a:endParaRPr lang="es-CR" dirty="0" smtClean="0"/>
          </a:p>
          <a:p>
            <a:pPr algn="just"/>
            <a:r>
              <a:rPr lang="es-CR" dirty="0" smtClean="0"/>
              <a:t>Los métodos anteriores no prestan ninguna ayuda para calcular la probabilidad de que , por ejemplo:</a:t>
            </a:r>
          </a:p>
          <a:p>
            <a:pPr algn="just">
              <a:buNone/>
            </a:pPr>
            <a:endParaRPr lang="es-CR" dirty="0" smtClean="0"/>
          </a:p>
          <a:p>
            <a:pPr algn="just">
              <a:buNone/>
            </a:pPr>
            <a:r>
              <a:rPr lang="es-CR" dirty="0" smtClean="0"/>
              <a:t>	-Haya vida en algún planeta distante</a:t>
            </a:r>
          </a:p>
          <a:p>
            <a:pPr algn="just">
              <a:buNone/>
            </a:pPr>
            <a:r>
              <a:rPr lang="es-CR" dirty="0" smtClean="0"/>
              <a:t>	-En los próximos 10 años se descubra algún remedio contra el cáncer.</a:t>
            </a:r>
          </a:p>
          <a:p>
            <a:pPr algn="just">
              <a:buNone/>
            </a:pPr>
            <a:r>
              <a:rPr lang="es-CR" dirty="0" smtClean="0"/>
              <a:t>	-Cierta persona vaya a destacar en la universidad.</a:t>
            </a:r>
          </a:p>
          <a:p>
            <a:pPr algn="just">
              <a:buNone/>
            </a:pPr>
            <a:r>
              <a:rPr lang="es-CR" dirty="0" smtClean="0"/>
              <a:t>	-Mañana vaya a llover.</a:t>
            </a:r>
          </a:p>
        </p:txBody>
      </p:sp>
      <p:pic>
        <p:nvPicPr>
          <p:cNvPr id="4098" name="Picture 2" descr="http://www.sunlink.ucf.edu/presentations/fetc2004/images/thinking.jpg"/>
          <p:cNvPicPr>
            <a:picLocks noChangeAspect="1" noChangeArrowheads="1"/>
          </p:cNvPicPr>
          <p:nvPr/>
        </p:nvPicPr>
        <p:blipFill>
          <a:blip r:embed="rId2" cstate="print"/>
          <a:srcRect/>
          <a:stretch>
            <a:fillRect/>
          </a:stretch>
        </p:blipFill>
        <p:spPr bwMode="auto">
          <a:xfrm>
            <a:off x="6677902" y="1133679"/>
            <a:ext cx="2214578" cy="2151305"/>
          </a:xfrm>
          <a:prstGeom prst="rect">
            <a:avLst/>
          </a:prstGeom>
          <a:noFill/>
        </p:spPr>
      </p:pic>
      <p:pic>
        <p:nvPicPr>
          <p:cNvPr id="4100" name="Picture 4" descr="http://media-cdn.tripadvisor.com/media/photo-s/00/11/38/52/stop-thinking-and-do.jpg"/>
          <p:cNvPicPr>
            <a:picLocks noChangeAspect="1" noChangeArrowheads="1"/>
          </p:cNvPicPr>
          <p:nvPr/>
        </p:nvPicPr>
        <p:blipFill>
          <a:blip r:embed="rId3" cstate="print"/>
          <a:srcRect/>
          <a:stretch>
            <a:fillRect/>
          </a:stretch>
        </p:blipFill>
        <p:spPr bwMode="auto">
          <a:xfrm>
            <a:off x="6715140" y="3500438"/>
            <a:ext cx="2139965" cy="2857520"/>
          </a:xfrm>
          <a:prstGeom prst="rect">
            <a:avLst/>
          </a:prstGeom>
          <a:noFill/>
        </p:spPr>
      </p:pic>
    </p:spTree>
  </p:cSld>
  <p:clrMapOvr>
    <a:masterClrMapping/>
  </p:clrMapOvr>
  <p:transition>
    <p:newsfla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71406" y="1071570"/>
            <a:ext cx="6516818" cy="5786454"/>
          </a:xfrm>
        </p:spPr>
        <p:txBody>
          <a:bodyPr>
            <a:normAutofit/>
          </a:bodyPr>
          <a:lstStyle/>
          <a:p>
            <a:pPr algn="just"/>
            <a:r>
              <a:rPr lang="es-CR" sz="2400" dirty="0" smtClean="0"/>
              <a:t>Muchas veces escuchamos que según el nivel de precipitación y la nubosidad en el cielo, se tiene una probabilidad del 70% de que vaya a llover.</a:t>
            </a:r>
          </a:p>
          <a:p>
            <a:pPr algn="just"/>
            <a:endParaRPr lang="es-CR" sz="2400" dirty="0" smtClean="0"/>
          </a:p>
          <a:p>
            <a:pPr algn="just"/>
            <a:r>
              <a:rPr lang="es-CR" sz="2400" dirty="0" smtClean="0"/>
              <a:t>Aquellas probabilidades que nos permite asignarle probabilidades a eventos tales como estos, en donde no hay un claro respaldo de datos para el momento, se le denomina como </a:t>
            </a:r>
            <a:r>
              <a:rPr lang="es-CR" sz="2400" i="1" dirty="0" smtClean="0"/>
              <a:t>probabilidad subjetiva</a:t>
            </a:r>
            <a:r>
              <a:rPr lang="es-CR" sz="2400" dirty="0" smtClean="0"/>
              <a:t>.</a:t>
            </a:r>
          </a:p>
          <a:p>
            <a:pPr algn="just"/>
            <a:endParaRPr lang="es-CR" sz="2400" dirty="0" smtClean="0"/>
          </a:p>
          <a:p>
            <a:pPr algn="just"/>
            <a:r>
              <a:rPr lang="es-CR" sz="2400" dirty="0" smtClean="0"/>
              <a:t>Este método tiene un gran fundamento en la estadística Bayesiana. </a:t>
            </a:r>
            <a:r>
              <a:rPr lang="es-CR" sz="2400" dirty="0"/>
              <a:t>L</a:t>
            </a:r>
            <a:r>
              <a:rPr lang="es-CR" sz="2400" dirty="0" smtClean="0"/>
              <a:t>os dos enfoques de probabilidad anterior se conciben como un caso especial de la probabilidad subjetiva.</a:t>
            </a:r>
            <a:endParaRPr lang="es-CR" sz="2400" dirty="0"/>
          </a:p>
        </p:txBody>
      </p:sp>
      <p:sp>
        <p:nvSpPr>
          <p:cNvPr id="4" name="1 Título"/>
          <p:cNvSpPr>
            <a:spLocks noGrp="1"/>
          </p:cNvSpPr>
          <p:nvPr>
            <p:ph type="title"/>
          </p:nvPr>
        </p:nvSpPr>
        <p:spPr>
          <a:xfrm>
            <a:off x="214282" y="0"/>
            <a:ext cx="8715436" cy="1000108"/>
          </a:xfrm>
        </p:spPr>
        <p:txBody>
          <a:bodyPr/>
          <a:lstStyle/>
          <a:p>
            <a:pPr algn="ctr"/>
            <a:r>
              <a:rPr lang="es-CR" dirty="0" smtClean="0"/>
              <a:t>Probabilidad subjetiva</a:t>
            </a:r>
            <a:endParaRPr lang="es-CR" dirty="0"/>
          </a:p>
        </p:txBody>
      </p:sp>
      <p:pic>
        <p:nvPicPr>
          <p:cNvPr id="3074" name="Picture 2" descr="http://files.myopera.com/pbuydid/blog/rain.jpg"/>
          <p:cNvPicPr>
            <a:picLocks noChangeAspect="1" noChangeArrowheads="1"/>
          </p:cNvPicPr>
          <p:nvPr/>
        </p:nvPicPr>
        <p:blipFill>
          <a:blip r:embed="rId2" cstate="print"/>
          <a:srcRect/>
          <a:stretch>
            <a:fillRect/>
          </a:stretch>
        </p:blipFill>
        <p:spPr bwMode="auto">
          <a:xfrm>
            <a:off x="6858016" y="1285860"/>
            <a:ext cx="1928826" cy="2630218"/>
          </a:xfrm>
          <a:prstGeom prst="rect">
            <a:avLst/>
          </a:prstGeom>
          <a:noFill/>
        </p:spPr>
      </p:pic>
    </p:spTree>
  </p:cSld>
  <p:clrMapOvr>
    <a:masterClrMapping/>
  </p:clrMapOvr>
  <p:transition>
    <p:diamond/>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71406" y="1071570"/>
            <a:ext cx="6516818" cy="5786454"/>
          </a:xfrm>
        </p:spPr>
        <p:txBody>
          <a:bodyPr>
            <a:normAutofit/>
          </a:bodyPr>
          <a:lstStyle/>
          <a:p>
            <a:pPr algn="just"/>
            <a:r>
              <a:rPr lang="es-CR" sz="2400" dirty="0" smtClean="0"/>
              <a:t>¿Es fácil de entender el enfoque de probabilidad subjetiva?</a:t>
            </a:r>
            <a:endParaRPr lang="es-CR" sz="2400" dirty="0"/>
          </a:p>
        </p:txBody>
      </p:sp>
      <p:sp>
        <p:nvSpPr>
          <p:cNvPr id="4" name="1 Título"/>
          <p:cNvSpPr>
            <a:spLocks noGrp="1"/>
          </p:cNvSpPr>
          <p:nvPr>
            <p:ph type="title"/>
          </p:nvPr>
        </p:nvSpPr>
        <p:spPr>
          <a:xfrm>
            <a:off x="214282" y="0"/>
            <a:ext cx="8715436" cy="1000108"/>
          </a:xfrm>
        </p:spPr>
        <p:txBody>
          <a:bodyPr/>
          <a:lstStyle/>
          <a:p>
            <a:pPr algn="ctr"/>
            <a:r>
              <a:rPr lang="es-CR" dirty="0" smtClean="0"/>
              <a:t>Probabilidad subjetiva</a:t>
            </a:r>
            <a:endParaRPr lang="es-CR"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060848"/>
            <a:ext cx="8424936" cy="4392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9263369"/>
      </p:ext>
    </p:extLst>
  </p:cSld>
  <p:clrMapOvr>
    <a:masterClrMapping/>
  </p:clrMapOvr>
  <p:transition>
    <p:diamond/>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7584" y="116632"/>
            <a:ext cx="7772400" cy="1066130"/>
          </a:xfrm>
        </p:spPr>
        <p:txBody>
          <a:bodyPr/>
          <a:lstStyle/>
          <a:p>
            <a:pPr algn="ctr"/>
            <a:r>
              <a:rPr lang="es-CR" dirty="0" smtClean="0"/>
              <a:t>Índice</a:t>
            </a:r>
            <a:endParaRPr lang="es-CR" dirty="0"/>
          </a:p>
        </p:txBody>
      </p:sp>
      <p:sp>
        <p:nvSpPr>
          <p:cNvPr id="4" name="3 Elipse"/>
          <p:cNvSpPr/>
          <p:nvPr/>
        </p:nvSpPr>
        <p:spPr>
          <a:xfrm>
            <a:off x="323528" y="1556792"/>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323528" y="3432836"/>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323528" y="5301208"/>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7" name="6 Elipse"/>
          <p:cNvSpPr/>
          <p:nvPr/>
        </p:nvSpPr>
        <p:spPr>
          <a:xfrm>
            <a:off x="4644008" y="1556792"/>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8" name="7 Elipse"/>
          <p:cNvSpPr/>
          <p:nvPr/>
        </p:nvSpPr>
        <p:spPr>
          <a:xfrm>
            <a:off x="4644008" y="3432836"/>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12" name="11 Rectángulo redondeado"/>
          <p:cNvSpPr/>
          <p:nvPr/>
        </p:nvSpPr>
        <p:spPr>
          <a:xfrm>
            <a:off x="1817084" y="3425164"/>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Probabilidad clásica o a </a:t>
            </a:r>
            <a:r>
              <a:rPr lang="es-CR" dirty="0" smtClean="0"/>
              <a:t>priori</a:t>
            </a:r>
            <a:endParaRPr lang="es-CR" dirty="0"/>
          </a:p>
        </p:txBody>
      </p:sp>
      <p:sp>
        <p:nvSpPr>
          <p:cNvPr id="13" name="12 Rectángulo redondeado"/>
          <p:cNvSpPr/>
          <p:nvPr/>
        </p:nvSpPr>
        <p:spPr>
          <a:xfrm>
            <a:off x="1817084" y="5373216"/>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Probabilidad frecuencia relativa</a:t>
            </a:r>
            <a:endParaRPr lang="es-CR" dirty="0"/>
          </a:p>
        </p:txBody>
      </p:sp>
      <p:sp>
        <p:nvSpPr>
          <p:cNvPr id="14" name="13 Rectángulo redondeado"/>
          <p:cNvSpPr/>
          <p:nvPr/>
        </p:nvSpPr>
        <p:spPr>
          <a:xfrm>
            <a:off x="6372200" y="1632636"/>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Probabilidad clásica o a </a:t>
            </a:r>
            <a:r>
              <a:rPr lang="es-CR" dirty="0" smtClean="0"/>
              <a:t>priori</a:t>
            </a:r>
            <a:endParaRPr lang="es-CR" dirty="0"/>
          </a:p>
        </p:txBody>
      </p:sp>
      <p:sp>
        <p:nvSpPr>
          <p:cNvPr id="16" name="15 Rectángulo redondeado"/>
          <p:cNvSpPr/>
          <p:nvPr/>
        </p:nvSpPr>
        <p:spPr>
          <a:xfrm>
            <a:off x="6372200" y="3501008"/>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Distribución de probabilidad discreta</a:t>
            </a:r>
            <a:endParaRPr lang="es-CR" dirty="0"/>
          </a:p>
        </p:txBody>
      </p:sp>
      <p:sp>
        <p:nvSpPr>
          <p:cNvPr id="17" name="16 Rectángulo redondeado"/>
          <p:cNvSpPr/>
          <p:nvPr/>
        </p:nvSpPr>
        <p:spPr>
          <a:xfrm>
            <a:off x="1817084" y="1556792"/>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esencia de la probabilidad y conceptos </a:t>
            </a:r>
            <a:endParaRPr lang="es-CR" dirty="0"/>
          </a:p>
        </p:txBody>
      </p:sp>
    </p:spTree>
    <p:extLst>
      <p:ext uri="{BB962C8B-B14F-4D97-AF65-F5344CB8AC3E}">
        <p14:creationId xmlns:p14="http://schemas.microsoft.com/office/powerpoint/2010/main" val="37795193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85192" y="188640"/>
            <a:ext cx="8363272" cy="720080"/>
          </a:xfrm>
        </p:spPr>
        <p:txBody>
          <a:bodyPr>
            <a:normAutofit fontScale="90000"/>
          </a:bodyPr>
          <a:lstStyle/>
          <a:p>
            <a:pPr algn="ctr"/>
            <a:r>
              <a:rPr lang="es-CR" dirty="0" smtClean="0"/>
              <a:t>Datos discretos</a:t>
            </a:r>
            <a:endParaRPr lang="es-CR" dirty="0"/>
          </a:p>
        </p:txBody>
      </p:sp>
      <p:sp>
        <p:nvSpPr>
          <p:cNvPr id="3" name="2 Marcador de contenido"/>
          <p:cNvSpPr>
            <a:spLocks noGrp="1"/>
          </p:cNvSpPr>
          <p:nvPr>
            <p:ph sz="quarter" idx="1"/>
          </p:nvPr>
        </p:nvSpPr>
        <p:spPr>
          <a:xfrm>
            <a:off x="251520" y="1412776"/>
            <a:ext cx="5688632" cy="5112568"/>
          </a:xfrm>
        </p:spPr>
        <p:txBody>
          <a:bodyPr/>
          <a:lstStyle/>
          <a:p>
            <a:pPr algn="just"/>
            <a:r>
              <a:rPr lang="es-CR" dirty="0" smtClean="0"/>
              <a:t>¿Qué son datos discretos?</a:t>
            </a:r>
          </a:p>
          <a:p>
            <a:pPr algn="just"/>
            <a:endParaRPr lang="es-CR" dirty="0" smtClean="0"/>
          </a:p>
          <a:p>
            <a:pPr algn="just"/>
            <a:endParaRPr lang="es-CR" dirty="0"/>
          </a:p>
          <a:p>
            <a:pPr algn="just"/>
            <a:r>
              <a:rPr lang="es-CR" dirty="0" smtClean="0"/>
              <a:t>Datos de que son números reales enteros, que van desde 0 hasta +∞</a:t>
            </a:r>
          </a:p>
          <a:p>
            <a:pPr algn="just"/>
            <a:endParaRPr lang="es-CR" dirty="0"/>
          </a:p>
          <a:p>
            <a:pPr algn="just"/>
            <a:r>
              <a:rPr lang="es-CR" dirty="0" smtClean="0"/>
              <a:t>0, 1, 2,3,…., n</a:t>
            </a:r>
          </a:p>
          <a:p>
            <a:pPr algn="just"/>
            <a:endParaRPr lang="es-CR" dirty="0"/>
          </a:p>
          <a:p>
            <a:pPr algn="just"/>
            <a:r>
              <a:rPr lang="es-CR" dirty="0" smtClean="0"/>
              <a:t>Ejemplo: número de hijos, cantidad de nacimientos, número de accidentes en la carretera, etc.</a:t>
            </a:r>
          </a:p>
        </p:txBody>
      </p:sp>
      <p:pic>
        <p:nvPicPr>
          <p:cNvPr id="7170" name="Picture 2" descr="https://www.mathsisfun.com/data/images/data-type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1052736"/>
            <a:ext cx="3333750" cy="23622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vosesoftware.com/ModelRiskHelp/images/15/image505.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8184" y="4149080"/>
            <a:ext cx="2571700"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5117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95536" y="1412776"/>
            <a:ext cx="5688632" cy="5112568"/>
          </a:xfrm>
        </p:spPr>
        <p:txBody>
          <a:bodyPr>
            <a:normAutofit lnSpcReduction="10000"/>
          </a:bodyPr>
          <a:lstStyle/>
          <a:p>
            <a:pPr algn="just"/>
            <a:r>
              <a:rPr lang="es-CR" dirty="0" smtClean="0"/>
              <a:t>Las funciones discretas son distribuciones que asignan una </a:t>
            </a:r>
            <a:r>
              <a:rPr lang="es-CR" dirty="0"/>
              <a:t>probabilidad </a:t>
            </a:r>
            <a:r>
              <a:rPr lang="es-CR" dirty="0" smtClean="0"/>
              <a:t>a un fenómeno de esta clase.</a:t>
            </a:r>
          </a:p>
          <a:p>
            <a:pPr algn="just"/>
            <a:endParaRPr lang="es-CR" dirty="0"/>
          </a:p>
          <a:p>
            <a:pPr algn="just"/>
            <a:r>
              <a:rPr lang="es-CR" dirty="0" smtClean="0"/>
              <a:t>En este tipo de funciones de distribución, para obtener la probabilidad, se utilizan sumatorias:</a:t>
            </a:r>
          </a:p>
          <a:p>
            <a:pPr algn="just"/>
            <a:endParaRPr lang="es-CR" dirty="0" smtClean="0"/>
          </a:p>
          <a:p>
            <a:pPr algn="just"/>
            <a:endParaRPr lang="es-CR" dirty="0"/>
          </a:p>
          <a:p>
            <a:pPr algn="just"/>
            <a:r>
              <a:rPr lang="es-CR" dirty="0" smtClean="0"/>
              <a:t>Las funciones discretas más conocidas son: </a:t>
            </a:r>
            <a:r>
              <a:rPr lang="es-CR" dirty="0" err="1" smtClean="0"/>
              <a:t>poisson</a:t>
            </a:r>
            <a:r>
              <a:rPr lang="es-CR" dirty="0" smtClean="0"/>
              <a:t>, </a:t>
            </a:r>
            <a:r>
              <a:rPr lang="es-CR" dirty="0" err="1" smtClean="0"/>
              <a:t>bernouilli</a:t>
            </a:r>
            <a:r>
              <a:rPr lang="es-CR" dirty="0" smtClean="0"/>
              <a:t>, binomial, binomial negativa, geométrica, la </a:t>
            </a:r>
            <a:r>
              <a:rPr lang="es-CR" dirty="0" err="1" smtClean="0"/>
              <a:t>hypergeométrica</a:t>
            </a:r>
            <a:r>
              <a:rPr lang="es-CR" dirty="0" smtClean="0"/>
              <a:t>, etc.  </a:t>
            </a:r>
            <a:endParaRPr lang="es-CR" dirty="0"/>
          </a:p>
        </p:txBody>
      </p:sp>
      <p:sp>
        <p:nvSpPr>
          <p:cNvPr id="4" name="1 Título"/>
          <p:cNvSpPr>
            <a:spLocks noGrp="1"/>
          </p:cNvSpPr>
          <p:nvPr>
            <p:ph type="title"/>
          </p:nvPr>
        </p:nvSpPr>
        <p:spPr>
          <a:xfrm>
            <a:off x="385192" y="116632"/>
            <a:ext cx="8363272" cy="1008112"/>
          </a:xfrm>
        </p:spPr>
        <p:txBody>
          <a:bodyPr>
            <a:normAutofit/>
          </a:bodyPr>
          <a:lstStyle/>
          <a:p>
            <a:pPr algn="ctr"/>
            <a:r>
              <a:rPr lang="es-CR" dirty="0" smtClean="0"/>
              <a:t>Función de probabilidad discretas</a:t>
            </a:r>
            <a:endParaRPr lang="es-CR" dirty="0"/>
          </a:p>
        </p:txBody>
      </p:sp>
      <p:pic>
        <p:nvPicPr>
          <p:cNvPr id="8194" name="Picture 2" descr="https://upload.wikimedia.org/wikipedia/commons/thumb/7/77/Dis_Uniform_distribution_CDF.svg/2000px-Dis_Uniform_distribution_CDF.svg.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982" r="4087" b="6080"/>
          <a:stretch/>
        </p:blipFill>
        <p:spPr bwMode="auto">
          <a:xfrm>
            <a:off x="6295676" y="1124744"/>
            <a:ext cx="2520280" cy="3024336"/>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ttps://upload.wikimedia.org/wikipedia/commons/thumb/6/60/Scaled_chi_squared.svg/250px-Scaled_chi_squared.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5191" y="4221088"/>
            <a:ext cx="2381250" cy="23812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3.bp.blogspot.com/-xPQ3SoArbPw/T7L2ehtl7_I/AAAAAAAAAAM/ntyY5yg4dJQ/s1600/sumatoria.jpg"/>
          <p:cNvPicPr>
            <a:picLocks noChangeAspect="1" noChangeArrowheads="1"/>
          </p:cNvPicPr>
          <p:nvPr/>
        </p:nvPicPr>
        <p:blipFill rotWithShape="1">
          <a:blip r:embed="rId4">
            <a:extLst>
              <a:ext uri="{28A0092B-C50C-407E-A947-70E740481C1C}">
                <a14:useLocalDpi xmlns:a14="http://schemas.microsoft.com/office/drawing/2010/main" val="0"/>
              </a:ext>
            </a:extLst>
          </a:blip>
          <a:srcRect l="13544" t="29215" r="36247" b="28269"/>
          <a:stretch/>
        </p:blipFill>
        <p:spPr bwMode="auto">
          <a:xfrm>
            <a:off x="3206825" y="4005064"/>
            <a:ext cx="785668" cy="774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17797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385192" y="188640"/>
            <a:ext cx="8363272" cy="1008112"/>
          </a:xfrm>
        </p:spPr>
        <p:txBody>
          <a:bodyPr>
            <a:normAutofit/>
          </a:bodyPr>
          <a:lstStyle/>
          <a:p>
            <a:pPr algn="ctr"/>
            <a:r>
              <a:rPr lang="es-CR" dirty="0" smtClean="0"/>
              <a:t>Función de probabilidad discretas</a:t>
            </a:r>
            <a:endParaRPr lang="es-CR" dirty="0"/>
          </a:p>
        </p:txBody>
      </p:sp>
      <p:pic>
        <p:nvPicPr>
          <p:cNvPr id="1026" name="Picture 2" descr="http://www.jamesgottlieb.com/wp-content/uploads/2011/09/Screen-Shot-2011-09-29-at-2.07.34-P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936" y="1628800"/>
            <a:ext cx="3533775" cy="237626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www.stat.yale.edu/Courses/1997-98/101/binpd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2420888"/>
            <a:ext cx="3024336" cy="291844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doc.openturns.org/openturns-1.1/openturns-doc-june-2013/html/ReferenceGuide/pdf_Geometric.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4005063"/>
            <a:ext cx="3744416" cy="2628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315084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27584" y="188640"/>
            <a:ext cx="7772400" cy="864096"/>
          </a:xfrm>
        </p:spPr>
        <p:txBody>
          <a:bodyPr/>
          <a:lstStyle/>
          <a:p>
            <a:pPr algn="ctr"/>
            <a:r>
              <a:rPr lang="es-CR" dirty="0" smtClean="0"/>
              <a:t>Índice</a:t>
            </a:r>
            <a:endParaRPr lang="es-CR" dirty="0"/>
          </a:p>
        </p:txBody>
      </p:sp>
      <p:sp>
        <p:nvSpPr>
          <p:cNvPr id="4" name="3 Elipse"/>
          <p:cNvSpPr/>
          <p:nvPr/>
        </p:nvSpPr>
        <p:spPr>
          <a:xfrm>
            <a:off x="323528" y="1556792"/>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CR" dirty="0"/>
          </a:p>
        </p:txBody>
      </p:sp>
      <p:sp>
        <p:nvSpPr>
          <p:cNvPr id="5" name="4 Elipse"/>
          <p:cNvSpPr/>
          <p:nvPr/>
        </p:nvSpPr>
        <p:spPr>
          <a:xfrm>
            <a:off x="323528" y="3432836"/>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2</a:t>
            </a:r>
            <a:endParaRPr lang="es-CR" dirty="0"/>
          </a:p>
        </p:txBody>
      </p:sp>
      <p:sp>
        <p:nvSpPr>
          <p:cNvPr id="6" name="5 Elipse"/>
          <p:cNvSpPr/>
          <p:nvPr/>
        </p:nvSpPr>
        <p:spPr>
          <a:xfrm>
            <a:off x="323528" y="5301208"/>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CR" dirty="0"/>
          </a:p>
        </p:txBody>
      </p:sp>
      <p:sp>
        <p:nvSpPr>
          <p:cNvPr id="7" name="6 Elipse"/>
          <p:cNvSpPr/>
          <p:nvPr/>
        </p:nvSpPr>
        <p:spPr>
          <a:xfrm>
            <a:off x="4644008" y="1556792"/>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4</a:t>
            </a:r>
            <a:endParaRPr lang="es-CR" dirty="0"/>
          </a:p>
        </p:txBody>
      </p:sp>
      <p:sp>
        <p:nvSpPr>
          <p:cNvPr id="8" name="7 Elipse"/>
          <p:cNvSpPr/>
          <p:nvPr/>
        </p:nvSpPr>
        <p:spPr>
          <a:xfrm>
            <a:off x="4644008" y="3432836"/>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5</a:t>
            </a:r>
            <a:endParaRPr lang="es-CR" dirty="0"/>
          </a:p>
        </p:txBody>
      </p:sp>
      <p:sp>
        <p:nvSpPr>
          <p:cNvPr id="9" name="8 Elipse"/>
          <p:cNvSpPr/>
          <p:nvPr/>
        </p:nvSpPr>
        <p:spPr>
          <a:xfrm>
            <a:off x="4644008" y="5301208"/>
            <a:ext cx="1080120" cy="108012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6</a:t>
            </a:r>
            <a:endParaRPr lang="es-CR" dirty="0"/>
          </a:p>
        </p:txBody>
      </p:sp>
      <p:sp>
        <p:nvSpPr>
          <p:cNvPr id="12" name="11 Rectángulo redondeado"/>
          <p:cNvSpPr/>
          <p:nvPr/>
        </p:nvSpPr>
        <p:spPr>
          <a:xfrm>
            <a:off x="1817084" y="3425164"/>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Probabilidad clásica o a </a:t>
            </a:r>
            <a:r>
              <a:rPr lang="es-CR" dirty="0" smtClean="0"/>
              <a:t>priori</a:t>
            </a:r>
            <a:endParaRPr lang="es-CR" dirty="0"/>
          </a:p>
        </p:txBody>
      </p:sp>
      <p:sp>
        <p:nvSpPr>
          <p:cNvPr id="13" name="12 Rectángulo redondeado"/>
          <p:cNvSpPr/>
          <p:nvPr/>
        </p:nvSpPr>
        <p:spPr>
          <a:xfrm>
            <a:off x="1817084" y="5373216"/>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Probabilidad frecuencia relativa</a:t>
            </a:r>
            <a:endParaRPr lang="es-CR" dirty="0"/>
          </a:p>
        </p:txBody>
      </p:sp>
      <p:sp>
        <p:nvSpPr>
          <p:cNvPr id="14" name="13 Rectángulo redondeado"/>
          <p:cNvSpPr/>
          <p:nvPr/>
        </p:nvSpPr>
        <p:spPr>
          <a:xfrm>
            <a:off x="6372200" y="1632636"/>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Probabilidad clásica o a </a:t>
            </a:r>
            <a:r>
              <a:rPr lang="es-CR" dirty="0" smtClean="0"/>
              <a:t>priori</a:t>
            </a:r>
            <a:endParaRPr lang="es-CR" dirty="0"/>
          </a:p>
        </p:txBody>
      </p:sp>
      <p:sp>
        <p:nvSpPr>
          <p:cNvPr id="16" name="15 Rectángulo redondeado"/>
          <p:cNvSpPr/>
          <p:nvPr/>
        </p:nvSpPr>
        <p:spPr>
          <a:xfrm>
            <a:off x="6372200" y="3501008"/>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Distribución de probabilidad discreta</a:t>
            </a:r>
            <a:endParaRPr lang="es-CR" dirty="0"/>
          </a:p>
        </p:txBody>
      </p:sp>
      <p:sp>
        <p:nvSpPr>
          <p:cNvPr id="17" name="16 Rectángulo redondeado"/>
          <p:cNvSpPr/>
          <p:nvPr/>
        </p:nvSpPr>
        <p:spPr>
          <a:xfrm>
            <a:off x="1817084" y="1556792"/>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La esencia de la probabilidad y conceptos </a:t>
            </a:r>
            <a:endParaRPr lang="es-CR" dirty="0"/>
          </a:p>
        </p:txBody>
      </p:sp>
      <p:sp>
        <p:nvSpPr>
          <p:cNvPr id="18" name="17 Rectángulo redondeado"/>
          <p:cNvSpPr/>
          <p:nvPr/>
        </p:nvSpPr>
        <p:spPr>
          <a:xfrm>
            <a:off x="6372200" y="5373216"/>
            <a:ext cx="1944216" cy="100811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smtClean="0"/>
              <a:t>Distribución de probabilidad continua</a:t>
            </a:r>
            <a:endParaRPr lang="es-CR" dirty="0"/>
          </a:p>
        </p:txBody>
      </p:sp>
    </p:spTree>
    <p:extLst>
      <p:ext uri="{BB962C8B-B14F-4D97-AF65-F5344CB8AC3E}">
        <p14:creationId xmlns:p14="http://schemas.microsoft.com/office/powerpoint/2010/main" val="23660618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385192" y="116632"/>
            <a:ext cx="8363272" cy="1008112"/>
          </a:xfrm>
        </p:spPr>
        <p:txBody>
          <a:bodyPr>
            <a:normAutofit/>
          </a:bodyPr>
          <a:lstStyle/>
          <a:p>
            <a:pPr algn="ctr"/>
            <a:r>
              <a:rPr lang="es-CR" dirty="0" smtClean="0"/>
              <a:t>Datos continuos</a:t>
            </a:r>
            <a:endParaRPr lang="es-CR" dirty="0"/>
          </a:p>
        </p:txBody>
      </p:sp>
      <p:sp>
        <p:nvSpPr>
          <p:cNvPr id="5" name="2 Marcador de contenido"/>
          <p:cNvSpPr>
            <a:spLocks noGrp="1"/>
          </p:cNvSpPr>
          <p:nvPr>
            <p:ph sz="quarter" idx="1"/>
          </p:nvPr>
        </p:nvSpPr>
        <p:spPr>
          <a:xfrm>
            <a:off x="179512" y="1484784"/>
            <a:ext cx="6264696" cy="5112568"/>
          </a:xfrm>
        </p:spPr>
        <p:txBody>
          <a:bodyPr/>
          <a:lstStyle/>
          <a:p>
            <a:pPr algn="just"/>
            <a:r>
              <a:rPr lang="es-CR" dirty="0" smtClean="0"/>
              <a:t>¿Qué son datos continuos?</a:t>
            </a:r>
          </a:p>
          <a:p>
            <a:pPr algn="just"/>
            <a:endParaRPr lang="es-CR" dirty="0" smtClean="0"/>
          </a:p>
          <a:p>
            <a:pPr algn="just"/>
            <a:endParaRPr lang="es-CR" dirty="0"/>
          </a:p>
          <a:p>
            <a:pPr algn="just"/>
            <a:r>
              <a:rPr lang="es-CR" dirty="0" smtClean="0"/>
              <a:t>Datos de que son números reales, que van desde </a:t>
            </a:r>
          </a:p>
          <a:p>
            <a:pPr marL="0" indent="0" algn="just">
              <a:buNone/>
            </a:pPr>
            <a:r>
              <a:rPr lang="es-CR" dirty="0"/>
              <a:t> </a:t>
            </a:r>
            <a:r>
              <a:rPr lang="es-CR" dirty="0" smtClean="0"/>
              <a:t>  -∞ hasta +∞.</a:t>
            </a:r>
          </a:p>
          <a:p>
            <a:pPr algn="just"/>
            <a:endParaRPr lang="es-CR" dirty="0"/>
          </a:p>
          <a:p>
            <a:pPr algn="just"/>
            <a:r>
              <a:rPr lang="es-CR" dirty="0"/>
              <a:t>-</a:t>
            </a:r>
            <a:r>
              <a:rPr lang="es-CR" dirty="0" smtClean="0"/>
              <a:t>∞, -344.3, -243.9, 0, 5342.8, 34234.6, +</a:t>
            </a:r>
            <a:r>
              <a:rPr lang="es-CR" dirty="0"/>
              <a:t>∞</a:t>
            </a:r>
            <a:endParaRPr lang="es-CR" dirty="0" smtClean="0"/>
          </a:p>
          <a:p>
            <a:pPr algn="just"/>
            <a:endParaRPr lang="es-CR" dirty="0"/>
          </a:p>
          <a:p>
            <a:pPr algn="just"/>
            <a:r>
              <a:rPr lang="es-CR" dirty="0" smtClean="0"/>
              <a:t>Ejemplo: salario, cantidad de glóbulos rojos, presión sanguínea, volumen del agua, etc.</a:t>
            </a:r>
          </a:p>
        </p:txBody>
      </p:sp>
      <p:pic>
        <p:nvPicPr>
          <p:cNvPr id="9218" name="Picture 2" descr="http://i.stack.imgur.com/UTmOm.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088" y="1124744"/>
            <a:ext cx="3390900" cy="242887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http://i.ytimg.com/vi/WX0hnuniLpI/maxresdefaul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2209" y="3967831"/>
            <a:ext cx="2094756" cy="2413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4753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385192" y="116632"/>
            <a:ext cx="8363272" cy="1008112"/>
          </a:xfrm>
        </p:spPr>
        <p:txBody>
          <a:bodyPr>
            <a:normAutofit/>
          </a:bodyPr>
          <a:lstStyle/>
          <a:p>
            <a:pPr algn="ctr"/>
            <a:r>
              <a:rPr lang="es-CR" dirty="0" smtClean="0"/>
              <a:t>Función de probabilidad continua</a:t>
            </a:r>
            <a:endParaRPr lang="es-CR" dirty="0"/>
          </a:p>
        </p:txBody>
      </p:sp>
      <p:sp>
        <p:nvSpPr>
          <p:cNvPr id="5" name="2 Marcador de contenido"/>
          <p:cNvSpPr>
            <a:spLocks noGrp="1"/>
          </p:cNvSpPr>
          <p:nvPr>
            <p:ph sz="quarter" idx="1"/>
          </p:nvPr>
        </p:nvSpPr>
        <p:spPr>
          <a:xfrm>
            <a:off x="179512" y="1268760"/>
            <a:ext cx="5400600" cy="5400600"/>
          </a:xfrm>
        </p:spPr>
        <p:txBody>
          <a:bodyPr>
            <a:normAutofit/>
          </a:bodyPr>
          <a:lstStyle/>
          <a:p>
            <a:pPr algn="just"/>
            <a:r>
              <a:rPr lang="es-CR" dirty="0" smtClean="0"/>
              <a:t>Las funciones continuas son distribuciones que asignan una </a:t>
            </a:r>
            <a:r>
              <a:rPr lang="es-CR" dirty="0"/>
              <a:t>probabilidad </a:t>
            </a:r>
            <a:r>
              <a:rPr lang="es-CR" dirty="0" smtClean="0"/>
              <a:t>a un fenómeno de esta clase.</a:t>
            </a:r>
          </a:p>
          <a:p>
            <a:pPr algn="just"/>
            <a:endParaRPr lang="es-CR" dirty="0"/>
          </a:p>
          <a:p>
            <a:pPr algn="just"/>
            <a:r>
              <a:rPr lang="es-CR" dirty="0" smtClean="0"/>
              <a:t>En este tipo de funciones de distribución, para obtener la probabilidad, se utilizan integrales:</a:t>
            </a:r>
          </a:p>
          <a:p>
            <a:pPr marL="0" indent="0" algn="just">
              <a:buNone/>
            </a:pPr>
            <a:endParaRPr lang="es-CR" dirty="0" smtClean="0"/>
          </a:p>
          <a:p>
            <a:pPr marL="0" indent="0" algn="just">
              <a:buNone/>
            </a:pPr>
            <a:endParaRPr lang="es-CR" dirty="0"/>
          </a:p>
          <a:p>
            <a:pPr algn="just"/>
            <a:r>
              <a:rPr lang="es-CR" dirty="0" smtClean="0"/>
              <a:t>Las funciones continuas más conocidas son: Normal, Exponencial, </a:t>
            </a:r>
            <a:r>
              <a:rPr lang="es-CR" dirty="0" err="1"/>
              <a:t>W</a:t>
            </a:r>
            <a:r>
              <a:rPr lang="es-CR" dirty="0" err="1" smtClean="0"/>
              <a:t>eibull</a:t>
            </a:r>
            <a:r>
              <a:rPr lang="es-CR" dirty="0" smtClean="0"/>
              <a:t>, Gamma, Beta, etc. .  </a:t>
            </a:r>
            <a:endParaRPr lang="es-CR" dirty="0"/>
          </a:p>
        </p:txBody>
      </p:sp>
      <p:pic>
        <p:nvPicPr>
          <p:cNvPr id="10242" name="Picture 2" descr="https://d3an755jegtaaw.cloudfront.net/files/2013/08/mathfunc3d_93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3736" y="1484784"/>
            <a:ext cx="2736304" cy="2448272"/>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ttps://image.freepik.com/free-icon/continuous-data-graphic-wave-chart_318-55107.png"/>
          <p:cNvPicPr>
            <a:picLocks noChangeAspect="1" noChangeArrowheads="1"/>
          </p:cNvPicPr>
          <p:nvPr/>
        </p:nvPicPr>
        <p:blipFill rotWithShape="1">
          <a:blip r:embed="rId3">
            <a:extLst>
              <a:ext uri="{28A0092B-C50C-407E-A947-70E740481C1C}">
                <a14:useLocalDpi xmlns:a14="http://schemas.microsoft.com/office/drawing/2010/main" val="0"/>
              </a:ext>
            </a:extLst>
          </a:blip>
          <a:srcRect t="17920"/>
          <a:stretch/>
        </p:blipFill>
        <p:spPr bwMode="auto">
          <a:xfrm>
            <a:off x="6236096" y="4365104"/>
            <a:ext cx="2520280" cy="218684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superluminal.is/wp-content/uploads/2013/10/integral.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93172" y="4077072"/>
            <a:ext cx="583408" cy="93610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knoji.com/images/user/cropped%20integral%20function(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888" y="4089470"/>
            <a:ext cx="1662957" cy="989460"/>
          </a:xfrm>
          <a:prstGeom prst="rect">
            <a:avLst/>
          </a:prstGeom>
          <a:noFill/>
          <a:extLst>
            <a:ext uri="{909E8E84-426E-40DD-AFC4-6F175D3DCCD1}">
              <a14:hiddenFill xmlns:a14="http://schemas.microsoft.com/office/drawing/2010/main">
                <a:solidFill>
                  <a:srgbClr val="FFFFFF"/>
                </a:solidFill>
              </a14:hiddenFill>
            </a:ext>
          </a:extLst>
        </p:spPr>
      </p:pic>
      <p:sp>
        <p:nvSpPr>
          <p:cNvPr id="2" name="1 Flecha derecha"/>
          <p:cNvSpPr/>
          <p:nvPr/>
        </p:nvSpPr>
        <p:spPr>
          <a:xfrm>
            <a:off x="2800364" y="4488789"/>
            <a:ext cx="648072" cy="28496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CR"/>
          </a:p>
        </p:txBody>
      </p:sp>
    </p:spTree>
    <p:extLst>
      <p:ext uri="{BB962C8B-B14F-4D97-AF65-F5344CB8AC3E}">
        <p14:creationId xmlns:p14="http://schemas.microsoft.com/office/powerpoint/2010/main" val="117965424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385192" y="44624"/>
            <a:ext cx="8363272" cy="864096"/>
          </a:xfrm>
        </p:spPr>
        <p:txBody>
          <a:bodyPr>
            <a:normAutofit/>
          </a:bodyPr>
          <a:lstStyle/>
          <a:p>
            <a:pPr algn="ctr"/>
            <a:r>
              <a:rPr lang="es-CR" dirty="0" smtClean="0"/>
              <a:t>Función de probabilidad continua</a:t>
            </a:r>
            <a:endParaRPr lang="es-CR" dirty="0"/>
          </a:p>
        </p:txBody>
      </p:sp>
      <p:pic>
        <p:nvPicPr>
          <p:cNvPr id="2050" name="Picture 2" descr="http://www.doctordisruption.com/wp-content/uploads/2014/02/725px-The_Normal_Distribution.svg_.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980728"/>
            <a:ext cx="5040560" cy="303824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www.itl.nist.gov/div898/handbook/eda/section3/gif/expsurv.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4365104"/>
            <a:ext cx="3312368" cy="223224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cdn2.content.compendiumblog.com/uploads/user/458939f4-fe08-4dbc-b271-efca0f5a2682/d2c0571a-acbd-48c7-84f4-222276c293fe/Image/e88c437586028a7d000e15607fe349a3/weibull_distribution_3.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0313" y="4182795"/>
            <a:ext cx="3697382" cy="2464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05800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4282" y="0"/>
            <a:ext cx="8715436" cy="1143000"/>
          </a:xfrm>
        </p:spPr>
        <p:txBody>
          <a:bodyPr/>
          <a:lstStyle/>
          <a:p>
            <a:pPr algn="ctr"/>
            <a:r>
              <a:rPr lang="es-CR" dirty="0" smtClean="0"/>
              <a:t>Últimas reseñas</a:t>
            </a:r>
            <a:endParaRPr lang="es-CR" dirty="0"/>
          </a:p>
        </p:txBody>
      </p:sp>
      <p:sp>
        <p:nvSpPr>
          <p:cNvPr id="3" name="2 Marcador de contenido"/>
          <p:cNvSpPr>
            <a:spLocks noGrp="1"/>
          </p:cNvSpPr>
          <p:nvPr>
            <p:ph sz="quarter" idx="1"/>
          </p:nvPr>
        </p:nvSpPr>
        <p:spPr>
          <a:xfrm>
            <a:off x="251520" y="1368107"/>
            <a:ext cx="5364690" cy="5072098"/>
          </a:xfrm>
        </p:spPr>
        <p:txBody>
          <a:bodyPr>
            <a:normAutofit/>
          </a:bodyPr>
          <a:lstStyle/>
          <a:p>
            <a:pPr algn="just"/>
            <a:r>
              <a:rPr lang="es-CR" sz="2400" dirty="0" smtClean="0"/>
              <a:t>En la actualidad, las probabilidades son el fundamento de todo tipo de análisis.</a:t>
            </a:r>
          </a:p>
          <a:p>
            <a:pPr algn="just"/>
            <a:endParaRPr lang="es-CR" sz="2400" dirty="0" smtClean="0"/>
          </a:p>
          <a:p>
            <a:pPr algn="just"/>
            <a:r>
              <a:rPr lang="es-CR" sz="2400" dirty="0" smtClean="0"/>
              <a:t>El desarrollo de la inferencia estadística es gracias a los fuertes fundamentos de probabilidad.</a:t>
            </a:r>
          </a:p>
          <a:p>
            <a:pPr algn="just"/>
            <a:endParaRPr lang="es-CR" sz="2400" dirty="0" smtClean="0"/>
          </a:p>
          <a:p>
            <a:pPr algn="just"/>
            <a:r>
              <a:rPr lang="es-CR" sz="2400" dirty="0" smtClean="0"/>
              <a:t>Volveremos a utilizar las probabilidades en el capítulo de la curva normal y la normal estándar.</a:t>
            </a:r>
          </a:p>
          <a:p>
            <a:pPr algn="just"/>
            <a:endParaRPr lang="es-CR" dirty="0"/>
          </a:p>
        </p:txBody>
      </p:sp>
      <p:pic>
        <p:nvPicPr>
          <p:cNvPr id="2050" name="Picture 2" descr="http://www.aldarin-electronics.com/images/market%20analysis.jpg"/>
          <p:cNvPicPr>
            <a:picLocks noChangeAspect="1" noChangeArrowheads="1"/>
          </p:cNvPicPr>
          <p:nvPr/>
        </p:nvPicPr>
        <p:blipFill>
          <a:blip r:embed="rId2" cstate="print"/>
          <a:srcRect/>
          <a:stretch>
            <a:fillRect/>
          </a:stretch>
        </p:blipFill>
        <p:spPr bwMode="auto">
          <a:xfrm>
            <a:off x="6357950" y="1214422"/>
            <a:ext cx="2583926" cy="1714512"/>
          </a:xfrm>
          <a:prstGeom prst="rect">
            <a:avLst/>
          </a:prstGeom>
          <a:noFill/>
        </p:spPr>
      </p:pic>
      <p:pic>
        <p:nvPicPr>
          <p:cNvPr id="2052" name="Picture 4" descr="http://www.fisicanet.com.ar/matematica/estadisticas/ap2/binomial02.gif"/>
          <p:cNvPicPr>
            <a:picLocks noChangeAspect="1" noChangeArrowheads="1"/>
          </p:cNvPicPr>
          <p:nvPr/>
        </p:nvPicPr>
        <p:blipFill>
          <a:blip r:embed="rId3" cstate="print"/>
          <a:srcRect/>
          <a:stretch>
            <a:fillRect/>
          </a:stretch>
        </p:blipFill>
        <p:spPr bwMode="auto">
          <a:xfrm>
            <a:off x="6072198" y="4429132"/>
            <a:ext cx="2571768" cy="2057415"/>
          </a:xfrm>
          <a:prstGeom prst="rect">
            <a:avLst/>
          </a:prstGeom>
          <a:noFill/>
        </p:spPr>
      </p:pic>
    </p:spTree>
  </p:cSld>
  <p:clrMapOvr>
    <a:masterClrMapping/>
  </p:clrMapOvr>
  <p:transition>
    <p:wedg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p:txBody>
          <a:bodyPr/>
          <a:lstStyle/>
          <a:p>
            <a:endParaRPr lang="es-CR"/>
          </a:p>
        </p:txBody>
      </p:sp>
      <p:pic>
        <p:nvPicPr>
          <p:cNvPr id="4" name="Picture 2" descr="http://2.bp.blogspot.com/_l2oFLpsvMhc/RveAYgMqnQI/AAAAAAAAAII/I2Fp0nyNDhw/s400/20070326114706-fin.jpg"/>
          <p:cNvPicPr>
            <a:picLocks noChangeAspect="1" noChangeArrowheads="1"/>
          </p:cNvPicPr>
          <p:nvPr/>
        </p:nvPicPr>
        <p:blipFill>
          <a:blip r:embed="rId2" cstate="print"/>
          <a:srcRect/>
          <a:stretch>
            <a:fillRect/>
          </a:stretch>
        </p:blipFill>
        <p:spPr bwMode="auto">
          <a:xfrm>
            <a:off x="31" y="-24"/>
            <a:ext cx="9144001" cy="6858024"/>
          </a:xfrm>
          <a:prstGeom prst="rect">
            <a:avLst/>
          </a:prstGeom>
          <a:noFill/>
        </p:spPr>
      </p:pic>
    </p:spTree>
  </p:cSld>
  <p:clrMapOvr>
    <a:masterClrMapping/>
  </p:clrMapOvr>
  <p:transition>
    <p:fade thruBlk="1"/>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1231</TotalTime>
  <Words>1921</Words>
  <Application>Microsoft Office PowerPoint</Application>
  <PresentationFormat>Presentación en pantalla (4:3)</PresentationFormat>
  <Paragraphs>320</Paragraphs>
  <Slides>49</Slides>
  <Notes>0</Notes>
  <HiddenSlides>0</HiddenSlides>
  <MMClips>0</MMClips>
  <ScaleCrop>false</ScaleCrop>
  <HeadingPairs>
    <vt:vector size="4" baseType="variant">
      <vt:variant>
        <vt:lpstr>Tema</vt:lpstr>
      </vt:variant>
      <vt:variant>
        <vt:i4>1</vt:i4>
      </vt:variant>
      <vt:variant>
        <vt:lpstr>Títulos de diapositiva</vt:lpstr>
      </vt:variant>
      <vt:variant>
        <vt:i4>49</vt:i4>
      </vt:variant>
    </vt:vector>
  </HeadingPairs>
  <TitlesOfParts>
    <vt:vector size="50" baseType="lpstr">
      <vt:lpstr>Equidad</vt:lpstr>
      <vt:lpstr>Presentación de PowerPoint</vt:lpstr>
      <vt:lpstr>Introducción</vt:lpstr>
      <vt:lpstr>Introducción</vt:lpstr>
      <vt:lpstr>Índice</vt:lpstr>
      <vt:lpstr>Índice</vt:lpstr>
      <vt:lpstr>La esencia de la probabilidad</vt:lpstr>
      <vt:lpstr>La esencia de la probabilidad</vt:lpstr>
      <vt:lpstr>La esencia de la probabilidad</vt:lpstr>
      <vt:lpstr>La esencia de la probabilidad</vt:lpstr>
      <vt:lpstr>Ideas fundamentales de las probabilidas</vt:lpstr>
      <vt:lpstr>Ideas fundamentales de las probabilidades</vt:lpstr>
      <vt:lpstr>Ideas fundamentales de las probabilidades</vt:lpstr>
      <vt:lpstr>Ideas fundamentales de las probabilidades</vt:lpstr>
      <vt:lpstr>Ideas fundamentales de las probabilidades</vt:lpstr>
      <vt:lpstr>Conceptos</vt:lpstr>
      <vt:lpstr>Conceptos</vt:lpstr>
      <vt:lpstr>Conceptos</vt:lpstr>
      <vt:lpstr>Los 3 enfoques de la probabilidad</vt:lpstr>
      <vt:lpstr>Índice</vt:lpstr>
      <vt:lpstr>Presentación de PowerPoint</vt:lpstr>
      <vt:lpstr>Probabilidad clásica o a priori</vt:lpstr>
      <vt:lpstr>Probabilidad clásica o a priori</vt:lpstr>
      <vt:lpstr>Probabilidad clásica o a priori</vt:lpstr>
      <vt:lpstr>Juguemos cartas</vt:lpstr>
      <vt:lpstr>Probabilidad clásica o a priori</vt:lpstr>
      <vt:lpstr>Índice</vt:lpstr>
      <vt:lpstr>Presentación de PowerPoint</vt:lpstr>
      <vt:lpstr>Probabilidad según la frecuencia relativa</vt:lpstr>
      <vt:lpstr>Probabilidad según la frecuencia relativa</vt:lpstr>
      <vt:lpstr>Probabilidad según la frecuencia relativa</vt:lpstr>
      <vt:lpstr>Probabilidad según la frecuencia relativa</vt:lpstr>
      <vt:lpstr>Probabilidad según la frecuencia relativa</vt:lpstr>
      <vt:lpstr>Probabilidad según la frecuencia relativa</vt:lpstr>
      <vt:lpstr>Probabilidad según la frecuencia relativa</vt:lpstr>
      <vt:lpstr>Índice</vt:lpstr>
      <vt:lpstr>Presentación de PowerPoint</vt:lpstr>
      <vt:lpstr>Probabilidad subjetiva</vt:lpstr>
      <vt:lpstr>Probabilidad subjetiva</vt:lpstr>
      <vt:lpstr>Probabilidad subjetiva</vt:lpstr>
      <vt:lpstr>Índice</vt:lpstr>
      <vt:lpstr>Datos discretos</vt:lpstr>
      <vt:lpstr>Función de probabilidad discretas</vt:lpstr>
      <vt:lpstr>Función de probabilidad discretas</vt:lpstr>
      <vt:lpstr>Índice</vt:lpstr>
      <vt:lpstr>Datos continuos</vt:lpstr>
      <vt:lpstr>Función de probabilidad continua</vt:lpstr>
      <vt:lpstr>Función de probabilidad continua</vt:lpstr>
      <vt:lpstr>Últimas reseñas</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Oscar</dc:creator>
  <cp:lastModifiedBy>Oscar Centeno Mora</cp:lastModifiedBy>
  <cp:revision>88</cp:revision>
  <dcterms:created xsi:type="dcterms:W3CDTF">2010-06-05T15:44:30Z</dcterms:created>
  <dcterms:modified xsi:type="dcterms:W3CDTF">2016-05-24T21:18:58Z</dcterms:modified>
</cp:coreProperties>
</file>