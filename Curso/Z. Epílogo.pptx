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1" r:id="rId3"/>
    <p:sldId id="262" r:id="rId4"/>
    <p:sldId id="263" r:id="rId5"/>
    <p:sldId id="258" r:id="rId6"/>
    <p:sldId id="259" r:id="rId7"/>
    <p:sldId id="260" r:id="rId8"/>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5" d="100"/>
          <a:sy n="75" d="100"/>
        </p:scale>
        <p:origin x="-1224" y="1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3">
        <a:schemeClr val="bg1"/>
      </p:bgRef>
    </p:bg>
    <p:spTree>
      <p:nvGrpSpPr>
        <p:cNvPr id="1" name=""/>
        <p:cNvGrpSpPr/>
        <p:nvPr/>
      </p:nvGrpSpPr>
      <p:grpSpPr>
        <a:xfrm>
          <a:off x="0" y="0"/>
          <a:ext cx="0" cy="0"/>
          <a:chOff x="0" y="0"/>
          <a:chExt cx="0" cy="0"/>
        </a:xfrm>
      </p:grpSpPr>
      <p:sp>
        <p:nvSpPr>
          <p:cNvPr id="12" name="11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12 Rectángulo redondeado"/>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8 Subtítulo"/>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28" name="27 Marcador de fecha"/>
          <p:cNvSpPr>
            <a:spLocks noGrp="1"/>
          </p:cNvSpPr>
          <p:nvPr>
            <p:ph type="dt" sz="half" idx="10"/>
          </p:nvPr>
        </p:nvSpPr>
        <p:spPr/>
        <p:txBody>
          <a:bodyPr/>
          <a:lstStyle/>
          <a:p>
            <a:fld id="{7A847CFC-816F-41D0-AAC0-9BF4FEBC753E}" type="datetimeFigureOut">
              <a:rPr lang="es-ES" smtClean="0"/>
              <a:t>10/11/2015</a:t>
            </a:fld>
            <a:endParaRPr lang="es-ES"/>
          </a:p>
        </p:txBody>
      </p:sp>
      <p:sp>
        <p:nvSpPr>
          <p:cNvPr id="17" name="16 Marcador de pie de página"/>
          <p:cNvSpPr>
            <a:spLocks noGrp="1"/>
          </p:cNvSpPr>
          <p:nvPr>
            <p:ph type="ftr" sz="quarter" idx="11"/>
          </p:nvPr>
        </p:nvSpPr>
        <p:spPr/>
        <p:txBody>
          <a:bodyPr/>
          <a:lstStyle/>
          <a:p>
            <a:endParaRPr lang="es-ES"/>
          </a:p>
        </p:txBody>
      </p:sp>
      <p:sp>
        <p:nvSpPr>
          <p:cNvPr id="29" name="28 Marcador de número de diapositiva"/>
          <p:cNvSpPr>
            <a:spLocks noGrp="1"/>
          </p:cNvSpPr>
          <p:nvPr>
            <p:ph type="sldNum" sz="quarter" idx="12"/>
          </p:nvPr>
        </p:nvSpPr>
        <p:spPr/>
        <p:txBody>
          <a:bodyPr lIns="0" tIns="0" rIns="0" bIns="0">
            <a:noAutofit/>
          </a:bodyPr>
          <a:lstStyle>
            <a:lvl1pPr>
              <a:defRPr sz="1400">
                <a:solidFill>
                  <a:srgbClr val="FFFFFF"/>
                </a:solidFill>
              </a:defRPr>
            </a:lvl1pPr>
          </a:lstStyle>
          <a:p>
            <a:fld id="{132FADFE-3B8F-471C-ABF0-DBC7717ECBBC}" type="slidenum">
              <a:rPr lang="es-ES" smtClean="0"/>
              <a:t>‹Nº›</a:t>
            </a:fld>
            <a:endParaRPr lang="es-ES"/>
          </a:p>
        </p:txBody>
      </p:sp>
      <p:sp>
        <p:nvSpPr>
          <p:cNvPr id="7" name="6 Rectángulo"/>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Rectángulo"/>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Rectángulo"/>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Título"/>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s-ES" smtClean="0"/>
              <a:t>Haga clic para modificar el estilo de título del patrón</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t>10/11/2015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
        <p:nvSpPr>
          <p:cNvPr id="8" name="7 Marcador de contenido"/>
          <p:cNvSpPr>
            <a:spLocks noGrp="1"/>
          </p:cNvSpPr>
          <p:nvPr>
            <p:ph sz="quarter" idx="1"/>
          </p:nvPr>
        </p:nvSpPr>
        <p:spPr>
          <a:xfrm>
            <a:off x="914400" y="1447800"/>
            <a:ext cx="777240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3">
        <a:schemeClr val="bg1"/>
      </p:bgRef>
    </p:bg>
    <p:spTree>
      <p:nvGrpSpPr>
        <p:cNvPr id="1" name=""/>
        <p:cNvGrpSpPr/>
        <p:nvPr/>
      </p:nvGrpSpPr>
      <p:grpSpPr>
        <a:xfrm>
          <a:off x="0" y="0"/>
          <a:ext cx="0" cy="0"/>
          <a:chOff x="0" y="0"/>
          <a:chExt cx="0" cy="0"/>
        </a:xfrm>
      </p:grpSpPr>
      <p:sp>
        <p:nvSpPr>
          <p:cNvPr id="11" name="10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9 Rectángulo redondeado"/>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1 Título"/>
          <p:cNvSpPr>
            <a:spLocks noGrp="1"/>
          </p:cNvSpPr>
          <p:nvPr>
            <p:ph type="title"/>
          </p:nvPr>
        </p:nvSpPr>
        <p:spPr>
          <a:xfrm>
            <a:off x="722313" y="952500"/>
            <a:ext cx="7772400" cy="1362075"/>
          </a:xfrm>
        </p:spPr>
        <p:txBody>
          <a:bodyPr anchor="b" anchorCtr="0"/>
          <a:lstStyle>
            <a:lvl1pPr algn="l">
              <a:buNone/>
              <a:defRPr sz="4000" b="0" cap="none"/>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p:txBody>
          <a:bodyPr/>
          <a:lstStyle/>
          <a:p>
            <a:fld id="{7A847CFC-816F-41D0-AAC0-9BF4FEBC753E}" type="datetimeFigureOut">
              <a:rPr lang="es-ES" smtClean="0"/>
              <a:t>10/11/2015</a:t>
            </a:fld>
            <a:endParaRPr lang="es-ES"/>
          </a:p>
        </p:txBody>
      </p:sp>
      <p:sp>
        <p:nvSpPr>
          <p:cNvPr id="5" name="4 Marcador de pie de página"/>
          <p:cNvSpPr>
            <a:spLocks noGrp="1"/>
          </p:cNvSpPr>
          <p:nvPr>
            <p:ph type="ftr" sz="quarter" idx="11"/>
          </p:nvPr>
        </p:nvSpPr>
        <p:spPr>
          <a:xfrm>
            <a:off x="800100" y="6172200"/>
            <a:ext cx="4000500" cy="457200"/>
          </a:xfrm>
        </p:spPr>
        <p:txBody>
          <a:bodyPr/>
          <a:lstStyle/>
          <a:p>
            <a:endParaRPr lang="es-ES"/>
          </a:p>
        </p:txBody>
      </p:sp>
      <p:sp>
        <p:nvSpPr>
          <p:cNvPr id="7" name="6 Rectángulo"/>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Rectángulo"/>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8 Rectángulo"/>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5 Marcador de número de diapositiva"/>
          <p:cNvSpPr>
            <a:spLocks noGrp="1"/>
          </p:cNvSpPr>
          <p:nvPr>
            <p:ph type="sldNum" sz="quarter" idx="12"/>
          </p:nvPr>
        </p:nvSpPr>
        <p:spPr>
          <a:xfrm>
            <a:off x="146304" y="6208776"/>
            <a:ext cx="457200" cy="457200"/>
          </a:xfrm>
        </p:spPr>
        <p:txBody>
          <a:bodyPr/>
          <a:lstStyle/>
          <a:p>
            <a:fld id="{132FADFE-3B8F-471C-ABF0-DBC7717ECBBC}" type="slidenum">
              <a:rPr lang="es-ES" smtClean="0"/>
              <a:t>‹Nº›</a:t>
            </a:fld>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5" name="4 Marcador de fecha"/>
          <p:cNvSpPr>
            <a:spLocks noGrp="1"/>
          </p:cNvSpPr>
          <p:nvPr>
            <p:ph type="dt" sz="half" idx="10"/>
          </p:nvPr>
        </p:nvSpPr>
        <p:spPr/>
        <p:txBody>
          <a:bodyPr/>
          <a:lstStyle/>
          <a:p>
            <a:fld id="{7A847CFC-816F-41D0-AAC0-9BF4FEBC753E}" type="datetimeFigureOut">
              <a:rPr lang="es-ES" smtClean="0"/>
              <a:t>10/11/2015</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
        <p:nvSpPr>
          <p:cNvPr id="9" name="8 Marcador de contenido"/>
          <p:cNvSpPr>
            <a:spLocks noGrp="1"/>
          </p:cNvSpPr>
          <p:nvPr>
            <p:ph sz="quarter" idx="1"/>
          </p:nvPr>
        </p:nvSpPr>
        <p:spPr>
          <a:xfrm>
            <a:off x="914400" y="1447800"/>
            <a:ext cx="374904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1" name="10 Marcador de contenido"/>
          <p:cNvSpPr>
            <a:spLocks noGrp="1"/>
          </p:cNvSpPr>
          <p:nvPr>
            <p:ph sz="quarter" idx="2"/>
          </p:nvPr>
        </p:nvSpPr>
        <p:spPr>
          <a:xfrm>
            <a:off x="4933950" y="1447800"/>
            <a:ext cx="374904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914400" y="273050"/>
            <a:ext cx="7772400" cy="1143000"/>
          </a:xfrm>
        </p:spPr>
        <p:txBody>
          <a:bodyPr anchor="b" anchorCtr="0"/>
          <a:lstStyle>
            <a:lvl1pPr>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7" name="6 Marcador de fecha"/>
          <p:cNvSpPr>
            <a:spLocks noGrp="1"/>
          </p:cNvSpPr>
          <p:nvPr>
            <p:ph type="dt" sz="half" idx="10"/>
          </p:nvPr>
        </p:nvSpPr>
        <p:spPr/>
        <p:txBody>
          <a:bodyPr/>
          <a:lstStyle/>
          <a:p>
            <a:fld id="{7A847CFC-816F-41D0-AAC0-9BF4FEBC753E}" type="datetimeFigureOut">
              <a:rPr lang="es-ES" smtClean="0"/>
              <a:t>10/11/2015</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
        <p:nvSpPr>
          <p:cNvPr id="11" name="10 Marcador de contenido"/>
          <p:cNvSpPr>
            <a:spLocks noGrp="1"/>
          </p:cNvSpPr>
          <p:nvPr>
            <p:ph sz="half" idx="2"/>
          </p:nvPr>
        </p:nvSpPr>
        <p:spPr>
          <a:xfrm>
            <a:off x="914400" y="2247900"/>
            <a:ext cx="3733800" cy="38862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3" name="12 Marcador de contenido"/>
          <p:cNvSpPr>
            <a:spLocks noGrp="1"/>
          </p:cNvSpPr>
          <p:nvPr>
            <p:ph sz="half" idx="4"/>
          </p:nvPr>
        </p:nvSpPr>
        <p:spPr>
          <a:xfrm>
            <a:off x="4953000" y="2247900"/>
            <a:ext cx="3733800" cy="38862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fecha"/>
          <p:cNvSpPr>
            <a:spLocks noGrp="1"/>
          </p:cNvSpPr>
          <p:nvPr>
            <p:ph type="dt" sz="half" idx="10"/>
          </p:nvPr>
        </p:nvSpPr>
        <p:spPr/>
        <p:txBody>
          <a:bodyPr/>
          <a:lstStyle/>
          <a:p>
            <a:fld id="{7A847CFC-816F-41D0-AAC0-9BF4FEBC753E}" type="datetimeFigureOut">
              <a:rPr lang="es-ES" smtClean="0"/>
              <a:t>10/11/2015</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A847CFC-816F-41D0-AAC0-9BF4FEBC753E}" type="datetimeFigureOut">
              <a:rPr lang="es-ES" smtClean="0"/>
              <a:t>10/11/2015</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8" name="7 Rectángulo"/>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8 Rectángulo redondeado"/>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1 Título"/>
          <p:cNvSpPr>
            <a:spLocks noGrp="1"/>
          </p:cNvSpPr>
          <p:nvPr>
            <p:ph type="title"/>
          </p:nvPr>
        </p:nvSpPr>
        <p:spPr>
          <a:xfrm>
            <a:off x="914400" y="273050"/>
            <a:ext cx="7772400" cy="1143000"/>
          </a:xfrm>
        </p:spPr>
        <p:txBody>
          <a:bodyPr anchor="b" anchorCtr="0"/>
          <a:lstStyle>
            <a:lvl1pPr algn="l">
              <a:buNone/>
              <a:defRPr sz="4000" b="0"/>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t>10/11/2015</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
        <p:nvSpPr>
          <p:cNvPr id="11" name="10 Marcador de contenido"/>
          <p:cNvSpPr>
            <a:spLocks noGrp="1"/>
          </p:cNvSpPr>
          <p:nvPr>
            <p:ph sz="quarter" idx="1"/>
          </p:nvPr>
        </p:nvSpPr>
        <p:spPr>
          <a:xfrm>
            <a:off x="2971800" y="1600200"/>
            <a:ext cx="5715000" cy="44958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s-ES" smtClean="0"/>
              <a:t>Haga clic para modificar el estilo de título del patrón</a:t>
            </a:r>
            <a:endParaRPr kumimoji="0" lang="en-US"/>
          </a:p>
        </p:txBody>
      </p:sp>
      <p:sp>
        <p:nvSpPr>
          <p:cNvPr id="4" name="3 Marcador de texto"/>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t>10/11/2015</a:t>
            </a:fld>
            <a:endParaRPr lang="es-ES"/>
          </a:p>
        </p:txBody>
      </p:sp>
      <p:sp>
        <p:nvSpPr>
          <p:cNvPr id="6" name="5 Marcador de pie de página"/>
          <p:cNvSpPr>
            <a:spLocks noGrp="1"/>
          </p:cNvSpPr>
          <p:nvPr>
            <p:ph type="ftr" sz="quarter" idx="11"/>
          </p:nvPr>
        </p:nvSpPr>
        <p:spPr>
          <a:xfrm>
            <a:off x="914400" y="6172200"/>
            <a:ext cx="3886200" cy="457200"/>
          </a:xfrm>
        </p:spPr>
        <p:txBody>
          <a:bodyPr/>
          <a:lstStyle/>
          <a:p>
            <a:endParaRPr lang="es-ES"/>
          </a:p>
        </p:txBody>
      </p:sp>
      <p:sp>
        <p:nvSpPr>
          <p:cNvPr id="7" name="6 Marcador de número de diapositiva"/>
          <p:cNvSpPr>
            <a:spLocks noGrp="1"/>
          </p:cNvSpPr>
          <p:nvPr>
            <p:ph type="sldNum" sz="quarter" idx="12"/>
          </p:nvPr>
        </p:nvSpPr>
        <p:spPr>
          <a:xfrm>
            <a:off x="146304" y="6208776"/>
            <a:ext cx="457200" cy="457200"/>
          </a:xfrm>
        </p:spPr>
        <p:txBody>
          <a:bodyPr/>
          <a:lstStyle/>
          <a:p>
            <a:fld id="{132FADFE-3B8F-471C-ABF0-DBC7717ECBBC}" type="slidenum">
              <a:rPr lang="es-ES" smtClean="0"/>
              <a:t>‹Nº›</a:t>
            </a:fld>
            <a:endParaRPr lang="es-ES"/>
          </a:p>
        </p:txBody>
      </p:sp>
      <p:sp>
        <p:nvSpPr>
          <p:cNvPr id="11" name="10 Rectángulo"/>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Rectángulo"/>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Rectángulo"/>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2 Marcador de posición de imagen"/>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s-ES" smtClean="0"/>
              <a:t>Haga clic en el icono para agregar una imagen</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t>10/11/2015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41"/>
            <a:ext cx="2011680" cy="5851525"/>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914400" y="274640"/>
            <a:ext cx="5562600" cy="5851525"/>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t>10/11/2015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8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7 Rectángulo redondeado"/>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21 Marcador de título"/>
          <p:cNvSpPr>
            <a:spLocks noGrp="1"/>
          </p:cNvSpPr>
          <p:nvPr>
            <p:ph type="title"/>
          </p:nvPr>
        </p:nvSpPr>
        <p:spPr>
          <a:xfrm>
            <a:off x="914400" y="274638"/>
            <a:ext cx="7772400" cy="1143000"/>
          </a:xfrm>
          <a:prstGeom prst="rect">
            <a:avLst/>
          </a:prstGeom>
        </p:spPr>
        <p:txBody>
          <a:bodyPr bIns="91440" anchor="b" anchorCtr="0">
            <a:normAutofit/>
          </a:bodyPr>
          <a:lstStyle/>
          <a:p>
            <a:r>
              <a:rPr kumimoji="0" lang="es-ES" smtClean="0"/>
              <a:t>Haga clic para modificar el estilo de título del patrón</a:t>
            </a:r>
            <a:endParaRPr kumimoji="0" lang="en-US"/>
          </a:p>
        </p:txBody>
      </p:sp>
      <p:sp>
        <p:nvSpPr>
          <p:cNvPr id="13" name="12 Marcador de texto"/>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4" name="13 Marcador de fecha"/>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7A847CFC-816F-41D0-AAC0-9BF4FEBC753E}" type="datetimeFigureOut">
              <a:rPr lang="es-ES" smtClean="0"/>
              <a:t>10/11/2015</a:t>
            </a:fld>
            <a:endParaRPr lang="es-ES"/>
          </a:p>
        </p:txBody>
      </p:sp>
      <p:sp>
        <p:nvSpPr>
          <p:cNvPr id="3" name="2 Marcador de pie de página"/>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s-ES"/>
          </a:p>
        </p:txBody>
      </p:sp>
      <p:sp>
        <p:nvSpPr>
          <p:cNvPr id="23" name="22 Marcador de número de diapositiva"/>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132FADFE-3B8F-471C-ABF0-DBC7717ECBBC}" type="slidenum">
              <a:rPr lang="es-ES" smtClean="0"/>
              <a:t>‹Nº›</a:t>
            </a:fld>
            <a:endParaRPr lang="es-E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p:cNvSpPr>
            <a:spLocks noGrp="1"/>
          </p:cNvSpPr>
          <p:nvPr>
            <p:ph type="subTitle" idx="1"/>
          </p:nvPr>
        </p:nvSpPr>
        <p:spPr>
          <a:xfrm>
            <a:off x="2051720" y="5949280"/>
            <a:ext cx="6400800" cy="660648"/>
          </a:xfrm>
        </p:spPr>
        <p:txBody>
          <a:bodyPr/>
          <a:lstStyle/>
          <a:p>
            <a:pPr algn="r"/>
            <a:r>
              <a:rPr lang="es-CR" dirty="0" smtClean="0"/>
              <a:t>Oscar Centeno Mora</a:t>
            </a:r>
            <a:endParaRPr lang="es-CR" dirty="0"/>
          </a:p>
        </p:txBody>
      </p:sp>
      <p:sp>
        <p:nvSpPr>
          <p:cNvPr id="2" name="1 Título"/>
          <p:cNvSpPr>
            <a:spLocks noGrp="1"/>
          </p:cNvSpPr>
          <p:nvPr>
            <p:ph type="ctrTitle"/>
          </p:nvPr>
        </p:nvSpPr>
        <p:spPr/>
        <p:txBody>
          <a:bodyPr/>
          <a:lstStyle/>
          <a:p>
            <a:r>
              <a:rPr lang="es-CR" dirty="0" smtClean="0"/>
              <a:t>Epílogo</a:t>
            </a:r>
            <a:endParaRPr lang="es-CR" dirty="0"/>
          </a:p>
        </p:txBody>
      </p:sp>
    </p:spTree>
    <p:extLst>
      <p:ext uri="{BB962C8B-B14F-4D97-AF65-F5344CB8AC3E}">
        <p14:creationId xmlns:p14="http://schemas.microsoft.com/office/powerpoint/2010/main" val="157324200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914400" y="274638"/>
            <a:ext cx="7772400" cy="922114"/>
          </a:xfrm>
        </p:spPr>
        <p:txBody>
          <a:bodyPr>
            <a:normAutofit/>
          </a:bodyPr>
          <a:lstStyle/>
          <a:p>
            <a:pPr algn="ctr"/>
            <a:r>
              <a:rPr lang="es-CR" sz="3600" dirty="0" smtClean="0"/>
              <a:t>Objetivo del curso</a:t>
            </a:r>
            <a:endParaRPr lang="es-CR" sz="3600" dirty="0"/>
          </a:p>
        </p:txBody>
      </p:sp>
      <p:sp>
        <p:nvSpPr>
          <p:cNvPr id="3" name="2 Marcador de contenido"/>
          <p:cNvSpPr>
            <a:spLocks noGrp="1"/>
          </p:cNvSpPr>
          <p:nvPr>
            <p:ph sz="quarter" idx="1"/>
          </p:nvPr>
        </p:nvSpPr>
        <p:spPr>
          <a:xfrm>
            <a:off x="323528" y="1340768"/>
            <a:ext cx="5976664" cy="5040560"/>
          </a:xfrm>
        </p:spPr>
        <p:txBody>
          <a:bodyPr/>
          <a:lstStyle/>
          <a:p>
            <a:endParaRPr lang="es-CR" dirty="0" smtClean="0"/>
          </a:p>
          <a:p>
            <a:pPr marL="0" indent="0" algn="just">
              <a:buNone/>
            </a:pPr>
            <a:r>
              <a:rPr lang="es-CR" dirty="0" smtClean="0"/>
              <a:t>El </a:t>
            </a:r>
            <a:r>
              <a:rPr lang="es-CR" dirty="0"/>
              <a:t>objetivo general del curso se centra en enseñar al estudiante del área de la Salud los conceptos y principales aplicaciones de la Estadística, además de brindarle los conocimientos necesarios para poder desenvolverse como profesional. Para esto debe adquirir tanto conocimientos teóricos como el poder aplicar la Estadística en sus tres grandes contextos: </a:t>
            </a:r>
            <a:r>
              <a:rPr lang="es-CR" i="1" dirty="0"/>
              <a:t>Estadística Descriptiva</a:t>
            </a:r>
            <a:r>
              <a:rPr lang="es-CR" dirty="0"/>
              <a:t>, </a:t>
            </a:r>
            <a:r>
              <a:rPr lang="es-CR" i="1" dirty="0"/>
              <a:t>Probabilidades </a:t>
            </a:r>
            <a:r>
              <a:rPr lang="es-CR" dirty="0"/>
              <a:t>y </a:t>
            </a:r>
            <a:r>
              <a:rPr lang="es-CR" i="1" dirty="0"/>
              <a:t>Estadística Inferencial</a:t>
            </a:r>
            <a:r>
              <a:rPr lang="es-CR" dirty="0"/>
              <a:t>. </a:t>
            </a:r>
          </a:p>
        </p:txBody>
      </p:sp>
      <p:pic>
        <p:nvPicPr>
          <p:cNvPr id="5122" name="Picture 2" descr="http://www.asescontables.cl/wp-content/uploads/2015/05/objetiv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6390" y="1670972"/>
            <a:ext cx="1800200" cy="1948913"/>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g.cdn.ecn.cl/coaching/files/2012/12/conseguir-objetivo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4362" y="4330402"/>
            <a:ext cx="2304256" cy="2304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2558500"/>
      </p:ext>
    </p:extLst>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125760"/>
            <a:ext cx="7772400" cy="782960"/>
          </a:xfrm>
        </p:spPr>
        <p:txBody>
          <a:bodyPr>
            <a:normAutofit/>
          </a:bodyPr>
          <a:lstStyle/>
          <a:p>
            <a:pPr algn="ctr"/>
            <a:r>
              <a:rPr lang="es-CR" sz="3600" dirty="0" smtClean="0"/>
              <a:t>Capítulos: estadística descriptiva</a:t>
            </a:r>
            <a:endParaRPr lang="es-CR" sz="3600" dirty="0"/>
          </a:p>
        </p:txBody>
      </p:sp>
      <p:sp>
        <p:nvSpPr>
          <p:cNvPr id="3" name="2 Marcador de contenido"/>
          <p:cNvSpPr>
            <a:spLocks noGrp="1"/>
          </p:cNvSpPr>
          <p:nvPr>
            <p:ph sz="quarter" idx="1"/>
          </p:nvPr>
        </p:nvSpPr>
        <p:spPr>
          <a:xfrm>
            <a:off x="467544" y="1268760"/>
            <a:ext cx="7416824" cy="5400600"/>
          </a:xfrm>
        </p:spPr>
        <p:txBody>
          <a:bodyPr>
            <a:normAutofit/>
          </a:bodyPr>
          <a:lstStyle/>
          <a:p>
            <a:pPr marL="0" indent="0">
              <a:buNone/>
            </a:pPr>
            <a:r>
              <a:rPr lang="es-CR" dirty="0" smtClean="0"/>
              <a:t>Conceptos básicos </a:t>
            </a:r>
          </a:p>
          <a:p>
            <a:pPr marL="571500" indent="-571500">
              <a:buAutoNum type="romanUcPeriod"/>
            </a:pPr>
            <a:endParaRPr lang="es-CR" dirty="0"/>
          </a:p>
          <a:p>
            <a:pPr marL="0" indent="0">
              <a:buNone/>
            </a:pPr>
            <a:r>
              <a:rPr lang="es-CR" dirty="0" smtClean="0"/>
              <a:t>La estadística y el método científico</a:t>
            </a:r>
          </a:p>
          <a:p>
            <a:pPr marL="571500" indent="-571500">
              <a:buAutoNum type="romanUcPeriod"/>
            </a:pPr>
            <a:endParaRPr lang="es-CR" dirty="0"/>
          </a:p>
          <a:p>
            <a:pPr marL="0" indent="0">
              <a:buNone/>
            </a:pPr>
            <a:r>
              <a:rPr lang="es-CR" dirty="0" smtClean="0"/>
              <a:t>Números relativos</a:t>
            </a:r>
          </a:p>
          <a:p>
            <a:pPr marL="571500" indent="-571500">
              <a:buAutoNum type="romanUcPeriod"/>
            </a:pPr>
            <a:endParaRPr lang="es-CR" dirty="0"/>
          </a:p>
          <a:p>
            <a:pPr marL="0" indent="0">
              <a:buNone/>
            </a:pPr>
            <a:r>
              <a:rPr lang="es-CR" dirty="0" smtClean="0"/>
              <a:t>Cuadros y gráficos </a:t>
            </a:r>
          </a:p>
          <a:p>
            <a:pPr marL="571500" indent="-571500">
              <a:buAutoNum type="romanUcPeriod"/>
            </a:pPr>
            <a:endParaRPr lang="es-CR" dirty="0"/>
          </a:p>
          <a:p>
            <a:pPr marL="0" indent="0">
              <a:buNone/>
            </a:pPr>
            <a:r>
              <a:rPr lang="es-CR" dirty="0" smtClean="0"/>
              <a:t>Medidas de posición</a:t>
            </a:r>
          </a:p>
          <a:p>
            <a:pPr marL="571500" indent="-571500">
              <a:buAutoNum type="romanUcPeriod"/>
            </a:pPr>
            <a:endParaRPr lang="es-CR" dirty="0" smtClean="0"/>
          </a:p>
          <a:p>
            <a:pPr marL="0" indent="0">
              <a:buNone/>
            </a:pPr>
            <a:r>
              <a:rPr lang="es-CR" dirty="0" smtClean="0"/>
              <a:t>Medidas de variabilidad</a:t>
            </a:r>
          </a:p>
          <a:p>
            <a:pPr marL="0" indent="0">
              <a:buNone/>
            </a:pPr>
            <a:endParaRPr lang="es-CR" dirty="0" smtClean="0"/>
          </a:p>
        </p:txBody>
      </p:sp>
      <p:sp>
        <p:nvSpPr>
          <p:cNvPr id="4" name="3 Cerrar llave"/>
          <p:cNvSpPr/>
          <p:nvPr/>
        </p:nvSpPr>
        <p:spPr>
          <a:xfrm>
            <a:off x="5652120" y="1196752"/>
            <a:ext cx="504056" cy="172819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5" name="4 Rectángulo redondeado"/>
          <p:cNvSpPr/>
          <p:nvPr/>
        </p:nvSpPr>
        <p:spPr>
          <a:xfrm>
            <a:off x="6630563" y="1336665"/>
            <a:ext cx="2232248" cy="136815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800" dirty="0" smtClean="0"/>
              <a:t>Conceptos y el método de investigación</a:t>
            </a:r>
            <a:endParaRPr lang="es-CR" sz="2800" dirty="0"/>
          </a:p>
        </p:txBody>
      </p:sp>
      <p:sp>
        <p:nvSpPr>
          <p:cNvPr id="6" name="5 Rectángulo redondeado"/>
          <p:cNvSpPr/>
          <p:nvPr/>
        </p:nvSpPr>
        <p:spPr>
          <a:xfrm>
            <a:off x="6630563" y="4113076"/>
            <a:ext cx="2232248" cy="136815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800" dirty="0" smtClean="0"/>
              <a:t>Estadística descriptiva</a:t>
            </a:r>
            <a:endParaRPr lang="es-CR" sz="2800" dirty="0"/>
          </a:p>
        </p:txBody>
      </p:sp>
      <p:sp>
        <p:nvSpPr>
          <p:cNvPr id="7" name="6 Cerrar llave"/>
          <p:cNvSpPr/>
          <p:nvPr/>
        </p:nvSpPr>
        <p:spPr>
          <a:xfrm>
            <a:off x="5652120" y="3284984"/>
            <a:ext cx="504056" cy="302433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Tree>
    <p:extLst>
      <p:ext uri="{BB962C8B-B14F-4D97-AF65-F5344CB8AC3E}">
        <p14:creationId xmlns:p14="http://schemas.microsoft.com/office/powerpoint/2010/main" val="1509667427"/>
      </p:ext>
    </p:extLst>
  </p:cSld>
  <p:clrMapOvr>
    <a:masterClrMapping/>
  </p:clrMapOvr>
  <p:transition spd="slow">
    <p:randomBar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23528" y="274638"/>
            <a:ext cx="8568952" cy="1210146"/>
          </a:xfrm>
        </p:spPr>
        <p:txBody>
          <a:bodyPr>
            <a:normAutofit fontScale="90000"/>
          </a:bodyPr>
          <a:lstStyle/>
          <a:p>
            <a:pPr algn="ctr"/>
            <a:r>
              <a:rPr lang="es-CR" dirty="0"/>
              <a:t>Capítulos: </a:t>
            </a:r>
            <a:r>
              <a:rPr lang="es-CR" dirty="0" smtClean="0"/>
              <a:t>probabilidades e inferencia estadística</a:t>
            </a:r>
            <a:endParaRPr lang="es-CR" dirty="0"/>
          </a:p>
        </p:txBody>
      </p:sp>
      <p:sp>
        <p:nvSpPr>
          <p:cNvPr id="3" name="2 Marcador de contenido"/>
          <p:cNvSpPr>
            <a:spLocks noGrp="1"/>
          </p:cNvSpPr>
          <p:nvPr>
            <p:ph sz="quarter" idx="1"/>
          </p:nvPr>
        </p:nvSpPr>
        <p:spPr>
          <a:xfrm>
            <a:off x="395536" y="1737320"/>
            <a:ext cx="7772400" cy="4572000"/>
          </a:xfrm>
        </p:spPr>
        <p:txBody>
          <a:bodyPr/>
          <a:lstStyle/>
          <a:p>
            <a:pPr marL="0" indent="0">
              <a:buNone/>
            </a:pPr>
            <a:r>
              <a:rPr lang="es-CR" dirty="0" smtClean="0"/>
              <a:t>Introducción a las probabilidades</a:t>
            </a:r>
          </a:p>
          <a:p>
            <a:pPr marL="571500" indent="-571500">
              <a:buAutoNum type="romanUcPeriod"/>
            </a:pPr>
            <a:endParaRPr lang="es-CR" dirty="0"/>
          </a:p>
          <a:p>
            <a:pPr marL="0" indent="0">
              <a:buNone/>
            </a:pPr>
            <a:r>
              <a:rPr lang="es-CR" dirty="0" smtClean="0"/>
              <a:t>La curva normal y la estandarización</a:t>
            </a:r>
          </a:p>
          <a:p>
            <a:pPr marL="571500" indent="-571500">
              <a:buAutoNum type="romanUcPeriod"/>
            </a:pPr>
            <a:endParaRPr lang="es-CR" dirty="0"/>
          </a:p>
          <a:p>
            <a:pPr marL="0" indent="0">
              <a:buNone/>
            </a:pPr>
            <a:r>
              <a:rPr lang="es-CR" dirty="0" smtClean="0"/>
              <a:t>Estimación</a:t>
            </a:r>
          </a:p>
          <a:p>
            <a:pPr marL="571500" indent="-571500">
              <a:buAutoNum type="romanUcPeriod"/>
            </a:pPr>
            <a:endParaRPr lang="es-CR" dirty="0"/>
          </a:p>
          <a:p>
            <a:pPr marL="0" indent="0">
              <a:buNone/>
            </a:pPr>
            <a:r>
              <a:rPr lang="es-CR" dirty="0" smtClean="0"/>
              <a:t>Prueba de hipótesis</a:t>
            </a:r>
          </a:p>
          <a:p>
            <a:pPr marL="571500" indent="-571500">
              <a:buAutoNum type="romanUcPeriod"/>
            </a:pPr>
            <a:endParaRPr lang="es-CR" dirty="0"/>
          </a:p>
          <a:p>
            <a:pPr marL="0" indent="0">
              <a:buNone/>
            </a:pPr>
            <a:r>
              <a:rPr lang="es-CR" dirty="0" smtClean="0"/>
              <a:t>Regresión y correlación</a:t>
            </a:r>
          </a:p>
          <a:p>
            <a:pPr marL="0" indent="0">
              <a:buNone/>
            </a:pPr>
            <a:endParaRPr lang="es-CR" dirty="0"/>
          </a:p>
          <a:p>
            <a:pPr marL="0" indent="0">
              <a:buNone/>
            </a:pPr>
            <a:endParaRPr lang="es-CR" dirty="0" smtClean="0"/>
          </a:p>
        </p:txBody>
      </p:sp>
      <p:sp>
        <p:nvSpPr>
          <p:cNvPr id="4" name="3 Cerrar llave"/>
          <p:cNvSpPr/>
          <p:nvPr/>
        </p:nvSpPr>
        <p:spPr>
          <a:xfrm>
            <a:off x="5724128" y="1844824"/>
            <a:ext cx="504056" cy="154817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5" name="4 Rectángulo redondeado"/>
          <p:cNvSpPr/>
          <p:nvPr/>
        </p:nvSpPr>
        <p:spPr>
          <a:xfrm>
            <a:off x="6660232" y="2078850"/>
            <a:ext cx="2232248" cy="108012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800" dirty="0" smtClean="0"/>
              <a:t>Probabilidad</a:t>
            </a:r>
            <a:endParaRPr lang="es-CR" sz="2800" dirty="0"/>
          </a:p>
        </p:txBody>
      </p:sp>
      <p:sp>
        <p:nvSpPr>
          <p:cNvPr id="6" name="5 Cerrar llave"/>
          <p:cNvSpPr/>
          <p:nvPr/>
        </p:nvSpPr>
        <p:spPr>
          <a:xfrm>
            <a:off x="5724128" y="3545396"/>
            <a:ext cx="504056" cy="25479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7" name="6 Rectángulo redondeado"/>
          <p:cNvSpPr/>
          <p:nvPr/>
        </p:nvSpPr>
        <p:spPr>
          <a:xfrm>
            <a:off x="6660232" y="4293096"/>
            <a:ext cx="2232248" cy="108012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800" dirty="0" smtClean="0"/>
              <a:t>Inferencia </a:t>
            </a:r>
            <a:endParaRPr lang="es-CR" sz="2800" dirty="0"/>
          </a:p>
        </p:txBody>
      </p:sp>
    </p:spTree>
    <p:extLst>
      <p:ext uri="{BB962C8B-B14F-4D97-AF65-F5344CB8AC3E}">
        <p14:creationId xmlns:p14="http://schemas.microsoft.com/office/powerpoint/2010/main" val="2246843380"/>
      </p:ext>
    </p:extLst>
  </p:cSld>
  <p:clrMapOvr>
    <a:masterClrMapping/>
  </p:clrMapOvr>
  <p:transition spd="slow">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23528" y="197768"/>
            <a:ext cx="8208912" cy="1143000"/>
          </a:xfrm>
        </p:spPr>
        <p:txBody>
          <a:bodyPr>
            <a:normAutofit fontScale="90000"/>
          </a:bodyPr>
          <a:lstStyle/>
          <a:p>
            <a:pPr algn="ctr"/>
            <a:r>
              <a:rPr lang="es-CR" dirty="0" smtClean="0"/>
              <a:t>¿Y hasta dónde con los métodos y técnicas de investigación?</a:t>
            </a:r>
            <a:endParaRPr lang="es-CR" dirty="0"/>
          </a:p>
        </p:txBody>
      </p:sp>
      <p:sp>
        <p:nvSpPr>
          <p:cNvPr id="3" name="2 Marcador de contenido"/>
          <p:cNvSpPr>
            <a:spLocks noGrp="1"/>
          </p:cNvSpPr>
          <p:nvPr>
            <p:ph sz="quarter" idx="1"/>
          </p:nvPr>
        </p:nvSpPr>
        <p:spPr>
          <a:xfrm>
            <a:off x="827584" y="1556792"/>
            <a:ext cx="7772400" cy="4572000"/>
          </a:xfrm>
        </p:spPr>
        <p:txBody>
          <a:bodyPr>
            <a:normAutofit fontScale="92500"/>
          </a:bodyPr>
          <a:lstStyle/>
          <a:p>
            <a:pPr marL="0" indent="0">
              <a:buNone/>
            </a:pPr>
            <a:endParaRPr lang="es-CR" sz="3600" dirty="0" smtClean="0"/>
          </a:p>
          <a:p>
            <a:pPr marL="0" indent="0" algn="ctr">
              <a:buNone/>
            </a:pPr>
            <a:r>
              <a:rPr lang="es-CR" sz="5400" dirty="0" smtClean="0"/>
              <a:t>¿Sería esto el fin de los métodos y técnicas de investigación?</a:t>
            </a:r>
          </a:p>
          <a:p>
            <a:pPr marL="0" indent="0">
              <a:buNone/>
            </a:pPr>
            <a:endParaRPr lang="es-CR" sz="3600" dirty="0" smtClean="0"/>
          </a:p>
          <a:p>
            <a:pPr marL="0" indent="0">
              <a:buNone/>
            </a:pPr>
            <a:endParaRPr lang="es-CR" sz="3600" dirty="0" smtClean="0"/>
          </a:p>
          <a:p>
            <a:pPr marL="0" indent="0" algn="r">
              <a:buNone/>
            </a:pPr>
            <a:r>
              <a:rPr lang="es-CR" sz="3600" dirty="0" smtClean="0"/>
              <a:t>No…..</a:t>
            </a:r>
            <a:endParaRPr lang="es-CR" sz="3600" dirty="0"/>
          </a:p>
        </p:txBody>
      </p:sp>
    </p:spTree>
    <p:extLst>
      <p:ext uri="{BB962C8B-B14F-4D97-AF65-F5344CB8AC3E}">
        <p14:creationId xmlns:p14="http://schemas.microsoft.com/office/powerpoint/2010/main" val="19810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39552" y="116632"/>
            <a:ext cx="7988424" cy="850106"/>
          </a:xfrm>
        </p:spPr>
        <p:txBody>
          <a:bodyPr/>
          <a:lstStyle/>
          <a:p>
            <a:pPr algn="ctr"/>
            <a:r>
              <a:rPr lang="es-CR" dirty="0" smtClean="0"/>
              <a:t>Para los siguientes cursos</a:t>
            </a:r>
            <a:endParaRPr lang="es-CR" dirty="0"/>
          </a:p>
        </p:txBody>
      </p:sp>
      <p:sp>
        <p:nvSpPr>
          <p:cNvPr id="3" name="2 Marcador de contenido"/>
          <p:cNvSpPr>
            <a:spLocks noGrp="1"/>
          </p:cNvSpPr>
          <p:nvPr>
            <p:ph sz="quarter" idx="1"/>
          </p:nvPr>
        </p:nvSpPr>
        <p:spPr>
          <a:xfrm>
            <a:off x="179512" y="1196752"/>
            <a:ext cx="5688632" cy="5400600"/>
          </a:xfrm>
        </p:spPr>
        <p:txBody>
          <a:bodyPr>
            <a:normAutofit/>
          </a:bodyPr>
          <a:lstStyle/>
          <a:p>
            <a:pPr algn="just"/>
            <a:r>
              <a:rPr lang="es-CR" sz="2000" dirty="0" smtClean="0"/>
              <a:t>Otras técnicas de análisis: comparaciones entre poblaciones,  para unidades con alta correlación, análisis de varianza, y pruebas para datos categóricos.</a:t>
            </a:r>
          </a:p>
          <a:p>
            <a:pPr algn="just"/>
            <a:endParaRPr lang="es-CR" sz="2000" dirty="0"/>
          </a:p>
          <a:p>
            <a:pPr algn="just"/>
            <a:r>
              <a:rPr lang="es-CR" sz="2000" dirty="0" smtClean="0"/>
              <a:t>Otras distribuciones: t de </a:t>
            </a:r>
            <a:r>
              <a:rPr lang="es-CR" sz="2000" dirty="0" err="1" smtClean="0"/>
              <a:t>Student</a:t>
            </a:r>
            <a:r>
              <a:rPr lang="es-CR" sz="2000" dirty="0" smtClean="0"/>
              <a:t>, la Chi cuadrado, la prueba F, etc.</a:t>
            </a:r>
          </a:p>
          <a:p>
            <a:pPr algn="just"/>
            <a:endParaRPr lang="es-CR" sz="2000" dirty="0"/>
          </a:p>
          <a:p>
            <a:pPr algn="just"/>
            <a:r>
              <a:rPr lang="es-CR" sz="2000" dirty="0" smtClean="0"/>
              <a:t>Otro enfoque de análisis: investigación cualitativas.</a:t>
            </a:r>
          </a:p>
          <a:p>
            <a:pPr algn="just"/>
            <a:endParaRPr lang="es-CR" sz="2000" dirty="0"/>
          </a:p>
          <a:p>
            <a:pPr algn="just"/>
            <a:r>
              <a:rPr lang="es-CR" sz="2000" dirty="0" smtClean="0"/>
              <a:t>Los siguientes cursos de métodos de investigación continua con el enfoque de técnicas cuantitativas pero se abordan también las técnicas cualitativas</a:t>
            </a:r>
            <a:r>
              <a:rPr lang="es-CR" sz="2000" dirty="0" smtClean="0"/>
              <a:t>.</a:t>
            </a:r>
          </a:p>
        </p:txBody>
      </p:sp>
      <p:pic>
        <p:nvPicPr>
          <p:cNvPr id="1026" name="Picture 2" descr="http://4.bp.blogspot.com/-AG9U8qKusbY/VPRQRLGaEqI/AAAAAAAABNk/x5GPDLfxnvo/s1600/Dibujo%2Bcuanticuali.bmp"/>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43860" y="1340768"/>
            <a:ext cx="2962362" cy="201622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2.bp.blogspot.com/-6tDttWGrrrs/UbZGU6gVX8I/AAAAAAAAAHA/tsCalhMqymk/s1600/imag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7934" y="4077072"/>
            <a:ext cx="2454213" cy="2448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7435456"/>
      </p:ext>
    </p:extLst>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R"/>
          </a:p>
        </p:txBody>
      </p:sp>
      <p:sp>
        <p:nvSpPr>
          <p:cNvPr id="3" name="2 Marcador de contenido"/>
          <p:cNvSpPr>
            <a:spLocks noGrp="1"/>
          </p:cNvSpPr>
          <p:nvPr>
            <p:ph sz="quarter" idx="1"/>
          </p:nvPr>
        </p:nvSpPr>
        <p:spPr/>
        <p:txBody>
          <a:bodyPr/>
          <a:lstStyle/>
          <a:p>
            <a:endParaRPr lang="es-CR"/>
          </a:p>
        </p:txBody>
      </p:sp>
      <p:pic>
        <p:nvPicPr>
          <p:cNvPr id="4" name="Picture 2" descr="http://www.unexpected.org/wp-content/uploads/2014/02/the-en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76" y="0"/>
            <a:ext cx="9166176"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969587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dad">
  <a:themeElements>
    <a:clrScheme name="Equida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dad">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dad">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93</TotalTime>
  <Words>230</Words>
  <Application>Microsoft Office PowerPoint</Application>
  <PresentationFormat>Presentación en pantalla (4:3)</PresentationFormat>
  <Paragraphs>45</Paragraphs>
  <Slides>7</Slides>
  <Notes>0</Notes>
  <HiddenSlides>0</HiddenSlides>
  <MMClips>0</MMClips>
  <ScaleCrop>false</ScaleCrop>
  <HeadingPairs>
    <vt:vector size="4" baseType="variant">
      <vt:variant>
        <vt:lpstr>Tema</vt:lpstr>
      </vt:variant>
      <vt:variant>
        <vt:i4>1</vt:i4>
      </vt:variant>
      <vt:variant>
        <vt:lpstr>Títulos de diapositiva</vt:lpstr>
      </vt:variant>
      <vt:variant>
        <vt:i4>7</vt:i4>
      </vt:variant>
    </vt:vector>
  </HeadingPairs>
  <TitlesOfParts>
    <vt:vector size="8" baseType="lpstr">
      <vt:lpstr>Equidad</vt:lpstr>
      <vt:lpstr>Epílogo</vt:lpstr>
      <vt:lpstr>Objetivo del curso</vt:lpstr>
      <vt:lpstr>Capítulos: estadística descriptiva</vt:lpstr>
      <vt:lpstr>Capítulos: probabilidades e inferencia estadística</vt:lpstr>
      <vt:lpstr>¿Y hasta dónde con los métodos y técnicas de investigación?</vt:lpstr>
      <vt:lpstr>Para los siguientes cursos</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Epílogo</dc:title>
  <dc:creator>Oscar Centeno Mora</dc:creator>
  <cp:lastModifiedBy>Oscar</cp:lastModifiedBy>
  <cp:revision>12</cp:revision>
  <dcterms:created xsi:type="dcterms:W3CDTF">2015-11-10T19:57:45Z</dcterms:created>
  <dcterms:modified xsi:type="dcterms:W3CDTF">2015-11-11T01:45:16Z</dcterms:modified>
</cp:coreProperties>
</file>