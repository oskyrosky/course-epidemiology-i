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9"/>
  </p:notesMasterIdLst>
  <p:sldIdLst>
    <p:sldId id="256" r:id="rId2"/>
    <p:sldId id="257" r:id="rId3"/>
    <p:sldId id="258" r:id="rId4"/>
    <p:sldId id="259" r:id="rId5"/>
    <p:sldId id="316" r:id="rId6"/>
    <p:sldId id="305" r:id="rId7"/>
    <p:sldId id="261" r:id="rId8"/>
    <p:sldId id="262" r:id="rId9"/>
    <p:sldId id="306" r:id="rId10"/>
    <p:sldId id="263" r:id="rId11"/>
    <p:sldId id="264" r:id="rId12"/>
    <p:sldId id="307" r:id="rId13"/>
    <p:sldId id="266" r:id="rId14"/>
    <p:sldId id="267" r:id="rId15"/>
    <p:sldId id="268" r:id="rId16"/>
    <p:sldId id="269" r:id="rId17"/>
    <p:sldId id="293" r:id="rId18"/>
    <p:sldId id="294" r:id="rId19"/>
    <p:sldId id="295" r:id="rId20"/>
    <p:sldId id="296" r:id="rId21"/>
    <p:sldId id="270" r:id="rId22"/>
    <p:sldId id="297" r:id="rId23"/>
    <p:sldId id="271" r:id="rId24"/>
    <p:sldId id="272" r:id="rId25"/>
    <p:sldId id="298" r:id="rId26"/>
    <p:sldId id="299" r:id="rId27"/>
    <p:sldId id="300" r:id="rId28"/>
    <p:sldId id="301" r:id="rId29"/>
    <p:sldId id="312" r:id="rId30"/>
    <p:sldId id="273" r:id="rId31"/>
    <p:sldId id="292" r:id="rId32"/>
    <p:sldId id="313" r:id="rId33"/>
    <p:sldId id="314" r:id="rId34"/>
    <p:sldId id="342" r:id="rId35"/>
    <p:sldId id="345" r:id="rId36"/>
    <p:sldId id="274" r:id="rId37"/>
    <p:sldId id="275" r:id="rId38"/>
    <p:sldId id="308" r:id="rId39"/>
    <p:sldId id="277" r:id="rId40"/>
    <p:sldId id="302" r:id="rId41"/>
    <p:sldId id="303" r:id="rId42"/>
    <p:sldId id="309" r:id="rId43"/>
    <p:sldId id="279" r:id="rId44"/>
    <p:sldId id="281" r:id="rId45"/>
    <p:sldId id="282" r:id="rId46"/>
    <p:sldId id="283" r:id="rId47"/>
    <p:sldId id="284" r:id="rId48"/>
    <p:sldId id="285" r:id="rId49"/>
    <p:sldId id="343" r:id="rId50"/>
    <p:sldId id="344" r:id="rId51"/>
    <p:sldId id="311" r:id="rId52"/>
    <p:sldId id="315" r:id="rId53"/>
    <p:sldId id="310" r:id="rId54"/>
    <p:sldId id="286" r:id="rId55"/>
    <p:sldId id="287" r:id="rId56"/>
    <p:sldId id="317" r:id="rId57"/>
    <p:sldId id="329" r:id="rId58"/>
    <p:sldId id="321" r:id="rId59"/>
    <p:sldId id="318" r:id="rId60"/>
    <p:sldId id="322" r:id="rId61"/>
    <p:sldId id="323" r:id="rId62"/>
    <p:sldId id="324" r:id="rId63"/>
    <p:sldId id="330" r:id="rId64"/>
    <p:sldId id="331" r:id="rId65"/>
    <p:sldId id="336" r:id="rId66"/>
    <p:sldId id="337" r:id="rId67"/>
    <p:sldId id="332" r:id="rId68"/>
    <p:sldId id="333" r:id="rId69"/>
    <p:sldId id="334" r:id="rId70"/>
    <p:sldId id="335" r:id="rId71"/>
    <p:sldId id="338" r:id="rId72"/>
    <p:sldId id="339" r:id="rId73"/>
    <p:sldId id="346" r:id="rId74"/>
    <p:sldId id="341" r:id="rId75"/>
    <p:sldId id="340" r:id="rId76"/>
    <p:sldId id="328" r:id="rId77"/>
    <p:sldId id="289" r:id="rId78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76" autoAdjust="0"/>
    <p:restoredTop sz="94660"/>
  </p:normalViewPr>
  <p:slideViewPr>
    <p:cSldViewPr>
      <p:cViewPr varScale="1">
        <p:scale>
          <a:sx n="69" d="100"/>
          <a:sy n="69" d="100"/>
        </p:scale>
        <p:origin x="-149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R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E25F99-15DE-4AD6-B997-E01E07A45973}" type="datetimeFigureOut">
              <a:rPr lang="es-CR" smtClean="0"/>
              <a:t>3/6/2016</a:t>
            </a:fld>
            <a:endParaRPr lang="es-CR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R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5161D1-7CC8-42DA-84EB-990E2EFBD39D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044080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1 Rectángulo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12 Rectángulo redondeado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8 Subtítulo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 smtClean="0"/>
              <a:t>Haga clic para modificar el estilo de subtítulo del patrón</a:t>
            </a:r>
            <a:endParaRPr kumimoji="0" lang="en-US"/>
          </a:p>
        </p:txBody>
      </p:sp>
      <p:sp>
        <p:nvSpPr>
          <p:cNvPr id="28" name="27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03/06/2016</a:t>
            </a:fld>
            <a:endParaRPr lang="es-ES"/>
          </a:p>
        </p:txBody>
      </p:sp>
      <p:sp>
        <p:nvSpPr>
          <p:cNvPr id="17" name="16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29" name="2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  <p:sp>
        <p:nvSpPr>
          <p:cNvPr id="7" name="6 Rectángulo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9 Rectángulo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10 Rectángulo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7 Título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03/06/2016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  <p:sp>
        <p:nvSpPr>
          <p:cNvPr id="8" name="7 Marcador de contenido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10 Rectángulo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9 Rectángulo redondeado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03/06/2016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s-ES"/>
          </a:p>
        </p:txBody>
      </p:sp>
      <p:sp>
        <p:nvSpPr>
          <p:cNvPr id="7" name="6 Rectángulo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7 Rectángulo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8 Rectángulo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03/06/2016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  <p:sp>
        <p:nvSpPr>
          <p:cNvPr id="9" name="8 Marcador de contenido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11" name="10 Marcador de contenido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03/06/2016</a:t>
            </a:fld>
            <a:endParaRPr lang="es-E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  <p:sp>
        <p:nvSpPr>
          <p:cNvPr id="11" name="10 Marcador de contenido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13" name="12 Marcador de contenido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03/06/2016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03/06/2016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Rectángulo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8 Rectángulo redondeado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03/06/2016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  <p:sp>
        <p:nvSpPr>
          <p:cNvPr id="11" name="10 Marcador de contenido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03/06/2016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  <p:sp>
        <p:nvSpPr>
          <p:cNvPr id="11" name="10 Rectángulo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11 Rectángulo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12 Rectángulo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s-ES" smtClean="0"/>
              <a:t>Haga clic en el icono para agregar una imagen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03/06/2016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03/06/2016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Rectángulo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7 Rectángulo redondeado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21 Marcador de título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3" name="12 Marcador de texto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  <a:p>
            <a:pPr lvl="1" eaLnBrk="1" latinLnBrk="0" hangingPunct="1"/>
            <a:r>
              <a:rPr kumimoji="0" lang="es-ES" smtClean="0"/>
              <a:t>Segundo nivel</a:t>
            </a:r>
          </a:p>
          <a:p>
            <a:pPr lvl="2" eaLnBrk="1" latinLnBrk="0" hangingPunct="1"/>
            <a:r>
              <a:rPr kumimoji="0" lang="es-ES" smtClean="0"/>
              <a:t>Tercer nivel</a:t>
            </a:r>
          </a:p>
          <a:p>
            <a:pPr lvl="3" eaLnBrk="1" latinLnBrk="0" hangingPunct="1"/>
            <a:r>
              <a:rPr kumimoji="0" lang="es-ES" smtClean="0"/>
              <a:t>Cuarto nivel</a:t>
            </a:r>
          </a:p>
          <a:p>
            <a:pPr lvl="4" eaLnBrk="1" latinLnBrk="0" hangingPunct="1"/>
            <a:r>
              <a:rPr kumimoji="0" lang="es-ES" smtClean="0"/>
              <a:t>Quinto nivel</a:t>
            </a:r>
            <a:endParaRPr kumimoji="0" lang="en-US"/>
          </a:p>
        </p:txBody>
      </p:sp>
      <p:sp>
        <p:nvSpPr>
          <p:cNvPr id="14" name="13 Marcador de fecha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7A847CFC-816F-41D0-AAC0-9BF4FEBC753E}" type="datetimeFigureOut">
              <a:rPr lang="es-ES" smtClean="0"/>
              <a:t>03/06/2016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s-ES"/>
          </a:p>
        </p:txBody>
      </p:sp>
      <p:sp>
        <p:nvSpPr>
          <p:cNvPr id="23" name="22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gi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jpeg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jpeg"/><Relationship Id="rId4" Type="http://schemas.openxmlformats.org/officeDocument/2006/relationships/image" Target="../media/image35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gif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jpe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10" Type="http://schemas.openxmlformats.org/officeDocument/2006/relationships/image" Target="../media/image63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10" Type="http://schemas.openxmlformats.org/officeDocument/2006/relationships/image" Target="../media/image63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7.png"/><Relationship Id="rId4" Type="http://schemas.openxmlformats.org/officeDocument/2006/relationships/image" Target="../media/image66.jpe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jpe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9.jpe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2.gif"/><Relationship Id="rId4" Type="http://schemas.openxmlformats.org/officeDocument/2006/relationships/image" Target="../media/image71.jpe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gif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jpe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jpeg"/><Relationship Id="rId2" Type="http://schemas.openxmlformats.org/officeDocument/2006/relationships/image" Target="../media/image74.jpe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0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70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gif"/><Relationship Id="rId2" Type="http://schemas.openxmlformats.org/officeDocument/2006/relationships/image" Target="../media/image780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1.jpe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3.jpeg"/><Relationship Id="rId4" Type="http://schemas.openxmlformats.org/officeDocument/2006/relationships/image" Target="../media/image25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gif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jpe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1.png"/><Relationship Id="rId4" Type="http://schemas.openxmlformats.org/officeDocument/2006/relationships/image" Target="../media/image800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7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4.png"/><Relationship Id="rId4" Type="http://schemas.openxmlformats.org/officeDocument/2006/relationships/image" Target="../media/image25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88.gif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jpe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.png"/><Relationship Id="rId5" Type="http://schemas.openxmlformats.org/officeDocument/2006/relationships/image" Target="../media/image81.png"/><Relationship Id="rId4" Type="http://schemas.openxmlformats.org/officeDocument/2006/relationships/image" Target="../media/image850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8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8.png"/><Relationship Id="rId5" Type="http://schemas.openxmlformats.org/officeDocument/2006/relationships/image" Target="../media/image87.png"/><Relationship Id="rId4" Type="http://schemas.openxmlformats.org/officeDocument/2006/relationships/image" Target="../media/image84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9.jpe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2.jpeg"/><Relationship Id="rId4" Type="http://schemas.openxmlformats.org/officeDocument/2006/relationships/image" Target="../media/image91.png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jpeg"/><Relationship Id="rId2" Type="http://schemas.openxmlformats.org/officeDocument/2006/relationships/image" Target="../media/image9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5.jpe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0.png"/><Relationship Id="rId2" Type="http://schemas.openxmlformats.org/officeDocument/2006/relationships/image" Target="../media/image8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png"/><Relationship Id="rId5" Type="http://schemas.openxmlformats.org/officeDocument/2006/relationships/image" Target="../media/image940.png"/><Relationship Id="rId4" Type="http://schemas.openxmlformats.org/officeDocument/2006/relationships/image" Target="../media/image930.png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jpe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jpeg"/><Relationship Id="rId2" Type="http://schemas.openxmlformats.org/officeDocument/2006/relationships/image" Target="../media/image97.jpe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2195736" y="5661248"/>
            <a:ext cx="6400800" cy="1024136"/>
          </a:xfrm>
        </p:spPr>
        <p:txBody>
          <a:bodyPr>
            <a:normAutofit/>
          </a:bodyPr>
          <a:lstStyle/>
          <a:p>
            <a:pPr algn="r"/>
            <a:r>
              <a:rPr lang="es-CR" sz="3600" dirty="0" smtClean="0"/>
              <a:t>Oscar Centeno Mora</a:t>
            </a:r>
            <a:endParaRPr lang="es-CR" sz="3600" dirty="0"/>
          </a:p>
        </p:txBody>
      </p:sp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467544" y="1556792"/>
            <a:ext cx="7772400" cy="1254001"/>
          </a:xfrm>
        </p:spPr>
        <p:txBody>
          <a:bodyPr/>
          <a:lstStyle/>
          <a:p>
            <a:r>
              <a:rPr lang="es-CR" dirty="0" smtClean="0"/>
              <a:t>Prueba de Hipótesis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855515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55576" y="130622"/>
            <a:ext cx="7772400" cy="778098"/>
          </a:xfrm>
        </p:spPr>
        <p:txBody>
          <a:bodyPr>
            <a:normAutofit/>
          </a:bodyPr>
          <a:lstStyle/>
          <a:p>
            <a:pPr algn="ctr"/>
            <a:r>
              <a:rPr lang="es-CR" dirty="0" smtClean="0"/>
              <a:t>Introducción</a:t>
            </a:r>
            <a:endParaRPr lang="es-CR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323528" y="1052736"/>
            <a:ext cx="5112568" cy="5733256"/>
          </a:xfrm>
        </p:spPr>
        <p:txBody>
          <a:bodyPr>
            <a:normAutofit lnSpcReduction="10000"/>
          </a:bodyPr>
          <a:lstStyle/>
          <a:p>
            <a:pPr algn="just"/>
            <a:r>
              <a:rPr lang="es-CR" sz="2400" dirty="0" smtClean="0"/>
              <a:t>En el capítulo anterior se estudió la estimación.</a:t>
            </a:r>
          </a:p>
          <a:p>
            <a:pPr algn="just"/>
            <a:endParaRPr lang="es-CR" sz="2400" dirty="0"/>
          </a:p>
          <a:p>
            <a:pPr algn="just"/>
            <a:r>
              <a:rPr lang="es-CR" sz="2400" dirty="0" smtClean="0"/>
              <a:t>El presente se enfoque en la técnica complementaria para el análisis de la estadística inferencial: la prueba de hipótesis.</a:t>
            </a:r>
          </a:p>
          <a:p>
            <a:pPr algn="just"/>
            <a:endParaRPr lang="es-CR" sz="2400" dirty="0" smtClean="0"/>
          </a:p>
          <a:p>
            <a:pPr algn="just"/>
            <a:r>
              <a:rPr lang="es-CR" sz="2400" dirty="0" smtClean="0"/>
              <a:t>El suponer </a:t>
            </a:r>
            <a:r>
              <a:rPr lang="es-CR" sz="2400" dirty="0"/>
              <a:t>cierto</a:t>
            </a:r>
            <a:r>
              <a:rPr lang="es-CR" sz="2400" dirty="0" smtClean="0"/>
              <a:t> </a:t>
            </a:r>
            <a:r>
              <a:rPr lang="es-CR" sz="2400" dirty="0"/>
              <a:t>valor </a:t>
            </a:r>
            <a:r>
              <a:rPr lang="es-CR" sz="2400" dirty="0" smtClean="0"/>
              <a:t>para el parámetro se traducirá por la aplicación de una prueba de hipótesis.</a:t>
            </a:r>
          </a:p>
          <a:p>
            <a:pPr algn="just"/>
            <a:endParaRPr lang="es-CR" sz="2400" dirty="0" smtClean="0"/>
          </a:p>
          <a:p>
            <a:pPr algn="just"/>
            <a:r>
              <a:rPr lang="es-CR" sz="2400" dirty="0" smtClean="0"/>
              <a:t>Cualquier análisis computacional posee siempre por rutina alguna prueba de hipótesis y los intervalos de confianza.</a:t>
            </a:r>
            <a:endParaRPr lang="es-CR" sz="2400" dirty="0"/>
          </a:p>
        </p:txBody>
      </p:sp>
      <p:pic>
        <p:nvPicPr>
          <p:cNvPr id="1026" name="Picture 2" descr="https://scholar.vt.edu/access/content/group/43c8db00-e78f-4dcd-826c-ac236fb59e24/STAT2004/PopulationSample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143" y="4221088"/>
            <a:ext cx="2929955" cy="2232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://www.tenantmail.com/images/learn-more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9327" y="1332448"/>
            <a:ext cx="2809875" cy="2533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5705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850106"/>
          </a:xfrm>
        </p:spPr>
        <p:txBody>
          <a:bodyPr/>
          <a:lstStyle/>
          <a:p>
            <a:pPr algn="ctr"/>
            <a:r>
              <a:rPr lang="es-CR" dirty="0" smtClean="0"/>
              <a:t>Introducción</a:t>
            </a:r>
            <a:endParaRPr lang="es-CR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51520" y="1340768"/>
            <a:ext cx="5328592" cy="5256584"/>
          </a:xfrm>
        </p:spPr>
        <p:txBody>
          <a:bodyPr>
            <a:normAutofit lnSpcReduction="10000"/>
          </a:bodyPr>
          <a:lstStyle/>
          <a:p>
            <a:pPr algn="just"/>
            <a:r>
              <a:rPr lang="es-CR" sz="2400" dirty="0" smtClean="0"/>
              <a:t>La importancia de entender la prueba de hipótesis se evidencia en el desarrollo de cualquier investigación.</a:t>
            </a:r>
          </a:p>
          <a:p>
            <a:pPr algn="just"/>
            <a:endParaRPr lang="es-CR" sz="2400" dirty="0"/>
          </a:p>
          <a:p>
            <a:pPr algn="just"/>
            <a:r>
              <a:rPr lang="es-CR" sz="2400" dirty="0" smtClean="0"/>
              <a:t>No existe un proceso de investigación, para cualquier área o campo del saber, que no utilice la prueba de hipótesis.</a:t>
            </a:r>
          </a:p>
          <a:p>
            <a:pPr algn="just"/>
            <a:endParaRPr lang="es-CR" sz="2400" dirty="0" smtClean="0"/>
          </a:p>
          <a:p>
            <a:pPr algn="just"/>
            <a:r>
              <a:rPr lang="es-CR" sz="2400" dirty="0" smtClean="0"/>
              <a:t>Tener alguna suposición de algún hecho, conduce a poseer una hipótesis.</a:t>
            </a:r>
          </a:p>
          <a:p>
            <a:pPr marL="0" indent="0" algn="just">
              <a:buNone/>
            </a:pPr>
            <a:endParaRPr lang="es-CR" sz="2400" dirty="0"/>
          </a:p>
          <a:p>
            <a:pPr algn="just"/>
            <a:r>
              <a:rPr lang="es-CR" sz="2400" dirty="0" smtClean="0"/>
              <a:t>La </a:t>
            </a:r>
            <a:r>
              <a:rPr lang="es-CR" sz="2400" dirty="0"/>
              <a:t>prueba de hipótesis y la estimación son dos técnicas que permiten llegar al mismo resultado</a:t>
            </a:r>
            <a:r>
              <a:rPr lang="es-CR" sz="2400" dirty="0" smtClean="0"/>
              <a:t>.</a:t>
            </a:r>
            <a:endParaRPr lang="es-CR" sz="2400" dirty="0"/>
          </a:p>
        </p:txBody>
      </p:sp>
      <p:pic>
        <p:nvPicPr>
          <p:cNvPr id="2050" name="Picture 2" descr="https://investigacionescolar.files.wordpress.com/2013/03/idea-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216" y="4293096"/>
            <a:ext cx="1800200" cy="1872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ttp://www.tutosytips.com/wp-content/uploads/2012/08/pensar-idea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216" y="1628800"/>
            <a:ext cx="1471600" cy="18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3893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616024" y="188640"/>
            <a:ext cx="7772400" cy="1008112"/>
          </a:xfrm>
        </p:spPr>
        <p:txBody>
          <a:bodyPr>
            <a:normAutofit/>
          </a:bodyPr>
          <a:lstStyle/>
          <a:p>
            <a:pPr algn="ctr"/>
            <a:r>
              <a:rPr lang="es-CR" dirty="0" smtClean="0"/>
              <a:t>Índice</a:t>
            </a:r>
            <a:endParaRPr lang="es-CR" dirty="0"/>
          </a:p>
        </p:txBody>
      </p:sp>
      <p:sp>
        <p:nvSpPr>
          <p:cNvPr id="2" name="1 Elipse"/>
          <p:cNvSpPr/>
          <p:nvPr/>
        </p:nvSpPr>
        <p:spPr>
          <a:xfrm>
            <a:off x="323528" y="1700808"/>
            <a:ext cx="864096" cy="86409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1</a:t>
            </a:r>
            <a:endParaRPr lang="es-CR" dirty="0"/>
          </a:p>
        </p:txBody>
      </p:sp>
      <p:sp>
        <p:nvSpPr>
          <p:cNvPr id="5" name="4 Elipse"/>
          <p:cNvSpPr/>
          <p:nvPr/>
        </p:nvSpPr>
        <p:spPr>
          <a:xfrm>
            <a:off x="323528" y="3501008"/>
            <a:ext cx="864096" cy="86409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2</a:t>
            </a:r>
            <a:endParaRPr lang="es-CR" dirty="0"/>
          </a:p>
        </p:txBody>
      </p:sp>
      <p:sp>
        <p:nvSpPr>
          <p:cNvPr id="6" name="5 Elipse"/>
          <p:cNvSpPr/>
          <p:nvPr/>
        </p:nvSpPr>
        <p:spPr>
          <a:xfrm>
            <a:off x="323528" y="5373216"/>
            <a:ext cx="864096" cy="86409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3</a:t>
            </a:r>
            <a:endParaRPr lang="es-CR" dirty="0"/>
          </a:p>
        </p:txBody>
      </p:sp>
      <p:sp>
        <p:nvSpPr>
          <p:cNvPr id="7" name="6 Elipse"/>
          <p:cNvSpPr/>
          <p:nvPr/>
        </p:nvSpPr>
        <p:spPr>
          <a:xfrm>
            <a:off x="4355976" y="1700808"/>
            <a:ext cx="864096" cy="86409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4</a:t>
            </a:r>
            <a:endParaRPr lang="es-CR" dirty="0"/>
          </a:p>
        </p:txBody>
      </p:sp>
      <p:sp>
        <p:nvSpPr>
          <p:cNvPr id="8" name="7 Elipse"/>
          <p:cNvSpPr/>
          <p:nvPr/>
        </p:nvSpPr>
        <p:spPr>
          <a:xfrm>
            <a:off x="4355976" y="3501008"/>
            <a:ext cx="864096" cy="86409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5</a:t>
            </a:r>
            <a:endParaRPr lang="es-CR" dirty="0"/>
          </a:p>
        </p:txBody>
      </p:sp>
      <p:sp>
        <p:nvSpPr>
          <p:cNvPr id="9" name="8 Elipse"/>
          <p:cNvSpPr/>
          <p:nvPr/>
        </p:nvSpPr>
        <p:spPr>
          <a:xfrm>
            <a:off x="4355976" y="5373216"/>
            <a:ext cx="864096" cy="86409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6</a:t>
            </a:r>
            <a:endParaRPr lang="es-CR" dirty="0"/>
          </a:p>
        </p:txBody>
      </p:sp>
      <p:sp>
        <p:nvSpPr>
          <p:cNvPr id="10" name="9 Rectángulo redondeado"/>
          <p:cNvSpPr/>
          <p:nvPr/>
        </p:nvSpPr>
        <p:spPr>
          <a:xfrm>
            <a:off x="1475656" y="1556792"/>
            <a:ext cx="2376264" cy="1224136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Definición de hipótesis</a:t>
            </a:r>
            <a:endParaRPr lang="es-CR" dirty="0"/>
          </a:p>
        </p:txBody>
      </p:sp>
      <p:sp>
        <p:nvSpPr>
          <p:cNvPr id="11" name="10 Rectángulo redondeado"/>
          <p:cNvSpPr/>
          <p:nvPr/>
        </p:nvSpPr>
        <p:spPr>
          <a:xfrm>
            <a:off x="1475656" y="3320988"/>
            <a:ext cx="2376264" cy="1224136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Tipos de hipótesis</a:t>
            </a:r>
            <a:endParaRPr lang="es-CR" dirty="0"/>
          </a:p>
        </p:txBody>
      </p:sp>
      <p:sp>
        <p:nvSpPr>
          <p:cNvPr id="12" name="11 Rectángulo redondeado"/>
          <p:cNvSpPr/>
          <p:nvPr/>
        </p:nvSpPr>
        <p:spPr>
          <a:xfrm>
            <a:off x="1475656" y="5193196"/>
            <a:ext cx="2376264" cy="1224136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Etapas para una prueba de hipótesis estadística</a:t>
            </a:r>
            <a:endParaRPr lang="es-CR" dirty="0"/>
          </a:p>
        </p:txBody>
      </p:sp>
      <p:sp>
        <p:nvSpPr>
          <p:cNvPr id="13" name="12 Rectángulo redondeado"/>
          <p:cNvSpPr/>
          <p:nvPr/>
        </p:nvSpPr>
        <p:spPr>
          <a:xfrm>
            <a:off x="5796136" y="1556792"/>
            <a:ext cx="2376264" cy="1224136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Prueba de hipótesis para una media : bilaterales</a:t>
            </a:r>
            <a:endParaRPr lang="es-CR" dirty="0"/>
          </a:p>
        </p:txBody>
      </p:sp>
      <p:sp>
        <p:nvSpPr>
          <p:cNvPr id="14" name="13 Rectángulo redondeado"/>
          <p:cNvSpPr/>
          <p:nvPr/>
        </p:nvSpPr>
        <p:spPr>
          <a:xfrm>
            <a:off x="5796136" y="3320988"/>
            <a:ext cx="2376264" cy="1224136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Aplicación </a:t>
            </a:r>
            <a:endParaRPr lang="es-CR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5796136" y="5193196"/>
            <a:ext cx="2376264" cy="1224136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Relación entre prueba de hipótesis y estimación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2988942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Elipse"/>
          <p:cNvSpPr/>
          <p:nvPr/>
        </p:nvSpPr>
        <p:spPr>
          <a:xfrm>
            <a:off x="323528" y="1700808"/>
            <a:ext cx="864096" cy="86409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7</a:t>
            </a:r>
          </a:p>
        </p:txBody>
      </p:sp>
      <p:sp>
        <p:nvSpPr>
          <p:cNvPr id="5" name="4 Elipse"/>
          <p:cNvSpPr/>
          <p:nvPr/>
        </p:nvSpPr>
        <p:spPr>
          <a:xfrm>
            <a:off x="323528" y="3501008"/>
            <a:ext cx="864096" cy="86409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8</a:t>
            </a:r>
            <a:endParaRPr lang="es-CR" dirty="0"/>
          </a:p>
        </p:txBody>
      </p:sp>
      <p:sp>
        <p:nvSpPr>
          <p:cNvPr id="6" name="5 Rectángulo redondeado"/>
          <p:cNvSpPr/>
          <p:nvPr/>
        </p:nvSpPr>
        <p:spPr>
          <a:xfrm>
            <a:off x="1475656" y="1556792"/>
            <a:ext cx="2376264" cy="1224136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Prueba de hipótesis para la media : unilaterales</a:t>
            </a:r>
            <a:endParaRPr lang="es-CR" dirty="0"/>
          </a:p>
        </p:txBody>
      </p:sp>
      <p:sp>
        <p:nvSpPr>
          <p:cNvPr id="7" name="6 Rectángulo redondeado"/>
          <p:cNvSpPr/>
          <p:nvPr/>
        </p:nvSpPr>
        <p:spPr>
          <a:xfrm>
            <a:off x="1475656" y="3320988"/>
            <a:ext cx="2376264" cy="1224136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Valores críticos</a:t>
            </a:r>
            <a:endParaRPr lang="es-CR" dirty="0"/>
          </a:p>
        </p:txBody>
      </p:sp>
      <p:sp>
        <p:nvSpPr>
          <p:cNvPr id="8" name="1 Título"/>
          <p:cNvSpPr>
            <a:spLocks noGrp="1"/>
          </p:cNvSpPr>
          <p:nvPr>
            <p:ph type="title"/>
          </p:nvPr>
        </p:nvSpPr>
        <p:spPr>
          <a:xfrm>
            <a:off x="616024" y="188640"/>
            <a:ext cx="7772400" cy="1008112"/>
          </a:xfrm>
        </p:spPr>
        <p:txBody>
          <a:bodyPr>
            <a:normAutofit/>
          </a:bodyPr>
          <a:lstStyle/>
          <a:p>
            <a:pPr algn="ctr"/>
            <a:r>
              <a:rPr lang="es-CR" dirty="0" smtClean="0"/>
              <a:t>Índice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571445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616024" y="188640"/>
            <a:ext cx="7772400" cy="1008112"/>
          </a:xfrm>
        </p:spPr>
        <p:txBody>
          <a:bodyPr>
            <a:normAutofit/>
          </a:bodyPr>
          <a:lstStyle/>
          <a:p>
            <a:pPr algn="ctr"/>
            <a:r>
              <a:rPr lang="es-CR" dirty="0" smtClean="0"/>
              <a:t>Índice</a:t>
            </a:r>
            <a:endParaRPr lang="es-CR" dirty="0"/>
          </a:p>
        </p:txBody>
      </p:sp>
      <p:sp>
        <p:nvSpPr>
          <p:cNvPr id="2" name="1 Elipse"/>
          <p:cNvSpPr/>
          <p:nvPr/>
        </p:nvSpPr>
        <p:spPr>
          <a:xfrm>
            <a:off x="323528" y="1700808"/>
            <a:ext cx="864096" cy="86409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1</a:t>
            </a:r>
            <a:endParaRPr lang="es-CR" dirty="0"/>
          </a:p>
        </p:txBody>
      </p:sp>
      <p:sp>
        <p:nvSpPr>
          <p:cNvPr id="10" name="9 Rectángulo redondeado"/>
          <p:cNvSpPr/>
          <p:nvPr/>
        </p:nvSpPr>
        <p:spPr>
          <a:xfrm>
            <a:off x="1475656" y="1556792"/>
            <a:ext cx="2376264" cy="1224136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Definición de hipótesis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2019478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588870" y="1427255"/>
            <a:ext cx="7772400" cy="4572000"/>
          </a:xfrm>
        </p:spPr>
        <p:txBody>
          <a:bodyPr/>
          <a:lstStyle/>
          <a:p>
            <a:pPr marL="0" indent="0">
              <a:buNone/>
            </a:pPr>
            <a:r>
              <a:rPr lang="es-CR" dirty="0" smtClean="0"/>
              <a:t>		¿Qué se entiende por una hipótesis?</a:t>
            </a:r>
            <a:endParaRPr lang="es-CR" dirty="0"/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616024" y="188640"/>
            <a:ext cx="7772400" cy="1008112"/>
          </a:xfrm>
        </p:spPr>
        <p:txBody>
          <a:bodyPr/>
          <a:lstStyle/>
          <a:p>
            <a:pPr algn="ctr"/>
            <a:r>
              <a:rPr lang="es-CR" dirty="0" smtClean="0"/>
              <a:t>Significado de una hipótesis</a:t>
            </a:r>
            <a:endParaRPr lang="es-CR" dirty="0"/>
          </a:p>
        </p:txBody>
      </p:sp>
      <p:pic>
        <p:nvPicPr>
          <p:cNvPr id="1026" name="Picture 2" descr="http://www.commercebees.com/wp-content/uploads/2015/06/thinking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152" y="2924944"/>
            <a:ext cx="3305175" cy="3295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utoShape 4" descr="http://images.clipartpanda.com/person-thinking-clipart-thinking.sv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R"/>
          </a:p>
        </p:txBody>
      </p:sp>
      <p:sp>
        <p:nvSpPr>
          <p:cNvPr id="6" name="AutoShape 6" descr="http://images.clipartpanda.com/person-thinking-clipart-thinking.sv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R"/>
          </a:p>
        </p:txBody>
      </p:sp>
      <p:pic>
        <p:nvPicPr>
          <p:cNvPr id="1032" name="Picture 8" descr="http://images.clipartpanda.com/thinking-clipart-KingzdE5T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144" y="2708920"/>
            <a:ext cx="2568703" cy="3260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8089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179512" y="1268760"/>
            <a:ext cx="6336704" cy="5328592"/>
          </a:xfrm>
        </p:spPr>
        <p:txBody>
          <a:bodyPr>
            <a:normAutofit/>
          </a:bodyPr>
          <a:lstStyle/>
          <a:p>
            <a:pPr algn="just"/>
            <a:r>
              <a:rPr lang="es-CR" sz="2400" dirty="0" smtClean="0"/>
              <a:t>Una hipótesis se define como una proposición o suposición acerca de algún evento relacionado con la población de estudio.</a:t>
            </a:r>
          </a:p>
          <a:p>
            <a:pPr algn="just"/>
            <a:endParaRPr lang="es-CR" sz="2400" dirty="0"/>
          </a:p>
          <a:p>
            <a:pPr algn="just"/>
            <a:r>
              <a:rPr lang="es-CR" sz="2400" dirty="0" smtClean="0"/>
              <a:t>Ejemplos:</a:t>
            </a:r>
          </a:p>
          <a:p>
            <a:pPr marL="0" indent="0" algn="just">
              <a:buNone/>
            </a:pPr>
            <a:r>
              <a:rPr lang="es-CR" sz="2400" dirty="0" smtClean="0"/>
              <a:t>-El </a:t>
            </a:r>
            <a:r>
              <a:rPr lang="es-CR" sz="2400" dirty="0"/>
              <a:t>administrador de un hospital puede suponer que el periodo promedio de permanencia de los pacientes internados en el hospital es de cinco </a:t>
            </a:r>
            <a:r>
              <a:rPr lang="es-CR" sz="2400" dirty="0" smtClean="0"/>
              <a:t>días.</a:t>
            </a:r>
            <a:endParaRPr lang="es-CR" sz="2400" dirty="0"/>
          </a:p>
          <a:p>
            <a:pPr marL="0" indent="0" algn="just">
              <a:buNone/>
            </a:pPr>
            <a:r>
              <a:rPr lang="es-CR" sz="2400" dirty="0" smtClean="0"/>
              <a:t>-Un </a:t>
            </a:r>
            <a:r>
              <a:rPr lang="es-CR" sz="2400" dirty="0"/>
              <a:t>medico puede suponer que cierto medicamento </a:t>
            </a:r>
            <a:r>
              <a:rPr lang="es-CR" sz="2400" dirty="0" smtClean="0"/>
              <a:t>será </a:t>
            </a:r>
            <a:r>
              <a:rPr lang="es-CR" sz="2400" dirty="0"/>
              <a:t>eficaz en 90 por ciento de los casos en que se utilice. </a:t>
            </a:r>
            <a:endParaRPr lang="es-CR" sz="2400" dirty="0" smtClean="0"/>
          </a:p>
          <a:p>
            <a:pPr marL="0" indent="0" algn="just">
              <a:buNone/>
            </a:pPr>
            <a:r>
              <a:rPr lang="es-CR" sz="2400" dirty="0" smtClean="0"/>
              <a:t>-Un investigador cree que las hombres recurren más a los servicios médicos en comparación con las mujeres.</a:t>
            </a:r>
            <a:endParaRPr lang="es-CR" sz="2400" dirty="0"/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67544" y="44624"/>
            <a:ext cx="8136904" cy="1008112"/>
          </a:xfrm>
        </p:spPr>
        <p:txBody>
          <a:bodyPr/>
          <a:lstStyle/>
          <a:p>
            <a:pPr algn="ctr"/>
            <a:r>
              <a:rPr lang="es-CR" dirty="0" smtClean="0"/>
              <a:t>Significado de una hipótesis</a:t>
            </a:r>
            <a:endParaRPr lang="es-CR" dirty="0"/>
          </a:p>
        </p:txBody>
      </p:sp>
      <p:pic>
        <p:nvPicPr>
          <p:cNvPr id="3074" name="Picture 2" descr="http://1.bp.blogspot.com/-IVp7rvJIcmE/UjqZYNd93PI/AAAAAAAAAK4/stuAZkyavbg/s1600/hipotesis+cientific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256" y="1484784"/>
            <a:ext cx="1872208" cy="2088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http://3.bp.blogspot.com/-7ScAmJMp-SE/UjLG-jqekgI/AAAAAAAAAKk/QcJ7ItDjx48/s1600/Hipotesis2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2235" y="4149080"/>
            <a:ext cx="2000250" cy="2000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8463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616024" y="188640"/>
            <a:ext cx="7772400" cy="1008112"/>
          </a:xfrm>
        </p:spPr>
        <p:txBody>
          <a:bodyPr>
            <a:normAutofit/>
          </a:bodyPr>
          <a:lstStyle/>
          <a:p>
            <a:pPr algn="ctr"/>
            <a:r>
              <a:rPr lang="es-CR" dirty="0" smtClean="0"/>
              <a:t>Índice</a:t>
            </a:r>
            <a:endParaRPr lang="es-CR" dirty="0"/>
          </a:p>
        </p:txBody>
      </p:sp>
      <p:sp>
        <p:nvSpPr>
          <p:cNvPr id="2" name="1 Elipse"/>
          <p:cNvSpPr/>
          <p:nvPr/>
        </p:nvSpPr>
        <p:spPr>
          <a:xfrm>
            <a:off x="323528" y="1700808"/>
            <a:ext cx="864096" cy="86409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1</a:t>
            </a:r>
            <a:endParaRPr lang="es-CR" dirty="0"/>
          </a:p>
        </p:txBody>
      </p:sp>
      <p:sp>
        <p:nvSpPr>
          <p:cNvPr id="5" name="4 Elipse"/>
          <p:cNvSpPr/>
          <p:nvPr/>
        </p:nvSpPr>
        <p:spPr>
          <a:xfrm>
            <a:off x="323528" y="3501008"/>
            <a:ext cx="864096" cy="86409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2</a:t>
            </a:r>
            <a:endParaRPr lang="es-CR" dirty="0"/>
          </a:p>
        </p:txBody>
      </p:sp>
      <p:sp>
        <p:nvSpPr>
          <p:cNvPr id="10" name="9 Rectángulo redondeado"/>
          <p:cNvSpPr/>
          <p:nvPr/>
        </p:nvSpPr>
        <p:spPr>
          <a:xfrm>
            <a:off x="1475656" y="1556792"/>
            <a:ext cx="2376264" cy="1224136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Definición de hipótesis</a:t>
            </a:r>
            <a:endParaRPr lang="es-CR" dirty="0"/>
          </a:p>
        </p:txBody>
      </p:sp>
      <p:sp>
        <p:nvSpPr>
          <p:cNvPr id="11" name="10 Rectángulo redondeado"/>
          <p:cNvSpPr/>
          <p:nvPr/>
        </p:nvSpPr>
        <p:spPr>
          <a:xfrm>
            <a:off x="1475656" y="3320988"/>
            <a:ext cx="2376264" cy="1224136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Tipos de hipótesis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1019694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51520" y="1340768"/>
            <a:ext cx="5976664" cy="5328592"/>
          </a:xfrm>
        </p:spPr>
        <p:txBody>
          <a:bodyPr>
            <a:normAutofit/>
          </a:bodyPr>
          <a:lstStyle/>
          <a:p>
            <a:pPr algn="just"/>
            <a:r>
              <a:rPr lang="es-CR" sz="2400" dirty="0" smtClean="0"/>
              <a:t>En general, los investigadores se interesan en dos tipos de hipótesis: de investigación y la estadísticas.</a:t>
            </a:r>
          </a:p>
          <a:p>
            <a:pPr algn="just"/>
            <a:endParaRPr lang="es-CR" sz="2400" dirty="0"/>
          </a:p>
          <a:p>
            <a:pPr algn="just"/>
            <a:r>
              <a:rPr lang="es-CR" sz="2400" b="1" dirty="0" smtClean="0"/>
              <a:t>Hipótesis de investigación.</a:t>
            </a:r>
            <a:r>
              <a:rPr lang="es-CR" sz="2400" dirty="0" smtClean="0"/>
              <a:t> </a:t>
            </a:r>
            <a:r>
              <a:rPr lang="es-CR" sz="2400" dirty="0"/>
              <a:t>L</a:t>
            </a:r>
            <a:r>
              <a:rPr lang="es-CR" sz="2400" dirty="0" smtClean="0"/>
              <a:t>a hipótesis de investigación es la conjetura o suposición que motiva la investigación.</a:t>
            </a:r>
          </a:p>
          <a:p>
            <a:pPr algn="just"/>
            <a:endParaRPr lang="es-CR" sz="2400" dirty="0"/>
          </a:p>
          <a:p>
            <a:pPr algn="just"/>
            <a:r>
              <a:rPr lang="es-CR" sz="2400" b="1" dirty="0"/>
              <a:t>Hipótesis </a:t>
            </a:r>
            <a:r>
              <a:rPr lang="es-CR" sz="2400" b="1" dirty="0" smtClean="0"/>
              <a:t>estadística</a:t>
            </a:r>
            <a:r>
              <a:rPr lang="es-CR" sz="2400" dirty="0"/>
              <a:t>.</a:t>
            </a:r>
            <a:r>
              <a:rPr lang="es-CR" sz="2400" dirty="0" smtClean="0"/>
              <a:t> Es el contraste empírico. Se establece de tal forma que  pueden ser evaluadas por medio de la utilización de datos y técnicas estadísticas adecuadas.</a:t>
            </a:r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616024" y="188640"/>
            <a:ext cx="7772400" cy="1008112"/>
          </a:xfrm>
        </p:spPr>
        <p:txBody>
          <a:bodyPr/>
          <a:lstStyle/>
          <a:p>
            <a:pPr algn="ctr"/>
            <a:r>
              <a:rPr lang="es-CR" dirty="0" smtClean="0"/>
              <a:t>Tipos de hipótesis</a:t>
            </a:r>
            <a:endParaRPr lang="es-CR" dirty="0"/>
          </a:p>
        </p:txBody>
      </p:sp>
      <p:pic>
        <p:nvPicPr>
          <p:cNvPr id="6146" name="Picture 2" descr="http://intranet.tdmu.edu.ua/data/kafedra/internal/socmedic/classes_stud/en/nurse/rn-bsn%20(2%20year%20program)/Nursing%20Research/2/03.%20Problem%20and%20purpose%20statements.%20research%20questions%20and%20hypotheses.files/image004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16" r="9279"/>
          <a:stretch/>
        </p:blipFill>
        <p:spPr bwMode="auto">
          <a:xfrm>
            <a:off x="6876256" y="1628800"/>
            <a:ext cx="1607584" cy="2006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https://lh3.googleusercontent.com/-JXinmjUM6rs/VR_42T3KyQI/AAAAAAAAAJs/2E4GgMCrQZs/w506-h750/River%2BDelta%2BIndia%2B-%2BSoftware%2BTesting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7323" y="4077072"/>
            <a:ext cx="1967624" cy="2247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8595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611560" y="116632"/>
            <a:ext cx="7772400" cy="953407"/>
          </a:xfrm>
        </p:spPr>
        <p:txBody>
          <a:bodyPr/>
          <a:lstStyle/>
          <a:p>
            <a:pPr algn="ctr"/>
            <a:r>
              <a:rPr lang="es-CR" dirty="0" smtClean="0"/>
              <a:t>Tipos de hipótesis</a:t>
            </a:r>
            <a:endParaRPr lang="es-CR" dirty="0"/>
          </a:p>
        </p:txBody>
      </p:sp>
      <p:sp>
        <p:nvSpPr>
          <p:cNvPr id="5" name="4 Marcador de contenido"/>
          <p:cNvSpPr>
            <a:spLocks noGrp="1"/>
          </p:cNvSpPr>
          <p:nvPr>
            <p:ph sz="quarter" idx="1"/>
          </p:nvPr>
        </p:nvSpPr>
        <p:spPr>
          <a:xfrm>
            <a:off x="251520" y="1556792"/>
            <a:ext cx="3749040" cy="4572000"/>
          </a:xfrm>
        </p:spPr>
        <p:txBody>
          <a:bodyPr/>
          <a:lstStyle/>
          <a:p>
            <a:pPr algn="ctr"/>
            <a:r>
              <a:rPr lang="es-CR" dirty="0" smtClean="0"/>
              <a:t>Ejemplos </a:t>
            </a:r>
            <a:r>
              <a:rPr lang="es-CR" dirty="0"/>
              <a:t>h</a:t>
            </a:r>
            <a:r>
              <a:rPr lang="es-CR" dirty="0" smtClean="0"/>
              <a:t>ipótesis </a:t>
            </a:r>
            <a:r>
              <a:rPr lang="es-CR" dirty="0"/>
              <a:t>de investigación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2"/>
          </p:nvPr>
        </p:nvSpPr>
        <p:spPr>
          <a:xfrm>
            <a:off x="4644008" y="1556792"/>
            <a:ext cx="3749040" cy="4968552"/>
          </a:xfrm>
        </p:spPr>
        <p:txBody>
          <a:bodyPr/>
          <a:lstStyle/>
          <a:p>
            <a:pPr algn="ctr"/>
            <a:r>
              <a:rPr lang="es-CR" dirty="0"/>
              <a:t>Ejemplos </a:t>
            </a:r>
            <a:r>
              <a:rPr lang="es-CR" dirty="0" smtClean="0"/>
              <a:t>hipótesis estadísticas.</a:t>
            </a:r>
            <a:endParaRPr lang="es-CR" dirty="0"/>
          </a:p>
        </p:txBody>
      </p:sp>
      <p:pic>
        <p:nvPicPr>
          <p:cNvPr id="2050" name="Picture 2" descr="http://www.moneyedup.com/wp-content/uploads/2011/01/think-rich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2636912"/>
            <a:ext cx="2857500" cy="3888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http://www.logthatrun.com/images/blog/thinking-about-when-running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2120" y="2924943"/>
            <a:ext cx="2381250" cy="2876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2123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616024" y="188640"/>
            <a:ext cx="7772400" cy="1008112"/>
          </a:xfrm>
        </p:spPr>
        <p:txBody>
          <a:bodyPr>
            <a:normAutofit/>
          </a:bodyPr>
          <a:lstStyle/>
          <a:p>
            <a:pPr algn="ctr"/>
            <a:r>
              <a:rPr lang="es-CR" dirty="0" smtClean="0"/>
              <a:t>Índice</a:t>
            </a:r>
            <a:endParaRPr lang="es-CR" dirty="0"/>
          </a:p>
        </p:txBody>
      </p:sp>
      <p:sp>
        <p:nvSpPr>
          <p:cNvPr id="2" name="1 Elipse"/>
          <p:cNvSpPr/>
          <p:nvPr/>
        </p:nvSpPr>
        <p:spPr>
          <a:xfrm>
            <a:off x="323528" y="1700808"/>
            <a:ext cx="864096" cy="86409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1</a:t>
            </a:r>
            <a:endParaRPr lang="es-CR" dirty="0"/>
          </a:p>
        </p:txBody>
      </p:sp>
      <p:sp>
        <p:nvSpPr>
          <p:cNvPr id="5" name="4 Elipse"/>
          <p:cNvSpPr/>
          <p:nvPr/>
        </p:nvSpPr>
        <p:spPr>
          <a:xfrm>
            <a:off x="323528" y="3501008"/>
            <a:ext cx="864096" cy="86409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2</a:t>
            </a:r>
            <a:endParaRPr lang="es-CR" dirty="0"/>
          </a:p>
        </p:txBody>
      </p:sp>
      <p:sp>
        <p:nvSpPr>
          <p:cNvPr id="6" name="5 Elipse"/>
          <p:cNvSpPr/>
          <p:nvPr/>
        </p:nvSpPr>
        <p:spPr>
          <a:xfrm>
            <a:off x="323528" y="5373216"/>
            <a:ext cx="864096" cy="86409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3</a:t>
            </a:r>
            <a:endParaRPr lang="es-CR" dirty="0"/>
          </a:p>
        </p:txBody>
      </p:sp>
      <p:sp>
        <p:nvSpPr>
          <p:cNvPr id="10" name="9 Rectángulo redondeado"/>
          <p:cNvSpPr/>
          <p:nvPr/>
        </p:nvSpPr>
        <p:spPr>
          <a:xfrm>
            <a:off x="1475656" y="1556792"/>
            <a:ext cx="2376264" cy="1224136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Definición de hipótesis</a:t>
            </a:r>
            <a:endParaRPr lang="es-CR" dirty="0"/>
          </a:p>
        </p:txBody>
      </p:sp>
      <p:sp>
        <p:nvSpPr>
          <p:cNvPr id="11" name="10 Rectángulo redondeado"/>
          <p:cNvSpPr/>
          <p:nvPr/>
        </p:nvSpPr>
        <p:spPr>
          <a:xfrm>
            <a:off x="1475656" y="3320988"/>
            <a:ext cx="2376264" cy="1224136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Tipos de hipótesis</a:t>
            </a:r>
            <a:endParaRPr lang="es-CR" dirty="0"/>
          </a:p>
        </p:txBody>
      </p:sp>
      <p:sp>
        <p:nvSpPr>
          <p:cNvPr id="12" name="11 Rectángulo redondeado"/>
          <p:cNvSpPr/>
          <p:nvPr/>
        </p:nvSpPr>
        <p:spPr>
          <a:xfrm>
            <a:off x="1475656" y="5193196"/>
            <a:ext cx="2376264" cy="1224136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Etapas para una prueba de hipótesis estadística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1019694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23528" y="197768"/>
            <a:ext cx="8424936" cy="782960"/>
          </a:xfrm>
        </p:spPr>
        <p:txBody>
          <a:bodyPr>
            <a:normAutofit/>
          </a:bodyPr>
          <a:lstStyle/>
          <a:p>
            <a:pPr algn="ctr"/>
            <a:r>
              <a:rPr lang="es-CR" dirty="0" smtClean="0"/>
              <a:t>Pasos de una prueba de hipótesis</a:t>
            </a:r>
            <a:endParaRPr lang="es-CR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323528" y="1124744"/>
            <a:ext cx="7772400" cy="5544616"/>
          </a:xfrm>
        </p:spPr>
        <p:txBody>
          <a:bodyPr>
            <a:noAutofit/>
          </a:bodyPr>
          <a:lstStyle/>
          <a:p>
            <a:r>
              <a:rPr lang="es-CR" sz="2400" dirty="0" smtClean="0"/>
              <a:t>Una prueba de hipótesis estadística se presente como un procedimiento de 9 pasos.  Esto hace que el proceso sea una secuencia lógica de acciones y decisiones. Las etapas son:</a:t>
            </a:r>
          </a:p>
          <a:p>
            <a:pPr marL="0" indent="0">
              <a:buNone/>
            </a:pPr>
            <a:r>
              <a:rPr lang="es-CR" sz="2400" dirty="0" smtClean="0"/>
              <a:t>1. Datos</a:t>
            </a:r>
          </a:p>
          <a:p>
            <a:pPr marL="0" indent="0">
              <a:buNone/>
            </a:pPr>
            <a:r>
              <a:rPr lang="es-CR" sz="2400" dirty="0" smtClean="0"/>
              <a:t>2. Supuestos  </a:t>
            </a:r>
          </a:p>
          <a:p>
            <a:pPr marL="0" indent="0">
              <a:buNone/>
            </a:pPr>
            <a:r>
              <a:rPr lang="es-CR" sz="2400" dirty="0" smtClean="0"/>
              <a:t>3. Hipótesis</a:t>
            </a:r>
          </a:p>
          <a:p>
            <a:pPr marL="0" indent="0">
              <a:buNone/>
            </a:pPr>
            <a:r>
              <a:rPr lang="es-CR" sz="2400" dirty="0" smtClean="0"/>
              <a:t>4. Estadística de prueba</a:t>
            </a:r>
          </a:p>
          <a:p>
            <a:pPr marL="0" indent="0">
              <a:buNone/>
            </a:pPr>
            <a:r>
              <a:rPr lang="es-CR" sz="2400" dirty="0" smtClean="0"/>
              <a:t>5. Distribución de la estadística de prueba</a:t>
            </a:r>
          </a:p>
          <a:p>
            <a:pPr marL="0" indent="0">
              <a:buNone/>
            </a:pPr>
            <a:r>
              <a:rPr lang="es-CR" sz="2400" dirty="0" smtClean="0"/>
              <a:t>6. Regla de decisión</a:t>
            </a:r>
          </a:p>
          <a:p>
            <a:pPr marL="0" indent="0">
              <a:buNone/>
            </a:pPr>
            <a:r>
              <a:rPr lang="es-CR" sz="2400" dirty="0" smtClean="0"/>
              <a:t>7. Cálculo de la estadística de prueba</a:t>
            </a:r>
          </a:p>
          <a:p>
            <a:pPr marL="0" indent="0">
              <a:buNone/>
            </a:pPr>
            <a:r>
              <a:rPr lang="es-CR" sz="2400" dirty="0" smtClean="0"/>
              <a:t>8. Valor de p (</a:t>
            </a:r>
            <a:r>
              <a:rPr lang="es-CR" sz="2400" i="1" dirty="0" smtClean="0"/>
              <a:t>p-</a:t>
            </a:r>
            <a:r>
              <a:rPr lang="es-CR" sz="2400" i="1" dirty="0" err="1" smtClean="0"/>
              <a:t>value</a:t>
            </a:r>
            <a:r>
              <a:rPr lang="es-CR" sz="2400" dirty="0" smtClean="0"/>
              <a:t>)</a:t>
            </a:r>
          </a:p>
          <a:p>
            <a:pPr marL="0" indent="0">
              <a:buNone/>
            </a:pPr>
            <a:r>
              <a:rPr lang="es-CR" sz="2400" dirty="0"/>
              <a:t>9</a:t>
            </a:r>
            <a:r>
              <a:rPr lang="es-CR" sz="2400" dirty="0" smtClean="0"/>
              <a:t>. Decisión estadística</a:t>
            </a:r>
          </a:p>
          <a:p>
            <a:pPr marL="0" indent="0">
              <a:buNone/>
            </a:pPr>
            <a:r>
              <a:rPr lang="es-CR" sz="2400" dirty="0" smtClean="0"/>
              <a:t>10. Conclusión</a:t>
            </a:r>
            <a:endParaRPr lang="es-CR" sz="2400" dirty="0"/>
          </a:p>
        </p:txBody>
      </p:sp>
      <p:pic>
        <p:nvPicPr>
          <p:cNvPr id="7170" name="Picture 2" descr="http://johnbarban.com/wp-content/uploads/2009/07/istock_000006172836xsmall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144" y="3356992"/>
            <a:ext cx="288032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5344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323528" y="1268760"/>
            <a:ext cx="5472608" cy="5328592"/>
          </a:xfrm>
        </p:spPr>
        <p:txBody>
          <a:bodyPr>
            <a:normAutofit/>
          </a:bodyPr>
          <a:lstStyle/>
          <a:p>
            <a:pPr algn="just"/>
            <a:r>
              <a:rPr lang="es-CR" sz="2400" dirty="0" smtClean="0"/>
              <a:t>Es </a:t>
            </a:r>
            <a:r>
              <a:rPr lang="es-CR" sz="2400" dirty="0"/>
              <a:t>necesario comprender la naturaleza de los </a:t>
            </a:r>
            <a:r>
              <a:rPr lang="es-CR" sz="2400" dirty="0" smtClean="0"/>
              <a:t>datos.</a:t>
            </a:r>
          </a:p>
          <a:p>
            <a:pPr marL="0" indent="0" algn="just">
              <a:buNone/>
            </a:pPr>
            <a:r>
              <a:rPr lang="es-CR" sz="2400" dirty="0" smtClean="0"/>
              <a:t> </a:t>
            </a:r>
          </a:p>
          <a:p>
            <a:pPr algn="just"/>
            <a:r>
              <a:rPr lang="es-CR" sz="2400" dirty="0" smtClean="0"/>
              <a:t>Los datos, además de ser la materia prima para llevar a cabo cualquier análisis, </a:t>
            </a:r>
            <a:r>
              <a:rPr lang="es-CR" sz="2400" dirty="0"/>
              <a:t>forman la base de los procedimientos de prueba, ya que esto </a:t>
            </a:r>
            <a:r>
              <a:rPr lang="es-CR" sz="2400" dirty="0" err="1" smtClean="0"/>
              <a:t>deteminan</a:t>
            </a:r>
            <a:r>
              <a:rPr lang="es-CR" sz="2400" dirty="0" smtClean="0"/>
              <a:t> </a:t>
            </a:r>
            <a:r>
              <a:rPr lang="es-CR" sz="2400" dirty="0"/>
              <a:t>la prueba particular que se ha de utilizar. </a:t>
            </a:r>
            <a:endParaRPr lang="es-CR" sz="2400" dirty="0" smtClean="0"/>
          </a:p>
          <a:p>
            <a:pPr algn="just"/>
            <a:endParaRPr lang="es-CR" sz="2400" dirty="0"/>
          </a:p>
          <a:p>
            <a:pPr algn="just"/>
            <a:r>
              <a:rPr lang="es-CR" sz="2400" dirty="0" smtClean="0"/>
              <a:t>Para lo anterior, si los datos provienen de conteos, proporciones, promedios, variaciones, etc., la prueba a realizarse debe contemplar ante todo el tipo de datos.</a:t>
            </a:r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251520" y="125760"/>
            <a:ext cx="8568952" cy="782960"/>
          </a:xfrm>
        </p:spPr>
        <p:txBody>
          <a:bodyPr>
            <a:normAutofit fontScale="90000"/>
          </a:bodyPr>
          <a:lstStyle/>
          <a:p>
            <a:pPr algn="ctr"/>
            <a:r>
              <a:rPr lang="es-CR" dirty="0" smtClean="0"/>
              <a:t>Pasos de una prueba de hipótesis: datos</a:t>
            </a:r>
            <a:endParaRPr lang="es-CR" dirty="0"/>
          </a:p>
        </p:txBody>
      </p:sp>
      <p:pic>
        <p:nvPicPr>
          <p:cNvPr id="8194" name="Picture 2" descr="http://blog.xebia.fr/wp-content/uploads/2015/05/data-illu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192" y="1484784"/>
            <a:ext cx="2448272" cy="2181226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0" name="Picture 8" descr="http://blogs.gartner.com/svetlana-sicular/files/2012/06/DataScientistJobDescriptions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9170" y="4270809"/>
            <a:ext cx="2430316" cy="1944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1381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107504" y="1340768"/>
            <a:ext cx="6264696" cy="5256584"/>
          </a:xfrm>
        </p:spPr>
        <p:txBody>
          <a:bodyPr>
            <a:normAutofit/>
          </a:bodyPr>
          <a:lstStyle/>
          <a:p>
            <a:pPr algn="just"/>
            <a:r>
              <a:rPr lang="es-CR" sz="2400" dirty="0" smtClean="0"/>
              <a:t>Diferentes </a:t>
            </a:r>
            <a:r>
              <a:rPr lang="es-CR" sz="2400" dirty="0"/>
              <a:t>suposiciones conducen a </a:t>
            </a:r>
            <a:r>
              <a:rPr lang="es-CR" sz="2400" dirty="0" smtClean="0"/>
              <a:t>modificar él </a:t>
            </a:r>
            <a:r>
              <a:rPr lang="es-CR" sz="2400" dirty="0"/>
              <a:t>análisis de la prueba de </a:t>
            </a:r>
            <a:r>
              <a:rPr lang="es-CR" sz="2400" dirty="0" smtClean="0"/>
              <a:t>hipótesis (lo mismo ocurre con el análisis de la estimación y los intervalos de confianza).</a:t>
            </a:r>
          </a:p>
          <a:p>
            <a:pPr algn="just"/>
            <a:endParaRPr lang="es-CR" sz="2400" dirty="0"/>
          </a:p>
          <a:p>
            <a:pPr algn="just"/>
            <a:r>
              <a:rPr lang="es-CR" sz="2400" dirty="0" smtClean="0"/>
              <a:t>En los análisis de datos, un </a:t>
            </a:r>
            <a:r>
              <a:rPr lang="es-CR" sz="2400" dirty="0"/>
              <a:t>procedimiento </a:t>
            </a:r>
            <a:r>
              <a:rPr lang="es-CR" sz="2400" dirty="0" smtClean="0"/>
              <a:t>general se </a:t>
            </a:r>
            <a:r>
              <a:rPr lang="es-CR" sz="2400" dirty="0"/>
              <a:t>modifica </a:t>
            </a:r>
            <a:r>
              <a:rPr lang="es-CR" sz="2400" dirty="0" smtClean="0"/>
              <a:t>de acuerdo a las </a:t>
            </a:r>
            <a:r>
              <a:rPr lang="es-CR" sz="2400" dirty="0"/>
              <a:t>suposiciones. </a:t>
            </a:r>
            <a:endParaRPr lang="es-CR" sz="2400" dirty="0" smtClean="0"/>
          </a:p>
          <a:p>
            <a:pPr algn="just"/>
            <a:endParaRPr lang="es-CR" sz="2400" dirty="0"/>
          </a:p>
          <a:p>
            <a:pPr algn="just"/>
            <a:r>
              <a:rPr lang="es-CR" sz="2400" dirty="0" smtClean="0"/>
              <a:t>Algunos ejemplos de suposiciones podrían se  </a:t>
            </a:r>
            <a:r>
              <a:rPr lang="es-CR" sz="2400" dirty="0"/>
              <a:t>l</a:t>
            </a:r>
            <a:r>
              <a:rPr lang="es-CR" sz="2400" dirty="0" smtClean="0"/>
              <a:t>a distribución de los datos respecto </a:t>
            </a:r>
            <a:r>
              <a:rPr lang="es-CR" sz="2400" dirty="0"/>
              <a:t>a la </a:t>
            </a:r>
            <a:r>
              <a:rPr lang="es-CR" sz="2400" dirty="0" smtClean="0"/>
              <a:t>normalidad, la igualdad de variancias, independencia de la muestra cuando son pruebas conjuntas, etc. (las últimas no son cubiertas en el presente curso). </a:t>
            </a:r>
            <a:endParaRPr lang="es-CR" sz="2400" dirty="0"/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251520" y="197768"/>
            <a:ext cx="8712968" cy="926976"/>
          </a:xfrm>
        </p:spPr>
        <p:txBody>
          <a:bodyPr>
            <a:normAutofit/>
          </a:bodyPr>
          <a:lstStyle/>
          <a:p>
            <a:pPr algn="ctr"/>
            <a:r>
              <a:rPr lang="es-CR" sz="3400" dirty="0" smtClean="0"/>
              <a:t>Pasos de una prueba de hipótesis: supuestos</a:t>
            </a:r>
            <a:endParaRPr lang="es-CR" sz="3400" dirty="0"/>
          </a:p>
        </p:txBody>
      </p:sp>
      <p:pic>
        <p:nvPicPr>
          <p:cNvPr id="9218" name="Picture 2" descr="http://www.juntadeandalucia.es/empleo/recursos/material_didactico/especialidades/materialdidactico_empleado_agencia_viajes/imagenes/supuesto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248" y="1484784"/>
            <a:ext cx="1905000" cy="1628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http://1.bp.blogspot.com/-wZFOPL7hDw4/VRr46vLctGI/AAAAAAAACao/oPGtj-UJL4c/s1600/Supuestos%2Bgenerales%2Bde%2Bla%2Bpersepctiva%2Bcognitivo-conductual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248" y="3933056"/>
            <a:ext cx="1905000" cy="2232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2098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2 Marcador de contenido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395536" y="1340768"/>
                <a:ext cx="5976664" cy="5328592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es-CR" sz="2400" dirty="0" smtClean="0"/>
                  <a:t>En </a:t>
                </a:r>
                <a:r>
                  <a:rPr lang="es-CR" sz="2400" dirty="0"/>
                  <a:t>la prueba de </a:t>
                </a:r>
                <a:r>
                  <a:rPr lang="es-CR" sz="2400" dirty="0" smtClean="0"/>
                  <a:t>hipótesis </a:t>
                </a:r>
                <a:r>
                  <a:rPr lang="es-CR" sz="2400" dirty="0"/>
                  <a:t>se trabaja con dos </a:t>
                </a:r>
                <a:r>
                  <a:rPr lang="es-CR" sz="2400" dirty="0" smtClean="0"/>
                  <a:t>hipótesis estadísticas </a:t>
                </a:r>
                <a:r>
                  <a:rPr lang="es-CR" sz="2400" dirty="0"/>
                  <a:t>que deben anunciarse </a:t>
                </a:r>
                <a:r>
                  <a:rPr lang="es-CR" sz="2400" dirty="0" smtClean="0"/>
                  <a:t>explícitamente : la hipótesis nula y la  hipótesis alternativa.</a:t>
                </a:r>
              </a:p>
              <a:p>
                <a:pPr marL="0" indent="0" algn="just">
                  <a:buNone/>
                </a:pPr>
                <a:endParaRPr lang="es-CR" sz="2400" dirty="0"/>
              </a:p>
              <a:p>
                <a:pPr marL="0" indent="0" algn="just">
                  <a:buNone/>
                </a:pPr>
                <a:r>
                  <a:rPr lang="es-CR" sz="2400" dirty="0" smtClean="0"/>
                  <a:t>La hipótesis </a:t>
                </a:r>
                <a:r>
                  <a:rPr lang="es-CR" sz="2400" dirty="0"/>
                  <a:t>nula </a:t>
                </a:r>
                <a:r>
                  <a:rPr lang="es-CR" sz="2400" dirty="0" smtClean="0"/>
                  <a:t> </a:t>
                </a:r>
                <a:r>
                  <a:rPr lang="es-CR" sz="2400" dirty="0"/>
                  <a:t>es la </a:t>
                </a:r>
                <a:r>
                  <a:rPr lang="es-CR" sz="2400" dirty="0" smtClean="0"/>
                  <a:t>hipótesis </a:t>
                </a:r>
                <a:r>
                  <a:rPr lang="es-CR" sz="2400" dirty="0"/>
                  <a:t>que debe </a:t>
                </a:r>
                <a:r>
                  <a:rPr lang="es-CR" sz="2400" dirty="0" smtClean="0"/>
                  <a:t>probarse.  Se designa con la escritura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R" sz="24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s-CR" sz="2400" b="0" i="1" smtClean="0">
                            <a:latin typeface="Cambria Math"/>
                          </a:rPr>
                          <m:t>𝐻</m:t>
                        </m:r>
                      </m:e>
                      <m:sub>
                        <m:r>
                          <a:rPr lang="es-CR" sz="2400" b="0" i="1" smtClean="0"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CR" sz="2400" dirty="0"/>
                  <a:t>. La </a:t>
                </a:r>
                <a:r>
                  <a:rPr lang="es-CR" sz="2400" dirty="0" smtClean="0"/>
                  <a:t>hipótesis </a:t>
                </a:r>
                <a:r>
                  <a:rPr lang="es-CR" sz="2400" dirty="0"/>
                  <a:t>nula a veces se conoce como hipotesis de no </a:t>
                </a:r>
                <a:r>
                  <a:rPr lang="es-CR" sz="2400" dirty="0" smtClean="0"/>
                  <a:t>diferencia.</a:t>
                </a:r>
                <a:endParaRPr lang="es-CR" sz="2400" dirty="0"/>
              </a:p>
              <a:p>
                <a:pPr marL="0" indent="0" algn="just">
                  <a:buNone/>
                </a:pPr>
                <a:endParaRPr lang="es-CR" sz="2400" dirty="0"/>
              </a:p>
              <a:p>
                <a:pPr marL="0" indent="0" algn="just">
                  <a:buNone/>
                </a:pPr>
                <a:r>
                  <a:rPr lang="es-CR" sz="2400" dirty="0" smtClean="0"/>
                  <a:t>La hipótesis </a:t>
                </a:r>
                <a:r>
                  <a:rPr lang="es-CR" sz="2400" dirty="0"/>
                  <a:t>alternativa, identificada mediante el </a:t>
                </a:r>
                <a:r>
                  <a:rPr lang="es-CR" sz="2400" dirty="0" smtClean="0"/>
                  <a:t>símbolo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R" sz="2400" i="1">
                            <a:latin typeface="Cambria Math"/>
                          </a:rPr>
                        </m:ctrlPr>
                      </m:sSubPr>
                      <m:e>
                        <m:r>
                          <a:rPr lang="es-CR" sz="2400" i="1">
                            <a:latin typeface="Cambria Math"/>
                          </a:rPr>
                          <m:t>𝐻</m:t>
                        </m:r>
                      </m:e>
                      <m:sub>
                        <m:r>
                          <a:rPr lang="es-CR" sz="2400" b="0" i="1" smtClean="0">
                            <a:latin typeface="Cambria Math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s-CR" sz="2400" dirty="0" smtClean="0"/>
                  <a:t>. Se le conoce como hipótesis de diferencia.</a:t>
                </a:r>
                <a:endParaRPr lang="es-CR" sz="2400" dirty="0"/>
              </a:p>
            </p:txBody>
          </p:sp>
        </mc:Choice>
        <mc:Fallback xmlns="">
          <p:sp>
            <p:nvSpPr>
              <p:cNvPr id="3" name="2 Marcador de contenido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395536" y="1340768"/>
                <a:ext cx="5976664" cy="5328592"/>
              </a:xfrm>
              <a:blipFill rotWithShape="1">
                <a:blip r:embed="rId2"/>
                <a:stretch>
                  <a:fillRect l="-1633" t="-915" r="-1531"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251520" y="197768"/>
            <a:ext cx="8712968" cy="926976"/>
          </a:xfrm>
        </p:spPr>
        <p:txBody>
          <a:bodyPr>
            <a:normAutofit/>
          </a:bodyPr>
          <a:lstStyle/>
          <a:p>
            <a:pPr algn="ctr"/>
            <a:r>
              <a:rPr lang="es-CR" sz="3400" dirty="0" smtClean="0"/>
              <a:t>Pasos de una prueba de hipótesis: hipótesis</a:t>
            </a:r>
            <a:endParaRPr lang="es-CR" sz="3400" dirty="0"/>
          </a:p>
        </p:txBody>
      </p:sp>
      <p:pic>
        <p:nvPicPr>
          <p:cNvPr id="10242" name="Picture 2" descr="http://usercontent1.hubimg.com/1246252_f248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256" y="1484784"/>
            <a:ext cx="1585522" cy="1368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 descr="https://onlinecourses.science.psu.edu/stat414/sites/onlinecourses.science.psu.edu.stat414/files/lesson54/Lesson54_Drawing14.gi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4208" y="3522595"/>
            <a:ext cx="2568005" cy="2924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5006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179512" y="1196752"/>
            <a:ext cx="6480720" cy="5544616"/>
          </a:xfrm>
        </p:spPr>
        <p:txBody>
          <a:bodyPr>
            <a:normAutofit fontScale="92500"/>
          </a:bodyPr>
          <a:lstStyle/>
          <a:p>
            <a:pPr algn="just"/>
            <a:r>
              <a:rPr lang="es-CR" sz="2200" dirty="0"/>
              <a:t>L</a:t>
            </a:r>
            <a:r>
              <a:rPr lang="es-CR" sz="2200" dirty="0" smtClean="0"/>
              <a:t>a hipótesis </a:t>
            </a:r>
            <a:r>
              <a:rPr lang="es-CR" sz="2200" dirty="0"/>
              <a:t>nula se establece con el </a:t>
            </a:r>
            <a:r>
              <a:rPr lang="es-CR" sz="2200" dirty="0" smtClean="0"/>
              <a:t>propósito </a:t>
            </a:r>
            <a:r>
              <a:rPr lang="es-CR" sz="2200" dirty="0"/>
              <a:t>expreso de ser rechazada. E</a:t>
            </a:r>
            <a:r>
              <a:rPr lang="es-CR" sz="2200" dirty="0" smtClean="0"/>
              <a:t>l </a:t>
            </a:r>
            <a:r>
              <a:rPr lang="es-CR" sz="2200" dirty="0"/>
              <a:t>complemento de la </a:t>
            </a:r>
            <a:r>
              <a:rPr lang="es-CR" sz="2200" dirty="0" smtClean="0"/>
              <a:t>conclusión </a:t>
            </a:r>
            <a:r>
              <a:rPr lang="es-CR" sz="2200" dirty="0"/>
              <a:t>que el investigador desea alcanzar se convierte en el enunciado de la </a:t>
            </a:r>
            <a:r>
              <a:rPr lang="es-CR" sz="2200" dirty="0" smtClean="0"/>
              <a:t>hipótesis </a:t>
            </a:r>
            <a:r>
              <a:rPr lang="es-CR" sz="2200" dirty="0"/>
              <a:t>nula. </a:t>
            </a:r>
            <a:endParaRPr lang="es-CR" sz="2200" dirty="0" smtClean="0"/>
          </a:p>
          <a:p>
            <a:pPr algn="just"/>
            <a:endParaRPr lang="es-CR" sz="2200" dirty="0" smtClean="0"/>
          </a:p>
          <a:p>
            <a:pPr algn="just"/>
            <a:r>
              <a:rPr lang="es-CR" sz="2200" dirty="0" smtClean="0"/>
              <a:t>En </a:t>
            </a:r>
            <a:r>
              <a:rPr lang="es-CR" sz="2200" dirty="0"/>
              <a:t>el proceso de prueba, la </a:t>
            </a:r>
            <a:r>
              <a:rPr lang="es-CR" sz="2200" dirty="0" smtClean="0"/>
              <a:t>hipótesis </a:t>
            </a:r>
            <a:r>
              <a:rPr lang="es-CR" sz="2200" dirty="0"/>
              <a:t>nula se rechaza </a:t>
            </a:r>
            <a:r>
              <a:rPr lang="es-CR" sz="2200" dirty="0" smtClean="0"/>
              <a:t>o </a:t>
            </a:r>
            <a:r>
              <a:rPr lang="es-CR" sz="2200" dirty="0"/>
              <a:t>no se </a:t>
            </a:r>
            <a:r>
              <a:rPr lang="es-CR" sz="2200" dirty="0" smtClean="0"/>
              <a:t>tiene suficiente información para ser rechazada. </a:t>
            </a:r>
            <a:r>
              <a:rPr lang="es-CR" sz="2200" dirty="0"/>
              <a:t>Si la </a:t>
            </a:r>
            <a:r>
              <a:rPr lang="es-CR" sz="2200" dirty="0" smtClean="0"/>
              <a:t>hipótesis </a:t>
            </a:r>
            <a:r>
              <a:rPr lang="es-CR" sz="2200" dirty="0"/>
              <a:t>nula no se rechaza, se </a:t>
            </a:r>
            <a:r>
              <a:rPr lang="es-CR" sz="2200" dirty="0" smtClean="0"/>
              <a:t>dice </a:t>
            </a:r>
            <a:r>
              <a:rPr lang="es-CR" sz="2200" dirty="0"/>
              <a:t>que los datos sobre los cuales se basa la prueba no proporcionan evidencia suficiente que cause el rechazo. </a:t>
            </a:r>
            <a:endParaRPr lang="es-CR" sz="2200" dirty="0" smtClean="0"/>
          </a:p>
          <a:p>
            <a:pPr marL="0" indent="0" algn="just">
              <a:buNone/>
            </a:pPr>
            <a:endParaRPr lang="es-CR" sz="2200" dirty="0" smtClean="0"/>
          </a:p>
          <a:p>
            <a:pPr algn="just"/>
            <a:r>
              <a:rPr lang="es-CR" sz="2200" dirty="0" smtClean="0"/>
              <a:t>Si </a:t>
            </a:r>
            <a:r>
              <a:rPr lang="es-CR" sz="2200" dirty="0"/>
              <a:t>el procedimiento de prueba conduce al rechazo, se concluye que los datos disponibles no son compatibles con la </a:t>
            </a:r>
            <a:r>
              <a:rPr lang="es-CR" sz="2200" dirty="0" smtClean="0"/>
              <a:t>hipótesis </a:t>
            </a:r>
            <a:r>
              <a:rPr lang="es-CR" sz="2200" dirty="0"/>
              <a:t>nula, pero sirven como apoyo a alguna otra </a:t>
            </a:r>
            <a:r>
              <a:rPr lang="es-CR" sz="2200" dirty="0" smtClean="0"/>
              <a:t>hipótesis</a:t>
            </a:r>
            <a:r>
              <a:rPr lang="es-CR" sz="2200" dirty="0"/>
              <a:t>. </a:t>
            </a:r>
            <a:endParaRPr lang="es-CR" sz="2200" dirty="0" smtClean="0"/>
          </a:p>
          <a:p>
            <a:pPr algn="just"/>
            <a:endParaRPr lang="es-CR" sz="2200" dirty="0" smtClean="0"/>
          </a:p>
          <a:p>
            <a:pPr algn="just"/>
            <a:r>
              <a:rPr lang="es-CR" sz="2200" dirty="0" smtClean="0"/>
              <a:t>Por lo </a:t>
            </a:r>
            <a:r>
              <a:rPr lang="es-CR" sz="2200" dirty="0"/>
              <a:t>general, la </a:t>
            </a:r>
            <a:r>
              <a:rPr lang="es-CR" sz="2200" dirty="0" smtClean="0"/>
              <a:t>hipótesis </a:t>
            </a:r>
            <a:r>
              <a:rPr lang="es-CR" sz="2200" dirty="0"/>
              <a:t>alternativa y la </a:t>
            </a:r>
            <a:r>
              <a:rPr lang="es-CR" sz="2200" dirty="0" smtClean="0"/>
              <a:t>hipótesis </a:t>
            </a:r>
            <a:r>
              <a:rPr lang="es-CR" sz="2200" dirty="0"/>
              <a:t>de </a:t>
            </a:r>
            <a:r>
              <a:rPr lang="es-CR" sz="2200" dirty="0" smtClean="0"/>
              <a:t>investigación </a:t>
            </a:r>
            <a:r>
              <a:rPr lang="es-CR" sz="2200" dirty="0"/>
              <a:t>son la misma, y de hecho, se utilizan los dos </a:t>
            </a:r>
            <a:r>
              <a:rPr lang="es-CR" sz="2200" dirty="0" smtClean="0"/>
              <a:t>términos </a:t>
            </a:r>
            <a:r>
              <a:rPr lang="es-CR" sz="2200" dirty="0"/>
              <a:t>indistintamente.</a:t>
            </a:r>
            <a:endParaRPr lang="es-CR" dirty="0"/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251520" y="-27384"/>
            <a:ext cx="8712968" cy="926976"/>
          </a:xfrm>
        </p:spPr>
        <p:txBody>
          <a:bodyPr>
            <a:normAutofit/>
          </a:bodyPr>
          <a:lstStyle/>
          <a:p>
            <a:pPr algn="ctr"/>
            <a:r>
              <a:rPr lang="es-CR" sz="3400" dirty="0" smtClean="0"/>
              <a:t>Pasos de una prueba de hipótesis: hipótesis</a:t>
            </a:r>
            <a:endParaRPr lang="es-CR" sz="3400" dirty="0"/>
          </a:p>
        </p:txBody>
      </p:sp>
      <p:pic>
        <p:nvPicPr>
          <p:cNvPr id="11266" name="Picture 2" descr="http://d22izw7byeupn1.cloudfront.net/journals/PHYSICS/synopses/images/10.1103/PhysRevLett.108.17050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55" r="41630"/>
          <a:stretch/>
        </p:blipFill>
        <p:spPr bwMode="auto">
          <a:xfrm>
            <a:off x="6804248" y="1484784"/>
            <a:ext cx="1878905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8" name="Picture 4" descr="https://educationalstandards.files.wordpress.com/2013/10/download.jpg?w=600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42" r="12330"/>
          <a:stretch/>
        </p:blipFill>
        <p:spPr bwMode="auto">
          <a:xfrm>
            <a:off x="6978303" y="4005063"/>
            <a:ext cx="1530791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706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323528" y="1412776"/>
            <a:ext cx="6264696" cy="4968552"/>
          </a:xfrm>
        </p:spPr>
        <p:txBody>
          <a:bodyPr>
            <a:normAutofit/>
          </a:bodyPr>
          <a:lstStyle/>
          <a:p>
            <a:r>
              <a:rPr lang="es-CR" sz="2400" dirty="0" smtClean="0"/>
              <a:t>Para plantear las hipótesis,  la hipótesis nula posee los siguientes signos : =, ≥ y ≤.</a:t>
            </a:r>
          </a:p>
          <a:p>
            <a:endParaRPr lang="es-CR" sz="2400" dirty="0"/>
          </a:p>
          <a:p>
            <a:r>
              <a:rPr lang="es-CR" sz="2400" dirty="0" smtClean="0"/>
              <a:t>De igual forma, toda prueba de hipótesis se plantea de acuerdo a un parámetro. </a:t>
            </a:r>
          </a:p>
          <a:p>
            <a:endParaRPr lang="es-CR" sz="2400" dirty="0"/>
          </a:p>
          <a:p>
            <a:r>
              <a:rPr lang="es-CR" sz="2400" dirty="0" smtClean="0"/>
              <a:t>Algunos ejemplos:</a:t>
            </a:r>
            <a:endParaRPr lang="es-CR" sz="2400" dirty="0"/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251520" y="197768"/>
            <a:ext cx="8712968" cy="926976"/>
          </a:xfrm>
        </p:spPr>
        <p:txBody>
          <a:bodyPr>
            <a:normAutofit/>
          </a:bodyPr>
          <a:lstStyle/>
          <a:p>
            <a:pPr algn="ctr"/>
            <a:r>
              <a:rPr lang="es-CR" sz="3400" dirty="0" smtClean="0"/>
              <a:t>Pasos de una prueba de hipótesis: hipótesis</a:t>
            </a:r>
            <a:endParaRPr lang="es-CR" sz="3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4897257"/>
            <a:ext cx="1571084" cy="11521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856" y="4897257"/>
            <a:ext cx="1656184" cy="11521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36" y="4897257"/>
            <a:ext cx="1229866" cy="11521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0" name="Picture 2" descr="http://room7ateps-2013.wikispaces.com/file/view/question%203.jpg/443612882/question%203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9123" y="1494312"/>
            <a:ext cx="2016224" cy="3024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7008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311421" y="1052736"/>
            <a:ext cx="8280920" cy="48965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R" sz="2400" dirty="0" smtClean="0"/>
              <a:t>Se </a:t>
            </a:r>
            <a:r>
              <a:rPr lang="es-CR" sz="2400" dirty="0"/>
              <a:t>puede concluir que la media de una </a:t>
            </a:r>
            <a:r>
              <a:rPr lang="es-CR" sz="2400" dirty="0" smtClean="0"/>
              <a:t>población </a:t>
            </a:r>
            <a:r>
              <a:rPr lang="es-CR" sz="2400" dirty="0"/>
              <a:t>es diferente de 50? </a:t>
            </a:r>
            <a:endParaRPr lang="es-CR" sz="2400" dirty="0" smtClean="0"/>
          </a:p>
          <a:p>
            <a:pPr marL="0" indent="0">
              <a:buNone/>
            </a:pPr>
            <a:endParaRPr lang="es-CR" sz="2400" dirty="0"/>
          </a:p>
          <a:p>
            <a:pPr marL="0" indent="0">
              <a:buNone/>
            </a:pPr>
            <a:endParaRPr lang="es-CR" sz="2400" dirty="0" smtClean="0"/>
          </a:p>
          <a:p>
            <a:pPr marL="0" indent="0">
              <a:buNone/>
            </a:pPr>
            <a:endParaRPr lang="es-CR" sz="2400" dirty="0"/>
          </a:p>
          <a:p>
            <a:pPr marL="0" indent="0">
              <a:buNone/>
            </a:pPr>
            <a:r>
              <a:rPr lang="es-CR" sz="2400" dirty="0"/>
              <a:t>Suponga que se desea saber si puede concluirse que la media de la </a:t>
            </a:r>
            <a:r>
              <a:rPr lang="es-CR" sz="2400" dirty="0" smtClean="0"/>
              <a:t>población </a:t>
            </a:r>
            <a:r>
              <a:rPr lang="es-CR" sz="2400" dirty="0"/>
              <a:t>es mayor que 50. Se tienen las </a:t>
            </a:r>
            <a:r>
              <a:rPr lang="es-CR" sz="2400" dirty="0" smtClean="0"/>
              <a:t>hipótesis: </a:t>
            </a:r>
          </a:p>
          <a:p>
            <a:pPr marL="0" indent="0">
              <a:buNone/>
            </a:pPr>
            <a:endParaRPr lang="es-CR" sz="2400" dirty="0"/>
          </a:p>
          <a:p>
            <a:pPr marL="0" indent="0">
              <a:buNone/>
            </a:pPr>
            <a:endParaRPr lang="es-CR" sz="2400" dirty="0" smtClean="0"/>
          </a:p>
          <a:p>
            <a:pPr marL="0" indent="0">
              <a:buNone/>
            </a:pPr>
            <a:endParaRPr lang="es-CR" sz="2400" dirty="0" smtClean="0"/>
          </a:p>
          <a:p>
            <a:pPr marL="0" indent="0">
              <a:buNone/>
            </a:pPr>
            <a:r>
              <a:rPr lang="es-CR" sz="2400" dirty="0" smtClean="0"/>
              <a:t>Si </a:t>
            </a:r>
            <a:r>
              <a:rPr lang="es-CR" sz="2400" dirty="0"/>
              <a:t>se quiere saber si es posible concluir que la media de la </a:t>
            </a:r>
            <a:r>
              <a:rPr lang="es-CR" sz="2400" dirty="0" err="1"/>
              <a:t>poblacion</a:t>
            </a:r>
            <a:r>
              <a:rPr lang="es-CR" sz="2400" dirty="0"/>
              <a:t> es menor que 50, las </a:t>
            </a:r>
            <a:r>
              <a:rPr lang="es-CR" sz="2400" dirty="0" err="1"/>
              <a:t>hipotesis</a:t>
            </a:r>
            <a:r>
              <a:rPr lang="es-CR" sz="2400" dirty="0"/>
              <a:t> son </a:t>
            </a:r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251520" y="116632"/>
            <a:ext cx="8712968" cy="710952"/>
          </a:xfrm>
        </p:spPr>
        <p:txBody>
          <a:bodyPr>
            <a:normAutofit/>
          </a:bodyPr>
          <a:lstStyle/>
          <a:p>
            <a:pPr algn="ctr"/>
            <a:r>
              <a:rPr lang="es-CR" sz="3400" dirty="0" smtClean="0"/>
              <a:t>Pasos de una prueba de hipótesis: hipótesis</a:t>
            </a:r>
            <a:endParaRPr lang="es-CR" sz="3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7847" y="1761381"/>
            <a:ext cx="1047750" cy="742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4984" y="3926382"/>
            <a:ext cx="1133475" cy="733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4983" y="5805264"/>
            <a:ext cx="1133475" cy="733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34030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107504" y="980728"/>
            <a:ext cx="6696744" cy="5877272"/>
          </a:xfrm>
        </p:spPr>
        <p:txBody>
          <a:bodyPr>
            <a:normAutofit/>
          </a:bodyPr>
          <a:lstStyle/>
          <a:p>
            <a:pPr algn="just"/>
            <a:r>
              <a:rPr lang="es-CR" sz="2400" dirty="0"/>
              <a:t>En resumen, es posible establecer las siguientes reglas </a:t>
            </a:r>
            <a:r>
              <a:rPr lang="es-CR" sz="2400" dirty="0" smtClean="0"/>
              <a:t>empíricas </a:t>
            </a:r>
            <a:r>
              <a:rPr lang="es-CR" sz="2400" dirty="0"/>
              <a:t>para decidir que </a:t>
            </a:r>
            <a:r>
              <a:rPr lang="es-CR" sz="2400" dirty="0" smtClean="0"/>
              <a:t>proposición </a:t>
            </a:r>
            <a:r>
              <a:rPr lang="es-CR" sz="2400" dirty="0"/>
              <a:t>se utiliza como </a:t>
            </a:r>
            <a:r>
              <a:rPr lang="es-CR" sz="2400" dirty="0" smtClean="0"/>
              <a:t>hipótesis </a:t>
            </a:r>
            <a:r>
              <a:rPr lang="es-CR" sz="2400" dirty="0"/>
              <a:t>nula y cual como </a:t>
            </a:r>
            <a:r>
              <a:rPr lang="es-CR" sz="2400" dirty="0" smtClean="0"/>
              <a:t>hipótesis </a:t>
            </a:r>
            <a:r>
              <a:rPr lang="es-CR" sz="2400" dirty="0"/>
              <a:t>alternativa</a:t>
            </a:r>
            <a:r>
              <a:rPr lang="es-CR" sz="2400" dirty="0" smtClean="0"/>
              <a:t>.:</a:t>
            </a:r>
          </a:p>
          <a:p>
            <a:pPr marL="0" indent="0" algn="just">
              <a:buNone/>
            </a:pPr>
            <a:endParaRPr lang="es-CR" sz="2400" dirty="0"/>
          </a:p>
          <a:p>
            <a:pPr marL="457200" indent="-457200" algn="just">
              <a:buAutoNum type="alphaLcParenR"/>
            </a:pPr>
            <a:r>
              <a:rPr lang="es-CR" sz="2400" dirty="0" smtClean="0"/>
              <a:t>La conclusión </a:t>
            </a:r>
            <a:r>
              <a:rPr lang="es-CR" sz="2400" dirty="0"/>
              <a:t>a la que se desea </a:t>
            </a:r>
            <a:r>
              <a:rPr lang="es-CR" sz="2400" dirty="0" smtClean="0"/>
              <a:t>o </a:t>
            </a:r>
            <a:r>
              <a:rPr lang="es-CR" sz="2400" dirty="0"/>
              <a:t>espera llegar como resultado de la prueba generalmente se usa como </a:t>
            </a:r>
            <a:r>
              <a:rPr lang="es-CR" sz="2400" dirty="0" smtClean="0"/>
              <a:t>hipótesis </a:t>
            </a:r>
            <a:r>
              <a:rPr lang="es-CR" sz="2400" dirty="0"/>
              <a:t>alternativa. </a:t>
            </a:r>
            <a:endParaRPr lang="es-CR" sz="2400" dirty="0" smtClean="0"/>
          </a:p>
          <a:p>
            <a:pPr marL="457200" indent="-457200" algn="just">
              <a:buAutoNum type="alphaLcParenR" startAt="2"/>
            </a:pPr>
            <a:r>
              <a:rPr lang="es-CR" sz="2400" dirty="0" smtClean="0"/>
              <a:t>La hipótesis </a:t>
            </a:r>
            <a:r>
              <a:rPr lang="es-CR" sz="2400" dirty="0"/>
              <a:t>nula debe contener una </a:t>
            </a:r>
            <a:r>
              <a:rPr lang="es-CR" sz="2400" dirty="0" smtClean="0"/>
              <a:t>proposición </a:t>
            </a:r>
            <a:r>
              <a:rPr lang="es-CR" sz="2400" dirty="0"/>
              <a:t>de igualdad, ya sea =, ≥ y ≤</a:t>
            </a:r>
            <a:r>
              <a:rPr lang="es-CR" sz="2400" dirty="0" smtClean="0"/>
              <a:t>. </a:t>
            </a:r>
            <a:endParaRPr lang="es-CR" sz="2400" dirty="0"/>
          </a:p>
          <a:p>
            <a:pPr marL="457200" indent="-457200" algn="just">
              <a:buAutoNum type="alphaLcParenR" startAt="3"/>
            </a:pPr>
            <a:r>
              <a:rPr lang="es-CR" sz="2400" dirty="0" smtClean="0"/>
              <a:t>La hipótesis </a:t>
            </a:r>
            <a:r>
              <a:rPr lang="es-CR" sz="2400" dirty="0"/>
              <a:t>nula es la que debe ser comprobada. </a:t>
            </a:r>
          </a:p>
          <a:p>
            <a:pPr marL="457200" indent="-457200" algn="just">
              <a:buAutoNum type="alphaLcParenR" startAt="4"/>
            </a:pPr>
            <a:r>
              <a:rPr lang="es-CR" sz="2400" dirty="0" smtClean="0"/>
              <a:t>Las hipótesis </a:t>
            </a:r>
            <a:r>
              <a:rPr lang="es-CR" sz="2400" dirty="0"/>
              <a:t>nula y alternativa son complementarias. </a:t>
            </a:r>
            <a:r>
              <a:rPr lang="es-CR" sz="2400" dirty="0" smtClean="0"/>
              <a:t>Las </a:t>
            </a:r>
            <a:r>
              <a:rPr lang="es-CR" sz="2400" dirty="0"/>
              <a:t>dos contemplan de manera exhaustiva todos los valores posibles que los </a:t>
            </a:r>
            <a:r>
              <a:rPr lang="es-CR" sz="2400" dirty="0" smtClean="0"/>
              <a:t>parámetros </a:t>
            </a:r>
            <a:r>
              <a:rPr lang="es-CR" sz="2400" dirty="0"/>
              <a:t>de </a:t>
            </a:r>
            <a:r>
              <a:rPr lang="es-CR" sz="2400" dirty="0" smtClean="0"/>
              <a:t>suposición </a:t>
            </a:r>
            <a:r>
              <a:rPr lang="es-CR" sz="2400" dirty="0"/>
              <a:t>pueden asumir</a:t>
            </a:r>
            <a:r>
              <a:rPr lang="es-CR" sz="2400" dirty="0" smtClean="0"/>
              <a:t>.</a:t>
            </a:r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251520" y="116632"/>
            <a:ext cx="8712968" cy="710952"/>
          </a:xfrm>
        </p:spPr>
        <p:txBody>
          <a:bodyPr>
            <a:normAutofit/>
          </a:bodyPr>
          <a:lstStyle/>
          <a:p>
            <a:pPr algn="ctr"/>
            <a:r>
              <a:rPr lang="es-CR" sz="3400" dirty="0" smtClean="0"/>
              <a:t>Pasos de una prueba de hipótesis: hipótesis</a:t>
            </a:r>
            <a:endParaRPr lang="es-CR" sz="3400" dirty="0"/>
          </a:p>
        </p:txBody>
      </p:sp>
      <p:pic>
        <p:nvPicPr>
          <p:cNvPr id="13314" name="Picture 2" descr="http://www.montereywealth.org/wp-content/uploads/2012/03/Summary-Plan-Description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2280" y="1139269"/>
            <a:ext cx="1716038" cy="2238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8" name="Picture 6" descr="http://thumb101.shutterstock.com/display_pic_with_logo/1072949/215126137/stock-vector-summary-word-written-by-d-man-over-white-215126137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135"/>
          <a:stretch/>
        </p:blipFill>
        <p:spPr bwMode="auto">
          <a:xfrm>
            <a:off x="7020272" y="3933056"/>
            <a:ext cx="1860054" cy="2429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04726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107504" y="1484784"/>
            <a:ext cx="6120680" cy="5184576"/>
          </a:xfrm>
        </p:spPr>
        <p:txBody>
          <a:bodyPr>
            <a:normAutofit/>
          </a:bodyPr>
          <a:lstStyle/>
          <a:p>
            <a:pPr algn="just"/>
            <a:r>
              <a:rPr lang="es-CR" sz="2400" dirty="0"/>
              <a:t>La </a:t>
            </a:r>
            <a:r>
              <a:rPr lang="es-CR" sz="2400" dirty="0" smtClean="0"/>
              <a:t>estadística </a:t>
            </a:r>
            <a:r>
              <a:rPr lang="es-CR" sz="2400" dirty="0"/>
              <a:t>de prueba es alguna </a:t>
            </a:r>
            <a:r>
              <a:rPr lang="es-CR" sz="2400" dirty="0" smtClean="0"/>
              <a:t>estadístico (expresión matemática) </a:t>
            </a:r>
            <a:r>
              <a:rPr lang="es-CR" sz="2400" dirty="0"/>
              <a:t>que se </a:t>
            </a:r>
            <a:r>
              <a:rPr lang="es-CR" sz="2400" dirty="0" smtClean="0"/>
              <a:t>calcula </a:t>
            </a:r>
            <a:r>
              <a:rPr lang="es-CR" sz="2400" dirty="0"/>
              <a:t>a partir de los datos de la muestra. </a:t>
            </a:r>
            <a:r>
              <a:rPr lang="es-CR" sz="2400" dirty="0" smtClean="0"/>
              <a:t>Esta es el núcleo para comprobar la hipótesis estadística.</a:t>
            </a:r>
          </a:p>
          <a:p>
            <a:pPr marL="0" indent="0" algn="just">
              <a:buNone/>
            </a:pPr>
            <a:endParaRPr lang="es-CR" sz="2400" dirty="0" smtClean="0"/>
          </a:p>
          <a:p>
            <a:pPr algn="just"/>
            <a:r>
              <a:rPr lang="es-CR" sz="2400" dirty="0" smtClean="0"/>
              <a:t>Como </a:t>
            </a:r>
            <a:r>
              <a:rPr lang="es-CR" sz="2400" dirty="0"/>
              <a:t>se vera mas adelante, la </a:t>
            </a:r>
            <a:r>
              <a:rPr lang="es-CR" sz="2400" dirty="0" smtClean="0"/>
              <a:t>estadística </a:t>
            </a:r>
            <a:r>
              <a:rPr lang="es-CR" sz="2400" dirty="0"/>
              <a:t>de prueba sirve como un productor de decisiones, ya que la </a:t>
            </a:r>
            <a:r>
              <a:rPr lang="es-CR" sz="2400" dirty="0" smtClean="0"/>
              <a:t>decisión </a:t>
            </a:r>
            <a:r>
              <a:rPr lang="es-CR" sz="2400" dirty="0"/>
              <a:t>de rechazar </a:t>
            </a:r>
            <a:r>
              <a:rPr lang="es-CR" sz="2400" dirty="0" smtClean="0"/>
              <a:t>o </a:t>
            </a:r>
            <a:r>
              <a:rPr lang="es-CR" sz="2400" dirty="0"/>
              <a:t>no la </a:t>
            </a:r>
            <a:r>
              <a:rPr lang="es-CR" sz="2400" dirty="0" smtClean="0"/>
              <a:t>hipótesis </a:t>
            </a:r>
            <a:r>
              <a:rPr lang="es-CR" sz="2400" dirty="0"/>
              <a:t>nula depende de la magnitud de la </a:t>
            </a:r>
            <a:r>
              <a:rPr lang="es-CR" sz="2400" dirty="0" smtClean="0"/>
              <a:t>estadística </a:t>
            </a:r>
            <a:r>
              <a:rPr lang="es-CR" sz="2400" dirty="0"/>
              <a:t>de prueba</a:t>
            </a:r>
            <a:r>
              <a:rPr lang="es-CR" sz="2400" dirty="0" smtClean="0"/>
              <a:t>.  </a:t>
            </a:r>
          </a:p>
          <a:p>
            <a:pPr marL="0" indent="0" algn="just">
              <a:buNone/>
            </a:pPr>
            <a:endParaRPr lang="es-CR" sz="2400" dirty="0" smtClean="0"/>
          </a:p>
          <a:p>
            <a:pPr algn="just"/>
            <a:r>
              <a:rPr lang="es-CR" sz="2400" dirty="0" smtClean="0"/>
              <a:t>Todo esto queda mejor explicado mediante la expresión matemática de la siguiente filmina.</a:t>
            </a:r>
            <a:endParaRPr lang="es-CR" sz="2400" dirty="0"/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251520" y="197768"/>
            <a:ext cx="8712968" cy="1215008"/>
          </a:xfrm>
        </p:spPr>
        <p:txBody>
          <a:bodyPr>
            <a:normAutofit/>
          </a:bodyPr>
          <a:lstStyle/>
          <a:p>
            <a:pPr algn="ctr"/>
            <a:r>
              <a:rPr lang="es-CR" sz="3400" dirty="0" smtClean="0"/>
              <a:t>Pasos de una prueba de hipótesis: estadística de prueba</a:t>
            </a:r>
            <a:endParaRPr lang="es-CR" sz="3400" dirty="0"/>
          </a:p>
        </p:txBody>
      </p:sp>
      <p:pic>
        <p:nvPicPr>
          <p:cNvPr id="14338" name="Picture 2" descr="https://encrypted-tbn1.gstatic.com/images?q=tbn:ANd9GcRtzFgucaOYUYWZwk9mpz1NmgQqQya4pTlvdaxZITuXE3WDGnq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240" y="1484784"/>
            <a:ext cx="2016224" cy="1743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0" name="Picture 4" descr="http://www.rationalsys.com/images/math_wrong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9366" y="4077071"/>
            <a:ext cx="2041971" cy="1728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7139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179512" y="1556792"/>
            <a:ext cx="7704856" cy="4824536"/>
          </a:xfrm>
        </p:spPr>
        <p:txBody>
          <a:bodyPr>
            <a:normAutofit/>
          </a:bodyPr>
          <a:lstStyle/>
          <a:p>
            <a:pPr algn="just"/>
            <a:r>
              <a:rPr lang="es-CR" sz="2400" dirty="0"/>
              <a:t>La siguiente es la formula general para una </a:t>
            </a:r>
            <a:r>
              <a:rPr lang="es-CR" sz="2400" dirty="0" smtClean="0"/>
              <a:t>estadística </a:t>
            </a:r>
            <a:r>
              <a:rPr lang="es-CR" sz="2400" dirty="0"/>
              <a:t>de prueba que se aplica en muchas de las pruebas de </a:t>
            </a:r>
            <a:r>
              <a:rPr lang="es-CR" sz="2400" dirty="0" smtClean="0"/>
              <a:t>hipótesis </a:t>
            </a:r>
            <a:r>
              <a:rPr lang="es-CR" sz="2400" dirty="0"/>
              <a:t>que se </a:t>
            </a:r>
            <a:r>
              <a:rPr lang="es-CR" sz="2400" dirty="0" smtClean="0"/>
              <a:t>estudian: </a:t>
            </a:r>
          </a:p>
          <a:p>
            <a:endParaRPr lang="es-CR" sz="2400" dirty="0"/>
          </a:p>
          <a:p>
            <a:endParaRPr lang="es-CR" sz="2400" dirty="0" smtClean="0"/>
          </a:p>
          <a:p>
            <a:endParaRPr lang="es-CR" sz="2400" dirty="0"/>
          </a:p>
          <a:p>
            <a:r>
              <a:rPr lang="es-CR" sz="2400" dirty="0" smtClean="0"/>
              <a:t>De lo anterior, un ejemplo de estadística de prueba para la media:</a:t>
            </a:r>
            <a:endParaRPr lang="es-CR" sz="2400" dirty="0"/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179512" y="116632"/>
            <a:ext cx="8568952" cy="1215008"/>
          </a:xfrm>
        </p:spPr>
        <p:txBody>
          <a:bodyPr>
            <a:normAutofit/>
          </a:bodyPr>
          <a:lstStyle/>
          <a:p>
            <a:pPr algn="ctr"/>
            <a:r>
              <a:rPr lang="es-CR" sz="3400" dirty="0" smtClean="0"/>
              <a:t>Pasos de una prueba de hipótesis: estadística de prueba</a:t>
            </a:r>
            <a:endParaRPr lang="es-CR" sz="3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4 Rectángulo"/>
              <p:cNvSpPr/>
              <p:nvPr/>
            </p:nvSpPr>
            <p:spPr>
              <a:xfrm>
                <a:off x="827584" y="2924944"/>
                <a:ext cx="6192688" cy="61965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R" i="1" smtClean="0">
                          <a:latin typeface="Cambria Math"/>
                        </a:rPr>
                        <m:t>𝑒𝑠𝑡𝑎𝑑</m:t>
                      </m:r>
                      <m:r>
                        <a:rPr lang="es-CR" i="1" smtClean="0">
                          <a:latin typeface="Cambria Math"/>
                        </a:rPr>
                        <m:t>í</m:t>
                      </m:r>
                      <m:r>
                        <a:rPr lang="es-CR" i="1" smtClean="0">
                          <a:latin typeface="Cambria Math"/>
                        </a:rPr>
                        <m:t>𝑠𝑡𝑖𝑐𝑎</m:t>
                      </m:r>
                      <m:r>
                        <a:rPr lang="es-CR" i="1" smtClean="0">
                          <a:latin typeface="Cambria Math"/>
                        </a:rPr>
                        <m:t> </m:t>
                      </m:r>
                      <m:r>
                        <a:rPr lang="es-CR" i="1" smtClean="0">
                          <a:latin typeface="Cambria Math"/>
                        </a:rPr>
                        <m:t>𝑑𝑒</m:t>
                      </m:r>
                      <m:r>
                        <a:rPr lang="es-CR" i="1" smtClean="0">
                          <a:latin typeface="Cambria Math"/>
                        </a:rPr>
                        <m:t> </m:t>
                      </m:r>
                      <m:r>
                        <a:rPr lang="es-CR" i="1" smtClean="0">
                          <a:latin typeface="Cambria Math"/>
                        </a:rPr>
                        <m:t>𝑝𝑟𝑢𝑒𝑏𝑎</m:t>
                      </m:r>
                      <m:r>
                        <a:rPr lang="es-CR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s-CR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s-CR" i="1">
                              <a:latin typeface="Cambria Math"/>
                            </a:rPr>
                            <m:t>𝑒𝑠𝑡𝑖𝑚𝑎𝑑𝑜𝑟</m:t>
                          </m:r>
                          <m:r>
                            <a:rPr lang="es-CR" b="0" i="1" smtClean="0">
                              <a:latin typeface="Cambria Math"/>
                            </a:rPr>
                            <m:t>(</m:t>
                          </m:r>
                          <m:r>
                            <a:rPr lang="es-CR" b="0" i="1" smtClean="0">
                              <a:latin typeface="Cambria Math"/>
                            </a:rPr>
                            <m:t>𝑒𝑠</m:t>
                          </m:r>
                          <m:r>
                            <a:rPr lang="es-CR" b="0" i="1" smtClean="0">
                              <a:latin typeface="Cambria Math"/>
                            </a:rPr>
                            <m:t>)−</m:t>
                          </m:r>
                          <m:r>
                            <a:rPr lang="es-CR" i="1">
                              <a:latin typeface="Cambria Math"/>
                            </a:rPr>
                            <m:t>𝑝𝑎𝑟</m:t>
                          </m:r>
                          <m:r>
                            <a:rPr lang="es-CR" i="1">
                              <a:latin typeface="Cambria Math"/>
                            </a:rPr>
                            <m:t>á</m:t>
                          </m:r>
                          <m:r>
                            <a:rPr lang="es-CR" i="1">
                              <a:latin typeface="Cambria Math"/>
                            </a:rPr>
                            <m:t>𝑚𝑒𝑡𝑟𝑜</m:t>
                          </m:r>
                          <m:r>
                            <a:rPr lang="es-CR" b="0" i="1" smtClean="0">
                              <a:latin typeface="Cambria Math"/>
                            </a:rPr>
                            <m:t>(</m:t>
                          </m:r>
                          <m:r>
                            <a:rPr lang="es-CR" b="0" i="1" smtClean="0">
                              <a:latin typeface="Cambria Math"/>
                            </a:rPr>
                            <m:t>𝑠</m:t>
                          </m:r>
                          <m:r>
                            <a:rPr lang="es-CR" b="0" i="1" smtClean="0">
                              <a:latin typeface="Cambria Math"/>
                            </a:rPr>
                            <m:t>)</m:t>
                          </m:r>
                        </m:num>
                        <m:den>
                          <m:r>
                            <a:rPr lang="es-CR" i="1">
                              <a:latin typeface="Cambria Math"/>
                            </a:rPr>
                            <m:t>𝑒𝑟𝑟𝑜𝑟</m:t>
                          </m:r>
                          <m:r>
                            <a:rPr lang="es-CR" i="1">
                              <a:latin typeface="Cambria Math"/>
                            </a:rPr>
                            <m:t> </m:t>
                          </m:r>
                          <m:r>
                            <a:rPr lang="es-CR" i="1">
                              <a:latin typeface="Cambria Math"/>
                            </a:rPr>
                            <m:t>𝑒𝑠𝑡</m:t>
                          </m:r>
                          <m:r>
                            <a:rPr lang="es-CR" i="1">
                              <a:latin typeface="Cambria Math"/>
                            </a:rPr>
                            <m:t>á</m:t>
                          </m:r>
                          <m:r>
                            <a:rPr lang="es-CR" i="1">
                              <a:latin typeface="Cambria Math"/>
                            </a:rPr>
                            <m:t>𝑛𝑑𝑎𝑟</m:t>
                          </m:r>
                          <m:r>
                            <a:rPr lang="es-CR" i="1">
                              <a:latin typeface="Cambria Math"/>
                            </a:rPr>
                            <m:t> </m:t>
                          </m:r>
                          <m:r>
                            <a:rPr lang="es-CR" i="1">
                              <a:latin typeface="Cambria Math"/>
                            </a:rPr>
                            <m:t>𝑚𝑢𝑒𝑠𝑡𝑟𝑎𝑙</m:t>
                          </m:r>
                        </m:den>
                      </m:f>
                    </m:oMath>
                  </m:oMathPara>
                </a14:m>
                <a:endParaRPr lang="es-CR" dirty="0"/>
              </a:p>
            </p:txBody>
          </p:sp>
        </mc:Choice>
        <mc:Fallback xmlns="">
          <p:sp>
            <p:nvSpPr>
              <p:cNvPr id="5" name="4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2924944"/>
                <a:ext cx="6192688" cy="619657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1880" y="4941168"/>
            <a:ext cx="1598578" cy="1008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362" name="Picture 2" descr="http://www.viperchill.com/images/stumbleupon-analysing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216" y="4730849"/>
            <a:ext cx="1428750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4" name="Picture 4" descr="http://www.better-writing-tips.com/wp-content/uploads/2014/02/Reader-icon.jpg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32" r="13271" b="756"/>
          <a:stretch/>
        </p:blipFill>
        <p:spPr bwMode="auto">
          <a:xfrm>
            <a:off x="859465" y="4730848"/>
            <a:ext cx="1407737" cy="1722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7967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179512" y="1637928"/>
            <a:ext cx="5976664" cy="5031432"/>
          </a:xfrm>
        </p:spPr>
        <p:txBody>
          <a:bodyPr>
            <a:normAutofit/>
          </a:bodyPr>
          <a:lstStyle/>
          <a:p>
            <a:pPr algn="just"/>
            <a:r>
              <a:rPr lang="es-CR" sz="2400" dirty="0" smtClean="0"/>
              <a:t>La </a:t>
            </a:r>
            <a:r>
              <a:rPr lang="es-CR" sz="2400" dirty="0"/>
              <a:t>clave para la inferencia </a:t>
            </a:r>
            <a:r>
              <a:rPr lang="es-CR" sz="2400" dirty="0" smtClean="0"/>
              <a:t>estadística </a:t>
            </a:r>
            <a:r>
              <a:rPr lang="es-CR" sz="2400" dirty="0"/>
              <a:t>es la </a:t>
            </a:r>
            <a:r>
              <a:rPr lang="es-CR" sz="2400" dirty="0" smtClean="0"/>
              <a:t>distribución de datos y las conjeturas relacionadas con la muestra. </a:t>
            </a:r>
            <a:r>
              <a:rPr lang="es-CR" sz="2400" dirty="0"/>
              <a:t>Es necesario recordar esto en los casos en que sea necesario especificar la </a:t>
            </a:r>
            <a:r>
              <a:rPr lang="es-CR" sz="2400" dirty="0" smtClean="0"/>
              <a:t>distribución </a:t>
            </a:r>
            <a:r>
              <a:rPr lang="es-CR" sz="2400" dirty="0"/>
              <a:t>de probabilidad de la </a:t>
            </a:r>
            <a:r>
              <a:rPr lang="es-CR" sz="2400" dirty="0" smtClean="0"/>
              <a:t>estadística </a:t>
            </a:r>
            <a:r>
              <a:rPr lang="es-CR" sz="2400" dirty="0"/>
              <a:t>de prueba. Por ejemplo, la </a:t>
            </a:r>
            <a:r>
              <a:rPr lang="es-CR" sz="2400" dirty="0" smtClean="0"/>
              <a:t>distribución </a:t>
            </a:r>
            <a:r>
              <a:rPr lang="es-CR" sz="2400" dirty="0"/>
              <a:t>de la </a:t>
            </a:r>
            <a:r>
              <a:rPr lang="es-CR" sz="2400" dirty="0" smtClean="0"/>
              <a:t>estadística </a:t>
            </a:r>
            <a:r>
              <a:rPr lang="es-CR" sz="2400" dirty="0"/>
              <a:t>de </a:t>
            </a:r>
            <a:r>
              <a:rPr lang="es-CR" sz="2400" dirty="0" smtClean="0"/>
              <a:t>prueba:</a:t>
            </a:r>
          </a:p>
          <a:p>
            <a:pPr algn="just"/>
            <a:endParaRPr lang="es-CR" sz="2400" dirty="0"/>
          </a:p>
          <a:p>
            <a:pPr marL="0" indent="0" algn="just">
              <a:buNone/>
            </a:pPr>
            <a:endParaRPr lang="es-CR" sz="2400" dirty="0" smtClean="0"/>
          </a:p>
          <a:p>
            <a:pPr marL="0" indent="0" algn="just">
              <a:buNone/>
            </a:pPr>
            <a:endParaRPr lang="es-CR" sz="2400" dirty="0"/>
          </a:p>
          <a:p>
            <a:pPr marL="0" indent="0" algn="just">
              <a:buNone/>
            </a:pPr>
            <a:r>
              <a:rPr lang="es-CR" sz="2400" dirty="0" smtClean="0"/>
              <a:t>sigue </a:t>
            </a:r>
            <a:r>
              <a:rPr lang="es-CR" sz="2400" dirty="0"/>
              <a:t>una </a:t>
            </a:r>
            <a:r>
              <a:rPr lang="es-CR" sz="2400" dirty="0" smtClean="0"/>
              <a:t>distribución </a:t>
            </a:r>
            <a:r>
              <a:rPr lang="es-CR" sz="2400" dirty="0"/>
              <a:t>normal </a:t>
            </a:r>
            <a:r>
              <a:rPr lang="es-CR" sz="2400" dirty="0" smtClean="0"/>
              <a:t>estándar </a:t>
            </a:r>
            <a:r>
              <a:rPr lang="es-CR" sz="2400" dirty="0"/>
              <a:t>si la </a:t>
            </a:r>
            <a:r>
              <a:rPr lang="es-CR" sz="2400" dirty="0" smtClean="0"/>
              <a:t>hipótesis </a:t>
            </a:r>
            <a:r>
              <a:rPr lang="es-CR" sz="2400" dirty="0"/>
              <a:t>nula es verdadera y si satisface las suposiciones. </a:t>
            </a:r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251520" y="197768"/>
            <a:ext cx="8712968" cy="1215008"/>
          </a:xfrm>
        </p:spPr>
        <p:txBody>
          <a:bodyPr>
            <a:normAutofit/>
          </a:bodyPr>
          <a:lstStyle/>
          <a:p>
            <a:pPr algn="ctr"/>
            <a:r>
              <a:rPr lang="es-CR" sz="3400" dirty="0" smtClean="0"/>
              <a:t>Pasos de una prueba de hipótesis: distribución de la estadística de prueba</a:t>
            </a:r>
            <a:endParaRPr lang="es-CR" sz="3400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784" y="4365104"/>
            <a:ext cx="1598578" cy="1008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386" name="Picture 2" descr="http://2.bp.blogspot.com/-nA7R0fAwKDw/U0hrtjL1u0I/AAAAAAAAAiw/NflCi8fa1Go/s1600/website-analys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0272" y="1916832"/>
            <a:ext cx="1656184" cy="2016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88" name="Picture 4" descr="http://www.periscopix.co.uk/images/uploads/blog/analyse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5111" y="4544319"/>
            <a:ext cx="1611262" cy="17131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1491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463017" y="1268760"/>
            <a:ext cx="8280920" cy="4933528"/>
          </a:xfrm>
        </p:spPr>
        <p:txBody>
          <a:bodyPr>
            <a:normAutofit/>
          </a:bodyPr>
          <a:lstStyle/>
          <a:p>
            <a:pPr algn="just"/>
            <a:r>
              <a:rPr lang="es-CR" sz="2400" dirty="0" smtClean="0"/>
              <a:t>Los valores </a:t>
            </a:r>
            <a:r>
              <a:rPr lang="es-CR" sz="2400" dirty="0"/>
              <a:t>posibles que la </a:t>
            </a:r>
            <a:r>
              <a:rPr lang="es-CR" sz="2400" dirty="0" smtClean="0"/>
              <a:t>estadística </a:t>
            </a:r>
            <a:r>
              <a:rPr lang="es-CR" sz="2400" dirty="0"/>
              <a:t>de prueba puede asumir son puntos sobre el eje horizontal de la grafica de la </a:t>
            </a:r>
            <a:r>
              <a:rPr lang="es-CR" sz="2400" dirty="0" smtClean="0"/>
              <a:t>distribución </a:t>
            </a:r>
            <a:r>
              <a:rPr lang="es-CR" sz="2400" dirty="0"/>
              <a:t>para esta </a:t>
            </a:r>
            <a:r>
              <a:rPr lang="es-CR" sz="2400" dirty="0" smtClean="0"/>
              <a:t>estadística </a:t>
            </a:r>
            <a:r>
              <a:rPr lang="es-CR" sz="2400" dirty="0"/>
              <a:t>y se dividen en dos grupos: </a:t>
            </a:r>
            <a:r>
              <a:rPr lang="es-CR" sz="2400" dirty="0" smtClean="0"/>
              <a:t> región de rechazo y región de no rechazo. </a:t>
            </a:r>
          </a:p>
          <a:p>
            <a:endParaRPr lang="es-CR" dirty="0"/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107504" y="53752"/>
            <a:ext cx="8856984" cy="1215008"/>
          </a:xfrm>
        </p:spPr>
        <p:txBody>
          <a:bodyPr>
            <a:normAutofit/>
          </a:bodyPr>
          <a:lstStyle/>
          <a:p>
            <a:pPr algn="ctr"/>
            <a:r>
              <a:rPr lang="es-CR" sz="3400" dirty="0" smtClean="0"/>
              <a:t>Pasos de una prueba de hipótesis: regla de decisión</a:t>
            </a:r>
            <a:endParaRPr lang="es-CR" sz="3400" dirty="0"/>
          </a:p>
        </p:txBody>
      </p:sp>
      <p:pic>
        <p:nvPicPr>
          <p:cNvPr id="6" name="Picture 2" descr="normal-bil-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183" y="2996952"/>
            <a:ext cx="7132637" cy="3327400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Line 7"/>
          <p:cNvSpPr>
            <a:spLocks noChangeShapeType="1"/>
          </p:cNvSpPr>
          <p:nvPr/>
        </p:nvSpPr>
        <p:spPr bwMode="auto">
          <a:xfrm flipH="1" flipV="1">
            <a:off x="1937270" y="4660652"/>
            <a:ext cx="0" cy="912813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s-CR"/>
          </a:p>
        </p:txBody>
      </p:sp>
      <p:sp>
        <p:nvSpPr>
          <p:cNvPr id="9" name="Line 8"/>
          <p:cNvSpPr>
            <a:spLocks noChangeShapeType="1"/>
          </p:cNvSpPr>
          <p:nvPr/>
        </p:nvSpPr>
        <p:spPr bwMode="auto">
          <a:xfrm flipV="1">
            <a:off x="7099821" y="4754315"/>
            <a:ext cx="30956" cy="830262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s-CR"/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6564833" y="4201865"/>
            <a:ext cx="113188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" dirty="0">
                <a:latin typeface="Tahoma" pitchFamily="34" charset="0"/>
              </a:rPr>
              <a:t>Reg. </a:t>
            </a:r>
            <a:r>
              <a:rPr lang="es-ES" dirty="0" err="1">
                <a:latin typeface="Tahoma" pitchFamily="34" charset="0"/>
              </a:rPr>
              <a:t>Crit</a:t>
            </a:r>
            <a:r>
              <a:rPr lang="es-ES" dirty="0">
                <a:latin typeface="Tahoma" pitchFamily="34" charset="0"/>
              </a:rPr>
              <a:t>.</a:t>
            </a:r>
          </a:p>
        </p:txBody>
      </p:sp>
      <p:sp>
        <p:nvSpPr>
          <p:cNvPr id="11" name="Text Box 10"/>
          <p:cNvSpPr txBox="1">
            <a:spLocks noChangeArrowheads="1"/>
          </p:cNvSpPr>
          <p:nvPr/>
        </p:nvSpPr>
        <p:spPr bwMode="auto">
          <a:xfrm>
            <a:off x="1330846" y="4198690"/>
            <a:ext cx="11318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" dirty="0">
                <a:latin typeface="Tahoma" pitchFamily="34" charset="0"/>
              </a:rPr>
              <a:t>Reg. </a:t>
            </a:r>
            <a:r>
              <a:rPr lang="es-ES" dirty="0" err="1">
                <a:latin typeface="Tahoma" pitchFamily="34" charset="0"/>
              </a:rPr>
              <a:t>Crit</a:t>
            </a:r>
            <a:r>
              <a:rPr lang="es-ES" dirty="0">
                <a:latin typeface="Tahoma" pitchFamily="34" charset="0"/>
              </a:rPr>
              <a:t>.</a:t>
            </a:r>
          </a:p>
        </p:txBody>
      </p:sp>
      <p:sp>
        <p:nvSpPr>
          <p:cNvPr id="13" name="Oval 12"/>
          <p:cNvSpPr>
            <a:spLocks noChangeArrowheads="1"/>
          </p:cNvSpPr>
          <p:nvPr/>
        </p:nvSpPr>
        <p:spPr bwMode="auto">
          <a:xfrm>
            <a:off x="918096" y="5352802"/>
            <a:ext cx="1400175" cy="441325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CR"/>
          </a:p>
        </p:txBody>
      </p:sp>
      <p:sp>
        <p:nvSpPr>
          <p:cNvPr id="14" name="Oval 13"/>
          <p:cNvSpPr>
            <a:spLocks noChangeArrowheads="1"/>
          </p:cNvSpPr>
          <p:nvPr/>
        </p:nvSpPr>
        <p:spPr bwMode="auto">
          <a:xfrm>
            <a:off x="6845821" y="5375027"/>
            <a:ext cx="1398587" cy="427038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CR"/>
          </a:p>
        </p:txBody>
      </p:sp>
      <p:sp>
        <p:nvSpPr>
          <p:cNvPr id="15" name="Oval 14"/>
          <p:cNvSpPr>
            <a:spLocks noChangeArrowheads="1"/>
          </p:cNvSpPr>
          <p:nvPr/>
        </p:nvSpPr>
        <p:spPr bwMode="auto">
          <a:xfrm>
            <a:off x="2384946" y="5170240"/>
            <a:ext cx="4437062" cy="75565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CR"/>
          </a:p>
        </p:txBody>
      </p:sp>
      <p:sp>
        <p:nvSpPr>
          <p:cNvPr id="2" name="1 Rectángulo redondeado"/>
          <p:cNvSpPr/>
          <p:nvPr/>
        </p:nvSpPr>
        <p:spPr>
          <a:xfrm>
            <a:off x="3219138" y="6068175"/>
            <a:ext cx="2622723" cy="64135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No rechazo: H0</a:t>
            </a:r>
            <a:endParaRPr lang="es-CR" dirty="0"/>
          </a:p>
        </p:txBody>
      </p:sp>
      <p:sp>
        <p:nvSpPr>
          <p:cNvPr id="18" name="17 Rectángulo redondeado"/>
          <p:cNvSpPr/>
          <p:nvPr/>
        </p:nvSpPr>
        <p:spPr>
          <a:xfrm>
            <a:off x="6732240" y="6068175"/>
            <a:ext cx="2124235" cy="641350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Rechazo: HA</a:t>
            </a:r>
            <a:endParaRPr lang="es-CR" dirty="0"/>
          </a:p>
        </p:txBody>
      </p:sp>
      <p:sp>
        <p:nvSpPr>
          <p:cNvPr id="19" name="18 Rectángulo redondeado"/>
          <p:cNvSpPr/>
          <p:nvPr/>
        </p:nvSpPr>
        <p:spPr>
          <a:xfrm>
            <a:off x="251520" y="6021288"/>
            <a:ext cx="2124235" cy="641350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Rechazo: HA</a:t>
            </a:r>
            <a:endParaRPr lang="es-CR" dirty="0"/>
          </a:p>
        </p:txBody>
      </p:sp>
      <p:cxnSp>
        <p:nvCxnSpPr>
          <p:cNvPr id="21" name="20 Conector recto de flecha"/>
          <p:cNvCxnSpPr>
            <a:stCxn id="19" idx="0"/>
          </p:cNvCxnSpPr>
          <p:nvPr/>
        </p:nvCxnSpPr>
        <p:spPr>
          <a:xfrm flipV="1">
            <a:off x="1313638" y="5794127"/>
            <a:ext cx="162018" cy="22716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24 Conector recto de flecha"/>
          <p:cNvCxnSpPr>
            <a:stCxn id="18" idx="0"/>
            <a:endCxn id="14" idx="4"/>
          </p:cNvCxnSpPr>
          <p:nvPr/>
        </p:nvCxnSpPr>
        <p:spPr>
          <a:xfrm flipH="1" flipV="1">
            <a:off x="7545115" y="5802065"/>
            <a:ext cx="249243" cy="26611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26 Conector recto de flecha"/>
          <p:cNvCxnSpPr/>
          <p:nvPr/>
        </p:nvCxnSpPr>
        <p:spPr>
          <a:xfrm flipV="1">
            <a:off x="4499992" y="5592480"/>
            <a:ext cx="0" cy="50081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4526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3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3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5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70" decel="100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" dur="770" decel="100000"/>
                                        <p:tgtEl>
                                          <p:spTgt spid="11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17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8" dur="77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20" dur="77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2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2" presetID="5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70" decel="100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5" dur="770" decel="100000"/>
                                        <p:tgtEl>
                                          <p:spTgt spid="8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26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27" dur="77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28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29" dur="77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30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31" presetID="5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70" decel="100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4" dur="770" decel="100000"/>
                                        <p:tgtEl>
                                          <p:spTgt spid="9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35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36" dur="77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37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38" dur="77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3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40" presetID="5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70" decel="100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3" dur="770" decel="100000"/>
                                        <p:tgtEl>
                                          <p:spTgt spid="10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44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45" dur="77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46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47" dur="77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48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49" presetID="1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/>
      <p:bldP spid="11" grpId="0"/>
      <p:bldP spid="13" grpId="0" animBg="1"/>
      <p:bldP spid="14" grpId="0" animBg="1"/>
      <p:bldP spid="1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179512" y="1340768"/>
            <a:ext cx="6624736" cy="5256584"/>
          </a:xfrm>
        </p:spPr>
        <p:txBody>
          <a:bodyPr>
            <a:normAutofit lnSpcReduction="10000"/>
          </a:bodyPr>
          <a:lstStyle/>
          <a:p>
            <a:pPr algn="just"/>
            <a:r>
              <a:rPr lang="es-CR" sz="2400" dirty="0"/>
              <a:t>Los valores de la </a:t>
            </a:r>
            <a:r>
              <a:rPr lang="es-CR" sz="2400" dirty="0" smtClean="0"/>
              <a:t>estadística </a:t>
            </a:r>
            <a:r>
              <a:rPr lang="es-CR" sz="2400" dirty="0"/>
              <a:t>de prueba que forman la </a:t>
            </a:r>
            <a:r>
              <a:rPr lang="es-CR" sz="2400" dirty="0" smtClean="0"/>
              <a:t>región </a:t>
            </a:r>
            <a:r>
              <a:rPr lang="es-CR" sz="2400" dirty="0"/>
              <a:t>de rechazo son </a:t>
            </a:r>
            <a:r>
              <a:rPr lang="es-CR" sz="2400" dirty="0" smtClean="0"/>
              <a:t>aquellos </a:t>
            </a:r>
            <a:r>
              <a:rPr lang="es-CR" sz="2400" dirty="0"/>
              <a:t>que tienen la menor probabilidad de </a:t>
            </a:r>
            <a:r>
              <a:rPr lang="es-CR" sz="2400" dirty="0" smtClean="0"/>
              <a:t>ocurrir.</a:t>
            </a:r>
          </a:p>
          <a:p>
            <a:pPr marL="0" indent="0" algn="just">
              <a:buNone/>
            </a:pPr>
            <a:endParaRPr lang="es-CR" sz="2400" dirty="0" smtClean="0"/>
          </a:p>
          <a:p>
            <a:pPr algn="just"/>
            <a:r>
              <a:rPr lang="es-CR" sz="2400" dirty="0" smtClean="0"/>
              <a:t>Los </a:t>
            </a:r>
            <a:r>
              <a:rPr lang="es-CR" sz="2400" dirty="0"/>
              <a:t>que forman la </a:t>
            </a:r>
            <a:r>
              <a:rPr lang="es-CR" sz="2400" dirty="0" smtClean="0"/>
              <a:t>región </a:t>
            </a:r>
            <a:r>
              <a:rPr lang="es-CR" sz="2400" dirty="0"/>
              <a:t>de no rechazo tienen la mayor probabilidad de ocurrir, si la </a:t>
            </a:r>
            <a:r>
              <a:rPr lang="es-CR" sz="2400" dirty="0" smtClean="0"/>
              <a:t>hipótesis </a:t>
            </a:r>
            <a:r>
              <a:rPr lang="es-CR" sz="2400" dirty="0"/>
              <a:t>nula es verdadera para ambas regiones. </a:t>
            </a:r>
            <a:endParaRPr lang="es-CR" sz="2400" dirty="0" smtClean="0"/>
          </a:p>
          <a:p>
            <a:pPr marL="0" indent="0" algn="just">
              <a:buNone/>
            </a:pPr>
            <a:endParaRPr lang="es-CR" sz="2400" dirty="0" smtClean="0"/>
          </a:p>
          <a:p>
            <a:pPr algn="just"/>
            <a:r>
              <a:rPr lang="es-CR" sz="2400" dirty="0" smtClean="0"/>
              <a:t>La región </a:t>
            </a:r>
            <a:r>
              <a:rPr lang="es-CR" sz="2400" dirty="0"/>
              <a:t>de </a:t>
            </a:r>
            <a:r>
              <a:rPr lang="es-CR" sz="2400" dirty="0" smtClean="0"/>
              <a:t>decisión señala </a:t>
            </a:r>
            <a:r>
              <a:rPr lang="es-CR" sz="2400" dirty="0"/>
              <a:t>que se debe rechazar </a:t>
            </a:r>
            <a:r>
              <a:rPr lang="es-CR" sz="2400" dirty="0" smtClean="0"/>
              <a:t>la hipótesis </a:t>
            </a:r>
            <a:r>
              <a:rPr lang="es-CR" sz="2400" dirty="0"/>
              <a:t>nula si el valor de la </a:t>
            </a:r>
            <a:r>
              <a:rPr lang="es-CR" sz="2400" dirty="0" smtClean="0"/>
              <a:t>estadística </a:t>
            </a:r>
            <a:r>
              <a:rPr lang="es-CR" sz="2400" dirty="0"/>
              <a:t>de prueba que se calcula a partir de </a:t>
            </a:r>
            <a:r>
              <a:rPr lang="es-CR" sz="2400" dirty="0" smtClean="0"/>
              <a:t>la </a:t>
            </a:r>
            <a:r>
              <a:rPr lang="es-CR" sz="2400" dirty="0"/>
              <a:t>muestra es uno de los valores de la </a:t>
            </a:r>
            <a:r>
              <a:rPr lang="es-CR" sz="2400" dirty="0" smtClean="0"/>
              <a:t>región </a:t>
            </a:r>
            <a:r>
              <a:rPr lang="es-CR" sz="2400" dirty="0"/>
              <a:t>de rechazo, y que no se debe rechazar la </a:t>
            </a:r>
            <a:r>
              <a:rPr lang="es-CR" sz="2400" dirty="0" smtClean="0"/>
              <a:t>hipótesis </a:t>
            </a:r>
            <a:r>
              <a:rPr lang="es-CR" sz="2400" dirty="0"/>
              <a:t>nula si el valor calculado de la </a:t>
            </a:r>
            <a:r>
              <a:rPr lang="es-CR" sz="2400" dirty="0" smtClean="0"/>
              <a:t>estadística </a:t>
            </a:r>
            <a:r>
              <a:rPr lang="es-CR" sz="2400" dirty="0"/>
              <a:t>de prueba es uno de los valores de la </a:t>
            </a:r>
            <a:r>
              <a:rPr lang="es-CR" sz="2400" dirty="0" smtClean="0"/>
              <a:t>región </a:t>
            </a:r>
            <a:r>
              <a:rPr lang="es-CR" sz="2400" dirty="0"/>
              <a:t>de no rechazo. </a:t>
            </a:r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107504" y="-27384"/>
            <a:ext cx="8856984" cy="1215008"/>
          </a:xfrm>
        </p:spPr>
        <p:txBody>
          <a:bodyPr>
            <a:normAutofit/>
          </a:bodyPr>
          <a:lstStyle/>
          <a:p>
            <a:pPr algn="ctr"/>
            <a:r>
              <a:rPr lang="es-CR" sz="3400" dirty="0" smtClean="0"/>
              <a:t>Pasos de una prueba de hipótesis: regla de decisión</a:t>
            </a:r>
            <a:endParaRPr lang="es-CR" sz="3400" dirty="0"/>
          </a:p>
        </p:txBody>
      </p:sp>
      <p:pic>
        <p:nvPicPr>
          <p:cNvPr id="17410" name="Picture 2" descr="https://www-304.ibm.com/connections/blogs/gooddecision/resource/BLOGS_UPLOADED_IMAGES/DataOrProcess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8538" y="1606913"/>
            <a:ext cx="1999817" cy="2177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12" name="Picture 4" descr="http://englishwithatwist.com/wp-content/uploads/2014/06/Blog_rules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695"/>
          <a:stretch/>
        </p:blipFill>
        <p:spPr bwMode="auto">
          <a:xfrm>
            <a:off x="6925946" y="4221088"/>
            <a:ext cx="1905000" cy="2211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2700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611560" y="1556792"/>
            <a:ext cx="7772400" cy="4572000"/>
          </a:xfrm>
        </p:spPr>
        <p:txBody>
          <a:bodyPr/>
          <a:lstStyle/>
          <a:p>
            <a:r>
              <a:rPr lang="es-CR" dirty="0" smtClean="0"/>
              <a:t>Zona de rechazo.</a:t>
            </a:r>
            <a:endParaRPr lang="es-CR" dirty="0"/>
          </a:p>
        </p:txBody>
      </p:sp>
      <p:sp>
        <p:nvSpPr>
          <p:cNvPr id="15" name="1 Título"/>
          <p:cNvSpPr>
            <a:spLocks noGrp="1"/>
          </p:cNvSpPr>
          <p:nvPr>
            <p:ph type="title"/>
          </p:nvPr>
        </p:nvSpPr>
        <p:spPr>
          <a:xfrm>
            <a:off x="107504" y="53752"/>
            <a:ext cx="8856984" cy="1215008"/>
          </a:xfrm>
        </p:spPr>
        <p:txBody>
          <a:bodyPr>
            <a:normAutofit/>
          </a:bodyPr>
          <a:lstStyle/>
          <a:p>
            <a:pPr algn="ctr"/>
            <a:r>
              <a:rPr lang="es-CR" sz="3400" dirty="0" smtClean="0"/>
              <a:t>Pasos de una prueba de hipótesis: regla de decisión</a:t>
            </a:r>
            <a:endParaRPr lang="es-CR" sz="3400" dirty="0"/>
          </a:p>
        </p:txBody>
      </p:sp>
      <p:pic>
        <p:nvPicPr>
          <p:cNvPr id="16" name="Picture 2" descr="normal-bil-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2064862"/>
            <a:ext cx="7132637" cy="4263504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8" name="17 Conector recto"/>
          <p:cNvCxnSpPr/>
          <p:nvPr/>
        </p:nvCxnSpPr>
        <p:spPr>
          <a:xfrm>
            <a:off x="1835696" y="5661248"/>
            <a:ext cx="4752528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18 Conector recto"/>
          <p:cNvCxnSpPr/>
          <p:nvPr/>
        </p:nvCxnSpPr>
        <p:spPr>
          <a:xfrm>
            <a:off x="6588224" y="5661248"/>
            <a:ext cx="1155973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20 Conector recto"/>
          <p:cNvCxnSpPr/>
          <p:nvPr/>
        </p:nvCxnSpPr>
        <p:spPr>
          <a:xfrm>
            <a:off x="679723" y="5661248"/>
            <a:ext cx="1155973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22 Conector recto de flecha"/>
          <p:cNvCxnSpPr/>
          <p:nvPr/>
        </p:nvCxnSpPr>
        <p:spPr>
          <a:xfrm>
            <a:off x="1403648" y="4365104"/>
            <a:ext cx="0" cy="64807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23 Elipse"/>
          <p:cNvSpPr/>
          <p:nvPr/>
        </p:nvSpPr>
        <p:spPr>
          <a:xfrm>
            <a:off x="1331640" y="5301208"/>
            <a:ext cx="144016" cy="21602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cxnSp>
        <p:nvCxnSpPr>
          <p:cNvPr id="25" name="24 Conector recto de flecha"/>
          <p:cNvCxnSpPr/>
          <p:nvPr/>
        </p:nvCxnSpPr>
        <p:spPr>
          <a:xfrm>
            <a:off x="7092280" y="4365104"/>
            <a:ext cx="0" cy="64807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25 Elipse"/>
          <p:cNvSpPr/>
          <p:nvPr/>
        </p:nvSpPr>
        <p:spPr>
          <a:xfrm>
            <a:off x="7020272" y="5301208"/>
            <a:ext cx="144016" cy="21602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27" name="26 Rectángulo redondeado"/>
          <p:cNvSpPr/>
          <p:nvPr/>
        </p:nvSpPr>
        <p:spPr>
          <a:xfrm>
            <a:off x="323528" y="5877272"/>
            <a:ext cx="1440160" cy="504056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Rechazo</a:t>
            </a:r>
          </a:p>
        </p:txBody>
      </p:sp>
      <p:sp>
        <p:nvSpPr>
          <p:cNvPr id="28" name="27 Rectángulo redondeado"/>
          <p:cNvSpPr/>
          <p:nvPr/>
        </p:nvSpPr>
        <p:spPr>
          <a:xfrm>
            <a:off x="6588224" y="5885509"/>
            <a:ext cx="1440160" cy="504056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Rechazo</a:t>
            </a:r>
          </a:p>
        </p:txBody>
      </p:sp>
      <p:sp>
        <p:nvSpPr>
          <p:cNvPr id="29" name="28 Rectángulo redondeado"/>
          <p:cNvSpPr/>
          <p:nvPr/>
        </p:nvSpPr>
        <p:spPr>
          <a:xfrm>
            <a:off x="2866516" y="5889434"/>
            <a:ext cx="2622723" cy="64135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No rechazo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1755931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611560" y="1377280"/>
            <a:ext cx="7772400" cy="4572000"/>
          </a:xfrm>
        </p:spPr>
        <p:txBody>
          <a:bodyPr/>
          <a:lstStyle/>
          <a:p>
            <a:r>
              <a:rPr lang="es-CR" dirty="0" smtClean="0"/>
              <a:t>Zona de no rechazo</a:t>
            </a:r>
            <a:endParaRPr lang="es-CR" dirty="0"/>
          </a:p>
        </p:txBody>
      </p:sp>
      <p:sp>
        <p:nvSpPr>
          <p:cNvPr id="5" name="1 Título"/>
          <p:cNvSpPr>
            <a:spLocks noGrp="1"/>
          </p:cNvSpPr>
          <p:nvPr>
            <p:ph type="title"/>
          </p:nvPr>
        </p:nvSpPr>
        <p:spPr>
          <a:xfrm>
            <a:off x="107504" y="53752"/>
            <a:ext cx="8856984" cy="1215008"/>
          </a:xfrm>
        </p:spPr>
        <p:txBody>
          <a:bodyPr>
            <a:normAutofit/>
          </a:bodyPr>
          <a:lstStyle/>
          <a:p>
            <a:pPr algn="ctr"/>
            <a:r>
              <a:rPr lang="es-CR" sz="3400" dirty="0" smtClean="0"/>
              <a:t>Pasos de una prueba de hipótesis: regla de decisión</a:t>
            </a:r>
            <a:endParaRPr lang="es-CR" sz="3400" dirty="0"/>
          </a:p>
        </p:txBody>
      </p:sp>
      <p:pic>
        <p:nvPicPr>
          <p:cNvPr id="6" name="Picture 2" descr="normal-bil-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2064862"/>
            <a:ext cx="7132637" cy="4263504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6 Conector recto"/>
          <p:cNvCxnSpPr/>
          <p:nvPr/>
        </p:nvCxnSpPr>
        <p:spPr>
          <a:xfrm>
            <a:off x="1835696" y="5661248"/>
            <a:ext cx="4752528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7 Conector recto"/>
          <p:cNvCxnSpPr/>
          <p:nvPr/>
        </p:nvCxnSpPr>
        <p:spPr>
          <a:xfrm>
            <a:off x="6588224" y="5661248"/>
            <a:ext cx="1155973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8 Conector recto"/>
          <p:cNvCxnSpPr/>
          <p:nvPr/>
        </p:nvCxnSpPr>
        <p:spPr>
          <a:xfrm>
            <a:off x="679723" y="5661248"/>
            <a:ext cx="1155973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9 Conector recto de flecha"/>
          <p:cNvCxnSpPr/>
          <p:nvPr/>
        </p:nvCxnSpPr>
        <p:spPr>
          <a:xfrm>
            <a:off x="3419872" y="4509120"/>
            <a:ext cx="0" cy="64807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10 Elipse"/>
          <p:cNvSpPr/>
          <p:nvPr/>
        </p:nvSpPr>
        <p:spPr>
          <a:xfrm>
            <a:off x="3347864" y="5301208"/>
            <a:ext cx="144016" cy="21602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14" name="13 Rectángulo redondeado"/>
          <p:cNvSpPr/>
          <p:nvPr/>
        </p:nvSpPr>
        <p:spPr>
          <a:xfrm>
            <a:off x="323528" y="5877272"/>
            <a:ext cx="1440160" cy="504056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Rechazo</a:t>
            </a:r>
          </a:p>
        </p:txBody>
      </p:sp>
      <p:sp>
        <p:nvSpPr>
          <p:cNvPr id="15" name="14 Rectángulo redondeado"/>
          <p:cNvSpPr/>
          <p:nvPr/>
        </p:nvSpPr>
        <p:spPr>
          <a:xfrm>
            <a:off x="6588224" y="5885509"/>
            <a:ext cx="1440160" cy="504056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Rechazo</a:t>
            </a:r>
          </a:p>
        </p:txBody>
      </p:sp>
      <p:sp>
        <p:nvSpPr>
          <p:cNvPr id="16" name="15 Rectángulo redondeado"/>
          <p:cNvSpPr/>
          <p:nvPr/>
        </p:nvSpPr>
        <p:spPr>
          <a:xfrm>
            <a:off x="2866516" y="5889434"/>
            <a:ext cx="2622723" cy="64135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No rechazo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3904795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35496" y="1340768"/>
            <a:ext cx="6624736" cy="5400600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s-CR" b="1" dirty="0"/>
              <a:t>Nivel de </a:t>
            </a:r>
            <a:r>
              <a:rPr lang="es-CR" b="1" dirty="0" smtClean="0"/>
              <a:t>significación: </a:t>
            </a:r>
            <a:r>
              <a:rPr lang="es-CR" dirty="0" smtClean="0"/>
              <a:t>la decisión </a:t>
            </a:r>
            <a:r>
              <a:rPr lang="es-CR" dirty="0"/>
              <a:t>en cuanto a que </a:t>
            </a:r>
            <a:r>
              <a:rPr lang="es-CR" dirty="0" smtClean="0"/>
              <a:t>valores </a:t>
            </a:r>
            <a:r>
              <a:rPr lang="es-CR" dirty="0"/>
              <a:t>van hacia la </a:t>
            </a:r>
            <a:r>
              <a:rPr lang="es-CR" dirty="0" smtClean="0"/>
              <a:t>región </a:t>
            </a:r>
            <a:r>
              <a:rPr lang="es-CR" dirty="0"/>
              <a:t>de rechazo y cuales van hacia la </a:t>
            </a:r>
            <a:r>
              <a:rPr lang="es-CR" dirty="0" smtClean="0"/>
              <a:t>región </a:t>
            </a:r>
            <a:r>
              <a:rPr lang="es-CR" dirty="0"/>
              <a:t>de no rechazo se toma con base en el nivel de </a:t>
            </a:r>
            <a:r>
              <a:rPr lang="es-CR" dirty="0" smtClean="0"/>
              <a:t>significación o significancia </a:t>
            </a:r>
            <a:r>
              <a:rPr lang="es-CR" dirty="0"/>
              <a:t>deseado, designado </a:t>
            </a:r>
            <a:r>
              <a:rPr lang="es-CR" dirty="0" smtClean="0"/>
              <a:t>por </a:t>
            </a:r>
            <a:r>
              <a:rPr lang="el-GR" b="1" dirty="0" smtClean="0">
                <a:latin typeface="Times New Roman"/>
                <a:cs typeface="Times New Roman"/>
              </a:rPr>
              <a:t>α</a:t>
            </a:r>
            <a:r>
              <a:rPr lang="es-CR" dirty="0" smtClean="0"/>
              <a:t>. </a:t>
            </a:r>
          </a:p>
          <a:p>
            <a:pPr algn="just"/>
            <a:endParaRPr lang="es-CR" dirty="0"/>
          </a:p>
          <a:p>
            <a:pPr algn="just"/>
            <a:r>
              <a:rPr lang="es-CR" dirty="0" smtClean="0"/>
              <a:t>El </a:t>
            </a:r>
            <a:r>
              <a:rPr lang="es-CR" dirty="0"/>
              <a:t>termino nivel de </a:t>
            </a:r>
            <a:r>
              <a:rPr lang="es-CR" dirty="0" smtClean="0"/>
              <a:t>significación </a:t>
            </a:r>
            <a:r>
              <a:rPr lang="es-CR" dirty="0"/>
              <a:t>refleja el  hecho de que algunas veces la prueba de </a:t>
            </a:r>
            <a:r>
              <a:rPr lang="es-CR" dirty="0" smtClean="0"/>
              <a:t>hipótesis </a:t>
            </a:r>
            <a:r>
              <a:rPr lang="es-CR" dirty="0"/>
              <a:t>recibe el nombre de "</a:t>
            </a:r>
            <a:r>
              <a:rPr lang="es-CR" i="1" dirty="0"/>
              <a:t>prueba de </a:t>
            </a:r>
            <a:r>
              <a:rPr lang="es-CR" i="1" dirty="0" smtClean="0"/>
              <a:t>significación</a:t>
            </a:r>
            <a:r>
              <a:rPr lang="es-CR" dirty="0" smtClean="0"/>
              <a:t>", </a:t>
            </a:r>
            <a:r>
              <a:rPr lang="es-CR" dirty="0"/>
              <a:t>y un valor calculado para la </a:t>
            </a:r>
            <a:r>
              <a:rPr lang="es-CR" dirty="0" smtClean="0"/>
              <a:t>estadística </a:t>
            </a:r>
            <a:r>
              <a:rPr lang="es-CR" dirty="0"/>
              <a:t>de prueba que cae en la </a:t>
            </a:r>
            <a:r>
              <a:rPr lang="es-CR" dirty="0" smtClean="0"/>
              <a:t>región </a:t>
            </a:r>
            <a:r>
              <a:rPr lang="es-CR" dirty="0"/>
              <a:t>de rechazo se dice que es </a:t>
            </a:r>
            <a:r>
              <a:rPr lang="es-CR" dirty="0" smtClean="0"/>
              <a:t>significativo.</a:t>
            </a:r>
          </a:p>
          <a:p>
            <a:pPr algn="just"/>
            <a:endParaRPr lang="es-CR" dirty="0"/>
          </a:p>
          <a:p>
            <a:pPr algn="just"/>
            <a:r>
              <a:rPr lang="es-CR" dirty="0"/>
              <a:t>El </a:t>
            </a:r>
            <a:r>
              <a:rPr lang="es-CR" b="1" i="1" dirty="0"/>
              <a:t>nivel de </a:t>
            </a:r>
            <a:r>
              <a:rPr lang="es-CR" b="1" i="1" dirty="0" smtClean="0"/>
              <a:t>significación </a:t>
            </a:r>
            <a:r>
              <a:rPr lang="es-CR" dirty="0" smtClean="0"/>
              <a:t>designa </a:t>
            </a:r>
            <a:r>
              <a:rPr lang="es-CR" dirty="0"/>
              <a:t>el </a:t>
            </a:r>
            <a:r>
              <a:rPr lang="es-CR" dirty="0" smtClean="0"/>
              <a:t>área </a:t>
            </a:r>
            <a:r>
              <a:rPr lang="es-CR" dirty="0"/>
              <a:t>bajo la curva de la </a:t>
            </a:r>
            <a:r>
              <a:rPr lang="es-CR" dirty="0" smtClean="0"/>
              <a:t>distribución </a:t>
            </a:r>
            <a:r>
              <a:rPr lang="es-CR" dirty="0"/>
              <a:t>de la </a:t>
            </a:r>
            <a:r>
              <a:rPr lang="es-CR" dirty="0" smtClean="0"/>
              <a:t>estadística </a:t>
            </a:r>
            <a:r>
              <a:rPr lang="es-CR" dirty="0"/>
              <a:t>de prueba que </a:t>
            </a:r>
            <a:r>
              <a:rPr lang="es-CR" dirty="0" smtClean="0"/>
              <a:t>está </a:t>
            </a:r>
            <a:r>
              <a:rPr lang="es-CR" dirty="0"/>
              <a:t>por encima de los valores, sobre el eje horizontal, </a:t>
            </a:r>
            <a:r>
              <a:rPr lang="es-CR" b="1" i="1" dirty="0"/>
              <a:t>que constituyen la </a:t>
            </a:r>
            <a:r>
              <a:rPr lang="es-CR" b="1" i="1" dirty="0" smtClean="0"/>
              <a:t>región </a:t>
            </a:r>
            <a:r>
              <a:rPr lang="es-CR" b="1" i="1" dirty="0"/>
              <a:t>de rechazo</a:t>
            </a:r>
            <a:r>
              <a:rPr lang="es-CR" dirty="0"/>
              <a:t>. </a:t>
            </a:r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107504" y="53752"/>
            <a:ext cx="8856984" cy="1215008"/>
          </a:xfrm>
        </p:spPr>
        <p:txBody>
          <a:bodyPr>
            <a:normAutofit/>
          </a:bodyPr>
          <a:lstStyle/>
          <a:p>
            <a:pPr algn="ctr"/>
            <a:r>
              <a:rPr lang="es-CR" sz="3400" dirty="0" smtClean="0"/>
              <a:t>Pasos de una prueba de hipótesis: regla de decisión</a:t>
            </a:r>
            <a:endParaRPr lang="es-CR" sz="3400" dirty="0"/>
          </a:p>
        </p:txBody>
      </p:sp>
      <p:pic>
        <p:nvPicPr>
          <p:cNvPr id="18436" name="Picture 4" descr="https://web.kenmoredesign.com/wp-content/uploads/2012/02/website-content-management-system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304" y="1484784"/>
            <a:ext cx="1219200" cy="1219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38" name="Picture 6" descr="http://www.forestedgepool.ca/images/rules-icon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3091" y="3573016"/>
            <a:ext cx="809625" cy="800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40" name="Picture 8" descr="http://t2.ftcdn.net/jpg/00/44/10/81/400_F_44108152_iMqZ1yMVKfukcmdjzMrhdzuPYdPoy9OW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0093" y="4906155"/>
            <a:ext cx="2035622" cy="1694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8753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51520" y="1268760"/>
            <a:ext cx="5616624" cy="5400600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s-CR" sz="2400" dirty="0" smtClean="0"/>
              <a:t>Recolectada y analizada la información de la muestra, se procede a calcular la estadística de prueba que determinara el resultado de la hipótesis estadística.</a:t>
            </a:r>
          </a:p>
          <a:p>
            <a:pPr algn="just"/>
            <a:endParaRPr lang="es-CR" sz="2400" dirty="0"/>
          </a:p>
          <a:p>
            <a:pPr algn="just"/>
            <a:r>
              <a:rPr lang="es-CR" sz="2400" dirty="0" smtClean="0"/>
              <a:t>Recordar que la estadística de prueba está en función de objeto de estudio, el tipo de prueba, y la información de la muestra.</a:t>
            </a:r>
          </a:p>
          <a:p>
            <a:pPr algn="just"/>
            <a:endParaRPr lang="es-CR" sz="2400" dirty="0"/>
          </a:p>
          <a:p>
            <a:pPr algn="just"/>
            <a:r>
              <a:rPr lang="es-CR" sz="2400" dirty="0" smtClean="0"/>
              <a:t>En nuestro caso, la estadística de prueba es el resultado de saber el tamaño de muestra, el estimador del promedio, el error de muestreo y la conjetura sobre la población.</a:t>
            </a:r>
          </a:p>
          <a:p>
            <a:pPr algn="just"/>
            <a:endParaRPr lang="es-CR" sz="2400" dirty="0"/>
          </a:p>
          <a:p>
            <a:pPr algn="just"/>
            <a:r>
              <a:rPr lang="es-CR" sz="2400" dirty="0" smtClean="0"/>
              <a:t> A partir del cálculo de la estadística de prueba, se procede a tomar una decisión.</a:t>
            </a:r>
            <a:endParaRPr lang="es-CR" sz="2400" dirty="0"/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107504" y="44624"/>
            <a:ext cx="8856984" cy="1215008"/>
          </a:xfrm>
        </p:spPr>
        <p:txBody>
          <a:bodyPr>
            <a:normAutofit/>
          </a:bodyPr>
          <a:lstStyle/>
          <a:p>
            <a:pPr algn="ctr"/>
            <a:r>
              <a:rPr lang="es-CR" sz="3400" dirty="0" smtClean="0"/>
              <a:t>Pasos de una prueba de hipótesis: cálculo de la estadística de prueba</a:t>
            </a:r>
            <a:endParaRPr lang="es-CR" sz="3400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248" y="5054949"/>
            <a:ext cx="1598578" cy="1008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458" name="Picture 2" descr="http://www.korpisworld.com/index%20HOME%20PAGE%20IMAGES/keep-calm-and-do-more-calculus-2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263"/>
          <a:stretch/>
        </p:blipFill>
        <p:spPr bwMode="auto">
          <a:xfrm>
            <a:off x="6451409" y="1394170"/>
            <a:ext cx="2304256" cy="2736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47735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354663" y="1484784"/>
            <a:ext cx="7772400" cy="4572000"/>
          </a:xfrm>
        </p:spPr>
        <p:txBody>
          <a:bodyPr/>
          <a:lstStyle/>
          <a:p>
            <a:r>
              <a:rPr lang="es-CR" dirty="0" smtClean="0"/>
              <a:t>Para un nivel de significancia de </a:t>
            </a:r>
            <a:r>
              <a:rPr lang="el-GR" dirty="0" smtClean="0">
                <a:latin typeface="Times New Roman"/>
                <a:cs typeface="Times New Roman"/>
              </a:rPr>
              <a:t>α</a:t>
            </a:r>
            <a:r>
              <a:rPr lang="es-CR" dirty="0" smtClean="0"/>
              <a:t>=0.05</a:t>
            </a:r>
            <a:endParaRPr lang="es-CR" dirty="0"/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107504" y="53752"/>
            <a:ext cx="8856984" cy="1215008"/>
          </a:xfrm>
        </p:spPr>
        <p:txBody>
          <a:bodyPr>
            <a:normAutofit/>
          </a:bodyPr>
          <a:lstStyle/>
          <a:p>
            <a:pPr algn="ctr"/>
            <a:r>
              <a:rPr lang="es-CR" sz="3400" dirty="0" smtClean="0"/>
              <a:t>Pasos de una prueba de hipótesis: cálculo de la estadística de prueba</a:t>
            </a:r>
            <a:endParaRPr lang="es-CR" sz="3400" dirty="0"/>
          </a:p>
        </p:txBody>
      </p:sp>
      <p:pic>
        <p:nvPicPr>
          <p:cNvPr id="5" name="Picture 2" descr="normal-bil-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2077260"/>
            <a:ext cx="7132637" cy="4263504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5 Conector recto"/>
          <p:cNvCxnSpPr/>
          <p:nvPr/>
        </p:nvCxnSpPr>
        <p:spPr>
          <a:xfrm>
            <a:off x="2339752" y="5871832"/>
            <a:ext cx="4752528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6 Conector recto"/>
          <p:cNvCxnSpPr/>
          <p:nvPr/>
        </p:nvCxnSpPr>
        <p:spPr>
          <a:xfrm>
            <a:off x="7092280" y="5871832"/>
            <a:ext cx="1155973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7 Conector recto"/>
          <p:cNvCxnSpPr/>
          <p:nvPr/>
        </p:nvCxnSpPr>
        <p:spPr>
          <a:xfrm>
            <a:off x="1183779" y="5871832"/>
            <a:ext cx="1155973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8 Rectángulo redondeado"/>
          <p:cNvSpPr/>
          <p:nvPr/>
        </p:nvSpPr>
        <p:spPr>
          <a:xfrm>
            <a:off x="827584" y="6087856"/>
            <a:ext cx="1440160" cy="504056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Rechazo</a:t>
            </a:r>
          </a:p>
        </p:txBody>
      </p:sp>
      <p:sp>
        <p:nvSpPr>
          <p:cNvPr id="10" name="9 Rectángulo redondeado"/>
          <p:cNvSpPr/>
          <p:nvPr/>
        </p:nvSpPr>
        <p:spPr>
          <a:xfrm>
            <a:off x="7092280" y="6096093"/>
            <a:ext cx="1440160" cy="504056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Rechazo</a:t>
            </a:r>
          </a:p>
        </p:txBody>
      </p:sp>
      <p:sp>
        <p:nvSpPr>
          <p:cNvPr id="11" name="10 Rectángulo redondeado"/>
          <p:cNvSpPr/>
          <p:nvPr/>
        </p:nvSpPr>
        <p:spPr>
          <a:xfrm>
            <a:off x="3370572" y="6100018"/>
            <a:ext cx="2622723" cy="64135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No rechazo</a:t>
            </a:r>
            <a:endParaRPr lang="es-CR" dirty="0"/>
          </a:p>
        </p:txBody>
      </p:sp>
      <p:sp>
        <p:nvSpPr>
          <p:cNvPr id="12" name="Text Box 11"/>
          <p:cNvSpPr txBox="1">
            <a:spLocks noChangeArrowheads="1"/>
          </p:cNvSpPr>
          <p:nvPr/>
        </p:nvSpPr>
        <p:spPr bwMode="auto">
          <a:xfrm>
            <a:off x="7185676" y="2221377"/>
            <a:ext cx="9413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" dirty="0">
                <a:solidFill>
                  <a:srgbClr val="607DB2"/>
                </a:solidFill>
                <a:latin typeface="Symbol" pitchFamily="18" charset="2"/>
              </a:rPr>
              <a:t>a</a:t>
            </a:r>
            <a:r>
              <a:rPr lang="es-ES" dirty="0">
                <a:solidFill>
                  <a:srgbClr val="607DB2"/>
                </a:solidFill>
                <a:latin typeface="Tahoma" pitchFamily="34" charset="0"/>
              </a:rPr>
              <a:t>=0.05</a:t>
            </a:r>
          </a:p>
        </p:txBody>
      </p:sp>
      <p:cxnSp>
        <p:nvCxnSpPr>
          <p:cNvPr id="13" name="12 Conector recto"/>
          <p:cNvCxnSpPr/>
          <p:nvPr/>
        </p:nvCxnSpPr>
        <p:spPr>
          <a:xfrm flipV="1">
            <a:off x="2411760" y="5229200"/>
            <a:ext cx="0" cy="216024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13 Conector recto"/>
          <p:cNvCxnSpPr/>
          <p:nvPr/>
        </p:nvCxnSpPr>
        <p:spPr>
          <a:xfrm flipV="1">
            <a:off x="7164288" y="5229200"/>
            <a:ext cx="0" cy="216024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Text Box 11"/>
          <p:cNvSpPr txBox="1">
            <a:spLocks noChangeArrowheads="1"/>
          </p:cNvSpPr>
          <p:nvPr/>
        </p:nvSpPr>
        <p:spPr bwMode="auto">
          <a:xfrm>
            <a:off x="1363079" y="4025656"/>
            <a:ext cx="125547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" dirty="0" smtClean="0">
                <a:solidFill>
                  <a:srgbClr val="607DB2"/>
                </a:solidFill>
                <a:latin typeface="Symbol" pitchFamily="18" charset="2"/>
              </a:rPr>
              <a:t>a/2</a:t>
            </a:r>
            <a:r>
              <a:rPr lang="es-ES" dirty="0" smtClean="0">
                <a:solidFill>
                  <a:srgbClr val="607DB2"/>
                </a:solidFill>
                <a:latin typeface="Tahoma" pitchFamily="34" charset="0"/>
              </a:rPr>
              <a:t>=0.025</a:t>
            </a:r>
            <a:endParaRPr lang="es-ES" dirty="0">
              <a:solidFill>
                <a:srgbClr val="607DB2"/>
              </a:solidFill>
              <a:latin typeface="Tahoma" pitchFamily="34" charset="0"/>
            </a:endParaRPr>
          </a:p>
        </p:txBody>
      </p:sp>
      <p:sp>
        <p:nvSpPr>
          <p:cNvPr id="16" name="Text Box 11"/>
          <p:cNvSpPr txBox="1">
            <a:spLocks noChangeArrowheads="1"/>
          </p:cNvSpPr>
          <p:nvPr/>
        </p:nvSpPr>
        <p:spPr bwMode="auto">
          <a:xfrm>
            <a:off x="7132952" y="4025656"/>
            <a:ext cx="125547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" dirty="0" smtClean="0">
                <a:solidFill>
                  <a:srgbClr val="607DB2"/>
                </a:solidFill>
                <a:latin typeface="Symbol" pitchFamily="18" charset="2"/>
              </a:rPr>
              <a:t>a/2</a:t>
            </a:r>
            <a:r>
              <a:rPr lang="es-ES" dirty="0" smtClean="0">
                <a:solidFill>
                  <a:srgbClr val="607DB2"/>
                </a:solidFill>
                <a:latin typeface="Tahoma" pitchFamily="34" charset="0"/>
              </a:rPr>
              <a:t>=0.025</a:t>
            </a:r>
            <a:endParaRPr lang="es-ES" dirty="0">
              <a:solidFill>
                <a:srgbClr val="607DB2"/>
              </a:solidFill>
              <a:latin typeface="Tahoma" pitchFamily="34" charset="0"/>
            </a:endParaRPr>
          </a:p>
        </p:txBody>
      </p:sp>
      <p:cxnSp>
        <p:nvCxnSpPr>
          <p:cNvPr id="17" name="16 Conector recto de flecha"/>
          <p:cNvCxnSpPr/>
          <p:nvPr/>
        </p:nvCxnSpPr>
        <p:spPr>
          <a:xfrm>
            <a:off x="1990815" y="4437112"/>
            <a:ext cx="0" cy="64807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17 Conector recto de flecha"/>
          <p:cNvCxnSpPr/>
          <p:nvPr/>
        </p:nvCxnSpPr>
        <p:spPr>
          <a:xfrm>
            <a:off x="7587472" y="4581128"/>
            <a:ext cx="0" cy="64807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Text Box 11"/>
          <p:cNvSpPr txBox="1">
            <a:spLocks noChangeArrowheads="1"/>
          </p:cNvSpPr>
          <p:nvPr/>
        </p:nvSpPr>
        <p:spPr bwMode="auto">
          <a:xfrm>
            <a:off x="2053334" y="5507940"/>
            <a:ext cx="71846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" dirty="0" smtClean="0">
                <a:solidFill>
                  <a:srgbClr val="607DB2"/>
                </a:solidFill>
                <a:latin typeface="Tahoma" pitchFamily="34" charset="0"/>
              </a:rPr>
              <a:t>-1.96</a:t>
            </a:r>
            <a:endParaRPr lang="es-ES" dirty="0">
              <a:solidFill>
                <a:srgbClr val="607DB2"/>
              </a:solidFill>
              <a:latin typeface="Tahoma" pitchFamily="34" charset="0"/>
            </a:endParaRPr>
          </a:p>
        </p:txBody>
      </p:sp>
      <p:sp>
        <p:nvSpPr>
          <p:cNvPr id="20" name="Text Box 11"/>
          <p:cNvSpPr txBox="1">
            <a:spLocks noChangeArrowheads="1"/>
          </p:cNvSpPr>
          <p:nvPr/>
        </p:nvSpPr>
        <p:spPr bwMode="auto">
          <a:xfrm>
            <a:off x="6804248" y="5507940"/>
            <a:ext cx="63511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" dirty="0" smtClean="0">
                <a:solidFill>
                  <a:srgbClr val="607DB2"/>
                </a:solidFill>
                <a:latin typeface="Tahoma" pitchFamily="34" charset="0"/>
              </a:rPr>
              <a:t>1.96</a:t>
            </a:r>
            <a:endParaRPr lang="es-ES" dirty="0">
              <a:solidFill>
                <a:srgbClr val="607DB2"/>
              </a:solidFill>
              <a:latin typeface="Tahoma" pitchFamily="34" charset="0"/>
            </a:endParaRPr>
          </a:p>
        </p:txBody>
      </p:sp>
      <p:sp>
        <p:nvSpPr>
          <p:cNvPr id="21" name="20 Rectángulo redondeado"/>
          <p:cNvSpPr/>
          <p:nvPr/>
        </p:nvSpPr>
        <p:spPr>
          <a:xfrm>
            <a:off x="251520" y="2332725"/>
            <a:ext cx="3191060" cy="1528323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s-CR" sz="2000" b="1" dirty="0" smtClean="0"/>
              <a:t>Nota</a:t>
            </a:r>
            <a:r>
              <a:rPr lang="es-CR" sz="2000" dirty="0" smtClean="0"/>
              <a:t>: el </a:t>
            </a:r>
            <a:r>
              <a:rPr lang="es-CR" sz="2000" dirty="0"/>
              <a:t>nivel de </a:t>
            </a:r>
            <a:r>
              <a:rPr lang="es-CR" sz="2000" dirty="0" smtClean="0"/>
              <a:t>significación </a:t>
            </a:r>
            <a:r>
              <a:rPr lang="el-GR" sz="2000" dirty="0">
                <a:latin typeface="Times New Roman"/>
                <a:cs typeface="Times New Roman"/>
              </a:rPr>
              <a:t>α</a:t>
            </a:r>
            <a:r>
              <a:rPr lang="es-CR" sz="2000" dirty="0" smtClean="0"/>
              <a:t> es </a:t>
            </a:r>
            <a:r>
              <a:rPr lang="es-CR" sz="2000" dirty="0"/>
              <a:t>una probabilidad y, de hecho, es la probabilidad de rechazar una </a:t>
            </a:r>
            <a:r>
              <a:rPr lang="es-CR" sz="2000" dirty="0" smtClean="0"/>
              <a:t>hipótesis </a:t>
            </a:r>
            <a:r>
              <a:rPr lang="es-CR" sz="2000" dirty="0"/>
              <a:t>nula verdadera.</a:t>
            </a:r>
          </a:p>
        </p:txBody>
      </p:sp>
    </p:spTree>
    <p:extLst>
      <p:ext uri="{BB962C8B-B14F-4D97-AF65-F5344CB8AC3E}">
        <p14:creationId xmlns:p14="http://schemas.microsoft.com/office/powerpoint/2010/main" val="2702765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52673 0.30422 C -0.51823 0.30561 -0.50972 0.307 -0.50937 0.3026 C -0.50903 0.29819 -0.51545 0.27966 -0.52413 0.27757 C -0.53281 0.27549 -0.55399 0.28174 -0.56146 0.29008 C -0.56892 0.29843 -0.57691 0.31742 -0.56944 0.32739 C -0.56198 0.33735 -0.53923 0.34291 -0.51614 0.35056 C -0.49305 0.3582 -0.47482 0.3677 -0.43073 0.37373 C -0.38663 0.37975 -0.321 0.38948 -0.25208 0.38624 C -0.18316 0.38299 -0.06528 0.36562 -0.01736 0.35403 C 0.03056 0.34245 0.03004 0.32716 0.03594 0.31673 C 0.04184 0.3063 0.02795 0.29588 0.01858 0.29194 C 0.0092 0.288 -0.01198 0.29032 -0.02014 0.29356 C -0.0283 0.2968 -0.03125 0.307 -0.03073 0.3114 C -0.03021 0.3158 -0.02691 0.31928 -0.01736 0.3202 C -0.00781 0.32113 0.01597 0.326 0.02657 0.31673 C 0.03716 0.30746 0.04479 0.29333 0.04653 0.26506 C 0.04827 0.23679 0.04514 0.19185 0.03733 0.14759 C 0.02952 0.10334 0.01476 0.05167 1.38889E-6 -3.98517E-6 " pathEditMode="relative" ptsTypes="aaaaaaaaaaaaaaaaaA">
                                      <p:cBhvr>
                                        <p:cTn id="11" dur="5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52673 0.30422 C -0.51823 0.30561 -0.50972 0.307 -0.50937 0.3026 C -0.50903 0.29819 -0.51545 0.27966 -0.52413 0.27757 C -0.53281 0.27549 -0.55399 0.28174 -0.56146 0.29008 C -0.56892 0.29843 -0.57691 0.31742 -0.56944 0.32739 C -0.56198 0.33735 -0.53923 0.34291 -0.51614 0.35056 C -0.49305 0.3582 -0.47482 0.3677 -0.43073 0.37373 C -0.38663 0.37975 -0.321 0.38948 -0.25208 0.38624 C -0.18316 0.38299 -0.06528 0.36562 -0.01736 0.35403 C 0.03056 0.34245 0.03004 0.32716 0.03594 0.31673 C 0.04184 0.3063 0.02795 0.29588 0.01858 0.29194 C 0.0092 0.288 -0.01198 0.29032 -0.02014 0.29356 C -0.0283 0.2968 -0.03125 0.307 -0.03073 0.3114 C -0.03021 0.3158 -0.02691 0.31928 -0.01736 0.3202 C -0.00781 0.32113 0.01597 0.326 0.02657 0.31673 C 0.03716 0.30746 0.04479 0.29333 0.04653 0.26506 C 0.04827 0.23679 0.04514 0.19185 0.03733 0.14759 C 0.02952 0.10334 0.01476 0.05167 1.38889E-6 -3.98517E-6 " pathEditMode="relative" ptsTypes="aaaaaaaaaaaaaaaaaA">
                                      <p:cBhvr>
                                        <p:cTn id="15" dur="5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52673 0.30422 C -0.51823 0.30561 -0.50972 0.307 -0.50937 0.3026 C -0.50903 0.29819 -0.51545 0.27966 -0.52413 0.27757 C -0.53281 0.27549 -0.55399 0.28174 -0.56146 0.29008 C -0.56892 0.29843 -0.57691 0.31742 -0.56944 0.32739 C -0.56198 0.33735 -0.53923 0.34291 -0.51614 0.35056 C -0.49305 0.3582 -0.47482 0.3677 -0.43073 0.37373 C -0.38663 0.37975 -0.321 0.38948 -0.25208 0.38624 C -0.18316 0.38299 -0.06528 0.36562 -0.01736 0.35403 C 0.03056 0.34245 0.03004 0.32716 0.03594 0.31673 C 0.04184 0.3063 0.02795 0.29588 0.01858 0.29194 C 0.0092 0.288 -0.01198 0.29032 -0.02014 0.29356 C -0.0283 0.2968 -0.03125 0.307 -0.03073 0.3114 C -0.03021 0.3158 -0.02691 0.31928 -0.01736 0.3202 C -0.00781 0.32113 0.01597 0.326 0.02657 0.31673 C 0.03716 0.30746 0.04479 0.29333 0.04653 0.26506 C 0.04827 0.23679 0.04514 0.19185 0.03733 0.14759 C 0.02952 0.10334 0.01476 0.05167 1.38889E-6 -3.98517E-6 " pathEditMode="relative" ptsTypes="aaaaaaaaaaaaaaaaaA">
                                      <p:cBhvr>
                                        <p:cTn id="19" dur="5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52673 0.30422 C -0.51823 0.30561 -0.50972 0.307 -0.50937 0.3026 C -0.50903 0.29819 -0.51545 0.27966 -0.52413 0.27757 C -0.53281 0.27549 -0.55399 0.28174 -0.56146 0.29008 C -0.56892 0.29843 -0.57691 0.31742 -0.56944 0.32739 C -0.56198 0.33735 -0.53923 0.34291 -0.51614 0.35056 C -0.49305 0.3582 -0.47482 0.3677 -0.43073 0.37373 C -0.38663 0.37975 -0.321 0.38948 -0.25208 0.38624 C -0.18316 0.38299 -0.06528 0.36562 -0.01736 0.35403 C 0.03056 0.34245 0.03004 0.32716 0.03594 0.31673 C 0.04184 0.3063 0.02795 0.29588 0.01858 0.29194 C 0.0092 0.288 -0.01198 0.29032 -0.02014 0.29356 C -0.0283 0.2968 -0.03125 0.307 -0.03073 0.3114 C -0.03021 0.3158 -0.02691 0.31928 -0.01736 0.3202 C -0.00781 0.32113 0.01597 0.326 0.02657 0.31673 C 0.03716 0.30746 0.04479 0.29333 0.04653 0.26506 C 0.04827 0.23679 0.04514 0.19185 0.03733 0.14759 C 0.02952 0.10334 0.01476 0.05167 1.38889E-6 -3.98517E-6 " pathEditMode="relative" ptsTypes="aaaaaaaaaaaaaaaaaA">
                                      <p:cBhvr>
                                        <p:cTn id="23" dur="5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52673 0.30422 C -0.51823 0.30561 -0.50972 0.307 -0.50937 0.3026 C -0.50903 0.29819 -0.51545 0.27966 -0.52413 0.27757 C -0.53281 0.27549 -0.55399 0.28174 -0.56146 0.29008 C -0.56892 0.29843 -0.57691 0.31742 -0.56944 0.32739 C -0.56198 0.33735 -0.53923 0.34291 -0.51614 0.35056 C -0.49305 0.3582 -0.47482 0.3677 -0.43073 0.37373 C -0.38663 0.37975 -0.321 0.38948 -0.25208 0.38624 C -0.18316 0.38299 -0.06528 0.36562 -0.01736 0.35403 C 0.03056 0.34245 0.03004 0.32716 0.03594 0.31673 C 0.04184 0.3063 0.02795 0.29588 0.01858 0.29194 C 0.0092 0.288 -0.01198 0.29032 -0.02014 0.29356 C -0.0283 0.2968 -0.03125 0.307 -0.03073 0.3114 C -0.03021 0.3158 -0.02691 0.31928 -0.01736 0.3202 C -0.00781 0.32113 0.01597 0.326 0.02657 0.31673 C 0.03716 0.30746 0.04479 0.29333 0.04653 0.26506 C 0.04827 0.23679 0.04514 0.19185 0.03733 0.14759 C 0.02952 0.10334 0.01476 0.05167 1.38889E-6 -3.98517E-6 " pathEditMode="relative" ptsTypes="aaaaaaaaaaaaaaaaaA">
                                      <p:cBhvr>
                                        <p:cTn id="27" dur="5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  <p:bldP spid="16" grpId="0"/>
      <p:bldP spid="19" grpId="0"/>
      <p:bldP spid="20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2 Marcador de contenido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327992" y="1305272"/>
                <a:ext cx="7772400" cy="5552728"/>
              </a:xfrm>
            </p:spPr>
            <p:txBody>
              <a:bodyPr>
                <a:normAutofit/>
              </a:bodyPr>
              <a:lstStyle/>
              <a:p>
                <a:r>
                  <a:rPr lang="es-CR" sz="2000" dirty="0" smtClean="0"/>
                  <a:t>En la decisión estadística, puede ocurrir 4 cosas:</a:t>
                </a:r>
              </a:p>
              <a:p>
                <a:pPr marL="0" indent="0">
                  <a:buNone/>
                </a:pPr>
                <a:endParaRPr lang="es-CR" sz="2000" dirty="0" smtClean="0"/>
              </a:p>
              <a:p>
                <a:pPr marL="0" indent="0">
                  <a:buNone/>
                </a:pPr>
                <a:endParaRPr lang="es-CR" sz="2000" dirty="0" smtClean="0"/>
              </a:p>
              <a:p>
                <a:endParaRPr lang="es-CR" sz="2000" dirty="0"/>
              </a:p>
              <a:p>
                <a:endParaRPr lang="es-CR" sz="2000" dirty="0" smtClean="0"/>
              </a:p>
              <a:p>
                <a:endParaRPr lang="es-CR" sz="2000" dirty="0" smtClean="0"/>
              </a:p>
              <a:p>
                <a:endParaRPr lang="es-CR" sz="2000" dirty="0" smtClean="0"/>
              </a:p>
              <a:p>
                <a:endParaRPr lang="es-CR" sz="2000" dirty="0"/>
              </a:p>
              <a:p>
                <a:r>
                  <a:rPr lang="es-CR" sz="2000" dirty="0" smtClean="0"/>
                  <a:t>No rechazar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R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s-CR" sz="2000" i="1">
                            <a:latin typeface="Cambria Math"/>
                          </a:rPr>
                          <m:t>𝐻</m:t>
                        </m:r>
                      </m:e>
                      <m:sub>
                        <m:r>
                          <a:rPr lang="es-CR" sz="2000" i="1"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CR" sz="2000" dirty="0" smtClean="0"/>
                  <a:t> sabiendo que era cierto, y rechazar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R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s-CR" sz="2000" i="1">
                            <a:latin typeface="Cambria Math"/>
                          </a:rPr>
                          <m:t>𝐻</m:t>
                        </m:r>
                      </m:e>
                      <m:sub>
                        <m:r>
                          <a:rPr lang="es-CR" sz="2000" i="1"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CR" sz="2000" dirty="0" smtClean="0"/>
                  <a:t> sabiendo que era falso, son decisiones correctas.</a:t>
                </a:r>
              </a:p>
              <a:p>
                <a:r>
                  <a:rPr lang="es-CR" sz="2000" dirty="0"/>
                  <a:t>Error de Tipo I: rechazar una </a:t>
                </a:r>
                <a:r>
                  <a:rPr lang="es-CR" sz="2000" dirty="0" smtClean="0"/>
                  <a:t>hipótesis </a:t>
                </a:r>
                <a:r>
                  <a:rPr lang="es-CR" sz="2000" dirty="0"/>
                  <a:t>nula correcta. El error de Tipo I se considera importante. La probabilidad de un error de Tipo I es igual a α y se denomina nivel de </a:t>
                </a:r>
                <a:r>
                  <a:rPr lang="es-CR" sz="2000" dirty="0" smtClean="0"/>
                  <a:t>significación.</a:t>
                </a:r>
              </a:p>
              <a:p>
                <a:r>
                  <a:rPr lang="es-CR" sz="2000" dirty="0"/>
                  <a:t>Error de Tipo II: no rechazar una </a:t>
                </a:r>
                <a:r>
                  <a:rPr lang="es-CR" sz="2000" dirty="0" smtClean="0"/>
                  <a:t>hipótesis </a:t>
                </a:r>
                <a:r>
                  <a:rPr lang="es-CR" sz="2000" dirty="0"/>
                  <a:t>nula incorrecta. La probabilidad de un error de Tipo II es igual a β.</a:t>
                </a:r>
                <a:endParaRPr lang="es-CR" sz="2000" dirty="0" smtClean="0"/>
              </a:p>
              <a:p>
                <a:endParaRPr lang="es-CR" sz="2000" dirty="0"/>
              </a:p>
            </p:txBody>
          </p:sp>
        </mc:Choice>
        <mc:Fallback xmlns="">
          <p:sp>
            <p:nvSpPr>
              <p:cNvPr id="3" name="2 Marcador de contenido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327992" y="1305272"/>
                <a:ext cx="7772400" cy="5552728"/>
              </a:xfrm>
              <a:blipFill rotWithShape="1">
                <a:blip r:embed="rId2"/>
                <a:stretch>
                  <a:fillRect l="-314" t="-439"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107504" y="53752"/>
            <a:ext cx="8856984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s-CR" sz="3400" dirty="0" smtClean="0"/>
              <a:t>Pasos de una prueba de hipótesis: decisión estadística</a:t>
            </a:r>
            <a:endParaRPr lang="es-CR" sz="34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984230"/>
            <a:ext cx="7034902" cy="20928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1 Rectángulo redondeado"/>
          <p:cNvSpPr/>
          <p:nvPr/>
        </p:nvSpPr>
        <p:spPr>
          <a:xfrm>
            <a:off x="5940152" y="3068960"/>
            <a:ext cx="1296144" cy="401069"/>
          </a:xfrm>
          <a:prstGeom prst="round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l-GR" b="1" dirty="0" smtClean="0">
                <a:latin typeface="Times New Roman"/>
                <a:cs typeface="Times New Roman"/>
              </a:rPr>
              <a:t>α</a:t>
            </a:r>
            <a:endParaRPr lang="es-CR" b="1" dirty="0"/>
          </a:p>
        </p:txBody>
      </p:sp>
      <p:sp>
        <p:nvSpPr>
          <p:cNvPr id="6" name="5 Rectángulo redondeado"/>
          <p:cNvSpPr/>
          <p:nvPr/>
        </p:nvSpPr>
        <p:spPr>
          <a:xfrm>
            <a:off x="5076056" y="3556023"/>
            <a:ext cx="504056" cy="357754"/>
          </a:xfrm>
          <a:prstGeom prst="round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l-GR" b="1" dirty="0" smtClean="0">
                <a:latin typeface="Times New Roman"/>
                <a:cs typeface="Times New Roman"/>
              </a:rPr>
              <a:t>β</a:t>
            </a:r>
            <a:endParaRPr lang="es-CR" b="1" dirty="0"/>
          </a:p>
        </p:txBody>
      </p:sp>
    </p:spTree>
    <p:extLst>
      <p:ext uri="{BB962C8B-B14F-4D97-AF65-F5344CB8AC3E}">
        <p14:creationId xmlns:p14="http://schemas.microsoft.com/office/powerpoint/2010/main" val="2446552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55984" y="1350226"/>
            <a:ext cx="7772400" cy="4572000"/>
          </a:xfrm>
        </p:spPr>
        <p:txBody>
          <a:bodyPr/>
          <a:lstStyle/>
          <a:p>
            <a:r>
              <a:rPr lang="es-CR" dirty="0"/>
              <a:t>Si al calcular la estadística de prueba, el estadística cae en la zona de rechazo, la hipótesis nula se rechaza</a:t>
            </a:r>
            <a:r>
              <a:rPr lang="es-CR" dirty="0" smtClean="0"/>
              <a:t>.</a:t>
            </a:r>
            <a:endParaRPr lang="es-CR" dirty="0"/>
          </a:p>
        </p:txBody>
      </p:sp>
      <p:sp>
        <p:nvSpPr>
          <p:cNvPr id="15" name="1 Título"/>
          <p:cNvSpPr>
            <a:spLocks noGrp="1"/>
          </p:cNvSpPr>
          <p:nvPr>
            <p:ph type="title"/>
          </p:nvPr>
        </p:nvSpPr>
        <p:spPr>
          <a:xfrm>
            <a:off x="107504" y="53752"/>
            <a:ext cx="8856984" cy="1215008"/>
          </a:xfrm>
        </p:spPr>
        <p:txBody>
          <a:bodyPr>
            <a:normAutofit/>
          </a:bodyPr>
          <a:lstStyle/>
          <a:p>
            <a:pPr algn="ctr"/>
            <a:r>
              <a:rPr lang="es-CR" sz="3400" dirty="0" smtClean="0"/>
              <a:t>Pasos de una prueba de hipótesis: regla de decisión</a:t>
            </a:r>
            <a:endParaRPr lang="es-CR" sz="3400" dirty="0"/>
          </a:p>
        </p:txBody>
      </p:sp>
      <p:pic>
        <p:nvPicPr>
          <p:cNvPr id="16" name="Picture 2" descr="normal-bil-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2347454"/>
            <a:ext cx="7132637" cy="4263504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8" name="17 Conector recto"/>
          <p:cNvCxnSpPr/>
          <p:nvPr/>
        </p:nvCxnSpPr>
        <p:spPr>
          <a:xfrm>
            <a:off x="2051720" y="5943840"/>
            <a:ext cx="4752528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18 Conector recto"/>
          <p:cNvCxnSpPr/>
          <p:nvPr/>
        </p:nvCxnSpPr>
        <p:spPr>
          <a:xfrm>
            <a:off x="6804248" y="5943840"/>
            <a:ext cx="1155973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20 Conector recto"/>
          <p:cNvCxnSpPr/>
          <p:nvPr/>
        </p:nvCxnSpPr>
        <p:spPr>
          <a:xfrm>
            <a:off x="895747" y="5943840"/>
            <a:ext cx="1155973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22 Conector recto de flecha"/>
          <p:cNvCxnSpPr/>
          <p:nvPr/>
        </p:nvCxnSpPr>
        <p:spPr>
          <a:xfrm>
            <a:off x="1619672" y="4647696"/>
            <a:ext cx="0" cy="64807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23 Elipse"/>
          <p:cNvSpPr/>
          <p:nvPr/>
        </p:nvSpPr>
        <p:spPr>
          <a:xfrm>
            <a:off x="1547664" y="5583800"/>
            <a:ext cx="144016" cy="21602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cxnSp>
        <p:nvCxnSpPr>
          <p:cNvPr id="25" name="24 Conector recto de flecha"/>
          <p:cNvCxnSpPr/>
          <p:nvPr/>
        </p:nvCxnSpPr>
        <p:spPr>
          <a:xfrm>
            <a:off x="7308304" y="4647696"/>
            <a:ext cx="0" cy="64807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25 Elipse"/>
          <p:cNvSpPr/>
          <p:nvPr/>
        </p:nvSpPr>
        <p:spPr>
          <a:xfrm>
            <a:off x="7236296" y="5583800"/>
            <a:ext cx="144016" cy="21602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27" name="26 Rectángulo redondeado"/>
          <p:cNvSpPr/>
          <p:nvPr/>
        </p:nvSpPr>
        <p:spPr>
          <a:xfrm>
            <a:off x="539552" y="6159864"/>
            <a:ext cx="1440160" cy="504056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Rechazo</a:t>
            </a:r>
          </a:p>
        </p:txBody>
      </p:sp>
      <p:sp>
        <p:nvSpPr>
          <p:cNvPr id="28" name="27 Rectángulo redondeado"/>
          <p:cNvSpPr/>
          <p:nvPr/>
        </p:nvSpPr>
        <p:spPr>
          <a:xfrm>
            <a:off x="6804248" y="6168101"/>
            <a:ext cx="1440160" cy="504056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Rechazo</a:t>
            </a:r>
          </a:p>
        </p:txBody>
      </p:sp>
    </p:spTree>
    <p:extLst>
      <p:ext uri="{BB962C8B-B14F-4D97-AF65-F5344CB8AC3E}">
        <p14:creationId xmlns:p14="http://schemas.microsoft.com/office/powerpoint/2010/main" val="2310642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467544" y="1305272"/>
            <a:ext cx="7772400" cy="4572000"/>
          </a:xfrm>
        </p:spPr>
        <p:txBody>
          <a:bodyPr/>
          <a:lstStyle/>
          <a:p>
            <a:r>
              <a:rPr lang="es-CR" dirty="0"/>
              <a:t>Si al calcular la estadística de prueba, el estadística cae en la zona </a:t>
            </a:r>
            <a:r>
              <a:rPr lang="es-CR" dirty="0" smtClean="0"/>
              <a:t>de no </a:t>
            </a:r>
            <a:r>
              <a:rPr lang="es-CR" dirty="0"/>
              <a:t>rechazo, la hipótesis nula </a:t>
            </a:r>
            <a:r>
              <a:rPr lang="es-CR" dirty="0" smtClean="0"/>
              <a:t>no se puede rechazar.</a:t>
            </a:r>
            <a:endParaRPr lang="es-CR" dirty="0"/>
          </a:p>
          <a:p>
            <a:pPr marL="0" indent="0">
              <a:buNone/>
            </a:pPr>
            <a:endParaRPr lang="es-CR" dirty="0"/>
          </a:p>
        </p:txBody>
      </p:sp>
      <p:sp>
        <p:nvSpPr>
          <p:cNvPr id="5" name="1 Título"/>
          <p:cNvSpPr>
            <a:spLocks noGrp="1"/>
          </p:cNvSpPr>
          <p:nvPr>
            <p:ph type="title"/>
          </p:nvPr>
        </p:nvSpPr>
        <p:spPr>
          <a:xfrm>
            <a:off x="107504" y="53752"/>
            <a:ext cx="8856984" cy="1215008"/>
          </a:xfrm>
        </p:spPr>
        <p:txBody>
          <a:bodyPr>
            <a:normAutofit/>
          </a:bodyPr>
          <a:lstStyle/>
          <a:p>
            <a:pPr algn="ctr"/>
            <a:r>
              <a:rPr lang="es-CR" sz="3400" dirty="0" smtClean="0"/>
              <a:t>Pasos de una prueba de hipótesis: regla de decisión</a:t>
            </a:r>
            <a:endParaRPr lang="es-CR" sz="3400" dirty="0"/>
          </a:p>
        </p:txBody>
      </p:sp>
      <p:pic>
        <p:nvPicPr>
          <p:cNvPr id="6" name="Picture 2" descr="normal-bil-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731" y="2276872"/>
            <a:ext cx="7132637" cy="4263504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6 Conector recto"/>
          <p:cNvCxnSpPr/>
          <p:nvPr/>
        </p:nvCxnSpPr>
        <p:spPr>
          <a:xfrm>
            <a:off x="1975867" y="5871832"/>
            <a:ext cx="4752528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7 Conector recto"/>
          <p:cNvCxnSpPr/>
          <p:nvPr/>
        </p:nvCxnSpPr>
        <p:spPr>
          <a:xfrm>
            <a:off x="6728395" y="5871832"/>
            <a:ext cx="1155973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8 Conector recto"/>
          <p:cNvCxnSpPr/>
          <p:nvPr/>
        </p:nvCxnSpPr>
        <p:spPr>
          <a:xfrm>
            <a:off x="819894" y="5871832"/>
            <a:ext cx="1155973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9 Conector recto de flecha"/>
          <p:cNvCxnSpPr/>
          <p:nvPr/>
        </p:nvCxnSpPr>
        <p:spPr>
          <a:xfrm>
            <a:off x="3560043" y="4719704"/>
            <a:ext cx="0" cy="64807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10 Elipse"/>
          <p:cNvSpPr/>
          <p:nvPr/>
        </p:nvSpPr>
        <p:spPr>
          <a:xfrm>
            <a:off x="3488035" y="5511792"/>
            <a:ext cx="144016" cy="21602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16" name="15 Rectángulo redondeado"/>
          <p:cNvSpPr/>
          <p:nvPr/>
        </p:nvSpPr>
        <p:spPr>
          <a:xfrm>
            <a:off x="3006687" y="6100018"/>
            <a:ext cx="2622723" cy="64135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No rechazo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3788989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107504" y="1160748"/>
            <a:ext cx="5904656" cy="5580620"/>
          </a:xfrm>
        </p:spPr>
        <p:txBody>
          <a:bodyPr>
            <a:normAutofit lnSpcReduction="10000"/>
          </a:bodyPr>
          <a:lstStyle/>
          <a:p>
            <a:pPr algn="just"/>
            <a:r>
              <a:rPr lang="es-CR" sz="2400" dirty="0" smtClean="0"/>
              <a:t>El valor de p es un cantidad que indica qué tan insólitos </a:t>
            </a:r>
            <a:r>
              <a:rPr lang="es-CR" sz="2400" dirty="0"/>
              <a:t>son los resultados de la muestra, considerando que la hip6tesis nula sea verdadera. </a:t>
            </a:r>
            <a:endParaRPr lang="es-CR" sz="2400" dirty="0" smtClean="0"/>
          </a:p>
          <a:p>
            <a:pPr algn="just"/>
            <a:endParaRPr lang="es-CR" sz="2400" dirty="0"/>
          </a:p>
          <a:p>
            <a:pPr algn="just"/>
            <a:r>
              <a:rPr lang="es-CR" sz="2400" dirty="0" smtClean="0"/>
              <a:t>Un </a:t>
            </a:r>
            <a:r>
              <a:rPr lang="es-CR" sz="2400" dirty="0"/>
              <a:t>valor de </a:t>
            </a:r>
            <a:r>
              <a:rPr lang="es-CR" sz="2400" i="1" dirty="0" smtClean="0"/>
              <a:t>p </a:t>
            </a:r>
            <a:r>
              <a:rPr lang="es-CR" sz="2400" dirty="0" smtClean="0"/>
              <a:t>indica </a:t>
            </a:r>
            <a:r>
              <a:rPr lang="es-CR" sz="2400" dirty="0"/>
              <a:t>que no es muy probable </a:t>
            </a:r>
            <a:r>
              <a:rPr lang="es-CR" sz="2400" dirty="0" smtClean="0"/>
              <a:t>que los </a:t>
            </a:r>
            <a:r>
              <a:rPr lang="es-CR" sz="2400" dirty="0"/>
              <a:t>resultados de la muestra hayan ocurrido; ofrece </a:t>
            </a:r>
            <a:r>
              <a:rPr lang="es-CR" sz="2400" dirty="0" smtClean="0"/>
              <a:t>la justificación </a:t>
            </a:r>
            <a:r>
              <a:rPr lang="es-CR" sz="2400" dirty="0"/>
              <a:t>para dudar de la certeza de la </a:t>
            </a:r>
            <a:r>
              <a:rPr lang="es-CR" sz="2400" dirty="0" smtClean="0"/>
              <a:t>hipótesis </a:t>
            </a:r>
            <a:r>
              <a:rPr lang="es-CR" sz="2400" dirty="0"/>
              <a:t>nula, si esta es verdadera. 	</a:t>
            </a:r>
            <a:endParaRPr lang="es-CR" sz="2400" dirty="0" smtClean="0"/>
          </a:p>
          <a:p>
            <a:pPr algn="just"/>
            <a:endParaRPr lang="es-CR" sz="2400" dirty="0"/>
          </a:p>
          <a:p>
            <a:pPr algn="just"/>
            <a:r>
              <a:rPr lang="es-CR" sz="2400" dirty="0" smtClean="0"/>
              <a:t>El valor de p también se puede ver como un indicador para no tener que comprar siempre un valor calculado y otro esperado o tabular…</a:t>
            </a:r>
          </a:p>
          <a:p>
            <a:pPr algn="just"/>
            <a:endParaRPr lang="es-CR" sz="2400" dirty="0" smtClean="0"/>
          </a:p>
          <a:p>
            <a:pPr algn="just"/>
            <a:r>
              <a:rPr lang="es-CR" sz="2400" dirty="0" smtClean="0"/>
              <a:t>Su calculo es diferente para pruebas bilaterales como unilaterales.</a:t>
            </a:r>
            <a:endParaRPr lang="es-CR" sz="2400" dirty="0"/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107504" y="44624"/>
            <a:ext cx="8856984" cy="864096"/>
          </a:xfrm>
        </p:spPr>
        <p:txBody>
          <a:bodyPr>
            <a:normAutofit/>
          </a:bodyPr>
          <a:lstStyle/>
          <a:p>
            <a:pPr algn="ctr"/>
            <a:r>
              <a:rPr lang="es-CR" sz="3400" dirty="0" smtClean="0"/>
              <a:t>Pasos de una prueba de hipótesis: valor de </a:t>
            </a:r>
            <a:r>
              <a:rPr lang="es-CR" sz="3400" i="1" dirty="0" smtClean="0"/>
              <a:t>p</a:t>
            </a:r>
            <a:endParaRPr lang="es-CR" sz="3400" i="1" dirty="0"/>
          </a:p>
        </p:txBody>
      </p:sp>
      <p:pic>
        <p:nvPicPr>
          <p:cNvPr id="1026" name="Picture 2" descr="https://bayesianbiologist.files.wordpress.com/2011/08/p_valu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3889" y="1340768"/>
            <a:ext cx="2511279" cy="2232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://annals.org/data/Journals/AIM/19935/8FF3.jpe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4712" y="4365104"/>
            <a:ext cx="2349632" cy="1936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337335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107504" y="44624"/>
            <a:ext cx="8856984" cy="864096"/>
          </a:xfrm>
        </p:spPr>
        <p:txBody>
          <a:bodyPr>
            <a:normAutofit/>
          </a:bodyPr>
          <a:lstStyle/>
          <a:p>
            <a:pPr algn="ctr"/>
            <a:r>
              <a:rPr lang="es-CR" sz="3400" dirty="0" smtClean="0"/>
              <a:t>Pasos de una prueba de hipótesis: valor de </a:t>
            </a:r>
            <a:r>
              <a:rPr lang="es-CR" sz="3400" i="1" dirty="0" smtClean="0"/>
              <a:t>p</a:t>
            </a:r>
            <a:endParaRPr lang="es-CR" sz="3400" i="1" dirty="0"/>
          </a:p>
        </p:txBody>
      </p:sp>
      <p:pic>
        <p:nvPicPr>
          <p:cNvPr id="3074" name="Picture 2" descr="http://annals.org/data/Journals/AIM/19935/8FF3.jpe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008" y="2780928"/>
            <a:ext cx="4018798" cy="3312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Rectángulo redondeado"/>
          <p:cNvSpPr/>
          <p:nvPr/>
        </p:nvSpPr>
        <p:spPr>
          <a:xfrm>
            <a:off x="914735" y="1278372"/>
            <a:ext cx="2520280" cy="93610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Bilateral</a:t>
            </a:r>
            <a:endParaRPr lang="es-CR" dirty="0"/>
          </a:p>
        </p:txBody>
      </p:sp>
      <p:sp>
        <p:nvSpPr>
          <p:cNvPr id="7" name="6 Rectángulo redondeado"/>
          <p:cNvSpPr/>
          <p:nvPr/>
        </p:nvSpPr>
        <p:spPr>
          <a:xfrm>
            <a:off x="5393267" y="1268760"/>
            <a:ext cx="2520280" cy="93610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Unilateral</a:t>
            </a:r>
            <a:endParaRPr lang="es-CR" dirty="0"/>
          </a:p>
        </p:txBody>
      </p:sp>
      <p:pic>
        <p:nvPicPr>
          <p:cNvPr id="3076" name="Picture 4" descr="https://faculty.elgin.edu/dkernler/statistics/ch10/images/p-value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2492896"/>
            <a:ext cx="4038600" cy="3481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63270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51520" y="1268760"/>
            <a:ext cx="6192688" cy="5400600"/>
          </a:xfrm>
        </p:spPr>
        <p:txBody>
          <a:bodyPr>
            <a:normAutofit/>
          </a:bodyPr>
          <a:lstStyle/>
          <a:p>
            <a:pPr algn="just"/>
            <a:r>
              <a:rPr lang="es-CR" sz="2400" dirty="0" smtClean="0"/>
              <a:t>Según la decisión estadística, se debe de concluir tanto sobre la hipótesis estadística como la hipótesis de estudio.</a:t>
            </a:r>
          </a:p>
          <a:p>
            <a:pPr algn="just"/>
            <a:endParaRPr lang="es-CR" sz="2400" dirty="0"/>
          </a:p>
          <a:p>
            <a:pPr algn="just"/>
            <a:r>
              <a:rPr lang="es-CR" sz="2400" dirty="0" smtClean="0"/>
              <a:t>Si </a:t>
            </a:r>
            <a:r>
              <a:rPr lang="es-CR" sz="2400" dirty="0"/>
              <a:t>Ho se rechaza, se concluye que HA es verdadera. Si Ho no se </a:t>
            </a:r>
            <a:r>
              <a:rPr lang="es-CR" sz="2400" dirty="0" smtClean="0"/>
              <a:t>rechaza</a:t>
            </a:r>
            <a:r>
              <a:rPr lang="es-CR" sz="2400" dirty="0"/>
              <a:t>, se concluye que Ho </a:t>
            </a:r>
            <a:r>
              <a:rPr lang="es-CR" sz="2400" dirty="0" smtClean="0"/>
              <a:t>no puede ser rechazada, y que por lo tanto se necesita mayor evidencia.</a:t>
            </a:r>
          </a:p>
          <a:p>
            <a:pPr algn="just"/>
            <a:endParaRPr lang="es-CR" sz="2400" dirty="0"/>
          </a:p>
          <a:p>
            <a:pPr algn="just"/>
            <a:r>
              <a:rPr lang="es-CR" sz="2400" dirty="0" smtClean="0"/>
              <a:t>Se corrobora la hipótesis de investigación. De acuerdo a los resultados estadísticos, estos se deben traducir al lenguaje de la situación de interés.</a:t>
            </a:r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107504" y="53752"/>
            <a:ext cx="8856984" cy="998984"/>
          </a:xfrm>
        </p:spPr>
        <p:txBody>
          <a:bodyPr>
            <a:normAutofit/>
          </a:bodyPr>
          <a:lstStyle/>
          <a:p>
            <a:pPr algn="ctr"/>
            <a:r>
              <a:rPr lang="es-CR" sz="3400" dirty="0" smtClean="0"/>
              <a:t>Pasos de una prueba de hipótesis: conclusión</a:t>
            </a:r>
            <a:endParaRPr lang="es-CR" sz="3400" dirty="0"/>
          </a:p>
        </p:txBody>
      </p:sp>
      <p:pic>
        <p:nvPicPr>
          <p:cNvPr id="20482" name="Picture 2" descr="https://recapssemlyon2013brl10.files.wordpress.com/2013/12/dfd94-conclusion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8264" y="1388007"/>
            <a:ext cx="1714500" cy="2057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AutoShape 4" descr="Résultat de recherche d'images pour &quot;conclusion bonhomme&quot;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R"/>
          </a:p>
        </p:txBody>
      </p:sp>
      <p:pic>
        <p:nvPicPr>
          <p:cNvPr id="20486" name="Picture 6" descr="http://www.capteurdereve.fr/wp-content/uploads/2015/06/Comprendre-les-r%C3%A9sultats-dune-campagne-demailing-Alesiacom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9644" y="3861048"/>
            <a:ext cx="2451740" cy="2627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1909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0" y="7996"/>
            <a:ext cx="8856984" cy="900724"/>
          </a:xfrm>
        </p:spPr>
        <p:txBody>
          <a:bodyPr>
            <a:normAutofit/>
          </a:bodyPr>
          <a:lstStyle/>
          <a:p>
            <a:pPr algn="ctr"/>
            <a:r>
              <a:rPr lang="es-CR" sz="3400" dirty="0" smtClean="0"/>
              <a:t>Pasos de una prueba de hipótesis: resumen</a:t>
            </a:r>
            <a:endParaRPr lang="es-CR" sz="3400" dirty="0"/>
          </a:p>
        </p:txBody>
      </p:sp>
      <p:sp>
        <p:nvSpPr>
          <p:cNvPr id="2" name="1 Rectángulo redondeado"/>
          <p:cNvSpPr/>
          <p:nvPr/>
        </p:nvSpPr>
        <p:spPr>
          <a:xfrm>
            <a:off x="539552" y="1196752"/>
            <a:ext cx="1728192" cy="72008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Evaluar los datos</a:t>
            </a:r>
            <a:endParaRPr lang="es-CR" dirty="0"/>
          </a:p>
        </p:txBody>
      </p:sp>
      <p:sp>
        <p:nvSpPr>
          <p:cNvPr id="6" name="5 Rectángulo redondeado"/>
          <p:cNvSpPr/>
          <p:nvPr/>
        </p:nvSpPr>
        <p:spPr>
          <a:xfrm>
            <a:off x="3419872" y="1196752"/>
            <a:ext cx="1728192" cy="72008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Revisar las suposiciones</a:t>
            </a:r>
            <a:endParaRPr lang="es-CR" dirty="0"/>
          </a:p>
        </p:txBody>
      </p:sp>
      <p:sp>
        <p:nvSpPr>
          <p:cNvPr id="7" name="6 Rectángulo redondeado"/>
          <p:cNvSpPr/>
          <p:nvPr/>
        </p:nvSpPr>
        <p:spPr>
          <a:xfrm>
            <a:off x="6444208" y="1196752"/>
            <a:ext cx="1728192" cy="72008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Formular la hipótesis</a:t>
            </a:r>
            <a:endParaRPr lang="es-CR" dirty="0"/>
          </a:p>
        </p:txBody>
      </p:sp>
      <p:sp>
        <p:nvSpPr>
          <p:cNvPr id="8" name="7 Rectángulo redondeado"/>
          <p:cNvSpPr/>
          <p:nvPr/>
        </p:nvSpPr>
        <p:spPr>
          <a:xfrm>
            <a:off x="6444208" y="2420888"/>
            <a:ext cx="1728192" cy="792088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Seleccionar la estadística de prueba</a:t>
            </a:r>
            <a:endParaRPr lang="es-CR" dirty="0"/>
          </a:p>
        </p:txBody>
      </p:sp>
      <p:sp>
        <p:nvSpPr>
          <p:cNvPr id="9" name="8 Rectángulo redondeado"/>
          <p:cNvSpPr/>
          <p:nvPr/>
        </p:nvSpPr>
        <p:spPr>
          <a:xfrm>
            <a:off x="3419872" y="2420888"/>
            <a:ext cx="1728192" cy="792088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Determinar la distribución de estad. de prueba</a:t>
            </a:r>
            <a:endParaRPr lang="es-CR" dirty="0"/>
          </a:p>
        </p:txBody>
      </p:sp>
      <p:sp>
        <p:nvSpPr>
          <p:cNvPr id="10" name="9 Rectángulo redondeado"/>
          <p:cNvSpPr/>
          <p:nvPr/>
        </p:nvSpPr>
        <p:spPr>
          <a:xfrm>
            <a:off x="539552" y="2420888"/>
            <a:ext cx="1728192" cy="792088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Formular la regla de decisión</a:t>
            </a:r>
            <a:endParaRPr lang="es-CR" dirty="0"/>
          </a:p>
        </p:txBody>
      </p:sp>
      <p:sp>
        <p:nvSpPr>
          <p:cNvPr id="11" name="10 Rectángulo redondeado"/>
          <p:cNvSpPr/>
          <p:nvPr/>
        </p:nvSpPr>
        <p:spPr>
          <a:xfrm>
            <a:off x="539552" y="3789040"/>
            <a:ext cx="1728192" cy="698489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Calcular la estadística de prueba</a:t>
            </a:r>
            <a:endParaRPr lang="es-CR" dirty="0"/>
          </a:p>
        </p:txBody>
      </p:sp>
      <p:sp>
        <p:nvSpPr>
          <p:cNvPr id="5" name="4 Decisión"/>
          <p:cNvSpPr/>
          <p:nvPr/>
        </p:nvSpPr>
        <p:spPr>
          <a:xfrm>
            <a:off x="4644008" y="3202180"/>
            <a:ext cx="2448272" cy="1883004"/>
          </a:xfrm>
          <a:prstGeom prst="flowChartDecision">
            <a:avLst/>
          </a:prstGeom>
          <a:solidFill>
            <a:srgbClr val="0070C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Decisión estadística</a:t>
            </a:r>
            <a:endParaRPr lang="es-CR" dirty="0"/>
          </a:p>
        </p:txBody>
      </p:sp>
      <p:sp>
        <p:nvSpPr>
          <p:cNvPr id="13" name="12 Elipse"/>
          <p:cNvSpPr/>
          <p:nvPr/>
        </p:nvSpPr>
        <p:spPr>
          <a:xfrm>
            <a:off x="3203848" y="4725144"/>
            <a:ext cx="1296144" cy="1008112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No rechazar Ho</a:t>
            </a:r>
            <a:endParaRPr lang="es-CR" dirty="0"/>
          </a:p>
        </p:txBody>
      </p:sp>
      <p:sp>
        <p:nvSpPr>
          <p:cNvPr id="15" name="14 Elipse"/>
          <p:cNvSpPr/>
          <p:nvPr/>
        </p:nvSpPr>
        <p:spPr>
          <a:xfrm>
            <a:off x="7164288" y="4725144"/>
            <a:ext cx="1368152" cy="1008112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Rechazar Ho</a:t>
            </a:r>
            <a:endParaRPr lang="es-CR" dirty="0"/>
          </a:p>
        </p:txBody>
      </p:sp>
      <p:cxnSp>
        <p:nvCxnSpPr>
          <p:cNvPr id="16" name="15 Conector recto"/>
          <p:cNvCxnSpPr>
            <a:stCxn id="5" idx="2"/>
            <a:endCxn id="13" idx="6"/>
          </p:cNvCxnSpPr>
          <p:nvPr/>
        </p:nvCxnSpPr>
        <p:spPr>
          <a:xfrm flipH="1">
            <a:off x="4499992" y="5085184"/>
            <a:ext cx="1368152" cy="14401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17 Conector recto"/>
          <p:cNvCxnSpPr>
            <a:stCxn id="5" idx="2"/>
            <a:endCxn id="15" idx="2"/>
          </p:cNvCxnSpPr>
          <p:nvPr/>
        </p:nvCxnSpPr>
        <p:spPr>
          <a:xfrm>
            <a:off x="5868144" y="5085184"/>
            <a:ext cx="1296144" cy="14401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19 Rectángulo"/>
          <p:cNvSpPr/>
          <p:nvPr/>
        </p:nvSpPr>
        <p:spPr>
          <a:xfrm>
            <a:off x="2915816" y="6021288"/>
            <a:ext cx="1944216" cy="72008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H0 no pude ser rechazada</a:t>
            </a:r>
            <a:endParaRPr lang="es-CR" dirty="0"/>
          </a:p>
        </p:txBody>
      </p:sp>
      <p:sp>
        <p:nvSpPr>
          <p:cNvPr id="22" name="21 Rectángulo"/>
          <p:cNvSpPr/>
          <p:nvPr/>
        </p:nvSpPr>
        <p:spPr>
          <a:xfrm>
            <a:off x="6732240" y="6021288"/>
            <a:ext cx="2171723" cy="72008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HA es estadísticamente cierta</a:t>
            </a:r>
            <a:endParaRPr lang="es-CR" dirty="0"/>
          </a:p>
        </p:txBody>
      </p:sp>
      <p:cxnSp>
        <p:nvCxnSpPr>
          <p:cNvPr id="23" name="22 Conector recto de flecha"/>
          <p:cNvCxnSpPr>
            <a:stCxn id="2" idx="3"/>
          </p:cNvCxnSpPr>
          <p:nvPr/>
        </p:nvCxnSpPr>
        <p:spPr>
          <a:xfrm>
            <a:off x="2267744" y="1556792"/>
            <a:ext cx="100148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24 Conector recto de flecha"/>
          <p:cNvCxnSpPr>
            <a:stCxn id="6" idx="3"/>
          </p:cNvCxnSpPr>
          <p:nvPr/>
        </p:nvCxnSpPr>
        <p:spPr>
          <a:xfrm>
            <a:off x="5148064" y="1556792"/>
            <a:ext cx="1152128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26 Conector recto de flecha"/>
          <p:cNvCxnSpPr>
            <a:stCxn id="7" idx="2"/>
          </p:cNvCxnSpPr>
          <p:nvPr/>
        </p:nvCxnSpPr>
        <p:spPr>
          <a:xfrm>
            <a:off x="7308304" y="1916832"/>
            <a:ext cx="0" cy="50405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28 Conector recto de flecha"/>
          <p:cNvCxnSpPr>
            <a:stCxn id="8" idx="1"/>
          </p:cNvCxnSpPr>
          <p:nvPr/>
        </p:nvCxnSpPr>
        <p:spPr>
          <a:xfrm flipH="1">
            <a:off x="5292080" y="2816932"/>
            <a:ext cx="1152128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30 Conector recto de flecha"/>
          <p:cNvCxnSpPr>
            <a:stCxn id="9" idx="1"/>
          </p:cNvCxnSpPr>
          <p:nvPr/>
        </p:nvCxnSpPr>
        <p:spPr>
          <a:xfrm flipH="1">
            <a:off x="2411760" y="2816932"/>
            <a:ext cx="1008112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25" name="1024 Conector recto de flecha"/>
          <p:cNvCxnSpPr>
            <a:stCxn id="10" idx="2"/>
          </p:cNvCxnSpPr>
          <p:nvPr/>
        </p:nvCxnSpPr>
        <p:spPr>
          <a:xfrm>
            <a:off x="1403648" y="3212976"/>
            <a:ext cx="0" cy="4320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28" name="1027 Conector recto de flecha"/>
          <p:cNvCxnSpPr>
            <a:stCxn id="11" idx="3"/>
          </p:cNvCxnSpPr>
          <p:nvPr/>
        </p:nvCxnSpPr>
        <p:spPr>
          <a:xfrm>
            <a:off x="2267744" y="4138285"/>
            <a:ext cx="2232248" cy="539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31" name="1030 Conector recto"/>
          <p:cNvCxnSpPr>
            <a:stCxn id="13" idx="4"/>
            <a:endCxn id="20" idx="0"/>
          </p:cNvCxnSpPr>
          <p:nvPr/>
        </p:nvCxnSpPr>
        <p:spPr>
          <a:xfrm>
            <a:off x="3851920" y="5733256"/>
            <a:ext cx="36004" cy="28803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33" name="1032 Conector recto"/>
          <p:cNvCxnSpPr>
            <a:stCxn id="15" idx="4"/>
          </p:cNvCxnSpPr>
          <p:nvPr/>
        </p:nvCxnSpPr>
        <p:spPr>
          <a:xfrm>
            <a:off x="7848364" y="5733256"/>
            <a:ext cx="0" cy="28803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33 Conector recto de flecha"/>
          <p:cNvCxnSpPr/>
          <p:nvPr/>
        </p:nvCxnSpPr>
        <p:spPr>
          <a:xfrm flipH="1">
            <a:off x="2267744" y="6453336"/>
            <a:ext cx="61287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" name="34 Rectángulo redondeado"/>
          <p:cNvSpPr/>
          <p:nvPr/>
        </p:nvSpPr>
        <p:spPr>
          <a:xfrm>
            <a:off x="323528" y="6104091"/>
            <a:ext cx="1728192" cy="698489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Conclusión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361183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616024" y="188640"/>
            <a:ext cx="7772400" cy="1008112"/>
          </a:xfrm>
        </p:spPr>
        <p:txBody>
          <a:bodyPr>
            <a:normAutofit/>
          </a:bodyPr>
          <a:lstStyle/>
          <a:p>
            <a:pPr algn="ctr"/>
            <a:r>
              <a:rPr lang="es-CR" dirty="0" smtClean="0"/>
              <a:t>Índice</a:t>
            </a:r>
            <a:endParaRPr lang="es-CR" dirty="0"/>
          </a:p>
        </p:txBody>
      </p:sp>
      <p:sp>
        <p:nvSpPr>
          <p:cNvPr id="2" name="1 Elipse"/>
          <p:cNvSpPr/>
          <p:nvPr/>
        </p:nvSpPr>
        <p:spPr>
          <a:xfrm>
            <a:off x="323528" y="1700808"/>
            <a:ext cx="864096" cy="86409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1</a:t>
            </a:r>
            <a:endParaRPr lang="es-CR" dirty="0"/>
          </a:p>
        </p:txBody>
      </p:sp>
      <p:sp>
        <p:nvSpPr>
          <p:cNvPr id="5" name="4 Elipse"/>
          <p:cNvSpPr/>
          <p:nvPr/>
        </p:nvSpPr>
        <p:spPr>
          <a:xfrm>
            <a:off x="323528" y="3501008"/>
            <a:ext cx="864096" cy="86409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2</a:t>
            </a:r>
            <a:endParaRPr lang="es-CR" dirty="0"/>
          </a:p>
        </p:txBody>
      </p:sp>
      <p:sp>
        <p:nvSpPr>
          <p:cNvPr id="6" name="5 Elipse"/>
          <p:cNvSpPr/>
          <p:nvPr/>
        </p:nvSpPr>
        <p:spPr>
          <a:xfrm>
            <a:off x="323528" y="5373216"/>
            <a:ext cx="864096" cy="86409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3</a:t>
            </a:r>
            <a:endParaRPr lang="es-CR" dirty="0"/>
          </a:p>
        </p:txBody>
      </p:sp>
      <p:sp>
        <p:nvSpPr>
          <p:cNvPr id="7" name="6 Elipse"/>
          <p:cNvSpPr/>
          <p:nvPr/>
        </p:nvSpPr>
        <p:spPr>
          <a:xfrm>
            <a:off x="4355976" y="1700808"/>
            <a:ext cx="864096" cy="86409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4</a:t>
            </a:r>
            <a:endParaRPr lang="es-CR" dirty="0"/>
          </a:p>
        </p:txBody>
      </p:sp>
      <p:sp>
        <p:nvSpPr>
          <p:cNvPr id="10" name="9 Rectángulo redondeado"/>
          <p:cNvSpPr/>
          <p:nvPr/>
        </p:nvSpPr>
        <p:spPr>
          <a:xfrm>
            <a:off x="1475656" y="1556792"/>
            <a:ext cx="2376264" cy="1224136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Definición de hipótesis</a:t>
            </a:r>
            <a:endParaRPr lang="es-CR" dirty="0"/>
          </a:p>
        </p:txBody>
      </p:sp>
      <p:sp>
        <p:nvSpPr>
          <p:cNvPr id="11" name="10 Rectángulo redondeado"/>
          <p:cNvSpPr/>
          <p:nvPr/>
        </p:nvSpPr>
        <p:spPr>
          <a:xfrm>
            <a:off x="1475656" y="3320988"/>
            <a:ext cx="2376264" cy="1224136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Tipos de hipótesis</a:t>
            </a:r>
            <a:endParaRPr lang="es-CR" dirty="0"/>
          </a:p>
        </p:txBody>
      </p:sp>
      <p:sp>
        <p:nvSpPr>
          <p:cNvPr id="12" name="11 Rectángulo redondeado"/>
          <p:cNvSpPr/>
          <p:nvPr/>
        </p:nvSpPr>
        <p:spPr>
          <a:xfrm>
            <a:off x="1475656" y="5193196"/>
            <a:ext cx="2376264" cy="1224136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Etapas para una prueba de hipótesis estadística</a:t>
            </a:r>
            <a:endParaRPr lang="es-CR" dirty="0"/>
          </a:p>
        </p:txBody>
      </p:sp>
      <p:sp>
        <p:nvSpPr>
          <p:cNvPr id="13" name="12 Rectángulo redondeado"/>
          <p:cNvSpPr/>
          <p:nvPr/>
        </p:nvSpPr>
        <p:spPr>
          <a:xfrm>
            <a:off x="5796136" y="1556792"/>
            <a:ext cx="2376264" cy="1224136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Prueba de hipótesis para una media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1019694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23528" y="188640"/>
            <a:ext cx="8496944" cy="720080"/>
          </a:xfrm>
        </p:spPr>
        <p:txBody>
          <a:bodyPr>
            <a:normAutofit/>
          </a:bodyPr>
          <a:lstStyle/>
          <a:p>
            <a:pPr algn="ctr"/>
            <a:r>
              <a:rPr lang="es-CR" sz="3600" dirty="0" smtClean="0"/>
              <a:t>Prueba de hipótesis para una media</a:t>
            </a:r>
            <a:endParaRPr lang="es-CR" sz="3600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323528" y="1484784"/>
            <a:ext cx="5976664" cy="5184576"/>
          </a:xfrm>
        </p:spPr>
        <p:txBody>
          <a:bodyPr>
            <a:normAutofit/>
          </a:bodyPr>
          <a:lstStyle/>
          <a:p>
            <a:pPr algn="just"/>
            <a:r>
              <a:rPr lang="es-CR" sz="2400" dirty="0" smtClean="0"/>
              <a:t>En este capítulo solo se analizará la prueba de hipótesis para una media.</a:t>
            </a:r>
          </a:p>
          <a:p>
            <a:pPr algn="just"/>
            <a:endParaRPr lang="es-CR" sz="2400" dirty="0"/>
          </a:p>
          <a:p>
            <a:pPr algn="just"/>
            <a:r>
              <a:rPr lang="es-CR" sz="2400" dirty="0" smtClean="0"/>
              <a:t>Nótese que, cualquier otro tipo de análisis SIEMPRE utilizará una prueba de hipótesis.</a:t>
            </a:r>
          </a:p>
          <a:p>
            <a:pPr algn="just"/>
            <a:endParaRPr lang="es-CR" sz="2400" dirty="0"/>
          </a:p>
          <a:p>
            <a:pPr algn="just"/>
            <a:r>
              <a:rPr lang="es-CR" sz="2400" dirty="0" smtClean="0"/>
              <a:t>La prueba de hipótesis busca saber si para cierta población, está se comporta de acuerdo a cierta posición (para el promedio).</a:t>
            </a:r>
          </a:p>
          <a:p>
            <a:pPr algn="just"/>
            <a:endParaRPr lang="es-CR" sz="2400" dirty="0" smtClean="0"/>
          </a:p>
          <a:p>
            <a:pPr algn="just"/>
            <a:r>
              <a:rPr lang="es-CR" sz="2400" dirty="0" smtClean="0"/>
              <a:t>Se utilizará el siguiente estadístico:</a:t>
            </a:r>
            <a:endParaRPr lang="es-CR" sz="24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5445224"/>
            <a:ext cx="1598578" cy="1008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1506" name="Picture 2" descr="http://laromaco-formation.e-monsite.com/medias/images/bonhomme.jpg?fx=r_1200_80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216" y="1556792"/>
            <a:ext cx="2095500" cy="2095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08" name="Picture 4" descr="https://encrypted-tbn1.gstatic.com/images?q=tbn:ANd9GcS479m2U53wvc9fwBaXIQ4vc7aagwu8BLSqJssCDFUtcM2CpuTI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256" y="4293096"/>
            <a:ext cx="1905000" cy="1790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8385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43174" y="1214422"/>
            <a:ext cx="3207290" cy="2143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00298" y="4214818"/>
            <a:ext cx="3528019" cy="23574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1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214810" y="6143644"/>
            <a:ext cx="167432" cy="428628"/>
          </a:xfrm>
          <a:prstGeom prst="rect">
            <a:avLst/>
          </a:prstGeom>
          <a:noFill/>
        </p:spPr>
      </p:pic>
      <p:sp>
        <p:nvSpPr>
          <p:cNvPr id="921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9217" name="Picture 1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252911" y="3000372"/>
            <a:ext cx="104775" cy="238125"/>
          </a:xfrm>
          <a:prstGeom prst="rect">
            <a:avLst/>
          </a:prstGeom>
          <a:noFill/>
        </p:spPr>
      </p:pic>
      <p:sp>
        <p:nvSpPr>
          <p:cNvPr id="922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572000" y="3047999"/>
            <a:ext cx="419100" cy="238125"/>
          </a:xfrm>
          <a:prstGeom prst="rect">
            <a:avLst/>
          </a:prstGeom>
          <a:noFill/>
        </p:spPr>
      </p:pic>
      <p:sp>
        <p:nvSpPr>
          <p:cNvPr id="9222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9221" name="Picture 5"/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643306" y="3071810"/>
            <a:ext cx="419100" cy="238125"/>
          </a:xfrm>
          <a:prstGeom prst="rect">
            <a:avLst/>
          </a:prstGeom>
          <a:noFill/>
        </p:spPr>
      </p:pic>
      <p:sp>
        <p:nvSpPr>
          <p:cNvPr id="9224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9223" name="Picture 7"/>
          <p:cNvPicPr>
            <a:picLocks noChangeAspect="1" noChangeArrowheads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643306" y="6286520"/>
            <a:ext cx="419100" cy="238125"/>
          </a:xfrm>
          <a:prstGeom prst="rect">
            <a:avLst/>
          </a:prstGeom>
          <a:noFill/>
        </p:spPr>
      </p:pic>
      <p:sp>
        <p:nvSpPr>
          <p:cNvPr id="9226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9225" name="Picture 9"/>
          <p:cNvPicPr>
            <a:picLocks noChangeAspect="1" noChangeArrowheads="1"/>
          </p:cNvPicPr>
          <p:nvPr/>
        </p:nvPicPr>
        <p:blipFill>
          <a:blip r:embed="rId8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572000" y="6286520"/>
            <a:ext cx="419100" cy="238125"/>
          </a:xfrm>
          <a:prstGeom prst="rect">
            <a:avLst/>
          </a:prstGeom>
          <a:noFill/>
        </p:spPr>
      </p:pic>
      <p:cxnSp>
        <p:nvCxnSpPr>
          <p:cNvPr id="19" name="18 Conector recto"/>
          <p:cNvCxnSpPr/>
          <p:nvPr/>
        </p:nvCxnSpPr>
        <p:spPr>
          <a:xfrm rot="5400000">
            <a:off x="1357302" y="3857640"/>
            <a:ext cx="5857892" cy="0"/>
          </a:xfrm>
          <a:prstGeom prst="line">
            <a:avLst/>
          </a:prstGeom>
          <a:ln w="63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21 Conector recto de flecha"/>
          <p:cNvCxnSpPr/>
          <p:nvPr/>
        </p:nvCxnSpPr>
        <p:spPr>
          <a:xfrm rot="5400000">
            <a:off x="-1172456" y="3731628"/>
            <a:ext cx="3857652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28" name="Rectangle 1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9227" name="Picture 11"/>
          <p:cNvPicPr>
            <a:picLocks noChangeAspect="1" noChangeArrowheads="1"/>
          </p:cNvPicPr>
          <p:nvPr/>
        </p:nvPicPr>
        <p:blipFill>
          <a:blip r:embed="rId9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715140" y="1142984"/>
            <a:ext cx="1594496" cy="642942"/>
          </a:xfrm>
          <a:prstGeom prst="rect">
            <a:avLst/>
          </a:prstGeom>
          <a:noFill/>
        </p:spPr>
      </p:pic>
      <p:cxnSp>
        <p:nvCxnSpPr>
          <p:cNvPr id="27" name="26 Conector recto de flecha"/>
          <p:cNvCxnSpPr/>
          <p:nvPr/>
        </p:nvCxnSpPr>
        <p:spPr>
          <a:xfrm rot="10800000" flipV="1">
            <a:off x="5143504" y="1500174"/>
            <a:ext cx="1357322" cy="50006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27 Conector recto de flecha"/>
          <p:cNvCxnSpPr/>
          <p:nvPr/>
        </p:nvCxnSpPr>
        <p:spPr>
          <a:xfrm rot="10800000" flipV="1">
            <a:off x="5286381" y="4286255"/>
            <a:ext cx="1357322" cy="50006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31 Rectángulo"/>
          <p:cNvSpPr/>
          <p:nvPr/>
        </p:nvSpPr>
        <p:spPr>
          <a:xfrm>
            <a:off x="179512" y="1071546"/>
            <a:ext cx="2214578" cy="714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Distribución de la población</a:t>
            </a:r>
            <a:endParaRPr lang="es-CR" dirty="0"/>
          </a:p>
        </p:txBody>
      </p:sp>
      <p:sp>
        <p:nvSpPr>
          <p:cNvPr id="33" name="32 Rectángulo"/>
          <p:cNvSpPr/>
          <p:nvPr/>
        </p:nvSpPr>
        <p:spPr>
          <a:xfrm>
            <a:off x="107504" y="5715016"/>
            <a:ext cx="2214578" cy="714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Distribución de la muestra</a:t>
            </a:r>
            <a:endParaRPr lang="es-CR" dirty="0"/>
          </a:p>
        </p:txBody>
      </p:sp>
      <p:sp>
        <p:nvSpPr>
          <p:cNvPr id="9230" name="Rectangle 1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9229" name="Picture 13"/>
          <p:cNvPicPr>
            <a:picLocks noChangeAspect="1" noChangeArrowheads="1"/>
          </p:cNvPicPr>
          <p:nvPr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858016" y="3786190"/>
            <a:ext cx="1739832" cy="928694"/>
          </a:xfrm>
          <a:prstGeom prst="rect">
            <a:avLst/>
          </a:prstGeom>
          <a:noFill/>
        </p:spPr>
      </p:pic>
      <p:sp>
        <p:nvSpPr>
          <p:cNvPr id="29" name="1 Título"/>
          <p:cNvSpPr>
            <a:spLocks noGrp="1"/>
          </p:cNvSpPr>
          <p:nvPr>
            <p:ph type="title"/>
          </p:nvPr>
        </p:nvSpPr>
        <p:spPr>
          <a:xfrm>
            <a:off x="323528" y="188640"/>
            <a:ext cx="8496944" cy="720080"/>
          </a:xfrm>
        </p:spPr>
        <p:txBody>
          <a:bodyPr>
            <a:normAutofit/>
          </a:bodyPr>
          <a:lstStyle/>
          <a:p>
            <a:pPr algn="ctr"/>
            <a:r>
              <a:rPr lang="es-CR" sz="3600" dirty="0" smtClean="0"/>
              <a:t>Prueba de hipótesis para una media</a:t>
            </a:r>
            <a:endParaRPr lang="es-CR" sz="3600" dirty="0"/>
          </a:p>
        </p:txBody>
      </p:sp>
      <p:sp>
        <p:nvSpPr>
          <p:cNvPr id="3" name="2 Rectángulo redondeado"/>
          <p:cNvSpPr/>
          <p:nvPr/>
        </p:nvSpPr>
        <p:spPr>
          <a:xfrm>
            <a:off x="6643703" y="5013176"/>
            <a:ext cx="2248777" cy="1416220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s-CR" dirty="0" smtClean="0"/>
              <a:t>Bajo la hipótesis de igualdad, la distribución poblacional es igual al valor del estimador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1486693712"/>
      </p:ext>
    </p:extLst>
  </p:cSld>
  <p:clrMapOvr>
    <a:masterClrMapping/>
  </p:clrMapOvr>
  <p:transition>
    <p:wheel spokes="8"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43174" y="1214422"/>
            <a:ext cx="3207290" cy="2143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47864" y="4214818"/>
            <a:ext cx="3528019" cy="23574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1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143504" y="6143644"/>
            <a:ext cx="167432" cy="428628"/>
          </a:xfrm>
          <a:prstGeom prst="rect">
            <a:avLst/>
          </a:prstGeom>
          <a:noFill/>
        </p:spPr>
      </p:pic>
      <p:sp>
        <p:nvSpPr>
          <p:cNvPr id="921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9217" name="Picture 1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252911" y="3000372"/>
            <a:ext cx="104775" cy="238125"/>
          </a:xfrm>
          <a:prstGeom prst="rect">
            <a:avLst/>
          </a:prstGeom>
          <a:noFill/>
        </p:spPr>
      </p:pic>
      <p:sp>
        <p:nvSpPr>
          <p:cNvPr id="922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572000" y="3047999"/>
            <a:ext cx="419100" cy="238125"/>
          </a:xfrm>
          <a:prstGeom prst="rect">
            <a:avLst/>
          </a:prstGeom>
          <a:noFill/>
        </p:spPr>
      </p:pic>
      <p:sp>
        <p:nvSpPr>
          <p:cNvPr id="9222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9221" name="Picture 5"/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643306" y="3071810"/>
            <a:ext cx="419100" cy="238125"/>
          </a:xfrm>
          <a:prstGeom prst="rect">
            <a:avLst/>
          </a:prstGeom>
          <a:noFill/>
        </p:spPr>
      </p:pic>
      <p:sp>
        <p:nvSpPr>
          <p:cNvPr id="9224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9223" name="Picture 7"/>
          <p:cNvPicPr>
            <a:picLocks noChangeAspect="1" noChangeArrowheads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572000" y="6286520"/>
            <a:ext cx="419100" cy="238125"/>
          </a:xfrm>
          <a:prstGeom prst="rect">
            <a:avLst/>
          </a:prstGeom>
          <a:noFill/>
        </p:spPr>
      </p:pic>
      <p:sp>
        <p:nvSpPr>
          <p:cNvPr id="9226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9225" name="Picture 9"/>
          <p:cNvPicPr>
            <a:picLocks noChangeAspect="1" noChangeArrowheads="1"/>
          </p:cNvPicPr>
          <p:nvPr/>
        </p:nvPicPr>
        <p:blipFill>
          <a:blip r:embed="rId8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500694" y="6286520"/>
            <a:ext cx="419100" cy="238125"/>
          </a:xfrm>
          <a:prstGeom prst="rect">
            <a:avLst/>
          </a:prstGeom>
          <a:noFill/>
        </p:spPr>
      </p:pic>
      <p:cxnSp>
        <p:nvCxnSpPr>
          <p:cNvPr id="19" name="18 Conector recto"/>
          <p:cNvCxnSpPr/>
          <p:nvPr/>
        </p:nvCxnSpPr>
        <p:spPr>
          <a:xfrm rot="5400000">
            <a:off x="1357302" y="3857640"/>
            <a:ext cx="5857892" cy="0"/>
          </a:xfrm>
          <a:prstGeom prst="line">
            <a:avLst/>
          </a:prstGeom>
          <a:ln w="63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21 Conector recto de flecha"/>
          <p:cNvCxnSpPr/>
          <p:nvPr/>
        </p:nvCxnSpPr>
        <p:spPr>
          <a:xfrm rot="5400000">
            <a:off x="-1244464" y="3713958"/>
            <a:ext cx="3857652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28" name="Rectangle 1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9227" name="Picture 11"/>
          <p:cNvPicPr>
            <a:picLocks noChangeAspect="1" noChangeArrowheads="1"/>
          </p:cNvPicPr>
          <p:nvPr/>
        </p:nvPicPr>
        <p:blipFill>
          <a:blip r:embed="rId9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715140" y="1142984"/>
            <a:ext cx="1594496" cy="642942"/>
          </a:xfrm>
          <a:prstGeom prst="rect">
            <a:avLst/>
          </a:prstGeom>
          <a:noFill/>
        </p:spPr>
      </p:pic>
      <p:cxnSp>
        <p:nvCxnSpPr>
          <p:cNvPr id="27" name="26 Conector recto de flecha"/>
          <p:cNvCxnSpPr/>
          <p:nvPr/>
        </p:nvCxnSpPr>
        <p:spPr>
          <a:xfrm rot="10800000" flipV="1">
            <a:off x="5143504" y="1500174"/>
            <a:ext cx="1357322" cy="50006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27 Conector recto de flecha"/>
          <p:cNvCxnSpPr/>
          <p:nvPr/>
        </p:nvCxnSpPr>
        <p:spPr>
          <a:xfrm rot="10800000" flipV="1">
            <a:off x="5286381" y="3933056"/>
            <a:ext cx="1357322" cy="50006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31 Rectángulo"/>
          <p:cNvSpPr/>
          <p:nvPr/>
        </p:nvSpPr>
        <p:spPr>
          <a:xfrm>
            <a:off x="179512" y="1071546"/>
            <a:ext cx="2214578" cy="714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Distribución de la población</a:t>
            </a:r>
            <a:endParaRPr lang="es-CR" dirty="0"/>
          </a:p>
        </p:txBody>
      </p:sp>
      <p:sp>
        <p:nvSpPr>
          <p:cNvPr id="33" name="32 Rectángulo"/>
          <p:cNvSpPr/>
          <p:nvPr/>
        </p:nvSpPr>
        <p:spPr>
          <a:xfrm>
            <a:off x="125174" y="5715016"/>
            <a:ext cx="2214578" cy="714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Distribución de la muestra</a:t>
            </a:r>
            <a:endParaRPr lang="es-CR" dirty="0"/>
          </a:p>
        </p:txBody>
      </p:sp>
      <p:sp>
        <p:nvSpPr>
          <p:cNvPr id="9230" name="Rectangle 1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9229" name="Picture 13"/>
          <p:cNvPicPr>
            <a:picLocks noChangeAspect="1" noChangeArrowheads="1"/>
          </p:cNvPicPr>
          <p:nvPr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876256" y="3212976"/>
            <a:ext cx="1739832" cy="928694"/>
          </a:xfrm>
          <a:prstGeom prst="rect">
            <a:avLst/>
          </a:prstGeom>
          <a:noFill/>
        </p:spPr>
      </p:pic>
      <p:sp>
        <p:nvSpPr>
          <p:cNvPr id="29" name="1 Título"/>
          <p:cNvSpPr>
            <a:spLocks noGrp="1"/>
          </p:cNvSpPr>
          <p:nvPr>
            <p:ph type="title"/>
          </p:nvPr>
        </p:nvSpPr>
        <p:spPr>
          <a:xfrm>
            <a:off x="323528" y="188640"/>
            <a:ext cx="8496944" cy="720080"/>
          </a:xfrm>
        </p:spPr>
        <p:txBody>
          <a:bodyPr>
            <a:normAutofit/>
          </a:bodyPr>
          <a:lstStyle/>
          <a:p>
            <a:pPr algn="ctr"/>
            <a:r>
              <a:rPr lang="es-CR" sz="3600" dirty="0" smtClean="0"/>
              <a:t>Prueba de hipótesis para una media</a:t>
            </a:r>
            <a:endParaRPr lang="es-CR" sz="3600" dirty="0"/>
          </a:p>
        </p:txBody>
      </p:sp>
      <p:sp>
        <p:nvSpPr>
          <p:cNvPr id="30" name="29 Rectángulo redondeado"/>
          <p:cNvSpPr/>
          <p:nvPr/>
        </p:nvSpPr>
        <p:spPr>
          <a:xfrm>
            <a:off x="6643704" y="4433122"/>
            <a:ext cx="2320214" cy="1516158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s-CR" dirty="0" smtClean="0"/>
              <a:t>Bajo la hipótesis alternativa, la distribución poblacional es diferente al valor del estimador.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1830620809"/>
      </p:ext>
    </p:extLst>
  </p:cSld>
  <p:clrMapOvr>
    <a:masterClrMapping/>
  </p:clrMapOvr>
  <p:transition>
    <p:wheel spokes="8"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616024" y="188640"/>
            <a:ext cx="7772400" cy="792088"/>
          </a:xfrm>
        </p:spPr>
        <p:txBody>
          <a:bodyPr>
            <a:normAutofit/>
          </a:bodyPr>
          <a:lstStyle/>
          <a:p>
            <a:pPr algn="ctr"/>
            <a:r>
              <a:rPr lang="es-CR" sz="3600" dirty="0" smtClean="0"/>
              <a:t>Índice</a:t>
            </a:r>
            <a:endParaRPr lang="es-CR" sz="3600" dirty="0"/>
          </a:p>
        </p:txBody>
      </p:sp>
      <p:sp>
        <p:nvSpPr>
          <p:cNvPr id="2" name="1 Elipse"/>
          <p:cNvSpPr/>
          <p:nvPr/>
        </p:nvSpPr>
        <p:spPr>
          <a:xfrm>
            <a:off x="323528" y="1700808"/>
            <a:ext cx="864096" cy="86409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1</a:t>
            </a:r>
            <a:endParaRPr lang="es-CR" dirty="0"/>
          </a:p>
        </p:txBody>
      </p:sp>
      <p:sp>
        <p:nvSpPr>
          <p:cNvPr id="5" name="4 Elipse"/>
          <p:cNvSpPr/>
          <p:nvPr/>
        </p:nvSpPr>
        <p:spPr>
          <a:xfrm>
            <a:off x="323528" y="3501008"/>
            <a:ext cx="864096" cy="86409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2</a:t>
            </a:r>
            <a:endParaRPr lang="es-CR" dirty="0"/>
          </a:p>
        </p:txBody>
      </p:sp>
      <p:sp>
        <p:nvSpPr>
          <p:cNvPr id="6" name="5 Elipse"/>
          <p:cNvSpPr/>
          <p:nvPr/>
        </p:nvSpPr>
        <p:spPr>
          <a:xfrm>
            <a:off x="323528" y="5373216"/>
            <a:ext cx="864096" cy="86409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3</a:t>
            </a:r>
            <a:endParaRPr lang="es-CR" dirty="0"/>
          </a:p>
        </p:txBody>
      </p:sp>
      <p:sp>
        <p:nvSpPr>
          <p:cNvPr id="7" name="6 Elipse"/>
          <p:cNvSpPr/>
          <p:nvPr/>
        </p:nvSpPr>
        <p:spPr>
          <a:xfrm>
            <a:off x="4355976" y="1700808"/>
            <a:ext cx="864096" cy="86409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4</a:t>
            </a:r>
            <a:endParaRPr lang="es-CR" dirty="0"/>
          </a:p>
        </p:txBody>
      </p:sp>
      <p:sp>
        <p:nvSpPr>
          <p:cNvPr id="8" name="7 Elipse"/>
          <p:cNvSpPr/>
          <p:nvPr/>
        </p:nvSpPr>
        <p:spPr>
          <a:xfrm>
            <a:off x="4355976" y="3501008"/>
            <a:ext cx="864096" cy="86409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5</a:t>
            </a:r>
            <a:endParaRPr lang="es-CR" dirty="0"/>
          </a:p>
        </p:txBody>
      </p:sp>
      <p:sp>
        <p:nvSpPr>
          <p:cNvPr id="10" name="9 Rectángulo redondeado"/>
          <p:cNvSpPr/>
          <p:nvPr/>
        </p:nvSpPr>
        <p:spPr>
          <a:xfrm>
            <a:off x="1475656" y="1556792"/>
            <a:ext cx="2376264" cy="1224136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Definición de hipótesis</a:t>
            </a:r>
            <a:endParaRPr lang="es-CR" dirty="0"/>
          </a:p>
        </p:txBody>
      </p:sp>
      <p:sp>
        <p:nvSpPr>
          <p:cNvPr id="11" name="10 Rectángulo redondeado"/>
          <p:cNvSpPr/>
          <p:nvPr/>
        </p:nvSpPr>
        <p:spPr>
          <a:xfrm>
            <a:off x="1475656" y="3320988"/>
            <a:ext cx="2376264" cy="1224136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Tipos de hipótesis</a:t>
            </a:r>
            <a:endParaRPr lang="es-CR" dirty="0"/>
          </a:p>
        </p:txBody>
      </p:sp>
      <p:sp>
        <p:nvSpPr>
          <p:cNvPr id="12" name="11 Rectángulo redondeado"/>
          <p:cNvSpPr/>
          <p:nvPr/>
        </p:nvSpPr>
        <p:spPr>
          <a:xfrm>
            <a:off x="1475656" y="5193196"/>
            <a:ext cx="2376264" cy="1224136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Etapas para una prueba de hipótesis estadística</a:t>
            </a:r>
            <a:endParaRPr lang="es-CR" dirty="0"/>
          </a:p>
        </p:txBody>
      </p:sp>
      <p:sp>
        <p:nvSpPr>
          <p:cNvPr id="13" name="12 Rectángulo redondeado"/>
          <p:cNvSpPr/>
          <p:nvPr/>
        </p:nvSpPr>
        <p:spPr>
          <a:xfrm>
            <a:off x="5796136" y="1556792"/>
            <a:ext cx="2376264" cy="1224136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Prueba de hipótesis para una media</a:t>
            </a:r>
            <a:endParaRPr lang="es-CR" dirty="0"/>
          </a:p>
        </p:txBody>
      </p:sp>
      <p:sp>
        <p:nvSpPr>
          <p:cNvPr id="14" name="13 Rectángulo redondeado"/>
          <p:cNvSpPr/>
          <p:nvPr/>
        </p:nvSpPr>
        <p:spPr>
          <a:xfrm>
            <a:off x="5796136" y="3320988"/>
            <a:ext cx="2376264" cy="1224136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Aplicación 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1019694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179512" y="1124744"/>
            <a:ext cx="6048672" cy="547260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CR" sz="2200" dirty="0" smtClean="0"/>
              <a:t>Un grupo de investigadores está interesado en conocer la edad media de sus pacientes en un hospital. Estos tenían la siguiente interrogante: </a:t>
            </a:r>
          </a:p>
          <a:p>
            <a:pPr algn="just"/>
            <a:endParaRPr lang="es-CR" sz="2200" dirty="0"/>
          </a:p>
          <a:p>
            <a:pPr marL="0" indent="0" algn="just">
              <a:buNone/>
            </a:pPr>
            <a:r>
              <a:rPr lang="es-CR" sz="2200" dirty="0" smtClean="0"/>
              <a:t>¿Se puede concluir que la edad media de la población es diferente de 30 años?</a:t>
            </a:r>
          </a:p>
          <a:p>
            <a:pPr marL="0" indent="0" algn="just">
              <a:buNone/>
            </a:pPr>
            <a:endParaRPr lang="es-CR" sz="2200" dirty="0" smtClean="0"/>
          </a:p>
          <a:p>
            <a:pPr marL="0" indent="0" algn="just">
              <a:buNone/>
            </a:pPr>
            <a:r>
              <a:rPr lang="es-CR" sz="2200" dirty="0"/>
              <a:t> </a:t>
            </a:r>
            <a:r>
              <a:rPr lang="es-CR" sz="2200" dirty="0" smtClean="0"/>
              <a:t>Con </a:t>
            </a:r>
            <a:r>
              <a:rPr lang="es-CR" sz="2200" dirty="0"/>
              <a:t>base en el conocimiento de pruebas de </a:t>
            </a:r>
            <a:r>
              <a:rPr lang="es-CR" sz="2200" dirty="0" smtClean="0"/>
              <a:t>hipótesis, </a:t>
            </a:r>
            <a:r>
              <a:rPr lang="es-CR" sz="2200" dirty="0"/>
              <a:t>se puede contestar que es posible concluir que la edad media de la </a:t>
            </a:r>
            <a:r>
              <a:rPr lang="es-CR" sz="2200" dirty="0" smtClean="0"/>
              <a:t>población </a:t>
            </a:r>
            <a:r>
              <a:rPr lang="es-CR" sz="2200" dirty="0"/>
              <a:t>es diferente de 30, </a:t>
            </a:r>
            <a:r>
              <a:rPr lang="es-CR" sz="2200" dirty="0" smtClean="0"/>
              <a:t>si </a:t>
            </a:r>
            <a:r>
              <a:rPr lang="es-CR" sz="2200" dirty="0"/>
              <a:t>se puede rechazar la </a:t>
            </a:r>
            <a:r>
              <a:rPr lang="es-CR" sz="2200" dirty="0" smtClean="0"/>
              <a:t>hipótesis </a:t>
            </a:r>
            <a:r>
              <a:rPr lang="es-CR" sz="2200" dirty="0"/>
              <a:t>nula que indica que la media es igual a 30. Mediante el uso del procedimiento de diez pasos para la prueba de </a:t>
            </a:r>
            <a:r>
              <a:rPr lang="es-CR" sz="2200" dirty="0" smtClean="0"/>
              <a:t>hipótesis, se </a:t>
            </a:r>
            <a:r>
              <a:rPr lang="es-CR" sz="2200" dirty="0"/>
              <a:t>puede ayudar a los investigadores a tomar una </a:t>
            </a:r>
            <a:r>
              <a:rPr lang="es-CR" sz="2200" dirty="0" smtClean="0"/>
              <a:t>decisión.</a:t>
            </a:r>
            <a:endParaRPr lang="es-CR" sz="2200" dirty="0"/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251520" y="44624"/>
            <a:ext cx="8496944" cy="720080"/>
          </a:xfrm>
        </p:spPr>
        <p:txBody>
          <a:bodyPr>
            <a:normAutofit fontScale="90000"/>
          </a:bodyPr>
          <a:lstStyle/>
          <a:p>
            <a:pPr algn="ctr"/>
            <a:r>
              <a:rPr lang="es-CR" dirty="0" smtClean="0"/>
              <a:t>Aplicación: PH para una media</a:t>
            </a:r>
            <a:endParaRPr lang="es-CR" dirty="0"/>
          </a:p>
        </p:txBody>
      </p:sp>
      <p:pic>
        <p:nvPicPr>
          <p:cNvPr id="22530" name="Picture 2" descr="http://www.grandrapidsohio.com/images/Hospital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6030" y="1916832"/>
            <a:ext cx="2314063" cy="3528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7773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2 Marcador de contenido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67544" y="1268760"/>
                <a:ext cx="5832648" cy="532859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s-CR" sz="2000" dirty="0" smtClean="0"/>
                  <a:t>1. </a:t>
                </a:r>
                <a:r>
                  <a:rPr lang="es-CR" sz="2000" u="sng" dirty="0" smtClean="0"/>
                  <a:t>Datos: </a:t>
                </a:r>
                <a:r>
                  <a:rPr lang="es-CR" sz="2000" dirty="0"/>
                  <a:t>l</a:t>
                </a:r>
                <a:r>
                  <a:rPr lang="es-CR" sz="2000" dirty="0" smtClean="0"/>
                  <a:t>os </a:t>
                </a:r>
                <a:r>
                  <a:rPr lang="es-CR" sz="2000" dirty="0"/>
                  <a:t>datos disponibles para los investigadores son las edades de una muestra aleatoria simple de </a:t>
                </a:r>
                <a:r>
                  <a:rPr lang="es-CR" sz="2000" dirty="0" smtClean="0"/>
                  <a:t>40  </a:t>
                </a:r>
                <a:r>
                  <a:rPr lang="es-CR" sz="2000" dirty="0"/>
                  <a:t>individuos, </a:t>
                </a:r>
                <a:r>
                  <a:rPr lang="es-CR" sz="2000" dirty="0" smtClean="0"/>
                  <a:t>extraída </a:t>
                </a:r>
                <a:r>
                  <a:rPr lang="es-CR" sz="2000" dirty="0"/>
                  <a:t>de la </a:t>
                </a:r>
                <a:r>
                  <a:rPr lang="es-CR" sz="2000" dirty="0" smtClean="0"/>
                  <a:t>población </a:t>
                </a:r>
                <a:r>
                  <a:rPr lang="es-CR" sz="2000" dirty="0"/>
                  <a:t>de </a:t>
                </a:r>
                <a:r>
                  <a:rPr lang="es-CR" sz="2000" dirty="0" smtClean="0"/>
                  <a:t>interés. </a:t>
                </a:r>
                <a:r>
                  <a:rPr lang="es-CR" sz="2000" dirty="0"/>
                  <a:t>A partir de esta muestra se calcula que la media de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CR" sz="2000" b="0" i="1" smtClean="0">
                            <a:latin typeface="Cambria Math"/>
                          </a:rPr>
                        </m:ctrlPr>
                      </m:accPr>
                      <m:e>
                        <m:r>
                          <a:rPr lang="es-CR" sz="2000" i="1">
                            <a:latin typeface="Cambria Math"/>
                          </a:rPr>
                          <m:t>𝑥</m:t>
                        </m:r>
                      </m:e>
                    </m:acc>
                    <m:r>
                      <a:rPr lang="es-CR" sz="2000" b="0" i="1" smtClean="0">
                        <a:latin typeface="Cambria Math"/>
                      </a:rPr>
                      <m:t>=35</m:t>
                    </m:r>
                  </m:oMath>
                </a14:m>
                <a:r>
                  <a:rPr lang="es-CR" sz="2000" dirty="0" smtClean="0"/>
                  <a:t>.</a:t>
                </a:r>
              </a:p>
              <a:p>
                <a:pPr marL="0" indent="0">
                  <a:buNone/>
                </a:pPr>
                <a:endParaRPr lang="es-CR" sz="2000" dirty="0"/>
              </a:p>
              <a:p>
                <a:pPr marL="0" indent="0">
                  <a:buNone/>
                </a:pPr>
                <a:r>
                  <a:rPr lang="es-CR" sz="2000" dirty="0" smtClean="0"/>
                  <a:t>2. </a:t>
                </a:r>
                <a:r>
                  <a:rPr lang="es-CR" sz="2000" u="sng" dirty="0"/>
                  <a:t>Supuestos: </a:t>
                </a:r>
                <a:r>
                  <a:rPr lang="es-CR" sz="2000" dirty="0" smtClean="0"/>
                  <a:t>se </a:t>
                </a:r>
                <a:r>
                  <a:rPr lang="es-CR" sz="2000" dirty="0"/>
                  <a:t>supone que la muestra de valores proviene de una </a:t>
                </a:r>
                <a:r>
                  <a:rPr lang="es-CR" sz="2000" dirty="0" smtClean="0"/>
                  <a:t>población </a:t>
                </a:r>
                <a:r>
                  <a:rPr lang="es-CR" sz="2000" dirty="0"/>
                  <a:t>cuyas edades siguen una </a:t>
                </a:r>
                <a:r>
                  <a:rPr lang="es-CR" sz="2000" dirty="0" smtClean="0"/>
                  <a:t>distribución </a:t>
                </a:r>
                <a:r>
                  <a:rPr lang="es-CR" sz="2000" dirty="0"/>
                  <a:t>aproximadamente normal. </a:t>
                </a:r>
                <a:r>
                  <a:rPr lang="es-CR" sz="2000" dirty="0" smtClean="0"/>
                  <a:t>Se sabe también </a:t>
                </a:r>
                <a:r>
                  <a:rPr lang="es-CR" sz="2000" dirty="0"/>
                  <a:t>que la </a:t>
                </a:r>
                <a:r>
                  <a:rPr lang="es-CR" sz="2000" dirty="0" smtClean="0"/>
                  <a:t>población tiene </a:t>
                </a:r>
                <a:r>
                  <a:rPr lang="es-CR" sz="2000" dirty="0"/>
                  <a:t>una </a:t>
                </a:r>
                <a:r>
                  <a:rPr lang="es-CR" sz="2000" dirty="0" smtClean="0"/>
                  <a:t>desviación estándar conocida de </a:t>
                </a:r>
                <a14:m>
                  <m:oMath xmlns:m="http://schemas.openxmlformats.org/officeDocument/2006/math">
                    <m:r>
                      <a:rPr lang="es-CR" sz="2000" i="1" dirty="0">
                        <a:latin typeface="Cambria Math"/>
                        <a:ea typeface="Cambria Math"/>
                      </a:rPr>
                      <m:t>𝜎</m:t>
                    </m:r>
                    <m:r>
                      <a:rPr lang="es-CR" sz="2000" i="1" dirty="0">
                        <a:latin typeface="Cambria Math"/>
                        <a:ea typeface="Cambria Math"/>
                      </a:rPr>
                      <m:t> =12</m:t>
                    </m:r>
                  </m:oMath>
                </a14:m>
                <a:endParaRPr lang="es-CR" sz="2000" dirty="0" smtClean="0"/>
              </a:p>
              <a:p>
                <a:pPr marL="0" indent="0">
                  <a:buNone/>
                </a:pPr>
                <a:r>
                  <a:rPr lang="es-CR" sz="2000" dirty="0" smtClean="0"/>
                  <a:t>3. </a:t>
                </a:r>
                <a:r>
                  <a:rPr lang="es-CR" sz="2000" u="sng" dirty="0" smtClean="0"/>
                  <a:t>Hipótesis:</a:t>
                </a:r>
                <a:r>
                  <a:rPr lang="es-CR" sz="2000" dirty="0" smtClean="0"/>
                  <a:t> La hipótesis nula plantea que la edad media </a:t>
                </a:r>
                <a:r>
                  <a:rPr lang="es-CR" sz="2000" dirty="0"/>
                  <a:t>de la </a:t>
                </a:r>
                <a:r>
                  <a:rPr lang="es-CR" sz="2000" dirty="0" smtClean="0"/>
                  <a:t>población </a:t>
                </a:r>
                <a:r>
                  <a:rPr lang="es-CR" sz="2000" dirty="0"/>
                  <a:t>es igual a 30. La </a:t>
                </a:r>
                <a:r>
                  <a:rPr lang="es-CR" sz="2000" dirty="0" smtClean="0"/>
                  <a:t>hipótesis alternativa indica </a:t>
                </a:r>
                <a:r>
                  <a:rPr lang="es-CR" sz="2000" dirty="0"/>
                  <a:t>que la edad media es diferente de </a:t>
                </a:r>
                <a:r>
                  <a:rPr lang="es-CR" sz="2000" dirty="0" smtClean="0"/>
                  <a:t>30:</a:t>
                </a:r>
              </a:p>
            </p:txBody>
          </p:sp>
        </mc:Choice>
        <mc:Fallback xmlns="">
          <p:sp>
            <p:nvSpPr>
              <p:cNvPr id="3" name="2 Marcador de contenido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67544" y="1268760"/>
                <a:ext cx="5832648" cy="5328592"/>
              </a:xfrm>
              <a:blipFill rotWithShape="1">
                <a:blip r:embed="rId2"/>
                <a:stretch>
                  <a:fillRect l="-1151" t="-458" r="-1987"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251520" y="116632"/>
            <a:ext cx="8496944" cy="908720"/>
          </a:xfrm>
        </p:spPr>
        <p:txBody>
          <a:bodyPr>
            <a:normAutofit/>
          </a:bodyPr>
          <a:lstStyle/>
          <a:p>
            <a:pPr algn="ctr"/>
            <a:r>
              <a:rPr lang="es-CR" sz="3200" dirty="0" smtClean="0"/>
              <a:t>Aplicación: PH para una media</a:t>
            </a:r>
            <a:endParaRPr lang="es-CR" sz="32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8240" y="5805264"/>
            <a:ext cx="1076325" cy="800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AutoShape 2" descr="data:image/jpeg;base64,/9j/4AAQSkZJRgABAQAAAQABAAD/2wCEAAkGBxQQEBIQDxQPEBAQEBAPDxEVDxAQEBAQFRUWFhQRFRQaHSggGBolGxQUITEiJikrLi4uFx8zOD8sNygtLisBCgoKDg0OGxAQGy4kICQsLiw0LC01LzIsLCw0LC4sLCwsNCwsLTQvLCwsLywsLCwuLzQsLCwsLCwsNCwsLCwsLP/AABEIAOEA4QMBEQACEQEDEQH/xAAcAAEAAgMBAQEAAAAAAAAAAAAAAgMEBQYBBwj/xABBEAACAgEBBAcEBwUHBQEAAAABAgADEQQFEiExBhNBUWFxkSIygaEHFCNCcrHBUmKy0eEzY3OCg6LCNFOSk/EV/8QAGgEBAAIDAQAAAAAAAAAAAAAAAAEDAgQFBv/EADgRAQACAQIEAgkCBAYDAQAAAAABAgMEERIhMVEFQRMyYXGBkaGx0cHwBhQiUiMzNEKy4UNy8RX/2gAMAwEAAhEDEQA/APuMBAQEBAQEBAQEBAQEBAQEBAQEBAQEBAQEBAQEBAQEBAQEBAQEBAQEBAQEBAQPC0Cp7oFD6iBdp797gefZ4wL4CAgICAgICAgICAgICAgICAgICAgICAgUai3HD4wMR9RAx7NRAobUQPa9Vgg9xzA6CAgICAgICAgICAgICAgICAgICAgICAgIGp21Zusp7CCPiP8A7A1D6uBjvq4Ff1mBOq0swUc2IUeZ4QO1AgewEBAQEBAQEBAQEBAQEBAQEBAQEBAQEDE2no+urK8m5oe5h+nZA4TU2MjFWBDKcEdxgYr6kwAvgdT0V2cT9u/AceqHf2F/LugdPAQEBAQEBAQEBAQEBAQEBAQEBAQEBAQEDwmBz+3tEtj7wxndAJ74GkbZMAuzACM5x2+UDuaSCo3MbuBu45Y7oE4CAgICAgICAgICAgICAgICAgICAgIHhMDGt1YHAQKQ+9A8srgY71QIBBAupwOWR5HEDNrtPn+cDIVs8RA9gICAgICAgICAgICAgICAgICAgIGt2tq9wYEDlrdsANgnmYHSaWwBQT2iB62ogVm4QKbLIGFZrt084Gz0Oo3oGbpbfb3e/PqIGbAQEBAQEBAQEBAQEBAQEBAQEBA8Jgcl0i1PEwOD1FD6m9KK/fscKD+z3sfADJ+EDvV1XADuGIETqYETqYFVur4QOY6QawgZU4IgdZ0LvNunV24Eg58xwgbil/tl8z+RgbmAgICAgICAgICAgICAgICAgICBTq7d1CT2CB8525rN4mBtfo82R72sccWzXR+HPtv8SMfA98CN/B3Hc7j0YwKGeBWXgY99kDQ7RG8cQPo3R3T9To0zwJXPrxgW7N9q8fuhmPpj9YG/gICAgICAgICAgICAgICAgIFbXKOZHrmBW2sUd5+H84Gt2qxuXdU7g7eGSYHN39Gwxy9jEZGQFAyO0ZzwgdJVtdKlVNzdRQFUKR7KgYAAgc8wax3KKSGdyDjhgsSOPKBI7Os/d9T/ACgUWbPsHYD5N/OBr9XS6j2lYeODj1gYmz9H196IPvMAfAdp9MwO92rqAgCLyAxAv6PUeybT9/gv4R2/E/kIG3gICAgICAgICAgICAgRZwOZgY9+uROLEDxYhR84Gp1PSvSp7+q0dfgdTSD82gUU9JdJacJq9JYewDVUsfgN6BsN8YyMEHkRxBgVPcBAoN5b3AW8hw9YD6q7e8Qo7hxP8oE00KDs3j3tx+XKBdiB4VgRKQImuBWtAVt8ABx94Ab3rApt0QdgzFiM5ZcjiO7PZA3Y2jWoG8RWOAGcAeQgZqnIyOIPEHsIgewEBAQEBAQEBArvuCKWbOB3KzH4AAkyJnZEzs4/bXTSxDu6bTXn+8t02pAz4IFBI8yJHHBxQ47afTHaD8OtfTjt6vQsvzsDGOKvc4ocvtDad1hzdrdYe8dbbWn/AIhgvyjjr3hHFHdpLNLpmOWsVm7S3Vs3qRmOKO5xR3STTaf7tiDy3P0k7sln1GtuTKfNQf0kjY7G1d2hYPp33UBy1YJFTjtDJyz44zAyukHSnV6m0pRY1FI5bh3XsPaS44j4EQNWlusHEanV/DX6rP8AFA2Gl6R7SqI3dTqWA7LOpvB899d4+ogbzRfSXq04aiii4Z5r1mnbHn7YJ+AgdJs76StJZwtF+mbOPbr6xPPerLYHiwEDqNBtCrULvUW1XL2lLFfHgcHhAycQGIFV9yoMuQo+Z8h2wNXqNqk8KhgftN+ggYOmos1LHqla48jYx3al8C/H0GTMJv5V5seLs6zY2yWoGXtexj90ezSv4U7T4k+kmInrMpiJ821mSSAgICAgICAgICAgCIFb0KeaqfNQZG0GyizZlLe9TS3nUh/SOGOyNoY1nRzRt72l0Z89NSf+Mjgr2OGOzjekv0Q6XWWtatt2nU7u7TWlQoQhQMqm6MZxk+JMjg7MeHs5jaP0TVbOQ6g660VjgaxplL2sc4VftAN7xI4cTI4bdzhnu4rWbwY9WCq9gLFmPiTwGfICTwz3+ydp7q0usHa3qv8AKNrdzae65NfZ2t6pn570f1+w/qXDVk8WWpgOP3gfTdjit5wbz2e06yreDBWRx7rrYEZfI5yI4+8T+/ccXsdTsrpdfXgC6y1f2bqjaP8A2D2vnHpKnFDptN0zFoC5qqfkTv5BPhvAY+OZMXrPSUxaJ6SmLesfdTN9nbx9lfFm5Dy5+ExtlrHJhbJWrfbP2FWcNqbFtP8A2gStI888X+PDwmO8W9afh++rGL1nrLpKnQAKhQAYAAIAA7AAJZE16Qsi1Z6StmTIgICAgICAgICAgICAgICAgIHC/SMS7VV/dVC+PFjjP+35wPnGs0oga2ykQKX04gZezdnhw/hgfnA9bZAzygbrZ2zwMcIHQVoqLl93AHHIGJExE9UTEebL2ftNFGFwPIAACa1+fKOjSyzxTy6MyzapAJUZ4czwH9Zr57+jx2v2hGLFx3ivdiaDVtbcm+c/aV4HYPa7B2TT8M1OTPa039m0fNuanBTFwRX99H0ed5mQEBAQEBAQEBAQEBAQEBAQEDi+m9ebVP8AdL/E0DgtoJzgaKxckwMa2kn7zDyOJCNm46JaQL1wyzZ3D7Rz+1JIbttNxhKeouFFZsI3sYCjlknkMwNFpdoHWWtWXANQ3mrAYBRw45+9zE1tTm9Fjm9ukK+G17RXu6jQ6NUAPM8Dk9nkJViyekpF+8btbJHDaa9lmvvCISSAMdsp1kb4LRHZnpv82rnNL0oFVyMiG0K6sRvbgbByADg9vhOfoZ/lqzxR12dPNh9LaJ36O50f0oackLdTfUxIBwFsVfPkflOrTxDHbrDGcE+TvJvqCAgICAgICAgICAgICAgICBy3TGv2kP7pHof6wPn2015wOctyCcAkZ58IRuo63vB9JG5u3nRSwG11768+hH85Kd3StXxgazpOMUL/AIq/wtA5fob/ANfq/wDBX+JZzvFf9Lb9+aaf5lff+jrdobeq043Sd+zA+zU8R+I/d/OU4MlaYKb/ANsfZTOnvky226bzzc19ebV6isXcULj7MZCAfqfEzT1WpvOOduTfw6emPo6nT6dE9xVT8KgTz172t607trZyWsGdUw77sf7sTt6WP6afBXZ+ip6lzyAgICAgICAgICAgICAgICBoOlqZVD+MflA+dbUXnA58sAWB7eI8xAxHxmBtui+BqBjtRh+v6QOvZOMDR9OKz9SLLwKWVt38Cd3/AJSrNaa03hlWImdpfP8AR6p6y5rO41o3bGHvEc8Z7PhOblzWvHDZdGKsTunWw9ZrzE2ldvENrsoFbK3YMFDZzjnzHD4yvUaXL6PnG2/KN+7CufHM7RO+3Pk+tbJ6K9bWlr2YWxFcKq8cMMjLHt490nH4BtP+Lf5fmfwxjVxasTWOvdstF0J0VT9Z1QtsLFt6xjZ7Wc53T7I4+E7OLR4sURER07qrZbS6KbKsgICAgICAgICAgICAgICAgaLpS3soPxH8oHzvanMwOb2hUGBzygahdC/3WI8Ccj55k7V8t1cekjrtLc9FKbV1dW9uFfbyRkH3Gxw88SGcTPnDv2XjCVev0IvpspbgLEK554PY3wOD8JjavFG0pidp3fMv/wAU1uyWe8jFWGeGRIpo8UdebWyanN0iNm52Vs5SQE3f3mGDgDnx75sf4eLaOm87fFpXtkvvM89o35rOlmpFFalQN73a18v0EanSzqJpWOkWiZ90RLa8Hxzly2j2c/nCvYvS3ayV7y2Hqa1GOsrr3SoxgDK7xHlNic2inPXTzMcdp22j9dunxeorpdNaYpw8+nJ9S+j3pDbr9O9moFYau3qwUVlBG6Dkgk8eMjW6euC8RXzhpeI6SumyRWs9Y3dVNNzyAgICAgICAgICAgICAgICBx/SXV7znHJfZHw/rmBxWvbOYGh1VgJwSOEbIiYnoipHeIS3fRenNpfsRfm3AfLMDqiOMD22wIpdjhVGSYHEamzrLGsP32J8h2D0gaP6OiBqNoE4ADISeQHtW5PylOT/ADMUR/fH/GynNWbRMRzmazH1q2NWqGo1yMRlV3lrB4jAVjnHeTx9O6dfxjF6HwzLMddo5/GHptN4bXRaGYn1p2mZ9vb3R0+vm3e2mxp7PwgepA/WeC/h2N/E8Pvn/jLDSRvmq7H6KNBZTo7OuR6zZeXUMpVim4gDYPHGQZ73xLJW+WOGd9oUeMZaZM0cE77R5e+XaznOSQEBAQEBAQEBAQEBAQEBAQON2rs+3JXqnfuZRvA+Ph8YHI7WqFT9W7VizGWqFitYncHAPsk88TKa2iN5jkymloiLTHKWruVTzAPwkbyr4a9mG2kXuX0EbycFezr9g7N6qlSB7/2h+PL5YkJiNm0Re+EuD6S9Imu1X1OnhXVg2NjPWORkY48h8z8JnO1cGTJ51jds4NPGWlp3mJq0us2i9T7uM8Ac5/pMvDscazD6SeXOYX4PDpy134tvh/2wNFaKlu3Mr9YKmwlhyUsccu0v8p18Ggx0vF7Tvtzj2TtMb/KZdLReF1wZfS3vvtHbbtz6z2ZfR/XKdQOrO+URnOPdxjd5/wCYTX/ia3B4baJj15iI+e/2hbq/EcF6zipO8+zp8/w+pfRLcdSNXbcqE1as00nc4KqqCcE9uSMmcbF4bptNhw3x1/qtSLTM853n7R7nnL5b2tMS+iy1WQEBAQEBAQEBAQEBAZgeZgeb0Dzfgeb8Dzfga/bOgXUVOm7QXKkI12nXUIh/aNZI3vUTPHfhnfnt7J2ZVvavqzs/Pz7C1iElNQrcScFN1efYoyAPATfnU6W/rY5j3fuE+lv57T8PxzTSvXJ7y0Wd+HKn5gSm0aW3qzMe/wDcnFWetflP5/LfbO6WampAlumswowpVkc47BwMrnDT/beJ+cG1J6Tt74/G67UdKTYCpD1DtzW6/wC7GJXOK0dp90xKfRW8ufuchXqk+v22by7g6s72Ru46vv5Sb4r20uesRO81iNvi3tHWa48s2jblH3lrNvbbRrSavbwAM8lyM+s3vBNFmwaaKZI2neZTTxGuGnDWN5+jU6jrGCtZkI4LJ2KwBwSB3ZHOei0ePFktbad+Gdp9+2+3yc7UarNm9eeXbybTopf1drtjP2LKO7JZcZ9D6Ti/xlEX0uPHvz44n4RW35hqfzNdPE3ntyjvLsNjJqat56XtpBLWMRY1asT7ROBzz5TwOTWxWYrxTvyjl8o+TmTh1mSLZ+dYiJtv06c+UfuH0f6PtvajUW2V6izrVWrfUlFDA7yjmOfM850dFqMmS81tO8bJ8L1mXNea3neIh3W9Ok7ZvQPcwPYCAgICAgeZgeFoHhaBEtAiXgQLwImyBA2wIG6B87+kF7A7Z1Fop6vfZCQEGSeGFA3hwHPJmtk0eTPbhraefl/82+rn6nR3y/8Aknbt5fTb9Wkp2jU49iytvJ1M3LYr05WrMfBvwv3gZgl5wgQZBAh9UQ8wD8BJ3lO87bOS+kHSJXTWyKqsbcEhQCRutwzLa6jLX1bT82O0KNvaVrhoK05/UaiT2Ad5nV8N1uLR112bJ0jPeNu87RtEKNZmrix1tb+2HRdHNnJSyqoBIBJY8SWxzngvGfEM2ttbLknr0jyiO376uR4Vnvn19Zt7eXwl0eqPsP8Agb8jOBi9evvh6nXf6bJ/62+0t19H2z7anstsRkR6wqFuBb2gfd544T1vh+G9bTa0bRs8x4RpcuO1r3jaJh3QtnUd1IWQJh4Eg8D0NA93oE4HhMCJMCJaBEtAgWgQLwIF4EGsgVNbAqa6BS98DjOlWtxbl1dF3QgdlwjHJPBuXb5yqctYna3L39Pmq9NWJmLbxt3jl8+jn76q7R7QRvMK0vpktHq2n4SsjaY3hiLsase6oT8GU/hxLP5jJPWd/fz+5tCyvZGPdsvX/Vd/4iYnNM9Yj5RH22NmLtOq3T1Pd17MqAEhq6ycZA+6B3yub9qx9Y/WfsrtGX/bMT7/AN/orp1uoC7xNLDwR1+e8fymh/8Ap4OLhmto+MT+kI02Sc2KcvTbf6NR0ha7W1rXu1puvv56xjngRjG7w5zZrrNNE7zNvlH6WlpT4pijrEtrU4VK+sKjq6q6d7gBuoMDj5kn4zj6rL6bNktTfa17X29tp++20fBx9Vny63JFaxM7coiOf7mV+ytpq125X7RCsc8lGPzmjqsUxi3s9B4X4FqtLaNRniK+W3nz+33YvTCyw9UgZzvl8ouQGxu4G6OfOT4bSszbaOfL3+b13h8V3ta3lt8Or7PpNVlRg54CepednqzUvhC5bYFi2QLFeBMPAlvQLiYESYES0CBaBAtAgWgVs0CtngVM8Cl3gUPZAxrbYHL9LNmVakKbV3mU4DZYEDB4c5jalbdV+HU5cPqTs5Y9HN3jTbanhkMPnKv5eseryRa+O873xxv3jes/RJNPqq/vVWjxyhx4c5PDkjpO/vVTSv8AttPumIn6xt9pZVWvcf2lTr4jDD5SfSWj1qz8Of8A39Fc2tXrHy5/fafow+lGtR9FeAfaKDhyPvDsMzrkrM9SmWlp5Sos1tdVI32A4HA7Tw7BzM8xOK98v9MKvCqzfSTWsbzM2c6+1GYHqlO6CAXI4AnkPkfSdH0VY9afgu0P8MTe0ent8I/WfwxXdm4uxY957PIdkz5eT2mj8P0+krtirEe1u+hyE3kgEgVsM44AkjAz6yjUaa+esUp3UeKZa1xREzz3dzToQzB2ALLkKce6DjOPQToaTR001dq85nrLzN8trRt5dm+0ZK8puKm2ougZldkC9HgXK8C1WgS3oGSTAiTAgTAgTArLQIM0CtmgVM0ClmgUu0ChzAxrTA5/bXXZHVojoBk/abtm93AEYx8ZjMytrXHMc52n3cvz9GmbXlf7Su6v/TLj1TIji7p9DM+rMT8dvvsnTtCt+CuhPaN4ZHmJMWiejC2K9fWiYX7wMlgqt0ytwYA/CRMRPVFqxblMbuX6a6BK6BYiqHNqKWxxIweHymE46bbRC/T5r4dq0naO3k92mgXZmnAAGbFJwMZOLOJ8Z5vDMzrL79vw9Lg5au8ez8KNidHHuw9mUr7P238u4eM7ePBNuc9Fet8Uri3pj52+kO60Gz1rUIihVHID8/EzciIiNoebyZLZLTa87y2lNUlgzakgZlQgZdcDIQwL0MC5TAlmBlkwIEwIEwK2MCDGBWxgVsYFTQK2gUtApeBj2LAxrKoGLZpYGBq9lJYMOiOP3lDfnImInqzpe1PVmY9zBfYKjihsr/DYwA/ynK/KRwx5MvTWn1oiffH69fqpOzLl9y0MO56wSf8AMpGPSNp7p4sc9a7e6fzv92n6S7J1eopFa1IxFivlbRxABHJgMc4mbbdE1ri4oni+cfjdvNm7BPU1JeoJqwwX3gH48T38zNLT6CuPJOW3OZ+UNjU6yb5LTj5RPz2bqvRYm+0GVXp4GTXTAyUrgXokC9FgXqIFqwLVgTgZRgQMCBgQMCDQK2gVtAraBWwgVsIFTLArZIFZrgQNUCBpgQOngeDTQJiiBMUwJimBYtUCxa4FqpAsVIFqrAsUQLFECxRAliBlGBAwIGBAwINArMCDQKzAraBBoFbQIGBAwImBGAgIEoEhAkIExAmsCYgWCBYsCxYE1gTECUD/2Q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R"/>
          </a:p>
        </p:txBody>
      </p:sp>
      <p:pic>
        <p:nvPicPr>
          <p:cNvPr id="23556" name="Picture 4" descr="http://autism.ie/wp-content/uploads/2014/03/Research.jpg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66"/>
          <a:stretch/>
        </p:blipFill>
        <p:spPr bwMode="auto">
          <a:xfrm>
            <a:off x="6660232" y="1340768"/>
            <a:ext cx="2036386" cy="2323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558" name="Picture 6" descr="http://www.douglaspubliclibrary.org/douglas/ckfinder/userfiles/images/research-skills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6160" y="3810128"/>
            <a:ext cx="2327389" cy="2808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2845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395536" y="1412776"/>
            <a:ext cx="5688632" cy="518457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CR" sz="2000" dirty="0" smtClean="0"/>
              <a:t>4. </a:t>
            </a:r>
            <a:r>
              <a:rPr lang="es-CR" sz="2000" u="sng" dirty="0" smtClean="0"/>
              <a:t>Estadística </a:t>
            </a:r>
            <a:r>
              <a:rPr lang="es-CR" sz="2000" u="sng" dirty="0"/>
              <a:t>de prueba</a:t>
            </a:r>
            <a:r>
              <a:rPr lang="es-CR" sz="2000" dirty="0"/>
              <a:t>:  Dado que se esta probando una </a:t>
            </a:r>
            <a:r>
              <a:rPr lang="es-CR" sz="2000" dirty="0" smtClean="0"/>
              <a:t>hipótesis </a:t>
            </a:r>
            <a:r>
              <a:rPr lang="es-CR" sz="2000" dirty="0"/>
              <a:t>acerca de la media de una </a:t>
            </a:r>
            <a:r>
              <a:rPr lang="es-CR" sz="2000" dirty="0" smtClean="0"/>
              <a:t>población, </a:t>
            </a:r>
            <a:r>
              <a:rPr lang="es-CR" sz="2000" dirty="0"/>
              <a:t>y que se supone que esta sigue una </a:t>
            </a:r>
            <a:r>
              <a:rPr lang="es-CR" sz="2000" dirty="0" smtClean="0"/>
              <a:t>distribución </a:t>
            </a:r>
            <a:r>
              <a:rPr lang="es-CR" sz="2000" dirty="0"/>
              <a:t>normal, y puesto que se conoce la variancia, </a:t>
            </a:r>
            <a:r>
              <a:rPr lang="es-CR" sz="2000" dirty="0" smtClean="0"/>
              <a:t>el estadístico de </a:t>
            </a:r>
            <a:r>
              <a:rPr lang="es-CR" sz="2000" dirty="0"/>
              <a:t>prueba se obtiene mediante la </a:t>
            </a:r>
            <a:r>
              <a:rPr lang="es-CR" sz="2000" dirty="0" smtClean="0"/>
              <a:t>ecuación  </a:t>
            </a:r>
          </a:p>
          <a:p>
            <a:pPr marL="0" indent="0">
              <a:buNone/>
            </a:pPr>
            <a:endParaRPr lang="es-CR" sz="2000" dirty="0" smtClean="0"/>
          </a:p>
          <a:p>
            <a:pPr marL="0" indent="0">
              <a:buNone/>
            </a:pPr>
            <a:endParaRPr lang="es-CR" sz="2000" dirty="0" smtClean="0"/>
          </a:p>
          <a:p>
            <a:pPr marL="0" indent="0">
              <a:buNone/>
            </a:pPr>
            <a:endParaRPr lang="es-CR" sz="2000" dirty="0"/>
          </a:p>
          <a:p>
            <a:pPr marL="0" indent="0">
              <a:buNone/>
            </a:pPr>
            <a:endParaRPr lang="es-CR" sz="2000" dirty="0"/>
          </a:p>
          <a:p>
            <a:pPr marL="0" indent="0" algn="just">
              <a:buNone/>
            </a:pPr>
            <a:r>
              <a:rPr lang="es-CR" sz="2000" dirty="0" smtClean="0"/>
              <a:t>5</a:t>
            </a:r>
            <a:r>
              <a:rPr lang="es-CR" sz="2000" dirty="0"/>
              <a:t>. </a:t>
            </a:r>
            <a:r>
              <a:rPr lang="es-CR" sz="2000" u="sng" dirty="0"/>
              <a:t>Distribución de la estadística de </a:t>
            </a:r>
            <a:r>
              <a:rPr lang="es-CR" sz="2000" u="sng" dirty="0" smtClean="0"/>
              <a:t>prueba</a:t>
            </a:r>
            <a:r>
              <a:rPr lang="es-CR" sz="2000" dirty="0" smtClean="0"/>
              <a:t>: con </a:t>
            </a:r>
            <a:r>
              <a:rPr lang="es-CR" sz="2000" dirty="0"/>
              <a:t>base en el conocimiento acerca de </a:t>
            </a:r>
            <a:r>
              <a:rPr lang="es-CR" sz="2000" dirty="0" smtClean="0"/>
              <a:t>la distribución de pacientes, </a:t>
            </a:r>
            <a:r>
              <a:rPr lang="es-CR" sz="2000" dirty="0"/>
              <a:t>se sabe que la </a:t>
            </a:r>
            <a:r>
              <a:rPr lang="es-CR" sz="2000" dirty="0" smtClean="0"/>
              <a:t>estadística </a:t>
            </a:r>
            <a:r>
              <a:rPr lang="es-CR" sz="2000" dirty="0"/>
              <a:t>de prueba tiene una </a:t>
            </a:r>
            <a:r>
              <a:rPr lang="es-CR" sz="2000" dirty="0" smtClean="0"/>
              <a:t>distribución normal. No se conoce los valores de los parámetros, pero se sabe la forma de su distribución.</a:t>
            </a:r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323528" y="0"/>
            <a:ext cx="8496944" cy="994122"/>
          </a:xfrm>
        </p:spPr>
        <p:txBody>
          <a:bodyPr>
            <a:normAutofit/>
          </a:bodyPr>
          <a:lstStyle/>
          <a:p>
            <a:pPr algn="ctr"/>
            <a:r>
              <a:rPr lang="es-CR" sz="3200" dirty="0" smtClean="0"/>
              <a:t>Aplicación: PH para una media</a:t>
            </a:r>
            <a:endParaRPr lang="es-CR" sz="3200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3284984"/>
            <a:ext cx="1598578" cy="1008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4578" name="Picture 2" descr="http://www.sbit.in/images/research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014"/>
          <a:stretch/>
        </p:blipFill>
        <p:spPr bwMode="auto">
          <a:xfrm>
            <a:off x="6505972" y="1556792"/>
            <a:ext cx="2160240" cy="1952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580" name="Picture 4" descr="https://www.progress.com/images/default-source/blogs/5/files/2014/06/research.jpg?Status=Master&amp;sfvrsn=0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1511" y="3933057"/>
            <a:ext cx="1929159" cy="2263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3239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323528" y="1052736"/>
            <a:ext cx="8568952" cy="532859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CR" sz="2000" dirty="0" smtClean="0"/>
              <a:t>6. </a:t>
            </a:r>
            <a:r>
              <a:rPr lang="es-CR" sz="2200" u="sng" dirty="0" smtClean="0"/>
              <a:t>Regla de </a:t>
            </a:r>
            <a:r>
              <a:rPr lang="es-CR" sz="2200" u="sng" dirty="0"/>
              <a:t>decisión</a:t>
            </a:r>
            <a:r>
              <a:rPr lang="es-CR" sz="2200" dirty="0"/>
              <a:t>: </a:t>
            </a:r>
            <a:r>
              <a:rPr lang="es-CR" sz="2200" dirty="0" smtClean="0"/>
              <a:t>la regla </a:t>
            </a:r>
            <a:r>
              <a:rPr lang="es-CR" sz="2200" dirty="0"/>
              <a:t>de </a:t>
            </a:r>
            <a:r>
              <a:rPr lang="es-CR" sz="2200" dirty="0" smtClean="0"/>
              <a:t>decisión </a:t>
            </a:r>
            <a:r>
              <a:rPr lang="es-CR" sz="2200" dirty="0"/>
              <a:t>indica que Ho se ha de rechazar si </a:t>
            </a:r>
            <a:r>
              <a:rPr lang="es-CR" sz="2200" dirty="0" smtClean="0"/>
              <a:t>el valor </a:t>
            </a:r>
            <a:r>
              <a:rPr lang="es-CR" sz="2200" dirty="0"/>
              <a:t>calculado de la </a:t>
            </a:r>
            <a:r>
              <a:rPr lang="es-CR" sz="2200" dirty="0" smtClean="0"/>
              <a:t>estadística </a:t>
            </a:r>
            <a:r>
              <a:rPr lang="es-CR" sz="2200" dirty="0"/>
              <a:t>de prueba cae en </a:t>
            </a:r>
            <a:r>
              <a:rPr lang="es-CR" sz="2200" dirty="0" smtClean="0"/>
              <a:t>la región </a:t>
            </a:r>
            <a:r>
              <a:rPr lang="es-CR" sz="2200" dirty="0"/>
              <a:t>de rechazo, y no se ha de </a:t>
            </a:r>
            <a:r>
              <a:rPr lang="es-CR" sz="2200" dirty="0" smtClean="0"/>
              <a:t>rechazar </a:t>
            </a:r>
            <a:r>
              <a:rPr lang="es-CR" sz="2200" dirty="0"/>
              <a:t>si cae en la </a:t>
            </a:r>
            <a:r>
              <a:rPr lang="es-CR" sz="2200" dirty="0" smtClean="0"/>
              <a:t>región </a:t>
            </a:r>
            <a:r>
              <a:rPr lang="es-CR" sz="2200" dirty="0"/>
              <a:t>de no rechazo</a:t>
            </a:r>
            <a:r>
              <a:rPr lang="es-CR" sz="2200" dirty="0" smtClean="0"/>
              <a:t>. Para un nivel de significancia de </a:t>
            </a:r>
            <a:r>
              <a:rPr lang="el-GR" sz="2200" dirty="0" smtClean="0">
                <a:latin typeface="Times New Roman"/>
                <a:cs typeface="Times New Roman"/>
              </a:rPr>
              <a:t>α</a:t>
            </a:r>
            <a:r>
              <a:rPr lang="es-CR" sz="2200" dirty="0" smtClean="0">
                <a:latin typeface="Times New Roman"/>
                <a:cs typeface="Times New Roman"/>
              </a:rPr>
              <a:t>=0.05, </a:t>
            </a:r>
            <a:r>
              <a:rPr lang="es-CR" sz="2200" dirty="0"/>
              <a:t>se tendría la siguiente ilustración de las zonas de rechazo</a:t>
            </a:r>
            <a:r>
              <a:rPr lang="es-CR" sz="2200" dirty="0" smtClean="0"/>
              <a:t>. En este caso, un valor del estadístico “z” entre [-1.96 ; 1.96 ], no rechazaría la hipótesis nula. Un valor fuera de </a:t>
            </a:r>
            <a:r>
              <a:rPr lang="es-CR" sz="2200" dirty="0"/>
              <a:t>[-1.96 ; 1.96 </a:t>
            </a:r>
            <a:r>
              <a:rPr lang="es-CR" sz="2200" dirty="0" smtClean="0"/>
              <a:t>], la rechazaría.</a:t>
            </a:r>
            <a:endParaRPr lang="es-CR" sz="2200" dirty="0"/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395536" y="116632"/>
            <a:ext cx="8496944" cy="720080"/>
          </a:xfrm>
        </p:spPr>
        <p:txBody>
          <a:bodyPr>
            <a:normAutofit/>
          </a:bodyPr>
          <a:lstStyle/>
          <a:p>
            <a:pPr algn="ctr"/>
            <a:r>
              <a:rPr lang="es-CR" sz="3200" dirty="0" smtClean="0"/>
              <a:t>Aplicación: PH para una media</a:t>
            </a:r>
            <a:endParaRPr lang="es-CR" sz="3200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540" y="3428783"/>
            <a:ext cx="7416824" cy="32405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85888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323528" y="1268760"/>
            <a:ext cx="6408712" cy="51845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R" sz="2200" dirty="0" smtClean="0"/>
              <a:t>7. Cálculo de la estadística de prueba. A partir de la fórmula</a:t>
            </a:r>
          </a:p>
          <a:p>
            <a:pPr marL="0" indent="0">
              <a:buNone/>
            </a:pPr>
            <a:endParaRPr lang="es-CR" sz="2200" dirty="0"/>
          </a:p>
          <a:p>
            <a:pPr marL="0" indent="0">
              <a:buNone/>
            </a:pPr>
            <a:endParaRPr lang="es-CR" sz="2200" dirty="0" smtClean="0"/>
          </a:p>
          <a:p>
            <a:pPr marL="0" indent="0">
              <a:buNone/>
            </a:pPr>
            <a:endParaRPr lang="es-CR" sz="2200" dirty="0" smtClean="0"/>
          </a:p>
          <a:p>
            <a:pPr marL="0" indent="0">
              <a:buNone/>
            </a:pPr>
            <a:endParaRPr lang="es-CR" sz="2200" dirty="0"/>
          </a:p>
          <a:p>
            <a:pPr marL="0" indent="0">
              <a:buNone/>
            </a:pPr>
            <a:r>
              <a:rPr lang="es-CR" sz="2200" dirty="0" smtClean="0"/>
              <a:t>Se obtiene el resultado:</a:t>
            </a:r>
          </a:p>
          <a:p>
            <a:pPr marL="0" indent="0">
              <a:buNone/>
            </a:pPr>
            <a:endParaRPr lang="es-CR" sz="2200" dirty="0"/>
          </a:p>
          <a:p>
            <a:pPr marL="0" indent="0">
              <a:buNone/>
            </a:pPr>
            <a:endParaRPr lang="es-CR" sz="2200" dirty="0" smtClean="0"/>
          </a:p>
          <a:p>
            <a:pPr marL="0" indent="0">
              <a:buNone/>
            </a:pPr>
            <a:endParaRPr lang="es-CR" sz="2200" dirty="0"/>
          </a:p>
          <a:p>
            <a:pPr marL="0" indent="0">
              <a:buNone/>
            </a:pPr>
            <a:endParaRPr lang="es-CR" sz="2200" dirty="0" smtClean="0"/>
          </a:p>
          <a:p>
            <a:pPr marL="0" indent="0">
              <a:buNone/>
            </a:pPr>
            <a:r>
              <a:rPr lang="es-CR" sz="2200" dirty="0" smtClean="0"/>
              <a:t>Ahora utilizamos la regla de decisión….</a:t>
            </a:r>
            <a:endParaRPr lang="es-CR" sz="2200" dirty="0"/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395536" y="116632"/>
            <a:ext cx="8496944" cy="720080"/>
          </a:xfrm>
        </p:spPr>
        <p:txBody>
          <a:bodyPr>
            <a:normAutofit/>
          </a:bodyPr>
          <a:lstStyle/>
          <a:p>
            <a:pPr algn="ctr"/>
            <a:r>
              <a:rPr lang="es-CR" sz="3200" dirty="0" smtClean="0"/>
              <a:t>Aplicación: PH para una media</a:t>
            </a:r>
            <a:endParaRPr lang="es-CR" sz="3200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6595" y="2132856"/>
            <a:ext cx="1598578" cy="1008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6 Rectángulo"/>
              <p:cNvSpPr/>
              <p:nvPr/>
            </p:nvSpPr>
            <p:spPr>
              <a:xfrm>
                <a:off x="2436863" y="3804938"/>
                <a:ext cx="3004393" cy="112216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CR" sz="2400" i="1" smtClean="0">
                        <a:latin typeface="Cambria Math"/>
                      </a:rPr>
                      <m:t>𝑧</m:t>
                    </m:r>
                    <m:r>
                      <a:rPr lang="es-CR" sz="240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s-CR" sz="2400" i="1">
                            <a:latin typeface="Cambria Math"/>
                          </a:rPr>
                        </m:ctrlPr>
                      </m:fPr>
                      <m:num>
                        <m:r>
                          <a:rPr lang="es-CR" sz="2400" b="0" i="1" smtClean="0">
                            <a:latin typeface="Cambria Math"/>
                          </a:rPr>
                          <m:t>35</m:t>
                        </m:r>
                        <m:r>
                          <a:rPr lang="es-CR" sz="2400" i="1">
                            <a:latin typeface="Cambria Math"/>
                          </a:rPr>
                          <m:t>−30</m:t>
                        </m:r>
                      </m:num>
                      <m:den>
                        <m:f>
                          <m:fPr>
                            <m:type m:val="skw"/>
                            <m:ctrlPr>
                              <a:rPr lang="es-CR" sz="2400" i="1"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s-CR" sz="2400" b="0" i="1" smtClean="0">
                                <a:latin typeface="Cambria Math"/>
                              </a:rPr>
                              <m:t>12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s-CR" sz="2400" i="1">
                                    <a:latin typeface="Cambria Math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s-CR" sz="2400" b="0" i="1" smtClean="0">
                                    <a:latin typeface="Cambria Math"/>
                                  </a:rPr>
                                  <m:t>40</m:t>
                                </m:r>
                              </m:e>
                            </m:rad>
                          </m:den>
                        </m:f>
                      </m:den>
                    </m:f>
                  </m:oMath>
                </a14:m>
                <a:r>
                  <a:rPr lang="es-CR" sz="2400" dirty="0" smtClean="0"/>
                  <a:t>=2.64</a:t>
                </a:r>
                <a:br>
                  <a:rPr lang="es-CR" sz="2400" dirty="0" smtClean="0"/>
                </a:br>
                <a:r>
                  <a:rPr lang="es-CR" sz="2400" dirty="0" smtClean="0"/>
                  <a:t> </a:t>
                </a:r>
                <a:endParaRPr lang="es-CR" sz="2400" dirty="0"/>
              </a:p>
            </p:txBody>
          </p:sp>
        </mc:Choice>
        <mc:Fallback xmlns="">
          <p:sp>
            <p:nvSpPr>
              <p:cNvPr id="7" name="6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6863" y="3804938"/>
                <a:ext cx="3004393" cy="1122167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5602" name="Picture 2" descr="http://www.oppictures.com/singleimages/400/TEXTI30XIIS_1_1.JP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91" t="4349" r="17800" b="5897"/>
          <a:stretch/>
        </p:blipFill>
        <p:spPr bwMode="auto">
          <a:xfrm>
            <a:off x="6518631" y="3804938"/>
            <a:ext cx="1748766" cy="2448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604" name="Picture 4" descr="http://4.bp.blogspot.com/-G99Zsa7MjIQ/T708DjtdfUI/AAAAAAAABCs/976iCiB4xP4/s1600/CALCLTR.gif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1507" y="1811590"/>
            <a:ext cx="1728192" cy="1689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5433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467544" y="1196752"/>
            <a:ext cx="7776864" cy="4572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R" sz="2000" dirty="0" smtClean="0"/>
              <a:t>8. </a:t>
            </a:r>
            <a:r>
              <a:rPr lang="es-CR" sz="2000" u="sng" dirty="0"/>
              <a:t>Decisión estadística</a:t>
            </a:r>
            <a:r>
              <a:rPr lang="es-CR" sz="2000" dirty="0"/>
              <a:t>: Con base en la </a:t>
            </a:r>
            <a:r>
              <a:rPr lang="es-CR" sz="2000" dirty="0" smtClean="0"/>
              <a:t>regla </a:t>
            </a:r>
            <a:r>
              <a:rPr lang="es-CR" sz="2000" dirty="0"/>
              <a:t>de </a:t>
            </a:r>
            <a:r>
              <a:rPr lang="es-CR" sz="2000" dirty="0" smtClean="0"/>
              <a:t>decisión, </a:t>
            </a:r>
            <a:r>
              <a:rPr lang="es-CR" sz="2000" dirty="0"/>
              <a:t>se puede rechazar la </a:t>
            </a:r>
            <a:r>
              <a:rPr lang="es-CR" sz="2000" dirty="0" err="1"/>
              <a:t>hipotesis</a:t>
            </a:r>
            <a:r>
              <a:rPr lang="es-CR" sz="2000" dirty="0"/>
              <a:t> nula </a:t>
            </a:r>
            <a:r>
              <a:rPr lang="es-CR" sz="2000" dirty="0" smtClean="0"/>
              <a:t>porque </a:t>
            </a:r>
            <a:r>
              <a:rPr lang="es-CR" sz="2000" dirty="0"/>
              <a:t>2.64 esta en la </a:t>
            </a:r>
            <a:r>
              <a:rPr lang="es-CR" sz="2000" dirty="0" smtClean="0"/>
              <a:t>región </a:t>
            </a:r>
            <a:r>
              <a:rPr lang="es-CR" sz="2000" dirty="0"/>
              <a:t>de rechazo. Se puede decir que el </a:t>
            </a:r>
            <a:r>
              <a:rPr lang="es-CR" sz="2000" dirty="0" smtClean="0"/>
              <a:t>valor calculado </a:t>
            </a:r>
            <a:r>
              <a:rPr lang="es-CR" sz="2000" dirty="0"/>
              <a:t>de la prueba </a:t>
            </a:r>
            <a:r>
              <a:rPr lang="es-CR" sz="2000" dirty="0" smtClean="0"/>
              <a:t>estadística </a:t>
            </a:r>
            <a:r>
              <a:rPr lang="es-CR" sz="2000" dirty="0"/>
              <a:t>tiene un nivel de </a:t>
            </a:r>
            <a:r>
              <a:rPr lang="es-CR" sz="2000" dirty="0" smtClean="0"/>
              <a:t>significación </a:t>
            </a:r>
            <a:r>
              <a:rPr lang="es-CR" sz="2000" dirty="0"/>
              <a:t>de </a:t>
            </a:r>
            <a:r>
              <a:rPr lang="es-CR" sz="2000" dirty="0" smtClean="0"/>
              <a:t>0.05</a:t>
            </a:r>
            <a:r>
              <a:rPr lang="es-CR" sz="2000" dirty="0"/>
              <a:t>.</a:t>
            </a:r>
            <a:r>
              <a:rPr lang="es-CR" sz="2000" dirty="0" smtClean="0"/>
              <a:t> </a:t>
            </a:r>
            <a:endParaRPr lang="es-CR" sz="2000" dirty="0"/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395536" y="116632"/>
            <a:ext cx="8496944" cy="720080"/>
          </a:xfrm>
        </p:spPr>
        <p:txBody>
          <a:bodyPr>
            <a:normAutofit/>
          </a:bodyPr>
          <a:lstStyle/>
          <a:p>
            <a:pPr algn="ctr"/>
            <a:r>
              <a:rPr lang="es-CR" sz="3200" dirty="0" smtClean="0"/>
              <a:t>Aplicación: PH para una media</a:t>
            </a:r>
            <a:endParaRPr lang="es-CR" sz="3200" dirty="0"/>
          </a:p>
        </p:txBody>
      </p:sp>
      <p:pic>
        <p:nvPicPr>
          <p:cNvPr id="5" name="Picture 2" descr="normal-bil-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2492896"/>
            <a:ext cx="7276653" cy="4263504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5 Conector recto"/>
          <p:cNvCxnSpPr/>
          <p:nvPr/>
        </p:nvCxnSpPr>
        <p:spPr>
          <a:xfrm>
            <a:off x="1835696" y="5949280"/>
            <a:ext cx="4752528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6 Conector recto"/>
          <p:cNvCxnSpPr/>
          <p:nvPr/>
        </p:nvCxnSpPr>
        <p:spPr>
          <a:xfrm>
            <a:off x="6588224" y="5949280"/>
            <a:ext cx="1155973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7 Conector recto"/>
          <p:cNvCxnSpPr/>
          <p:nvPr/>
        </p:nvCxnSpPr>
        <p:spPr>
          <a:xfrm>
            <a:off x="679723" y="5949280"/>
            <a:ext cx="1155973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10 Conector recto de flecha"/>
          <p:cNvCxnSpPr/>
          <p:nvPr/>
        </p:nvCxnSpPr>
        <p:spPr>
          <a:xfrm>
            <a:off x="7092280" y="3717032"/>
            <a:ext cx="0" cy="158417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11 Elipse"/>
          <p:cNvSpPr/>
          <p:nvPr/>
        </p:nvSpPr>
        <p:spPr>
          <a:xfrm>
            <a:off x="7020272" y="5589240"/>
            <a:ext cx="144016" cy="21602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13" name="12 Rectángulo redondeado"/>
          <p:cNvSpPr/>
          <p:nvPr/>
        </p:nvSpPr>
        <p:spPr>
          <a:xfrm>
            <a:off x="323528" y="6165304"/>
            <a:ext cx="1440160" cy="504056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Rechazo</a:t>
            </a:r>
          </a:p>
        </p:txBody>
      </p:sp>
      <p:sp>
        <p:nvSpPr>
          <p:cNvPr id="14" name="13 Rectángulo redondeado"/>
          <p:cNvSpPr/>
          <p:nvPr/>
        </p:nvSpPr>
        <p:spPr>
          <a:xfrm>
            <a:off x="6588224" y="6173541"/>
            <a:ext cx="1440160" cy="504056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Rechazo</a:t>
            </a:r>
          </a:p>
        </p:txBody>
      </p:sp>
      <p:sp>
        <p:nvSpPr>
          <p:cNvPr id="15" name="14 Rectángulo redondeado"/>
          <p:cNvSpPr/>
          <p:nvPr/>
        </p:nvSpPr>
        <p:spPr>
          <a:xfrm>
            <a:off x="2866516" y="6177466"/>
            <a:ext cx="2622723" cy="64135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No rechazo</a:t>
            </a:r>
            <a:endParaRPr lang="es-CR" dirty="0"/>
          </a:p>
        </p:txBody>
      </p:sp>
      <p:cxnSp>
        <p:nvCxnSpPr>
          <p:cNvPr id="16" name="15 Conector recto"/>
          <p:cNvCxnSpPr/>
          <p:nvPr/>
        </p:nvCxnSpPr>
        <p:spPr>
          <a:xfrm flipV="1">
            <a:off x="1691680" y="4797152"/>
            <a:ext cx="0" cy="108012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16 Conector recto"/>
          <p:cNvCxnSpPr/>
          <p:nvPr/>
        </p:nvCxnSpPr>
        <p:spPr>
          <a:xfrm flipV="1">
            <a:off x="6520796" y="4797152"/>
            <a:ext cx="0" cy="100811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" name="20 CuadroTexto"/>
          <p:cNvSpPr txBox="1"/>
          <p:nvPr/>
        </p:nvSpPr>
        <p:spPr>
          <a:xfrm>
            <a:off x="1331640" y="4283804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 smtClean="0"/>
              <a:t>-1.96</a:t>
            </a:r>
            <a:endParaRPr lang="es-CR" dirty="0"/>
          </a:p>
        </p:txBody>
      </p:sp>
      <p:sp>
        <p:nvSpPr>
          <p:cNvPr id="22" name="21 CuadroTexto"/>
          <p:cNvSpPr txBox="1"/>
          <p:nvPr/>
        </p:nvSpPr>
        <p:spPr>
          <a:xfrm>
            <a:off x="6156176" y="4293096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 smtClean="0"/>
              <a:t>1.96</a:t>
            </a:r>
            <a:endParaRPr lang="es-CR" dirty="0"/>
          </a:p>
        </p:txBody>
      </p:sp>
      <p:sp>
        <p:nvSpPr>
          <p:cNvPr id="24" name="23 CuadroTexto"/>
          <p:cNvSpPr txBox="1"/>
          <p:nvPr/>
        </p:nvSpPr>
        <p:spPr>
          <a:xfrm>
            <a:off x="6732240" y="3212976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 smtClean="0"/>
              <a:t>2.64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3126707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2 Marcador de contenido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35496" y="1052736"/>
                <a:ext cx="6552728" cy="5544616"/>
              </a:xfrm>
            </p:spPr>
            <p:txBody>
              <a:bodyPr>
                <a:normAutofit fontScale="92500" lnSpcReduction="10000"/>
              </a:bodyPr>
              <a:lstStyle/>
              <a:p>
                <a:pPr algn="just"/>
                <a:r>
                  <a:rPr lang="es-CR" sz="2400" dirty="0" smtClean="0"/>
                  <a:t>En lugar de decir que un valor observado de la estadística</a:t>
                </a:r>
                <a:r>
                  <a:rPr lang="es-CR" sz="2400" dirty="0"/>
                  <a:t> </a:t>
                </a:r>
                <a:r>
                  <a:rPr lang="es-CR" sz="2400" dirty="0" smtClean="0"/>
                  <a:t>de </a:t>
                </a:r>
                <a:r>
                  <a:rPr lang="es-CR" sz="2400" dirty="0"/>
                  <a:t>prueba </a:t>
                </a:r>
                <a:r>
                  <a:rPr lang="es-CR" sz="2400" dirty="0" smtClean="0"/>
                  <a:t>es o </a:t>
                </a:r>
                <a:r>
                  <a:rPr lang="es-CR" sz="2400" dirty="0"/>
                  <a:t>no significativo, </a:t>
                </a:r>
                <a:r>
                  <a:rPr lang="es-CR" sz="2400" dirty="0" smtClean="0"/>
                  <a:t>se prefiere </a:t>
                </a:r>
                <a:r>
                  <a:rPr lang="es-CR" sz="2400" dirty="0"/>
                  <a:t>informar la probabilidad exacta de </a:t>
                </a:r>
                <a:r>
                  <a:rPr lang="es-CR" sz="2400" dirty="0" smtClean="0"/>
                  <a:t>obtener un </a:t>
                </a:r>
                <a:r>
                  <a:rPr lang="es-CR" sz="2400" dirty="0"/>
                  <a:t>valor tanto </a:t>
                </a:r>
                <a:r>
                  <a:rPr lang="es-CR" sz="2400" dirty="0" smtClean="0"/>
                  <a:t>o </a:t>
                </a:r>
                <a:r>
                  <a:rPr lang="es-CR" sz="2400" dirty="0"/>
                  <a:t>mas extrema que el observado, si la </a:t>
                </a:r>
                <a:r>
                  <a:rPr lang="es-CR" sz="2400" dirty="0" smtClean="0"/>
                  <a:t>hipó tesis nula es </a:t>
                </a:r>
                <a:r>
                  <a:rPr lang="es-CR" sz="2400" dirty="0"/>
                  <a:t>verdadera. </a:t>
                </a:r>
                <a:endParaRPr lang="es-CR" sz="2400" dirty="0" smtClean="0"/>
              </a:p>
              <a:p>
                <a:pPr algn="just"/>
                <a:endParaRPr lang="es-CR" sz="2400" dirty="0"/>
              </a:p>
              <a:p>
                <a:pPr algn="just"/>
                <a:r>
                  <a:rPr lang="es-CR" sz="2400" dirty="0" smtClean="0"/>
                  <a:t>En </a:t>
                </a:r>
                <a:r>
                  <a:rPr lang="es-CR" sz="2400" dirty="0"/>
                  <a:t>el presente caso, </a:t>
                </a:r>
                <a:r>
                  <a:rPr lang="es-CR" sz="2400" dirty="0" smtClean="0"/>
                  <a:t>el valor calculado de </a:t>
                </a:r>
                <a:r>
                  <a:rPr lang="es-CR" sz="2400" dirty="0"/>
                  <a:t>la </a:t>
                </a:r>
                <a:r>
                  <a:rPr lang="es-CR" sz="2400" dirty="0" smtClean="0"/>
                  <a:t>estadística </a:t>
                </a:r>
                <a:r>
                  <a:rPr lang="es-CR" sz="2400" dirty="0"/>
                  <a:t>de </a:t>
                </a:r>
                <a:r>
                  <a:rPr lang="es-CR" sz="2400" dirty="0" smtClean="0"/>
                  <a:t>prueba junto </a:t>
                </a:r>
                <a:r>
                  <a:rPr lang="es-CR" sz="2400" dirty="0"/>
                  <a:t>con la </a:t>
                </a:r>
                <a:r>
                  <a:rPr lang="es-CR" sz="2400" dirty="0" smtClean="0"/>
                  <a:t>proposición respectiva sumando las probabilidades</a:t>
                </a:r>
              </a:p>
              <a:p>
                <a:pPr marL="0" indent="0" algn="just">
                  <a:buNone/>
                </a:pPr>
                <a:endParaRPr lang="es-CR" sz="2400" dirty="0"/>
              </a:p>
              <a:p>
                <a:pPr marL="0" indent="0" algn="just">
                  <a:buNone/>
                </a:pPr>
                <a:r>
                  <a:rPr lang="es-CR" sz="2400" dirty="0" smtClean="0"/>
                  <a:t>	 </a:t>
                </a:r>
                <a14:m>
                  <m:oMath xmlns:m="http://schemas.openxmlformats.org/officeDocument/2006/math">
                    <m:r>
                      <a:rPr lang="es-CR" sz="2400" b="0" i="1" smtClean="0">
                        <a:latin typeface="Cambria Math"/>
                      </a:rPr>
                      <m:t>𝑃</m:t>
                    </m:r>
                    <m:r>
                      <a:rPr lang="es-CR" sz="2400" b="0" i="1" smtClean="0">
                        <a:latin typeface="Cambria Math"/>
                      </a:rPr>
                      <m:t>−</m:t>
                    </m:r>
                    <m:r>
                      <a:rPr lang="es-CR" sz="2400" b="0" i="1" smtClean="0">
                        <a:latin typeface="Cambria Math"/>
                      </a:rPr>
                      <m:t>𝑣𝑎𝑙𝑢𝑒</m:t>
                    </m:r>
                    <m:r>
                      <a:rPr lang="es-CR" sz="2400" i="1" smtClean="0">
                        <a:latin typeface="Cambria Math"/>
                      </a:rPr>
                      <m:t>=</m:t>
                    </m:r>
                    <m:r>
                      <a:rPr lang="es-CR" sz="2400" b="0" i="1" smtClean="0"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es-CR" sz="24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s-CR" sz="2400" b="0" i="1" smtClean="0">
                            <a:latin typeface="Cambria Math"/>
                          </a:rPr>
                          <m:t>𝑧</m:t>
                        </m:r>
                        <m:r>
                          <a:rPr lang="es-CR" sz="2400" b="0" i="1" smtClean="0">
                            <a:latin typeface="Cambria Math"/>
                            <a:ea typeface="Cambria Math"/>
                          </a:rPr>
                          <m:t>≤</m:t>
                        </m:r>
                        <m:r>
                          <a:rPr lang="es-CR" sz="2400" b="0" i="1" smtClean="0">
                            <a:latin typeface="Cambria Math"/>
                          </a:rPr>
                          <m:t>−2.56</m:t>
                        </m:r>
                      </m:e>
                    </m:d>
                    <m:r>
                      <a:rPr lang="es-CR" sz="2400" b="0" i="1" smtClean="0">
                        <a:latin typeface="Cambria Math"/>
                      </a:rPr>
                      <m:t>+</m:t>
                    </m:r>
                    <m:r>
                      <a:rPr lang="es-CR" sz="2400" b="0" i="1" smtClean="0"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es-CR" sz="24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s-CR" sz="2400" b="0" i="1" smtClean="0">
                            <a:latin typeface="Cambria Math"/>
                          </a:rPr>
                          <m:t>𝑧</m:t>
                        </m:r>
                        <m:r>
                          <a:rPr lang="es-CR" sz="2400" b="0" i="1" smtClean="0">
                            <a:latin typeface="Cambria Math"/>
                            <a:ea typeface="Cambria Math"/>
                          </a:rPr>
                          <m:t>≥2.56</m:t>
                        </m:r>
                      </m:e>
                    </m:d>
                  </m:oMath>
                </a14:m>
                <a:endParaRPr lang="es-CR" sz="2400" b="0" dirty="0" smtClean="0">
                  <a:ea typeface="Cambria Math"/>
                </a:endParaRPr>
              </a:p>
              <a:p>
                <a:pPr algn="just"/>
                <a:endParaRPr lang="es-CR" sz="2400" dirty="0" smtClean="0"/>
              </a:p>
              <a:p>
                <a:pPr algn="just"/>
                <a:r>
                  <a:rPr lang="es-CR" sz="2400" dirty="0" smtClean="0"/>
                  <a:t>De acuerdo a lo anterior, ¿cuál sería el valor de p para nuestro caso?</a:t>
                </a:r>
              </a:p>
              <a:p>
                <a:pPr algn="just"/>
                <a:endParaRPr lang="es-CR" sz="2400" dirty="0" smtClean="0"/>
              </a:p>
              <a:p>
                <a:pPr algn="just"/>
                <a:r>
                  <a:rPr lang="es-CR" sz="2400" dirty="0" smtClean="0"/>
                  <a:t>Nótese que en una prueba bilateral se tuvieron que sumar dos tramos de probabilidad…</a:t>
                </a:r>
                <a:endParaRPr lang="es-CR" sz="2400" dirty="0"/>
              </a:p>
            </p:txBody>
          </p:sp>
        </mc:Choice>
        <mc:Fallback xmlns="">
          <p:sp>
            <p:nvSpPr>
              <p:cNvPr id="3" name="2 Marcador de contenido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35496" y="1052736"/>
                <a:ext cx="6552728" cy="5544616"/>
              </a:xfrm>
              <a:blipFill rotWithShape="1">
                <a:blip r:embed="rId2"/>
                <a:stretch>
                  <a:fillRect l="-558" t="-1100" r="-1209" b="-2200"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395536" y="116632"/>
            <a:ext cx="8496944" cy="720080"/>
          </a:xfrm>
        </p:spPr>
        <p:txBody>
          <a:bodyPr>
            <a:normAutofit/>
          </a:bodyPr>
          <a:lstStyle/>
          <a:p>
            <a:pPr algn="ctr"/>
            <a:r>
              <a:rPr lang="es-CR" sz="3200" dirty="0" smtClean="0"/>
              <a:t>Aplicación: PH para una media</a:t>
            </a:r>
            <a:endParaRPr lang="es-CR" sz="3200" dirty="0"/>
          </a:p>
        </p:txBody>
      </p:sp>
      <p:pic>
        <p:nvPicPr>
          <p:cNvPr id="2050" name="Picture 2" descr="https://onlinecourses.science.psu.edu/stat414/sites/onlinecourses.science.psu.edu.stat414/files/lesson37/Less37_Draw09a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6498" y="1412776"/>
            <a:ext cx="2014579" cy="1644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ttps://faculty.elgin.edu/dkernler/statistics/ch10/images/p-value1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6398" y="4154654"/>
            <a:ext cx="1754777" cy="2010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07482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normal-bil-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252" y="1868480"/>
            <a:ext cx="7276653" cy="4263504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4 Conector recto"/>
          <p:cNvCxnSpPr/>
          <p:nvPr/>
        </p:nvCxnSpPr>
        <p:spPr>
          <a:xfrm>
            <a:off x="1974404" y="5324864"/>
            <a:ext cx="4752528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5 Conector recto"/>
          <p:cNvCxnSpPr/>
          <p:nvPr/>
        </p:nvCxnSpPr>
        <p:spPr>
          <a:xfrm>
            <a:off x="6726932" y="5324864"/>
            <a:ext cx="1155973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6 Conector recto"/>
          <p:cNvCxnSpPr/>
          <p:nvPr/>
        </p:nvCxnSpPr>
        <p:spPr>
          <a:xfrm>
            <a:off x="818431" y="5324864"/>
            <a:ext cx="1155973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12 Conector recto"/>
          <p:cNvCxnSpPr/>
          <p:nvPr/>
        </p:nvCxnSpPr>
        <p:spPr>
          <a:xfrm flipV="1">
            <a:off x="1830388" y="4172736"/>
            <a:ext cx="0" cy="108012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13 Conector recto"/>
          <p:cNvCxnSpPr/>
          <p:nvPr/>
        </p:nvCxnSpPr>
        <p:spPr>
          <a:xfrm flipV="1">
            <a:off x="6659504" y="4172736"/>
            <a:ext cx="0" cy="100811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14 CuadroTexto"/>
          <p:cNvSpPr txBox="1"/>
          <p:nvPr/>
        </p:nvSpPr>
        <p:spPr>
          <a:xfrm>
            <a:off x="1470348" y="3659388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 smtClean="0"/>
              <a:t>-1.96</a:t>
            </a:r>
            <a:endParaRPr lang="es-CR" dirty="0"/>
          </a:p>
        </p:txBody>
      </p:sp>
      <p:sp>
        <p:nvSpPr>
          <p:cNvPr id="16" name="15 CuadroTexto"/>
          <p:cNvSpPr txBox="1"/>
          <p:nvPr/>
        </p:nvSpPr>
        <p:spPr>
          <a:xfrm>
            <a:off x="6294884" y="3668680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 smtClean="0"/>
              <a:t>1.96</a:t>
            </a:r>
            <a:endParaRPr lang="es-CR" dirty="0"/>
          </a:p>
        </p:txBody>
      </p:sp>
      <p:sp>
        <p:nvSpPr>
          <p:cNvPr id="17" name="16 CuadroTexto"/>
          <p:cNvSpPr txBox="1"/>
          <p:nvPr/>
        </p:nvSpPr>
        <p:spPr>
          <a:xfrm>
            <a:off x="6858620" y="5517232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 smtClean="0"/>
              <a:t>2.64</a:t>
            </a:r>
            <a:endParaRPr lang="es-CR" dirty="0"/>
          </a:p>
        </p:txBody>
      </p:sp>
      <p:sp>
        <p:nvSpPr>
          <p:cNvPr id="19" name="1 Título"/>
          <p:cNvSpPr>
            <a:spLocks noGrp="1"/>
          </p:cNvSpPr>
          <p:nvPr>
            <p:ph type="title"/>
          </p:nvPr>
        </p:nvSpPr>
        <p:spPr>
          <a:xfrm>
            <a:off x="395536" y="116632"/>
            <a:ext cx="8496944" cy="720080"/>
          </a:xfrm>
        </p:spPr>
        <p:txBody>
          <a:bodyPr>
            <a:normAutofit/>
          </a:bodyPr>
          <a:lstStyle/>
          <a:p>
            <a:pPr algn="ctr"/>
            <a:r>
              <a:rPr lang="es-CR" sz="3200" dirty="0" smtClean="0"/>
              <a:t>Aplicación: PH para una media</a:t>
            </a:r>
            <a:endParaRPr lang="es-CR" sz="3200" dirty="0"/>
          </a:p>
        </p:txBody>
      </p:sp>
      <p:cxnSp>
        <p:nvCxnSpPr>
          <p:cNvPr id="21" name="20 Conector recto"/>
          <p:cNvCxnSpPr/>
          <p:nvPr/>
        </p:nvCxnSpPr>
        <p:spPr>
          <a:xfrm flipV="1">
            <a:off x="7086972" y="3501008"/>
            <a:ext cx="0" cy="16798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21 Conector recto"/>
          <p:cNvCxnSpPr/>
          <p:nvPr/>
        </p:nvCxnSpPr>
        <p:spPr>
          <a:xfrm flipV="1">
            <a:off x="1396417" y="3573016"/>
            <a:ext cx="0" cy="16798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22 CuadroTexto"/>
          <p:cNvSpPr txBox="1"/>
          <p:nvPr/>
        </p:nvSpPr>
        <p:spPr>
          <a:xfrm>
            <a:off x="1074304" y="5701898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 smtClean="0"/>
              <a:t>-2.64</a:t>
            </a:r>
            <a:endParaRPr lang="es-CR" dirty="0"/>
          </a:p>
        </p:txBody>
      </p:sp>
      <p:cxnSp>
        <p:nvCxnSpPr>
          <p:cNvPr id="24" name="23 Conector recto"/>
          <p:cNvCxnSpPr/>
          <p:nvPr/>
        </p:nvCxnSpPr>
        <p:spPr>
          <a:xfrm>
            <a:off x="7160443" y="5301208"/>
            <a:ext cx="1155973" cy="0"/>
          </a:xfrm>
          <a:prstGeom prst="line">
            <a:avLst/>
          </a:prstGeom>
          <a:ln w="571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24 Conector recto"/>
          <p:cNvCxnSpPr/>
          <p:nvPr/>
        </p:nvCxnSpPr>
        <p:spPr>
          <a:xfrm>
            <a:off x="240444" y="5301208"/>
            <a:ext cx="1155973" cy="0"/>
          </a:xfrm>
          <a:prstGeom prst="line">
            <a:avLst/>
          </a:prstGeom>
          <a:ln w="571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25 Rectángulo redondeado"/>
          <p:cNvSpPr/>
          <p:nvPr/>
        </p:nvSpPr>
        <p:spPr>
          <a:xfrm>
            <a:off x="240444" y="4000232"/>
            <a:ext cx="864096" cy="48758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Valor p</a:t>
            </a:r>
            <a:endParaRPr lang="es-CR" dirty="0"/>
          </a:p>
        </p:txBody>
      </p:sp>
      <p:sp>
        <p:nvSpPr>
          <p:cNvPr id="28" name="27 Rectángulo redondeado"/>
          <p:cNvSpPr/>
          <p:nvPr/>
        </p:nvSpPr>
        <p:spPr>
          <a:xfrm>
            <a:off x="7476008" y="4000232"/>
            <a:ext cx="864096" cy="48758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Valor p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164367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179512" y="1124744"/>
            <a:ext cx="6120680" cy="5256584"/>
          </a:xfrm>
        </p:spPr>
        <p:txBody>
          <a:bodyPr/>
          <a:lstStyle/>
          <a:p>
            <a:pPr marL="0" indent="0">
              <a:buNone/>
            </a:pPr>
            <a:r>
              <a:rPr lang="es-CR" sz="2200" b="1" dirty="0" smtClean="0"/>
              <a:t>9. Conclusión</a:t>
            </a:r>
          </a:p>
          <a:p>
            <a:pPr marL="0" indent="0" algn="just">
              <a:buNone/>
            </a:pPr>
            <a:r>
              <a:rPr lang="es-CR" sz="2200" b="1" u="sng" dirty="0" smtClean="0"/>
              <a:t>Conclusión estadística</a:t>
            </a:r>
            <a:r>
              <a:rPr lang="es-CR" sz="2200" dirty="0" smtClean="0"/>
              <a:t>:  Como el valor del estadístico Z es superior al límite de no rechazo, o también no está dentro de los límites de no rechazo, se procede a rechazar la hipótesis nula, y por lo tanto a aceptar la hipótesis alternativa de  alternativa de µ ≠ 30.</a:t>
            </a:r>
          </a:p>
          <a:p>
            <a:pPr marL="0" indent="0">
              <a:buNone/>
            </a:pPr>
            <a:endParaRPr lang="es-CR" dirty="0"/>
          </a:p>
          <a:p>
            <a:pPr marL="0" indent="0" algn="just">
              <a:buNone/>
            </a:pPr>
            <a:r>
              <a:rPr lang="es-CR" sz="2200" b="1" u="sng" dirty="0"/>
              <a:t>Conclusión de investigación</a:t>
            </a:r>
            <a:r>
              <a:rPr lang="es-CR" sz="2200" dirty="0" smtClean="0"/>
              <a:t>: dados los resultados de los análisis estadísticos, se concluye que la edad promedio de los pacientes en el hospital no puede ser igual a 30 años.</a:t>
            </a:r>
            <a:endParaRPr lang="es-CR" sz="2200" dirty="0"/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395536" y="116632"/>
            <a:ext cx="8496944" cy="720080"/>
          </a:xfrm>
        </p:spPr>
        <p:txBody>
          <a:bodyPr>
            <a:normAutofit/>
          </a:bodyPr>
          <a:lstStyle/>
          <a:p>
            <a:pPr algn="ctr"/>
            <a:r>
              <a:rPr lang="es-CR" sz="3200" dirty="0" smtClean="0"/>
              <a:t>Aplicación: PH para una media</a:t>
            </a:r>
            <a:endParaRPr lang="es-CR" sz="3200" dirty="0"/>
          </a:p>
        </p:txBody>
      </p:sp>
      <p:pic>
        <p:nvPicPr>
          <p:cNvPr id="26626" name="Picture 2" descr="http://images.clipartpanda.com/conclusion-clipart-conclusion-introduction-starter-plenary5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24" t="2313" r="15905" b="2344"/>
          <a:stretch/>
        </p:blipFill>
        <p:spPr bwMode="auto">
          <a:xfrm>
            <a:off x="6732240" y="1196752"/>
            <a:ext cx="1691680" cy="2383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628" name="Picture 4" descr="https://encrypted-tbn0.gstatic.com/images?q=tbn:ANd9GcQJkmzqWKdutYnZ3U31o-9FYi-nRhRu5DX4BaMCeOAc7Pd-G-r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224" y="4149080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0038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67544" y="188640"/>
            <a:ext cx="7772400" cy="850106"/>
          </a:xfrm>
        </p:spPr>
        <p:txBody>
          <a:bodyPr>
            <a:normAutofit/>
          </a:bodyPr>
          <a:lstStyle/>
          <a:p>
            <a:pPr algn="ctr"/>
            <a:r>
              <a:rPr lang="es-CR" sz="3200" dirty="0" smtClean="0"/>
              <a:t>Ejercicio: PH para una media</a:t>
            </a:r>
            <a:endParaRPr lang="es-CR" sz="3200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35496" y="1124744"/>
            <a:ext cx="6696744" cy="5616624"/>
          </a:xfrm>
        </p:spPr>
        <p:txBody>
          <a:bodyPr>
            <a:normAutofit lnSpcReduction="10000"/>
          </a:bodyPr>
          <a:lstStyle/>
          <a:p>
            <a:pPr algn="just"/>
            <a:r>
              <a:rPr lang="es-CR" sz="2200" dirty="0"/>
              <a:t>En una muestra de 49 adolescentes que se prestaron como sujetos para un estudio </a:t>
            </a:r>
            <a:r>
              <a:rPr lang="es-CR" sz="2200" dirty="0" smtClean="0"/>
              <a:t>inmunológico, una </a:t>
            </a:r>
            <a:r>
              <a:rPr lang="es-CR" sz="2200" dirty="0"/>
              <a:t>variable de </a:t>
            </a:r>
            <a:r>
              <a:rPr lang="es-CR" sz="2200" dirty="0" smtClean="0"/>
              <a:t>interés </a:t>
            </a:r>
            <a:r>
              <a:rPr lang="es-CR" sz="2200" dirty="0"/>
              <a:t>fue la prueba del </a:t>
            </a:r>
            <a:r>
              <a:rPr lang="es-CR" sz="2200" dirty="0" smtClean="0"/>
              <a:t>diámetro </a:t>
            </a:r>
            <a:r>
              <a:rPr lang="es-CR" sz="2200" dirty="0"/>
              <a:t>de </a:t>
            </a:r>
            <a:r>
              <a:rPr lang="es-CR" sz="2200" dirty="0" smtClean="0"/>
              <a:t>reacción </a:t>
            </a:r>
            <a:r>
              <a:rPr lang="es-CR" sz="2200" dirty="0"/>
              <a:t>de la </a:t>
            </a:r>
            <a:r>
              <a:rPr lang="es-CR" sz="2200" dirty="0" smtClean="0"/>
              <a:t>piel </a:t>
            </a:r>
            <a:r>
              <a:rPr lang="es-CR" sz="2200" dirty="0"/>
              <a:t>a un </a:t>
            </a:r>
            <a:r>
              <a:rPr lang="es-CR" sz="2200" dirty="0" smtClean="0"/>
              <a:t>antígeno</a:t>
            </a:r>
            <a:r>
              <a:rPr lang="es-CR" sz="2200" dirty="0"/>
              <a:t>. </a:t>
            </a:r>
            <a:r>
              <a:rPr lang="es-CR" sz="2200" dirty="0" smtClean="0"/>
              <a:t>La media </a:t>
            </a:r>
            <a:r>
              <a:rPr lang="es-CR" sz="2200" dirty="0"/>
              <a:t>de la </a:t>
            </a:r>
            <a:r>
              <a:rPr lang="es-CR" sz="2200" dirty="0" smtClean="0"/>
              <a:t>muestra y </a:t>
            </a:r>
            <a:r>
              <a:rPr lang="es-CR" sz="2200" dirty="0"/>
              <a:t>la </a:t>
            </a:r>
            <a:r>
              <a:rPr lang="es-CR" sz="2200" dirty="0" smtClean="0"/>
              <a:t>desviación estándar fueron </a:t>
            </a:r>
            <a:r>
              <a:rPr lang="es-CR" sz="2200" dirty="0"/>
              <a:t>de 21 y 11 mm, </a:t>
            </a:r>
            <a:r>
              <a:rPr lang="es-CR" sz="2200" dirty="0" smtClean="0"/>
              <a:t>respectivamente. Es </a:t>
            </a:r>
            <a:r>
              <a:rPr lang="es-CR" sz="2200" dirty="0"/>
              <a:t>posible </a:t>
            </a:r>
            <a:r>
              <a:rPr lang="es-CR" sz="2200" dirty="0" smtClean="0"/>
              <a:t>conducir </a:t>
            </a:r>
            <a:r>
              <a:rPr lang="es-CR" sz="2200" dirty="0"/>
              <a:t>a partir de estos datos que la media de la </a:t>
            </a:r>
            <a:r>
              <a:rPr lang="es-CR" sz="2200" dirty="0" smtClean="0"/>
              <a:t>población </a:t>
            </a:r>
            <a:r>
              <a:rPr lang="es-CR" sz="2200" dirty="0"/>
              <a:t>es menor que </a:t>
            </a:r>
            <a:r>
              <a:rPr lang="es-CR" sz="2200" dirty="0" smtClean="0"/>
              <a:t>30 ? Sea  el nivel de significancia </a:t>
            </a:r>
            <a:r>
              <a:rPr lang="es-CR" sz="2200" dirty="0" smtClean="0"/>
              <a:t>de </a:t>
            </a:r>
            <a:r>
              <a:rPr lang="el-GR" sz="2200" dirty="0" smtClean="0">
                <a:latin typeface="Times New Roman"/>
                <a:cs typeface="Times New Roman"/>
              </a:rPr>
              <a:t>α</a:t>
            </a:r>
            <a:r>
              <a:rPr lang="es-CR" sz="2200" dirty="0" smtClean="0"/>
              <a:t> </a:t>
            </a:r>
            <a:r>
              <a:rPr lang="es-CR" sz="2200" dirty="0" smtClean="0"/>
              <a:t>=0.05</a:t>
            </a:r>
            <a:r>
              <a:rPr lang="es-CR" sz="2200" dirty="0" smtClean="0"/>
              <a:t>.</a:t>
            </a:r>
          </a:p>
          <a:p>
            <a:pPr algn="just"/>
            <a:endParaRPr lang="es-CR" sz="2200" dirty="0"/>
          </a:p>
          <a:p>
            <a:pPr algn="just"/>
            <a:r>
              <a:rPr lang="es-CR" sz="2400" dirty="0"/>
              <a:t>Se hizo un estudio de una muestra de 25 expedientes de enfermos </a:t>
            </a:r>
            <a:r>
              <a:rPr lang="es-CR" sz="2400" dirty="0" smtClean="0"/>
              <a:t>crónicos </a:t>
            </a:r>
            <a:r>
              <a:rPr lang="es-CR" sz="2400" dirty="0"/>
              <a:t>atendidos </a:t>
            </a:r>
            <a:r>
              <a:rPr lang="es-CR" sz="2400" dirty="0" smtClean="0"/>
              <a:t>como pacientes </a:t>
            </a:r>
            <a:r>
              <a:rPr lang="es-CR" sz="2400" dirty="0"/>
              <a:t>externos. El </a:t>
            </a:r>
            <a:r>
              <a:rPr lang="es-CR" sz="2400" dirty="0" smtClean="0"/>
              <a:t>número </a:t>
            </a:r>
            <a:r>
              <a:rPr lang="es-CR" sz="2400" dirty="0"/>
              <a:t>medio de consultas por paciente fue de 4.8 y la </a:t>
            </a:r>
            <a:r>
              <a:rPr lang="es-CR" sz="2400" dirty="0" smtClean="0"/>
              <a:t>desviación estándar </a:t>
            </a:r>
            <a:r>
              <a:rPr lang="es-CR" sz="2400" dirty="0"/>
              <a:t>de la muestra fue de 2. </a:t>
            </a:r>
            <a:r>
              <a:rPr lang="es-CR" sz="2400" dirty="0" smtClean="0"/>
              <a:t>¿Es </a:t>
            </a:r>
            <a:r>
              <a:rPr lang="es-CR" sz="2400" dirty="0"/>
              <a:t>posible </a:t>
            </a:r>
            <a:r>
              <a:rPr lang="es-CR" sz="2400" dirty="0" smtClean="0"/>
              <a:t>concluir a </a:t>
            </a:r>
            <a:r>
              <a:rPr lang="es-CR" sz="2400" dirty="0"/>
              <a:t>partir de estos datos que la media </a:t>
            </a:r>
            <a:r>
              <a:rPr lang="es-CR" sz="2400" dirty="0" smtClean="0"/>
              <a:t>de la población es diferente de 5 visitas </a:t>
            </a:r>
            <a:r>
              <a:rPr lang="es-CR" sz="2400" dirty="0"/>
              <a:t>por paciente? </a:t>
            </a:r>
            <a:r>
              <a:rPr lang="es-CR" sz="2400" dirty="0" smtClean="0"/>
              <a:t>Suponga una significancia de </a:t>
            </a:r>
            <a:r>
              <a:rPr lang="el-GR" sz="2400" dirty="0">
                <a:latin typeface="Times New Roman"/>
                <a:cs typeface="Times New Roman"/>
              </a:rPr>
              <a:t>α</a:t>
            </a:r>
            <a:r>
              <a:rPr lang="es-CR" sz="2400" dirty="0"/>
              <a:t> =0.05.</a:t>
            </a:r>
            <a:r>
              <a:rPr lang="es-CR" sz="2400" dirty="0" smtClean="0"/>
              <a:t> ¿Cuáles </a:t>
            </a:r>
            <a:r>
              <a:rPr lang="es-CR" sz="2400" dirty="0"/>
              <a:t>son los supuestos que se deben cumplir?</a:t>
            </a:r>
            <a:endParaRPr lang="es-CR" sz="2200" dirty="0"/>
          </a:p>
        </p:txBody>
      </p:sp>
      <p:sp>
        <p:nvSpPr>
          <p:cNvPr id="4" name="AutoShape 2" descr="http://images.clipartpanda.com/person-thinking-clipart-thinking.sv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R"/>
          </a:p>
        </p:txBody>
      </p:sp>
      <p:pic>
        <p:nvPicPr>
          <p:cNvPr id="27652" name="Picture 4" descr="http://www.cliparts101.com/files/134/6734D2B46B0455D4C93EBA4FA42DE4DC/Thinking_1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26" r="17245"/>
          <a:stretch/>
        </p:blipFill>
        <p:spPr bwMode="auto">
          <a:xfrm>
            <a:off x="7308304" y="3895690"/>
            <a:ext cx="1656184" cy="2485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54" name="Picture 6" descr="http://images.clipartpanda.com/thinking-clipart-KingzdE5T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304" y="1124744"/>
            <a:ext cx="1645273" cy="2088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347018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616024" y="188640"/>
            <a:ext cx="7772400" cy="1008112"/>
          </a:xfrm>
        </p:spPr>
        <p:txBody>
          <a:bodyPr>
            <a:normAutofit/>
          </a:bodyPr>
          <a:lstStyle/>
          <a:p>
            <a:pPr algn="ctr"/>
            <a:r>
              <a:rPr lang="es-CR" dirty="0" smtClean="0"/>
              <a:t>Índice</a:t>
            </a:r>
            <a:endParaRPr lang="es-CR" dirty="0"/>
          </a:p>
        </p:txBody>
      </p:sp>
      <p:sp>
        <p:nvSpPr>
          <p:cNvPr id="2" name="1 Elipse"/>
          <p:cNvSpPr/>
          <p:nvPr/>
        </p:nvSpPr>
        <p:spPr>
          <a:xfrm>
            <a:off x="323528" y="1700808"/>
            <a:ext cx="864096" cy="86409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1</a:t>
            </a:r>
            <a:endParaRPr lang="es-CR" dirty="0"/>
          </a:p>
        </p:txBody>
      </p:sp>
      <p:sp>
        <p:nvSpPr>
          <p:cNvPr id="5" name="4 Elipse"/>
          <p:cNvSpPr/>
          <p:nvPr/>
        </p:nvSpPr>
        <p:spPr>
          <a:xfrm>
            <a:off x="323528" y="3501008"/>
            <a:ext cx="864096" cy="86409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2</a:t>
            </a:r>
            <a:endParaRPr lang="es-CR" dirty="0"/>
          </a:p>
        </p:txBody>
      </p:sp>
      <p:sp>
        <p:nvSpPr>
          <p:cNvPr id="6" name="5 Elipse"/>
          <p:cNvSpPr/>
          <p:nvPr/>
        </p:nvSpPr>
        <p:spPr>
          <a:xfrm>
            <a:off x="323528" y="5373216"/>
            <a:ext cx="864096" cy="86409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3</a:t>
            </a:r>
            <a:endParaRPr lang="es-CR" dirty="0"/>
          </a:p>
        </p:txBody>
      </p:sp>
      <p:sp>
        <p:nvSpPr>
          <p:cNvPr id="7" name="6 Elipse"/>
          <p:cNvSpPr/>
          <p:nvPr/>
        </p:nvSpPr>
        <p:spPr>
          <a:xfrm>
            <a:off x="4355976" y="1700808"/>
            <a:ext cx="864096" cy="86409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4</a:t>
            </a:r>
            <a:endParaRPr lang="es-CR" dirty="0"/>
          </a:p>
        </p:txBody>
      </p:sp>
      <p:sp>
        <p:nvSpPr>
          <p:cNvPr id="8" name="7 Elipse"/>
          <p:cNvSpPr/>
          <p:nvPr/>
        </p:nvSpPr>
        <p:spPr>
          <a:xfrm>
            <a:off x="4355976" y="3501008"/>
            <a:ext cx="864096" cy="86409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5</a:t>
            </a:r>
            <a:endParaRPr lang="es-CR" dirty="0"/>
          </a:p>
        </p:txBody>
      </p:sp>
      <p:sp>
        <p:nvSpPr>
          <p:cNvPr id="9" name="8 Elipse"/>
          <p:cNvSpPr/>
          <p:nvPr/>
        </p:nvSpPr>
        <p:spPr>
          <a:xfrm>
            <a:off x="4355976" y="5373216"/>
            <a:ext cx="864096" cy="86409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6</a:t>
            </a:r>
            <a:endParaRPr lang="es-CR" dirty="0"/>
          </a:p>
        </p:txBody>
      </p:sp>
      <p:sp>
        <p:nvSpPr>
          <p:cNvPr id="10" name="9 Rectángulo redondeado"/>
          <p:cNvSpPr/>
          <p:nvPr/>
        </p:nvSpPr>
        <p:spPr>
          <a:xfrm>
            <a:off x="1475656" y="1556792"/>
            <a:ext cx="2376264" cy="1224136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Definición de hipótesis</a:t>
            </a:r>
            <a:endParaRPr lang="es-CR" dirty="0"/>
          </a:p>
        </p:txBody>
      </p:sp>
      <p:sp>
        <p:nvSpPr>
          <p:cNvPr id="11" name="10 Rectángulo redondeado"/>
          <p:cNvSpPr/>
          <p:nvPr/>
        </p:nvSpPr>
        <p:spPr>
          <a:xfrm>
            <a:off x="1475656" y="3320988"/>
            <a:ext cx="2376264" cy="1224136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Tipos de hipótesis</a:t>
            </a:r>
            <a:endParaRPr lang="es-CR" dirty="0"/>
          </a:p>
        </p:txBody>
      </p:sp>
      <p:sp>
        <p:nvSpPr>
          <p:cNvPr id="12" name="11 Rectángulo redondeado"/>
          <p:cNvSpPr/>
          <p:nvPr/>
        </p:nvSpPr>
        <p:spPr>
          <a:xfrm>
            <a:off x="1475656" y="5193196"/>
            <a:ext cx="2376264" cy="1224136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Etapas para una prueba de hipótesis estadística</a:t>
            </a:r>
            <a:endParaRPr lang="es-CR" dirty="0"/>
          </a:p>
        </p:txBody>
      </p:sp>
      <p:sp>
        <p:nvSpPr>
          <p:cNvPr id="13" name="12 Rectángulo redondeado"/>
          <p:cNvSpPr/>
          <p:nvPr/>
        </p:nvSpPr>
        <p:spPr>
          <a:xfrm>
            <a:off x="5796136" y="1556792"/>
            <a:ext cx="2376264" cy="1224136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Prueba de hipótesis para una media</a:t>
            </a:r>
            <a:endParaRPr lang="es-CR" dirty="0"/>
          </a:p>
        </p:txBody>
      </p:sp>
      <p:sp>
        <p:nvSpPr>
          <p:cNvPr id="14" name="13 Rectángulo redondeado"/>
          <p:cNvSpPr/>
          <p:nvPr/>
        </p:nvSpPr>
        <p:spPr>
          <a:xfrm>
            <a:off x="5796136" y="3320988"/>
            <a:ext cx="2376264" cy="1224136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Aplicación </a:t>
            </a:r>
            <a:endParaRPr lang="es-CR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5796136" y="5193196"/>
            <a:ext cx="2376264" cy="1224136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Relación entre prueba de hipótesis y estimación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1019694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51520" y="15766"/>
            <a:ext cx="8712968" cy="792088"/>
          </a:xfrm>
        </p:spPr>
        <p:txBody>
          <a:bodyPr>
            <a:normAutofit/>
          </a:bodyPr>
          <a:lstStyle/>
          <a:p>
            <a:pPr algn="ctr"/>
            <a:r>
              <a:rPr lang="es-CR" sz="3200" dirty="0" smtClean="0"/>
              <a:t>Estimación y la </a:t>
            </a:r>
            <a:r>
              <a:rPr lang="es-CR" sz="3200" dirty="0"/>
              <a:t>p</a:t>
            </a:r>
            <a:r>
              <a:rPr lang="es-CR" sz="3200" dirty="0" smtClean="0"/>
              <a:t>rueba de hipótesis</a:t>
            </a:r>
            <a:endParaRPr lang="es-CR" sz="3200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51520" y="1124744"/>
            <a:ext cx="6624736" cy="5544616"/>
          </a:xfrm>
        </p:spPr>
        <p:txBody>
          <a:bodyPr>
            <a:normAutofit/>
          </a:bodyPr>
          <a:lstStyle/>
          <a:p>
            <a:pPr algn="just"/>
            <a:r>
              <a:rPr lang="es-CR" b="1" i="1" dirty="0" smtClean="0"/>
              <a:t>Cuando la prueba de hipótesis se plantea como “bilateral”, </a:t>
            </a:r>
            <a:r>
              <a:rPr lang="es-CR" dirty="0" smtClean="0"/>
              <a:t>es </a:t>
            </a:r>
            <a:r>
              <a:rPr lang="es-CR" dirty="0"/>
              <a:t>posible utilizar intervalos de confianza para probar </a:t>
            </a:r>
            <a:r>
              <a:rPr lang="es-CR" dirty="0" smtClean="0"/>
              <a:t>hipótesis.</a:t>
            </a:r>
          </a:p>
          <a:p>
            <a:pPr algn="just"/>
            <a:endParaRPr lang="es-CR" dirty="0"/>
          </a:p>
          <a:p>
            <a:pPr algn="just"/>
            <a:r>
              <a:rPr lang="es-CR" i="1" dirty="0" smtClean="0"/>
              <a:t>Bajo el planteamiento de la hipótesis: </a:t>
            </a:r>
            <a:endParaRPr lang="es-CR" dirty="0" smtClean="0"/>
          </a:p>
          <a:p>
            <a:pPr algn="just"/>
            <a:endParaRPr lang="es-CR" dirty="0"/>
          </a:p>
          <a:p>
            <a:pPr algn="just"/>
            <a:r>
              <a:rPr lang="es-CR" dirty="0" smtClean="0"/>
              <a:t>Se comprobó que la hipótesis fue rechazada.  </a:t>
            </a:r>
          </a:p>
          <a:p>
            <a:pPr algn="just"/>
            <a:endParaRPr lang="es-CR" dirty="0"/>
          </a:p>
          <a:p>
            <a:pPr algn="just"/>
            <a:r>
              <a:rPr lang="es-CR" dirty="0" smtClean="0"/>
              <a:t>Para la comprobación por medio de intervalos de confianza, se debe definir cuál es él valor del parámetro de la hipótesis nula, el estimador, el nivel de confianza y el error de muestreo.</a:t>
            </a:r>
            <a:endParaRPr lang="es-CR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2420888"/>
            <a:ext cx="1656184" cy="12311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83250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395536" y="1340768"/>
            <a:ext cx="7772400" cy="5112568"/>
          </a:xfrm>
        </p:spPr>
        <p:txBody>
          <a:bodyPr>
            <a:normAutofit/>
          </a:bodyPr>
          <a:lstStyle/>
          <a:p>
            <a:r>
              <a:rPr lang="es-CR" dirty="0" smtClean="0"/>
              <a:t>Bajo los requerimientos anteriores, se dan las siguientes características: </a:t>
            </a:r>
          </a:p>
          <a:p>
            <a:pPr marL="0" indent="0">
              <a:buNone/>
            </a:pPr>
            <a:endParaRPr lang="es-CR" dirty="0"/>
          </a:p>
          <a:p>
            <a:pPr marL="0" indent="0">
              <a:buNone/>
            </a:pPr>
            <a:r>
              <a:rPr lang="es-CR" dirty="0" smtClean="0"/>
              <a:t>Valor del parámetro:</a:t>
            </a:r>
          </a:p>
          <a:p>
            <a:pPr marL="0" indent="0">
              <a:buNone/>
            </a:pPr>
            <a:endParaRPr lang="es-CR" dirty="0"/>
          </a:p>
          <a:p>
            <a:pPr marL="0" indent="0">
              <a:buNone/>
            </a:pPr>
            <a:r>
              <a:rPr lang="es-CR" dirty="0" smtClean="0"/>
              <a:t>Estimador:</a:t>
            </a:r>
          </a:p>
          <a:p>
            <a:pPr marL="0" indent="0">
              <a:buNone/>
            </a:pPr>
            <a:endParaRPr lang="es-CR" dirty="0"/>
          </a:p>
          <a:p>
            <a:pPr marL="0" indent="0">
              <a:buNone/>
            </a:pPr>
            <a:r>
              <a:rPr lang="es-CR" dirty="0" smtClean="0"/>
              <a:t>Nivel de confianza:</a:t>
            </a:r>
          </a:p>
          <a:p>
            <a:pPr marL="0" indent="0">
              <a:buNone/>
            </a:pPr>
            <a:endParaRPr lang="es-CR" dirty="0" smtClean="0"/>
          </a:p>
          <a:p>
            <a:pPr marL="0" indent="0">
              <a:buNone/>
            </a:pPr>
            <a:r>
              <a:rPr lang="es-CR" dirty="0" smtClean="0"/>
              <a:t>Error de muestreo:</a:t>
            </a:r>
            <a:endParaRPr lang="es-CR" dirty="0"/>
          </a:p>
          <a:p>
            <a:pPr marL="0" indent="0">
              <a:buNone/>
            </a:pPr>
            <a:endParaRPr lang="es-CR" dirty="0" smtClean="0"/>
          </a:p>
          <a:p>
            <a:pPr marL="0" indent="0">
              <a:buNone/>
            </a:pPr>
            <a:endParaRPr lang="es-CR" dirty="0"/>
          </a:p>
          <a:p>
            <a:pPr marL="0" indent="0">
              <a:buNone/>
            </a:pPr>
            <a:endParaRPr lang="es-CR" dirty="0" smtClean="0"/>
          </a:p>
          <a:p>
            <a:pPr marL="0" indent="0">
              <a:buNone/>
            </a:pPr>
            <a:endParaRPr lang="es-CR" dirty="0"/>
          </a:p>
          <a:p>
            <a:pPr marL="0" indent="0">
              <a:buNone/>
            </a:pPr>
            <a:endParaRPr lang="es-CR" dirty="0"/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760040" y="58614"/>
            <a:ext cx="7772400" cy="850106"/>
          </a:xfrm>
        </p:spPr>
        <p:txBody>
          <a:bodyPr>
            <a:normAutofit/>
          </a:bodyPr>
          <a:lstStyle/>
          <a:p>
            <a:pPr algn="ctr"/>
            <a:r>
              <a:rPr lang="es-CR" sz="3200" dirty="0" smtClean="0"/>
              <a:t>Estimación y la </a:t>
            </a:r>
            <a:r>
              <a:rPr lang="es-CR" sz="3200" dirty="0"/>
              <a:t>p</a:t>
            </a:r>
            <a:r>
              <a:rPr lang="es-CR" sz="3200" dirty="0" smtClean="0"/>
              <a:t>rueba de hipótesis</a:t>
            </a:r>
            <a:endParaRPr lang="es-CR" sz="3200" dirty="0"/>
          </a:p>
        </p:txBody>
      </p:sp>
      <p:sp>
        <p:nvSpPr>
          <p:cNvPr id="5" name="4 Rectángulo redondeado"/>
          <p:cNvSpPr/>
          <p:nvPr/>
        </p:nvSpPr>
        <p:spPr>
          <a:xfrm>
            <a:off x="3635896" y="2420888"/>
            <a:ext cx="2232248" cy="72008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>
                <a:solidFill>
                  <a:schemeClr val="bg1"/>
                </a:solidFill>
              </a:rPr>
              <a:t>µ = 30</a:t>
            </a:r>
            <a:endParaRPr lang="es-CR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6 Rectángulo redondeado"/>
              <p:cNvSpPr/>
              <p:nvPr/>
            </p:nvSpPr>
            <p:spPr>
              <a:xfrm>
                <a:off x="3635895" y="3501008"/>
                <a:ext cx="2213111" cy="720080"/>
              </a:xfrm>
              <a:prstGeom prst="roundRect">
                <a:avLst/>
              </a:prstGeom>
              <a:solidFill>
                <a:srgbClr val="0070C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s-CR" b="0" i="1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s-CR" b="0" i="1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</m:acc>
                      <m:r>
                        <a:rPr lang="es-CR" b="0" i="1" smtClean="0">
                          <a:solidFill>
                            <a:schemeClr val="bg1"/>
                          </a:solidFill>
                          <a:latin typeface="Cambria Math"/>
                        </a:rPr>
                        <m:t>=35</m:t>
                      </m:r>
                    </m:oMath>
                  </m:oMathPara>
                </a14:m>
                <a:endParaRPr lang="es-C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6 Rectángulo redondead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5895" y="3501008"/>
                <a:ext cx="2213111" cy="720080"/>
              </a:xfrm>
              <a:prstGeom prst="round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7 Rectángulo redondeado"/>
              <p:cNvSpPr/>
              <p:nvPr/>
            </p:nvSpPr>
            <p:spPr>
              <a:xfrm>
                <a:off x="3635896" y="4509120"/>
                <a:ext cx="2232248" cy="720080"/>
              </a:xfrm>
              <a:prstGeom prst="roundRect">
                <a:avLst/>
              </a:prstGeom>
              <a:solidFill>
                <a:srgbClr val="0070C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R" dirty="0" smtClean="0">
                    <a:solidFill>
                      <a:schemeClr val="bg1"/>
                    </a:solidFill>
                  </a:rPr>
                  <a:t>Confianza del  95%</a:t>
                </a:r>
                <a:br>
                  <a:rPr lang="es-CR" dirty="0" smtClean="0">
                    <a:solidFill>
                      <a:schemeClr val="bg1"/>
                    </a:solidFill>
                  </a:rPr>
                </a:br>
                <a:r>
                  <a:rPr lang="es-CR" dirty="0" smtClean="0">
                    <a:solidFill>
                      <a:schemeClr val="bg1"/>
                    </a:solidFill>
                  </a:rPr>
                  <a:t>o Error  de </a:t>
                </a:r>
                <a14:m>
                  <m:oMath xmlns:m="http://schemas.openxmlformats.org/officeDocument/2006/math">
                    <m:r>
                      <a:rPr lang="es-CR" i="1" smtClean="0">
                        <a:solidFill>
                          <a:schemeClr val="bg1"/>
                        </a:solidFill>
                        <a:latin typeface="Cambria Math"/>
                        <a:ea typeface="Cambria Math"/>
                      </a:rPr>
                      <m:t>𝛼</m:t>
                    </m:r>
                    <m:r>
                      <a:rPr lang="es-CR" b="0" i="1" smtClean="0">
                        <a:solidFill>
                          <a:schemeClr val="bg1"/>
                        </a:solidFill>
                        <a:latin typeface="Cambria Math"/>
                        <a:ea typeface="Cambria Math"/>
                      </a:rPr>
                      <m:t>=0.05</m:t>
                    </m:r>
                  </m:oMath>
                </a14:m>
                <a:endParaRPr lang="es-C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7 Rectángulo redondead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5896" y="4509120"/>
                <a:ext cx="2232248" cy="720080"/>
              </a:xfrm>
              <a:prstGeom prst="roundRect">
                <a:avLst/>
              </a:prstGeom>
              <a:blipFill rotWithShape="1">
                <a:blip r:embed="rId3"/>
                <a:stretch>
                  <a:fillRect b="-7500"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8 Rectángulo redondeado"/>
              <p:cNvSpPr/>
              <p:nvPr/>
            </p:nvSpPr>
            <p:spPr>
              <a:xfrm>
                <a:off x="3626326" y="5517232"/>
                <a:ext cx="2232248" cy="720080"/>
              </a:xfrm>
              <a:prstGeom prst="roundRect">
                <a:avLst/>
              </a:prstGeom>
              <a:solidFill>
                <a:srgbClr val="0070C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CR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s-CR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𝜎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s-CR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CR" b="0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𝑛</m:t>
                              </m:r>
                            </m:e>
                          </m:rad>
                        </m:den>
                      </m:f>
                      <m:r>
                        <a:rPr lang="es-CR" i="1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f>
                        <m:fPr>
                          <m:ctrlPr>
                            <a:rPr lang="es-CR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s-CR" b="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12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s-CR" i="1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CR" b="0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40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s-C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" name="8 Rectángulo redondead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6326" y="5517232"/>
                <a:ext cx="2232248" cy="720080"/>
              </a:xfrm>
              <a:prstGeom prst="round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6698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2 Marcador de contenido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251520" y="1268760"/>
                <a:ext cx="6624736" cy="5184576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s-CR" sz="2400" dirty="0" smtClean="0"/>
                  <a:t>A continuación se muestra cómo se hubiera llegado a los mismos resultados mediante los intervalos de confianza, para un intervalo del 95%:</a:t>
                </a:r>
              </a:p>
              <a:p>
                <a:pPr algn="just"/>
                <a:endParaRPr lang="es-CR" sz="2400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CR" sz="2400" b="0" i="1" smtClean="0">
                          <a:latin typeface="Cambria Math"/>
                        </a:rPr>
                        <m:t>𝐼𝐶</m:t>
                      </m:r>
                      <m:r>
                        <a:rPr lang="es-CR" sz="2400" b="0" i="1" smtClean="0">
                          <a:latin typeface="Cambria Math"/>
                        </a:rPr>
                        <m:t>:35 ±1.96</m:t>
                      </m:r>
                      <m:rad>
                        <m:radPr>
                          <m:degHide m:val="on"/>
                          <m:ctrlPr>
                            <a:rPr lang="es-CR" sz="2400" b="0" i="1" smtClean="0">
                              <a:latin typeface="Cambria Math"/>
                              <a:ea typeface="Cambria Math"/>
                            </a:rPr>
                          </m:ctrlPr>
                        </m:radPr>
                        <m:deg/>
                        <m:e>
                          <m:f>
                            <m:fPr>
                              <m:type m:val="lin"/>
                              <m:ctrlPr>
                                <a:rPr lang="es-CR" sz="2400" b="0" i="1" smtClean="0">
                                  <a:latin typeface="Cambria Math"/>
                                  <a:ea typeface="Cambria Math"/>
                                </a:rPr>
                              </m:ctrlPr>
                            </m:fPr>
                            <m:num>
                              <m:r>
                                <a:rPr lang="es-CR" sz="2400" b="0" i="1" smtClean="0">
                                  <a:latin typeface="Cambria Math"/>
                                  <a:ea typeface="Cambria Math"/>
                                </a:rPr>
                                <m:t>12</m:t>
                              </m:r>
                            </m:num>
                            <m:den>
                              <m:r>
                                <a:rPr lang="es-CR" sz="2400" b="0" i="1" smtClean="0">
                                  <a:latin typeface="Cambria Math"/>
                                  <a:ea typeface="Cambria Math"/>
                                </a:rPr>
                                <m:t>40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s-CR" sz="2400" dirty="0" smtClean="0"/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r>
                      <a:rPr lang="es-CR" sz="2400" i="1">
                        <a:latin typeface="Cambria Math"/>
                      </a:rPr>
                      <m:t>𝐼𝐶</m:t>
                    </m:r>
                    <m:r>
                      <a:rPr lang="es-CR" sz="2400" i="1">
                        <a:latin typeface="Cambria Math"/>
                      </a:rPr>
                      <m:t>:</m:t>
                    </m:r>
                  </m:oMath>
                </a14:m>
                <a:r>
                  <a:rPr lang="es-CR" sz="2400" dirty="0"/>
                  <a:t> </a:t>
                </a:r>
                <a14:m>
                  <m:oMath xmlns:m="http://schemas.openxmlformats.org/officeDocument/2006/math">
                    <m:r>
                      <a:rPr lang="es-CR" sz="2400" i="1">
                        <a:latin typeface="Cambria Math"/>
                      </a:rPr>
                      <m:t>35 </m:t>
                    </m:r>
                    <m:r>
                      <a:rPr lang="es-CR" sz="2400" i="1">
                        <a:latin typeface="Cambria Math"/>
                        <a:ea typeface="Cambria Math"/>
                      </a:rPr>
                      <m:t>±</m:t>
                    </m:r>
                  </m:oMath>
                </a14:m>
                <a:r>
                  <a:rPr lang="es-CR" sz="2400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s-CR" sz="2400" i="1">
                        <a:latin typeface="Cambria Math"/>
                        <a:ea typeface="Cambria Math"/>
                      </a:rPr>
                      <m:t>1.96</m:t>
                    </m:r>
                    <m:r>
                      <a:rPr lang="es-CR" sz="2400" b="0" i="1" smtClean="0">
                        <a:latin typeface="Cambria Math"/>
                        <a:ea typeface="Cambria Math"/>
                      </a:rPr>
                      <m:t>( 1.8973)</m:t>
                    </m:r>
                  </m:oMath>
                </a14:m>
                <a:r>
                  <a:rPr lang="es-CR" sz="2400" dirty="0" smtClean="0"/>
                  <a:t> </a:t>
                </a: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r>
                      <a:rPr lang="es-CR" sz="2400" i="1">
                        <a:latin typeface="Cambria Math"/>
                      </a:rPr>
                      <m:t>𝐼𝐶</m:t>
                    </m:r>
                    <m:r>
                      <a:rPr lang="es-CR" sz="2400" i="1">
                        <a:latin typeface="Cambria Math"/>
                      </a:rPr>
                      <m:t>:</m:t>
                    </m:r>
                  </m:oMath>
                </a14:m>
                <a:r>
                  <a:rPr lang="es-CR" sz="2400" dirty="0"/>
                  <a:t> </a:t>
                </a:r>
                <a14:m>
                  <m:oMath xmlns:m="http://schemas.openxmlformats.org/officeDocument/2006/math">
                    <m:r>
                      <a:rPr lang="es-CR" sz="2400" i="1">
                        <a:latin typeface="Cambria Math"/>
                      </a:rPr>
                      <m:t>35 </m:t>
                    </m:r>
                    <m:r>
                      <a:rPr lang="es-CR" sz="2400" i="1">
                        <a:latin typeface="Cambria Math"/>
                        <a:ea typeface="Cambria Math"/>
                      </a:rPr>
                      <m:t>±</m:t>
                    </m:r>
                    <m:r>
                      <a:rPr lang="es-CR" sz="2400" b="0" i="1" smtClean="0">
                        <a:latin typeface="Cambria Math"/>
                        <a:ea typeface="Cambria Math"/>
                      </a:rPr>
                      <m:t>3.72</m:t>
                    </m:r>
                  </m:oMath>
                </a14:m>
                <a:endParaRPr lang="es-CR" sz="2400" b="0" dirty="0" smtClean="0">
                  <a:ea typeface="Cambria Math"/>
                </a:endParaRPr>
              </a:p>
              <a:p>
                <a:pPr marL="0" indent="0" algn="just">
                  <a:buNone/>
                </a:pPr>
                <a:endParaRPr lang="es-CR" sz="2400" dirty="0" smtClean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CR" sz="2400" i="1">
                          <a:latin typeface="Cambria Math"/>
                        </a:rPr>
                        <m:t>𝐼𝐶</m:t>
                      </m:r>
                      <m:r>
                        <a:rPr lang="es-CR" sz="2400" b="0" i="1" smtClean="0">
                          <a:latin typeface="Cambria Math"/>
                        </a:rPr>
                        <m:t>:   </m:t>
                      </m:r>
                      <m:d>
                        <m:dPr>
                          <m:begChr m:val="["/>
                          <m:endChr m:val="]"/>
                          <m:ctrlPr>
                            <a:rPr lang="es-CR" sz="24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CR" sz="2400" b="0" i="1" smtClean="0">
                              <a:latin typeface="Cambria Math"/>
                            </a:rPr>
                            <m:t> 31.28   ;38.71 </m:t>
                          </m:r>
                        </m:e>
                      </m:d>
                      <m:r>
                        <a:rPr lang="es-CR" sz="2400" b="0" i="1" smtClean="0"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es-CR" sz="2400" dirty="0" smtClean="0"/>
              </a:p>
              <a:p>
                <a:pPr marL="0" indent="0" algn="just">
                  <a:buNone/>
                </a:pPr>
                <a:endParaRPr lang="es-CR" sz="2400" dirty="0" smtClean="0"/>
              </a:p>
              <a:p>
                <a:pPr marL="0" indent="0" algn="just">
                  <a:buNone/>
                </a:pPr>
                <a:r>
                  <a:rPr lang="es-CR" sz="2400" dirty="0" smtClean="0"/>
                  <a:t>¿Cómo verificar la prueba de hipótesis  mediante la estimación de los intervalos de confianza?</a:t>
                </a:r>
              </a:p>
            </p:txBody>
          </p:sp>
        </mc:Choice>
        <mc:Fallback xmlns="">
          <p:sp>
            <p:nvSpPr>
              <p:cNvPr id="3" name="2 Marcador de contenido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251520" y="1268760"/>
                <a:ext cx="6624736" cy="5184576"/>
              </a:xfrm>
              <a:blipFill rotWithShape="1">
                <a:blip r:embed="rId2"/>
                <a:stretch>
                  <a:fillRect l="-1380" t="-940" r="-1472"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760040" y="58614"/>
            <a:ext cx="7772400" cy="850106"/>
          </a:xfrm>
        </p:spPr>
        <p:txBody>
          <a:bodyPr>
            <a:normAutofit/>
          </a:bodyPr>
          <a:lstStyle/>
          <a:p>
            <a:pPr algn="ctr"/>
            <a:r>
              <a:rPr lang="es-CR" sz="3200" dirty="0" smtClean="0"/>
              <a:t>Estimación y la </a:t>
            </a:r>
            <a:r>
              <a:rPr lang="es-CR" sz="3200" dirty="0"/>
              <a:t>p</a:t>
            </a:r>
            <a:r>
              <a:rPr lang="es-CR" sz="3200" dirty="0" smtClean="0"/>
              <a:t>rueba de hipótesis</a:t>
            </a:r>
            <a:endParaRPr lang="es-CR" sz="3200" dirty="0"/>
          </a:p>
        </p:txBody>
      </p:sp>
      <p:pic>
        <p:nvPicPr>
          <p:cNvPr id="1026" name="Picture 2" descr="https://onlinecourses.science.psu.edu/stat414/sites/onlinecourses.science.psu.edu.stat414/files/lesson30/Lesson30_08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5976" y="2700784"/>
            <a:ext cx="4114800" cy="2409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5116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2 Marcador de contenido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72008" y="1124744"/>
                <a:ext cx="6300192" cy="5544616"/>
              </a:xfrm>
            </p:spPr>
            <p:txBody>
              <a:bodyPr>
                <a:normAutofit fontScale="92500" lnSpcReduction="20000"/>
              </a:bodyPr>
              <a:lstStyle/>
              <a:p>
                <a:pPr algn="just"/>
                <a:r>
                  <a:rPr lang="es-CR" sz="2400" dirty="0" smtClean="0"/>
                  <a:t>El intervalo no </a:t>
                </a:r>
                <a:r>
                  <a:rPr lang="es-CR" sz="2400" dirty="0"/>
                  <a:t>incluye a 30, se dice que 30 no es un candidato para </a:t>
                </a:r>
                <a:r>
                  <a:rPr lang="es-CR" sz="2400" dirty="0" smtClean="0"/>
                  <a:t>la media </a:t>
                </a:r>
                <a:r>
                  <a:rPr lang="es-CR" sz="2400" dirty="0"/>
                  <a:t>que se </a:t>
                </a:r>
                <a:r>
                  <a:rPr lang="es-CR" sz="2400" dirty="0" smtClean="0"/>
                  <a:t>está estimando. </a:t>
                </a:r>
              </a:p>
              <a:p>
                <a:pPr algn="just"/>
                <a:endParaRPr lang="es-CR" sz="2400" dirty="0"/>
              </a:p>
              <a:p>
                <a:pPr algn="just"/>
                <a:r>
                  <a:rPr lang="es-CR" sz="2400" dirty="0" smtClean="0"/>
                  <a:t>µ no es igual a 30, por lo que se rechaza la hipótesis nula. </a:t>
                </a:r>
                <a:r>
                  <a:rPr lang="es-CR" sz="2400" dirty="0"/>
                  <a:t>E</a:t>
                </a:r>
                <a:r>
                  <a:rPr lang="es-CR" sz="2400" dirty="0" smtClean="0"/>
                  <a:t>s </a:t>
                </a:r>
                <a:r>
                  <a:rPr lang="es-CR" sz="2400" dirty="0"/>
                  <a:t>la misma </a:t>
                </a:r>
                <a:r>
                  <a:rPr lang="es-CR" sz="2400" dirty="0" smtClean="0"/>
                  <a:t>conclusión </a:t>
                </a:r>
                <a:r>
                  <a:rPr lang="es-CR" sz="2400" dirty="0"/>
                  <a:t>a la que se </a:t>
                </a:r>
                <a:r>
                  <a:rPr lang="es-CR" sz="2400" dirty="0" smtClean="0"/>
                  <a:t>llegó </a:t>
                </a:r>
                <a:r>
                  <a:rPr lang="es-CR" sz="2400" dirty="0"/>
                  <a:t>mediante el procedimiento de prueba </a:t>
                </a:r>
                <a:r>
                  <a:rPr lang="es-CR" sz="2400" dirty="0" smtClean="0"/>
                  <a:t>de hipótesis</a:t>
                </a:r>
              </a:p>
              <a:p>
                <a:pPr algn="just"/>
                <a:endParaRPr lang="es-CR" sz="2400" dirty="0"/>
              </a:p>
              <a:p>
                <a:pPr algn="just"/>
                <a:r>
                  <a:rPr lang="es-CR" sz="2400" dirty="0"/>
                  <a:t>Si el </a:t>
                </a:r>
                <a:r>
                  <a:rPr lang="es-CR" sz="2400" dirty="0" smtClean="0"/>
                  <a:t>parámetro </a:t>
                </a:r>
                <a:r>
                  <a:rPr lang="es-CR" sz="2400" dirty="0"/>
                  <a:t>supuesto</a:t>
                </a:r>
                <a:r>
                  <a:rPr lang="es-CR" sz="2400" dirty="0" smtClean="0"/>
                  <a:t>,</a:t>
                </a:r>
                <a:r>
                  <a:rPr lang="es-CR" sz="2400" dirty="0"/>
                  <a:t> </a:t>
                </a:r>
                <a:r>
                  <a:rPr lang="es-CR" sz="2400" dirty="0" smtClean="0"/>
                  <a:t> µ=30</a:t>
                </a:r>
                <a:r>
                  <a:rPr lang="es-CR" sz="2400" dirty="0"/>
                  <a:t>, </a:t>
                </a:r>
                <a:r>
                  <a:rPr lang="es-CR" sz="2400" dirty="0" smtClean="0"/>
                  <a:t>se hubiera </a:t>
                </a:r>
                <a:r>
                  <a:rPr lang="es-CR" sz="2400" dirty="0"/>
                  <a:t>incluido en el intervalo de </a:t>
                </a:r>
                <a:r>
                  <a:rPr lang="es-CR" sz="2400" dirty="0" smtClean="0"/>
                  <a:t>confianza de </a:t>
                </a:r>
                <a:r>
                  <a:rPr lang="es-CR" sz="2400" dirty="0"/>
                  <a:t>95 por ciento, se </a:t>
                </a:r>
                <a:r>
                  <a:rPr lang="es-CR" sz="2400" dirty="0" smtClean="0"/>
                  <a:t>habría </a:t>
                </a:r>
                <a:r>
                  <a:rPr lang="es-CR" sz="2400" dirty="0"/>
                  <a:t>dicho que Ho no se rechaza en el </a:t>
                </a:r>
                <a:r>
                  <a:rPr lang="es-CR" sz="2400" dirty="0" smtClean="0"/>
                  <a:t>nivel </a:t>
                </a:r>
                <a14:m>
                  <m:oMath xmlns:m="http://schemas.openxmlformats.org/officeDocument/2006/math">
                    <m:r>
                      <a:rPr lang="es-CR" sz="2400" i="1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𝛼</m:t>
                    </m:r>
                    <m:r>
                      <a:rPr lang="es-CR" sz="2400" i="1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=0.05.</m:t>
                    </m:r>
                  </m:oMath>
                </a14:m>
                <a:endParaRPr lang="es-CR" sz="2400" b="0" dirty="0" smtClean="0">
                  <a:solidFill>
                    <a:schemeClr val="tx1"/>
                  </a:solidFill>
                  <a:ea typeface="Cambria Math"/>
                </a:endParaRPr>
              </a:p>
              <a:p>
                <a:pPr algn="just"/>
                <a:endParaRPr lang="es-CR" sz="2400" dirty="0" smtClean="0">
                  <a:solidFill>
                    <a:schemeClr val="tx1"/>
                  </a:solidFill>
                </a:endParaRPr>
              </a:p>
              <a:p>
                <a:pPr algn="just"/>
                <a:r>
                  <a:rPr lang="es-CR" sz="2400" dirty="0"/>
                  <a:t>C</a:t>
                </a:r>
                <a:r>
                  <a:rPr lang="es-CR" sz="2400" dirty="0" smtClean="0"/>
                  <a:t>uando </a:t>
                </a:r>
                <a:r>
                  <a:rPr lang="es-CR" sz="2400" dirty="0"/>
                  <a:t>se prueba una </a:t>
                </a:r>
                <a:r>
                  <a:rPr lang="es-CR" sz="2400" dirty="0" smtClean="0"/>
                  <a:t>hipótesis </a:t>
                </a:r>
                <a:r>
                  <a:rPr lang="es-CR" sz="2400" dirty="0"/>
                  <a:t>nula por media de un intervalo de </a:t>
                </a:r>
                <a:r>
                  <a:rPr lang="es-CR" sz="2400" dirty="0" smtClean="0"/>
                  <a:t>confianza</a:t>
                </a:r>
                <a:r>
                  <a:rPr lang="es-CR" sz="2400" dirty="0"/>
                  <a:t> </a:t>
                </a:r>
                <a:r>
                  <a:rPr lang="es-CR" sz="2400" dirty="0" smtClean="0"/>
                  <a:t>bilateral</a:t>
                </a:r>
                <a:r>
                  <a:rPr lang="es-CR" sz="2400" dirty="0"/>
                  <a:t>, se rechaza a </a:t>
                </a:r>
                <a:r>
                  <a:rPr lang="es-CR" sz="2400" dirty="0" smtClean="0"/>
                  <a:t>H0 si </a:t>
                </a:r>
                <a:r>
                  <a:rPr lang="es-CR" sz="2400" dirty="0"/>
                  <a:t>el </a:t>
                </a:r>
                <a:r>
                  <a:rPr lang="es-CR" sz="2400" dirty="0" smtClean="0"/>
                  <a:t>parámetro supuesto no</a:t>
                </a:r>
                <a:r>
                  <a:rPr lang="es-CR" sz="2400" dirty="0"/>
                  <a:t> </a:t>
                </a:r>
                <a:r>
                  <a:rPr lang="es-CR" sz="2400" dirty="0" smtClean="0"/>
                  <a:t>está </a:t>
                </a:r>
                <a:r>
                  <a:rPr lang="es-CR" sz="2400" dirty="0"/>
                  <a:t>contenido dentro del intervalo de confianza de </a:t>
                </a:r>
                <a:r>
                  <a:rPr lang="es-CR" sz="2400" dirty="0" smtClean="0"/>
                  <a:t>100(1-</a:t>
                </a:r>
                <a14:m>
                  <m:oMath xmlns:m="http://schemas.openxmlformats.org/officeDocument/2006/math">
                    <m:r>
                      <a:rPr lang="es-CR" sz="2000" i="1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𝛼</m:t>
                    </m:r>
                  </m:oMath>
                </a14:m>
                <a:r>
                  <a:rPr lang="es-CR" sz="2400" dirty="0" smtClean="0"/>
                  <a:t>)% . </a:t>
                </a:r>
                <a:r>
                  <a:rPr lang="es-CR" sz="2400" dirty="0"/>
                  <a:t>Si el </a:t>
                </a:r>
                <a:r>
                  <a:rPr lang="es-CR" sz="2400" dirty="0" smtClean="0"/>
                  <a:t>parámetro supuesto está </a:t>
                </a:r>
                <a:r>
                  <a:rPr lang="es-CR" sz="2400" dirty="0"/>
                  <a:t>contenido dentro de dicho intervalo, no es posible rechazar </a:t>
                </a:r>
                <a:r>
                  <a:rPr lang="es-CR" sz="2400" dirty="0" smtClean="0"/>
                  <a:t>Ho.</a:t>
                </a:r>
                <a:endParaRPr lang="es-CR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2 Marcador de contenido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72008" y="1124744"/>
                <a:ext cx="6300192" cy="5544616"/>
              </a:xfrm>
              <a:blipFill rotWithShape="1">
                <a:blip r:embed="rId2"/>
                <a:stretch>
                  <a:fillRect l="-581" t="-1540" r="-1258"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760040" y="58614"/>
            <a:ext cx="7772400" cy="850106"/>
          </a:xfrm>
        </p:spPr>
        <p:txBody>
          <a:bodyPr>
            <a:normAutofit/>
          </a:bodyPr>
          <a:lstStyle/>
          <a:p>
            <a:pPr algn="ctr"/>
            <a:r>
              <a:rPr lang="es-CR" sz="3200" dirty="0" smtClean="0"/>
              <a:t>Estimación y la </a:t>
            </a:r>
            <a:r>
              <a:rPr lang="es-CR" sz="3200" dirty="0"/>
              <a:t>p</a:t>
            </a:r>
            <a:r>
              <a:rPr lang="es-CR" sz="3200" dirty="0" smtClean="0"/>
              <a:t>rueba de hipótesis</a:t>
            </a:r>
            <a:endParaRPr lang="es-CR" sz="3200" dirty="0"/>
          </a:p>
        </p:txBody>
      </p:sp>
      <p:pic>
        <p:nvPicPr>
          <p:cNvPr id="2050" name="Picture 2" descr="http://sphweb.bumc.bu.edu/otlt/MPH-Modules/BS/BS704_Confidence_Intervals/CI%20mean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240" y="1340768"/>
            <a:ext cx="2215827" cy="1381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ttp://pirate.shu.edu/~wachsmut/Teaching/MATH1101/Testing/images/conf-explain2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991" y="2805337"/>
            <a:ext cx="2438400" cy="3257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4657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Elipse"/>
          <p:cNvSpPr/>
          <p:nvPr/>
        </p:nvSpPr>
        <p:spPr>
          <a:xfrm>
            <a:off x="323528" y="1700808"/>
            <a:ext cx="864096" cy="86409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7</a:t>
            </a:r>
          </a:p>
        </p:txBody>
      </p:sp>
      <p:sp>
        <p:nvSpPr>
          <p:cNvPr id="6" name="5 Rectángulo redondeado"/>
          <p:cNvSpPr/>
          <p:nvPr/>
        </p:nvSpPr>
        <p:spPr>
          <a:xfrm>
            <a:off x="1475656" y="1556792"/>
            <a:ext cx="2376264" cy="1224136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Prueba de hipótesis para la media : unilaterales</a:t>
            </a:r>
            <a:endParaRPr lang="es-CR" dirty="0"/>
          </a:p>
        </p:txBody>
      </p:sp>
      <p:sp>
        <p:nvSpPr>
          <p:cNvPr id="8" name="1 Título"/>
          <p:cNvSpPr>
            <a:spLocks noGrp="1"/>
          </p:cNvSpPr>
          <p:nvPr>
            <p:ph type="title"/>
          </p:nvPr>
        </p:nvSpPr>
        <p:spPr>
          <a:xfrm>
            <a:off x="616024" y="188640"/>
            <a:ext cx="7772400" cy="1008112"/>
          </a:xfrm>
        </p:spPr>
        <p:txBody>
          <a:bodyPr>
            <a:normAutofit/>
          </a:bodyPr>
          <a:lstStyle/>
          <a:p>
            <a:pPr algn="ctr"/>
            <a:r>
              <a:rPr lang="es-CR" dirty="0" smtClean="0"/>
              <a:t>Índice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94117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51520" y="1196752"/>
            <a:ext cx="6408712" cy="5472608"/>
          </a:xfrm>
        </p:spPr>
        <p:txBody>
          <a:bodyPr>
            <a:normAutofit lnSpcReduction="10000"/>
          </a:bodyPr>
          <a:lstStyle/>
          <a:p>
            <a:pPr algn="just"/>
            <a:r>
              <a:rPr lang="es-CR" sz="2400" dirty="0"/>
              <a:t>Una prueba de </a:t>
            </a:r>
            <a:r>
              <a:rPr lang="es-CR" sz="2400" dirty="0" smtClean="0"/>
              <a:t>hipótesis </a:t>
            </a:r>
            <a:r>
              <a:rPr lang="es-CR" sz="2400" dirty="0"/>
              <a:t>puede ser </a:t>
            </a:r>
            <a:r>
              <a:rPr lang="es-CR" sz="2400" i="1" dirty="0" smtClean="0"/>
              <a:t>unilateral.  </a:t>
            </a:r>
            <a:r>
              <a:rPr lang="es-CR" sz="2400" dirty="0"/>
              <a:t>E</a:t>
            </a:r>
            <a:r>
              <a:rPr lang="es-CR" sz="2400" dirty="0" smtClean="0"/>
              <a:t>n </a:t>
            </a:r>
            <a:r>
              <a:rPr lang="es-CR" sz="2400" dirty="0"/>
              <a:t>cuyo caso toda la </a:t>
            </a:r>
            <a:r>
              <a:rPr lang="es-CR" sz="2400" dirty="0" smtClean="0"/>
              <a:t>región de </a:t>
            </a:r>
            <a:r>
              <a:rPr lang="es-CR" sz="2400" dirty="0"/>
              <a:t>rechazo </a:t>
            </a:r>
            <a:r>
              <a:rPr lang="es-CR" sz="2400" dirty="0" smtClean="0"/>
              <a:t>está </a:t>
            </a:r>
            <a:r>
              <a:rPr lang="es-CR" sz="2400" dirty="0"/>
              <a:t>en una u otra cola de la </a:t>
            </a:r>
            <a:r>
              <a:rPr lang="es-CR" sz="2400" dirty="0" smtClean="0"/>
              <a:t>distribución. </a:t>
            </a:r>
          </a:p>
          <a:p>
            <a:pPr algn="just"/>
            <a:endParaRPr lang="es-CR" sz="2400" dirty="0"/>
          </a:p>
          <a:p>
            <a:pPr algn="just"/>
            <a:r>
              <a:rPr lang="es-CR" sz="2400" dirty="0" smtClean="0"/>
              <a:t>El que se </a:t>
            </a:r>
            <a:r>
              <a:rPr lang="es-CR" sz="2400" dirty="0"/>
              <a:t>utilice </a:t>
            </a:r>
            <a:r>
              <a:rPr lang="es-CR" sz="2400" dirty="0" smtClean="0"/>
              <a:t>una prueba </a:t>
            </a:r>
            <a:r>
              <a:rPr lang="es-CR" sz="2400" dirty="0"/>
              <a:t>unilateral </a:t>
            </a:r>
            <a:r>
              <a:rPr lang="es-CR" sz="2400" dirty="0" smtClean="0"/>
              <a:t>o bilateral </a:t>
            </a:r>
            <a:r>
              <a:rPr lang="es-CR" sz="2400" dirty="0"/>
              <a:t>depende de la naturaleza de la </a:t>
            </a:r>
            <a:r>
              <a:rPr lang="es-CR" sz="2400" dirty="0" smtClean="0"/>
              <a:t>cuestión planteada por el investigador.</a:t>
            </a:r>
          </a:p>
          <a:p>
            <a:pPr algn="just"/>
            <a:endParaRPr lang="es-CR" sz="2400" dirty="0"/>
          </a:p>
          <a:p>
            <a:pPr algn="just"/>
            <a:r>
              <a:rPr lang="es-CR" sz="2400" dirty="0" smtClean="0"/>
              <a:t>Por ejemplo, supóngase que no se tenía interés por la igualdad del parámetro, sino si los valores podían ser mayores o menores. </a:t>
            </a:r>
            <a:endParaRPr lang="es-CR" sz="2400" dirty="0"/>
          </a:p>
          <a:p>
            <a:pPr algn="just"/>
            <a:endParaRPr lang="es-CR" sz="2400" dirty="0" smtClean="0"/>
          </a:p>
          <a:p>
            <a:pPr algn="just"/>
            <a:r>
              <a:rPr lang="es-CR" sz="2400" dirty="0" smtClean="0"/>
              <a:t>En este caso, se deberá pasar de una prueba de hipótesis  bilateral a unilateral .</a:t>
            </a:r>
            <a:endParaRPr lang="es-CR" sz="2400" dirty="0"/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395536" y="58614"/>
            <a:ext cx="8496944" cy="850106"/>
          </a:xfrm>
        </p:spPr>
        <p:txBody>
          <a:bodyPr>
            <a:normAutofit/>
          </a:bodyPr>
          <a:lstStyle/>
          <a:p>
            <a:pPr algn="ctr"/>
            <a:r>
              <a:rPr lang="es-CR" sz="3200" dirty="0" smtClean="0"/>
              <a:t>Prueba de hipótesis unilateral para la media</a:t>
            </a:r>
            <a:endParaRPr lang="es-CR" sz="3200" dirty="0"/>
          </a:p>
        </p:txBody>
      </p:sp>
      <p:pic>
        <p:nvPicPr>
          <p:cNvPr id="3074" name="Picture 2" descr="http://www.proactimalearning.com/var/storage/images/media/images/learning/546318-1-nor-NO/learnin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240" y="1327448"/>
            <a:ext cx="2232247" cy="2476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http://www.tenantmail.com/images/learn-more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1837" y="4005064"/>
            <a:ext cx="2212650" cy="2533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1594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51520" y="1340768"/>
            <a:ext cx="7772400" cy="5328592"/>
          </a:xfrm>
        </p:spPr>
        <p:txBody>
          <a:bodyPr>
            <a:normAutofit/>
          </a:bodyPr>
          <a:lstStyle/>
          <a:p>
            <a:r>
              <a:rPr lang="es-CR" sz="2400" dirty="0" smtClean="0"/>
              <a:t>En el ejemplo anterior se analizó el siguiente planteamiento de prueba de hipótesis:</a:t>
            </a:r>
          </a:p>
          <a:p>
            <a:endParaRPr lang="es-CR" sz="2400" dirty="0"/>
          </a:p>
          <a:p>
            <a:endParaRPr lang="es-CR" sz="2400" dirty="0" smtClean="0"/>
          </a:p>
          <a:p>
            <a:endParaRPr lang="es-CR" sz="2400" dirty="0" smtClean="0"/>
          </a:p>
          <a:p>
            <a:endParaRPr lang="es-CR" sz="2400" dirty="0"/>
          </a:p>
          <a:p>
            <a:r>
              <a:rPr lang="es-CR" sz="2400" dirty="0" smtClean="0"/>
              <a:t>Ahora, el investigador pudo también plantear la siguiente:</a:t>
            </a:r>
            <a:endParaRPr lang="es-CR" sz="2400" dirty="0"/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395536" y="58614"/>
            <a:ext cx="8496944" cy="850106"/>
          </a:xfrm>
        </p:spPr>
        <p:txBody>
          <a:bodyPr>
            <a:normAutofit/>
          </a:bodyPr>
          <a:lstStyle/>
          <a:p>
            <a:pPr algn="ctr"/>
            <a:r>
              <a:rPr lang="es-CR" sz="3200" dirty="0" smtClean="0"/>
              <a:t>Prueba de hipótesis unilateral para la media</a:t>
            </a:r>
            <a:endParaRPr lang="es-CR" sz="3200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5330" y="2204864"/>
            <a:ext cx="1571084" cy="11521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9146" y="5085184"/>
            <a:ext cx="1656184" cy="11521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7225" y="5085184"/>
            <a:ext cx="1525260" cy="11521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8" name="Picture 2" descr="http://www.stepbystep.com/wp-content/uploads/2013/01/How-to-Make-Money-Selling-Your-Art-on-eBay5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3380" y="1869256"/>
            <a:ext cx="2644059" cy="1823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9450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51520" y="1124744"/>
            <a:ext cx="6336704" cy="5544616"/>
          </a:xfrm>
        </p:spPr>
        <p:txBody>
          <a:bodyPr>
            <a:normAutofit lnSpcReduction="10000"/>
          </a:bodyPr>
          <a:lstStyle/>
          <a:p>
            <a:pPr algn="just"/>
            <a:r>
              <a:rPr lang="es-CR" sz="2400" dirty="0" smtClean="0"/>
              <a:t>Para el caso en que la prueba de hipótesis se refiere a no una igualdad, sino a una cantidad menor o mayor, la única diferencia es a nivel de la aplicación de la regla de decisión.</a:t>
            </a:r>
          </a:p>
          <a:p>
            <a:pPr algn="just"/>
            <a:endParaRPr lang="es-CR" sz="2400" dirty="0"/>
          </a:p>
          <a:p>
            <a:pPr algn="just"/>
            <a:r>
              <a:rPr lang="es-CR" sz="2400" dirty="0" smtClean="0"/>
              <a:t>En vez de tomar dos zonas de rechazo, se tomaría únicamente un región.</a:t>
            </a:r>
          </a:p>
          <a:p>
            <a:pPr algn="just"/>
            <a:endParaRPr lang="es-CR" sz="2400" dirty="0"/>
          </a:p>
          <a:p>
            <a:pPr algn="just"/>
            <a:r>
              <a:rPr lang="es-CR" sz="2400" dirty="0" smtClean="0"/>
              <a:t>Si la prueba indica la superioridad, se tomaría la parte izquierda como región de rechazo.</a:t>
            </a:r>
            <a:r>
              <a:rPr lang="es-CR" sz="2400" dirty="0"/>
              <a:t> </a:t>
            </a:r>
            <a:r>
              <a:rPr lang="es-CR" sz="2400" dirty="0" smtClean="0"/>
              <a:t>Si fuera la inferioridad, se tomaría la parte derecha como la zona de rechazo.</a:t>
            </a:r>
          </a:p>
          <a:p>
            <a:pPr algn="just"/>
            <a:endParaRPr lang="es-CR" sz="2400" dirty="0"/>
          </a:p>
          <a:p>
            <a:pPr algn="just"/>
            <a:r>
              <a:rPr lang="es-CR" sz="2400" dirty="0" smtClean="0"/>
              <a:t>Ver los siguientes casos ejemplos.</a:t>
            </a:r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395536" y="58614"/>
            <a:ext cx="8496944" cy="850106"/>
          </a:xfrm>
        </p:spPr>
        <p:txBody>
          <a:bodyPr>
            <a:normAutofit/>
          </a:bodyPr>
          <a:lstStyle/>
          <a:p>
            <a:pPr algn="ctr"/>
            <a:r>
              <a:rPr lang="es-CR" sz="3200" dirty="0" smtClean="0"/>
              <a:t>Prueba de hipótesis unilateral para la media</a:t>
            </a:r>
            <a:endParaRPr lang="es-CR" sz="3200" dirty="0"/>
          </a:p>
        </p:txBody>
      </p:sp>
      <p:pic>
        <p:nvPicPr>
          <p:cNvPr id="5122" name="Picture 2" descr="http://1.bp.blogspot.com/-YST1fI2o5Ho/UoWzvLlQKsI/AAAAAAAAAFU/Q55m-LOiJHw/s400/learn-vietnamese-in-ho-chi-minh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9573" y="1196752"/>
            <a:ext cx="1957308" cy="2160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http://3.bp.blogspot.com/-iC38WfOYa64/UiTJ1cjY0yI/AAAAAAAAC9w/YpiPxJxe3L4/s1600/hypothesis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60" t="12785" r="9513" b="7044"/>
          <a:stretch/>
        </p:blipFill>
        <p:spPr bwMode="auto">
          <a:xfrm>
            <a:off x="6947952" y="3848100"/>
            <a:ext cx="1860550" cy="2533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7309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47222" y="1340768"/>
            <a:ext cx="7772400" cy="4572000"/>
          </a:xfrm>
        </p:spPr>
        <p:txBody>
          <a:bodyPr>
            <a:normAutofit/>
          </a:bodyPr>
          <a:lstStyle/>
          <a:p>
            <a:r>
              <a:rPr lang="es-CR" sz="2400" dirty="0" smtClean="0"/>
              <a:t>Para el caso el siguiente caso,                                 la zona de rechazo sería la siguiente. </a:t>
            </a:r>
            <a:endParaRPr lang="es-CR" sz="2400" dirty="0"/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395536" y="58614"/>
            <a:ext cx="8496944" cy="850106"/>
          </a:xfrm>
        </p:spPr>
        <p:txBody>
          <a:bodyPr>
            <a:normAutofit/>
          </a:bodyPr>
          <a:lstStyle/>
          <a:p>
            <a:pPr algn="ctr"/>
            <a:r>
              <a:rPr lang="es-CR" sz="3200" dirty="0" smtClean="0"/>
              <a:t>Prueba de hipótesis unilateral para la media</a:t>
            </a:r>
            <a:endParaRPr lang="es-CR" sz="3200" dirty="0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944" y="1124744"/>
            <a:ext cx="1656184" cy="11521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 descr="F:\Oscar Centeno Mora\PH - derecha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4160" y="2780928"/>
            <a:ext cx="6583680" cy="3326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5 Conector recto"/>
          <p:cNvCxnSpPr/>
          <p:nvPr/>
        </p:nvCxnSpPr>
        <p:spPr>
          <a:xfrm>
            <a:off x="971600" y="5661248"/>
            <a:ext cx="5400600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6 Conector recto"/>
          <p:cNvCxnSpPr/>
          <p:nvPr/>
        </p:nvCxnSpPr>
        <p:spPr>
          <a:xfrm>
            <a:off x="6372200" y="5661248"/>
            <a:ext cx="1155973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7 Rectángulo redondeado"/>
          <p:cNvSpPr/>
          <p:nvPr/>
        </p:nvSpPr>
        <p:spPr>
          <a:xfrm>
            <a:off x="6372200" y="5885509"/>
            <a:ext cx="1440160" cy="504056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Rechazo</a:t>
            </a:r>
          </a:p>
        </p:txBody>
      </p:sp>
      <p:sp>
        <p:nvSpPr>
          <p:cNvPr id="9" name="8 Rectángulo redondeado"/>
          <p:cNvSpPr/>
          <p:nvPr/>
        </p:nvSpPr>
        <p:spPr>
          <a:xfrm>
            <a:off x="2885381" y="5889434"/>
            <a:ext cx="2622723" cy="64135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No rechazo</a:t>
            </a:r>
            <a:endParaRPr lang="es-CR" dirty="0"/>
          </a:p>
        </p:txBody>
      </p:sp>
      <p:cxnSp>
        <p:nvCxnSpPr>
          <p:cNvPr id="11" name="10 Conector recto de flecha"/>
          <p:cNvCxnSpPr/>
          <p:nvPr/>
        </p:nvCxnSpPr>
        <p:spPr>
          <a:xfrm>
            <a:off x="6948264" y="3356992"/>
            <a:ext cx="0" cy="158417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11 Conector recto"/>
          <p:cNvCxnSpPr/>
          <p:nvPr/>
        </p:nvCxnSpPr>
        <p:spPr>
          <a:xfrm flipV="1">
            <a:off x="6376780" y="4437112"/>
            <a:ext cx="0" cy="100811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12 CuadroTexto"/>
              <p:cNvSpPr txBox="1"/>
              <p:nvPr/>
            </p:nvSpPr>
            <p:spPr>
              <a:xfrm>
                <a:off x="6012160" y="3933056"/>
                <a:ext cx="7920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R" b="0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CR" i="1" dirty="0" smtClean="0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es-CR" i="1" dirty="0" smtClean="0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s-CR" dirty="0"/>
              </a:p>
            </p:txBody>
          </p:sp>
        </mc:Choice>
        <mc:Fallback xmlns="">
          <p:sp>
            <p:nvSpPr>
              <p:cNvPr id="13" name="12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2160" y="3933056"/>
                <a:ext cx="792088" cy="36933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13 CuadroTexto"/>
              <p:cNvSpPr txBox="1"/>
              <p:nvPr/>
            </p:nvSpPr>
            <p:spPr>
              <a:xfrm>
                <a:off x="6300192" y="2924944"/>
                <a:ext cx="122413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R" i="1" dirty="0" smtClean="0">
                          <a:latin typeface="Cambria Math"/>
                          <a:ea typeface="Cambria Math"/>
                        </a:rPr>
                        <m:t>𝛼</m:t>
                      </m:r>
                      <m:r>
                        <a:rPr lang="es-CR" b="0" i="1" dirty="0" smtClean="0">
                          <a:latin typeface="Cambria Math"/>
                          <a:ea typeface="Cambria Math"/>
                        </a:rPr>
                        <m:t>=0.05</m:t>
                      </m:r>
                    </m:oMath>
                  </m:oMathPara>
                </a14:m>
                <a:endParaRPr lang="es-CR" dirty="0"/>
              </a:p>
            </p:txBody>
          </p:sp>
        </mc:Choice>
        <mc:Fallback xmlns="">
          <p:sp>
            <p:nvSpPr>
              <p:cNvPr id="14" name="13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0192" y="2924944"/>
                <a:ext cx="1224137" cy="369332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5332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395536" y="1305272"/>
            <a:ext cx="7772400" cy="4572000"/>
          </a:xfrm>
        </p:spPr>
        <p:txBody>
          <a:bodyPr>
            <a:normAutofit/>
          </a:bodyPr>
          <a:lstStyle/>
          <a:p>
            <a:r>
              <a:rPr lang="es-CR" sz="2400" dirty="0"/>
              <a:t>Para el caso el siguiente caso,                                 la zona de rechazo sería la siguiente. </a:t>
            </a:r>
          </a:p>
          <a:p>
            <a:endParaRPr lang="es-CR" sz="2400" dirty="0"/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395536" y="58614"/>
            <a:ext cx="8496944" cy="850106"/>
          </a:xfrm>
        </p:spPr>
        <p:txBody>
          <a:bodyPr>
            <a:normAutofit/>
          </a:bodyPr>
          <a:lstStyle/>
          <a:p>
            <a:pPr algn="ctr"/>
            <a:r>
              <a:rPr lang="es-CR" sz="3200" dirty="0" smtClean="0"/>
              <a:t>Prueba de hipótesis unilateral para la media</a:t>
            </a:r>
            <a:endParaRPr lang="es-CR" sz="3200" dirty="0"/>
          </a:p>
        </p:txBody>
      </p:sp>
      <p:pic>
        <p:nvPicPr>
          <p:cNvPr id="2050" name="Picture 2" descr="F:\Oscar Centeno Mora\PH- izquierda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6556" y="2708920"/>
            <a:ext cx="6583680" cy="3326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5 Conector recto"/>
          <p:cNvCxnSpPr/>
          <p:nvPr/>
        </p:nvCxnSpPr>
        <p:spPr>
          <a:xfrm>
            <a:off x="2627784" y="5661248"/>
            <a:ext cx="5400600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6 Conector recto"/>
          <p:cNvCxnSpPr/>
          <p:nvPr/>
        </p:nvCxnSpPr>
        <p:spPr>
          <a:xfrm>
            <a:off x="1475656" y="5661248"/>
            <a:ext cx="1155973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7 Rectángulo redondeado"/>
          <p:cNvSpPr/>
          <p:nvPr/>
        </p:nvSpPr>
        <p:spPr>
          <a:xfrm>
            <a:off x="1475656" y="5885509"/>
            <a:ext cx="1440160" cy="504056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Rechazo</a:t>
            </a:r>
          </a:p>
        </p:txBody>
      </p:sp>
      <p:sp>
        <p:nvSpPr>
          <p:cNvPr id="9" name="8 Rectángulo redondeado"/>
          <p:cNvSpPr/>
          <p:nvPr/>
        </p:nvSpPr>
        <p:spPr>
          <a:xfrm>
            <a:off x="4139952" y="5876246"/>
            <a:ext cx="2622723" cy="64135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No rechazo</a:t>
            </a:r>
            <a:endParaRPr lang="es-CR" dirty="0"/>
          </a:p>
        </p:txBody>
      </p:sp>
      <p:cxnSp>
        <p:nvCxnSpPr>
          <p:cNvPr id="10" name="9 Conector recto"/>
          <p:cNvCxnSpPr/>
          <p:nvPr/>
        </p:nvCxnSpPr>
        <p:spPr>
          <a:xfrm flipV="1">
            <a:off x="2699792" y="4293096"/>
            <a:ext cx="0" cy="100811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10 CuadroTexto"/>
              <p:cNvSpPr txBox="1"/>
              <p:nvPr/>
            </p:nvSpPr>
            <p:spPr>
              <a:xfrm>
                <a:off x="2339752" y="3851756"/>
                <a:ext cx="7920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R" b="0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CR" i="1" dirty="0" smtClean="0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es-CR" i="1" dirty="0" smtClean="0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s-CR" dirty="0"/>
              </a:p>
            </p:txBody>
          </p:sp>
        </mc:Choice>
        <mc:Fallback xmlns="">
          <p:sp>
            <p:nvSpPr>
              <p:cNvPr id="11" name="10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9752" y="3851756"/>
                <a:ext cx="792088" cy="36933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9452" y="1268760"/>
            <a:ext cx="1525260" cy="11521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3" name="12 Conector recto de flecha"/>
          <p:cNvCxnSpPr/>
          <p:nvPr/>
        </p:nvCxnSpPr>
        <p:spPr>
          <a:xfrm>
            <a:off x="2195736" y="3456414"/>
            <a:ext cx="0" cy="158417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13 CuadroTexto"/>
              <p:cNvSpPr txBox="1"/>
              <p:nvPr/>
            </p:nvSpPr>
            <p:spPr>
              <a:xfrm>
                <a:off x="1547664" y="3024366"/>
                <a:ext cx="122413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R" i="1" dirty="0" smtClean="0">
                          <a:latin typeface="Cambria Math"/>
                          <a:ea typeface="Cambria Math"/>
                        </a:rPr>
                        <m:t>𝛼</m:t>
                      </m:r>
                      <m:r>
                        <a:rPr lang="es-CR" b="0" i="1" dirty="0" smtClean="0">
                          <a:latin typeface="Cambria Math"/>
                          <a:ea typeface="Cambria Math"/>
                        </a:rPr>
                        <m:t>=0.05</m:t>
                      </m:r>
                    </m:oMath>
                  </m:oMathPara>
                </a14:m>
                <a:endParaRPr lang="es-CR" dirty="0"/>
              </a:p>
            </p:txBody>
          </p:sp>
        </mc:Choice>
        <mc:Fallback xmlns="">
          <p:sp>
            <p:nvSpPr>
              <p:cNvPr id="14" name="13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7664" y="3024366"/>
                <a:ext cx="1224137" cy="369332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849943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323528" y="1268760"/>
            <a:ext cx="5832648" cy="5256584"/>
          </a:xfrm>
        </p:spPr>
        <p:txBody>
          <a:bodyPr>
            <a:normAutofit/>
          </a:bodyPr>
          <a:lstStyle/>
          <a:p>
            <a:pPr algn="just"/>
            <a:r>
              <a:rPr lang="es-CR" sz="2400" dirty="0" smtClean="0"/>
              <a:t>Para la prueba bilateral, elegimos un nivel de confianza del 95% (o un error del 5%). </a:t>
            </a:r>
          </a:p>
          <a:p>
            <a:pPr algn="just"/>
            <a:endParaRPr lang="es-CR" sz="2400" dirty="0"/>
          </a:p>
          <a:p>
            <a:pPr algn="just"/>
            <a:r>
              <a:rPr lang="es-CR" sz="2400" dirty="0" smtClean="0"/>
              <a:t>Según el nivel de confianza anterior para la prueba bilateral, eso correspondía a los valores de la curva normal estándar de [-1.96 ;  1.96].</a:t>
            </a:r>
          </a:p>
          <a:p>
            <a:pPr algn="just"/>
            <a:endParaRPr lang="es-CR" sz="2400" dirty="0"/>
          </a:p>
          <a:p>
            <a:pPr algn="just"/>
            <a:r>
              <a:rPr lang="es-CR" sz="2400" dirty="0" smtClean="0"/>
              <a:t>Para las pruebas unilaterales, para un nivel de confianza del 95%, los valores críticos serían:</a:t>
            </a:r>
          </a:p>
          <a:p>
            <a:pPr marL="0" indent="0" algn="just">
              <a:buNone/>
            </a:pPr>
            <a:r>
              <a:rPr lang="es-CR" sz="2400" dirty="0" smtClean="0"/>
              <a:t>-H0 de valores menores, sería de 1.65</a:t>
            </a:r>
          </a:p>
          <a:p>
            <a:pPr marL="0" indent="0" algn="just">
              <a:buNone/>
            </a:pPr>
            <a:r>
              <a:rPr lang="es-CR" sz="2400" dirty="0" smtClean="0"/>
              <a:t>-H0 de valores mayores,  sería de 1.65</a:t>
            </a:r>
            <a:endParaRPr lang="es-CR" sz="2400" dirty="0"/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395536" y="58614"/>
            <a:ext cx="8496944" cy="850106"/>
          </a:xfrm>
        </p:spPr>
        <p:txBody>
          <a:bodyPr>
            <a:normAutofit/>
          </a:bodyPr>
          <a:lstStyle/>
          <a:p>
            <a:pPr algn="ctr"/>
            <a:r>
              <a:rPr lang="es-CR" sz="3200" dirty="0" smtClean="0"/>
              <a:t>Prueba de hipótesis unilateral para la media</a:t>
            </a:r>
            <a:endParaRPr lang="es-CR" sz="3200" dirty="0"/>
          </a:p>
        </p:txBody>
      </p:sp>
      <p:pic>
        <p:nvPicPr>
          <p:cNvPr id="6146" name="Picture 2" descr="http://www.psychstat.missouristate.edu/introbook/sbgraph/errors01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192" y="1268760"/>
            <a:ext cx="2706244" cy="2088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http://d22izw7byeupn1.cloudfront.net/journals/PHYSICS/synopses/images/10.1103/PhysRevLett.108.17050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75" r="39692"/>
          <a:stretch/>
        </p:blipFill>
        <p:spPr bwMode="auto">
          <a:xfrm>
            <a:off x="6694464" y="4035524"/>
            <a:ext cx="19177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213283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47222" y="1340768"/>
            <a:ext cx="7772400" cy="4572000"/>
          </a:xfrm>
        </p:spPr>
        <p:txBody>
          <a:bodyPr>
            <a:normAutofit/>
          </a:bodyPr>
          <a:lstStyle/>
          <a:p>
            <a:r>
              <a:rPr lang="es-CR" sz="2400" dirty="0" smtClean="0"/>
              <a:t>Para el caso el siguiente caso,                                 la zona de rechazo sería la siguiente. </a:t>
            </a:r>
            <a:endParaRPr lang="es-CR" sz="2400" dirty="0"/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395536" y="58614"/>
            <a:ext cx="8496944" cy="850106"/>
          </a:xfrm>
        </p:spPr>
        <p:txBody>
          <a:bodyPr>
            <a:normAutofit/>
          </a:bodyPr>
          <a:lstStyle/>
          <a:p>
            <a:pPr algn="ctr"/>
            <a:r>
              <a:rPr lang="es-CR" sz="3200" dirty="0" smtClean="0"/>
              <a:t>Prueba de hipótesis unilateral para la media</a:t>
            </a:r>
            <a:endParaRPr lang="es-CR" sz="3200" dirty="0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944" y="1124744"/>
            <a:ext cx="1656184" cy="11521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 descr="F:\Oscar Centeno Mora\PH - derecha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4160" y="2780928"/>
            <a:ext cx="6583680" cy="3326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5 Conector recto"/>
          <p:cNvCxnSpPr/>
          <p:nvPr/>
        </p:nvCxnSpPr>
        <p:spPr>
          <a:xfrm>
            <a:off x="971600" y="5661248"/>
            <a:ext cx="5400600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6 Conector recto"/>
          <p:cNvCxnSpPr/>
          <p:nvPr/>
        </p:nvCxnSpPr>
        <p:spPr>
          <a:xfrm>
            <a:off x="6372200" y="5661248"/>
            <a:ext cx="1155973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7 Rectángulo redondeado"/>
          <p:cNvSpPr/>
          <p:nvPr/>
        </p:nvSpPr>
        <p:spPr>
          <a:xfrm>
            <a:off x="6372200" y="5885509"/>
            <a:ext cx="1440160" cy="504056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Rechazo</a:t>
            </a:r>
          </a:p>
        </p:txBody>
      </p:sp>
      <p:sp>
        <p:nvSpPr>
          <p:cNvPr id="9" name="8 Rectángulo redondeado"/>
          <p:cNvSpPr/>
          <p:nvPr/>
        </p:nvSpPr>
        <p:spPr>
          <a:xfrm>
            <a:off x="2885381" y="5889434"/>
            <a:ext cx="2622723" cy="64135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No rechazo</a:t>
            </a:r>
            <a:endParaRPr lang="es-CR" dirty="0"/>
          </a:p>
        </p:txBody>
      </p:sp>
      <p:cxnSp>
        <p:nvCxnSpPr>
          <p:cNvPr id="11" name="10 Conector recto de flecha"/>
          <p:cNvCxnSpPr/>
          <p:nvPr/>
        </p:nvCxnSpPr>
        <p:spPr>
          <a:xfrm>
            <a:off x="6948264" y="3356992"/>
            <a:ext cx="0" cy="158417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11 Conector recto"/>
          <p:cNvCxnSpPr/>
          <p:nvPr/>
        </p:nvCxnSpPr>
        <p:spPr>
          <a:xfrm flipV="1">
            <a:off x="6376780" y="4437112"/>
            <a:ext cx="0" cy="100811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12 CuadroTexto"/>
              <p:cNvSpPr txBox="1"/>
              <p:nvPr/>
            </p:nvSpPr>
            <p:spPr>
              <a:xfrm>
                <a:off x="6012160" y="3933056"/>
                <a:ext cx="7920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R" b="0" i="1" dirty="0" smtClean="0">
                          <a:latin typeface="Cambria Math"/>
                        </a:rPr>
                        <m:t>1.65</m:t>
                      </m:r>
                    </m:oMath>
                  </m:oMathPara>
                </a14:m>
                <a:endParaRPr lang="es-CR" dirty="0"/>
              </a:p>
            </p:txBody>
          </p:sp>
        </mc:Choice>
        <mc:Fallback xmlns="">
          <p:sp>
            <p:nvSpPr>
              <p:cNvPr id="13" name="12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2160" y="3933056"/>
                <a:ext cx="792088" cy="36933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13 CuadroTexto"/>
              <p:cNvSpPr txBox="1"/>
              <p:nvPr/>
            </p:nvSpPr>
            <p:spPr>
              <a:xfrm>
                <a:off x="6300192" y="2924944"/>
                <a:ext cx="122413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R" i="1" dirty="0" smtClean="0">
                          <a:latin typeface="Cambria Math"/>
                          <a:ea typeface="Cambria Math"/>
                        </a:rPr>
                        <m:t>𝛼</m:t>
                      </m:r>
                      <m:r>
                        <a:rPr lang="es-CR" b="0" i="1" dirty="0" smtClean="0">
                          <a:latin typeface="Cambria Math"/>
                          <a:ea typeface="Cambria Math"/>
                        </a:rPr>
                        <m:t>=0.05</m:t>
                      </m:r>
                    </m:oMath>
                  </m:oMathPara>
                </a14:m>
                <a:endParaRPr lang="es-CR" dirty="0"/>
              </a:p>
            </p:txBody>
          </p:sp>
        </mc:Choice>
        <mc:Fallback xmlns="">
          <p:sp>
            <p:nvSpPr>
              <p:cNvPr id="14" name="13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0192" y="2924944"/>
                <a:ext cx="1224137" cy="369332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14 CuadroTexto"/>
          <p:cNvSpPr txBox="1"/>
          <p:nvPr/>
        </p:nvSpPr>
        <p:spPr>
          <a:xfrm>
            <a:off x="3995936" y="5363924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R" dirty="0" smtClean="0"/>
              <a:t>0</a:t>
            </a:r>
            <a:endParaRPr lang="es-C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15 CuadroTexto"/>
              <p:cNvSpPr txBox="1"/>
              <p:nvPr/>
            </p:nvSpPr>
            <p:spPr>
              <a:xfrm>
                <a:off x="755576" y="2987660"/>
                <a:ext cx="22322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R" i="1" dirty="0" smtClean="0">
                          <a:latin typeface="Cambria Math"/>
                          <a:ea typeface="Cambria Math"/>
                        </a:rPr>
                        <m:t>𝐶</m:t>
                      </m:r>
                      <m:r>
                        <a:rPr lang="es-CR" b="0" i="1" dirty="0" smtClean="0">
                          <a:latin typeface="Cambria Math"/>
                          <a:ea typeface="Cambria Math"/>
                        </a:rPr>
                        <m:t>𝑜𝑛𝑓𝑖𝑎𝑛𝑧𝑎</m:t>
                      </m:r>
                      <m:r>
                        <a:rPr lang="es-CR" b="0" i="1" dirty="0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s-CR" b="0" i="1" dirty="0" smtClean="0">
                          <a:latin typeface="Cambria Math"/>
                          <a:ea typeface="Cambria Math"/>
                        </a:rPr>
                        <m:t>𝑑𝑒𝑙</m:t>
                      </m:r>
                      <m:r>
                        <a:rPr lang="es-CR" b="0" i="1" dirty="0" smtClean="0">
                          <a:latin typeface="Cambria Math"/>
                          <a:ea typeface="Cambria Math"/>
                        </a:rPr>
                        <m:t> 95%</m:t>
                      </m:r>
                    </m:oMath>
                  </m:oMathPara>
                </a14:m>
                <a:endParaRPr lang="es-CR" dirty="0"/>
              </a:p>
            </p:txBody>
          </p:sp>
        </mc:Choice>
        <mc:Fallback xmlns="">
          <p:sp>
            <p:nvSpPr>
              <p:cNvPr id="16" name="15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2987660"/>
                <a:ext cx="2232248" cy="369332"/>
              </a:xfrm>
              <a:prstGeom prst="rect">
                <a:avLst/>
              </a:prstGeom>
              <a:blipFill rotWithShape="1">
                <a:blip r:embed="rId6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5855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395536" y="1305272"/>
            <a:ext cx="7772400" cy="4572000"/>
          </a:xfrm>
        </p:spPr>
        <p:txBody>
          <a:bodyPr>
            <a:normAutofit/>
          </a:bodyPr>
          <a:lstStyle/>
          <a:p>
            <a:r>
              <a:rPr lang="es-CR" sz="2400" dirty="0"/>
              <a:t>Para el caso el siguiente caso,                                 la zona de rechazo sería la siguiente. </a:t>
            </a:r>
          </a:p>
          <a:p>
            <a:endParaRPr lang="es-CR" sz="2400" dirty="0"/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395536" y="58614"/>
            <a:ext cx="8496944" cy="850106"/>
          </a:xfrm>
        </p:spPr>
        <p:txBody>
          <a:bodyPr>
            <a:normAutofit/>
          </a:bodyPr>
          <a:lstStyle/>
          <a:p>
            <a:pPr algn="ctr"/>
            <a:r>
              <a:rPr lang="es-CR" sz="3200" dirty="0" smtClean="0"/>
              <a:t>Prueba de hipótesis unilateral para la media</a:t>
            </a:r>
            <a:endParaRPr lang="es-CR" sz="3200" dirty="0"/>
          </a:p>
        </p:txBody>
      </p:sp>
      <p:pic>
        <p:nvPicPr>
          <p:cNvPr id="2050" name="Picture 2" descr="F:\Oscar Centeno Mora\PH- izquierda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6556" y="2708920"/>
            <a:ext cx="6583680" cy="3326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5 Conector recto"/>
          <p:cNvCxnSpPr/>
          <p:nvPr/>
        </p:nvCxnSpPr>
        <p:spPr>
          <a:xfrm>
            <a:off x="2627784" y="5661248"/>
            <a:ext cx="5400600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6 Conector recto"/>
          <p:cNvCxnSpPr/>
          <p:nvPr/>
        </p:nvCxnSpPr>
        <p:spPr>
          <a:xfrm>
            <a:off x="1475656" y="5661248"/>
            <a:ext cx="1155973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7 Rectángulo redondeado"/>
          <p:cNvSpPr/>
          <p:nvPr/>
        </p:nvSpPr>
        <p:spPr>
          <a:xfrm>
            <a:off x="1475656" y="5885509"/>
            <a:ext cx="1440160" cy="504056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Rechazo</a:t>
            </a:r>
          </a:p>
        </p:txBody>
      </p:sp>
      <p:sp>
        <p:nvSpPr>
          <p:cNvPr id="9" name="8 Rectángulo redondeado"/>
          <p:cNvSpPr/>
          <p:nvPr/>
        </p:nvSpPr>
        <p:spPr>
          <a:xfrm>
            <a:off x="4139952" y="5876246"/>
            <a:ext cx="2622723" cy="64135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No rechazo</a:t>
            </a:r>
            <a:endParaRPr lang="es-CR" dirty="0"/>
          </a:p>
        </p:txBody>
      </p:sp>
      <p:cxnSp>
        <p:nvCxnSpPr>
          <p:cNvPr id="10" name="9 Conector recto"/>
          <p:cNvCxnSpPr/>
          <p:nvPr/>
        </p:nvCxnSpPr>
        <p:spPr>
          <a:xfrm flipV="1">
            <a:off x="2699792" y="4293096"/>
            <a:ext cx="0" cy="100811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9452" y="1268760"/>
            <a:ext cx="1525260" cy="11521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3" name="12 Conector recto de flecha"/>
          <p:cNvCxnSpPr/>
          <p:nvPr/>
        </p:nvCxnSpPr>
        <p:spPr>
          <a:xfrm>
            <a:off x="2195736" y="3456414"/>
            <a:ext cx="0" cy="158417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13 CuadroTexto"/>
              <p:cNvSpPr txBox="1"/>
              <p:nvPr/>
            </p:nvSpPr>
            <p:spPr>
              <a:xfrm>
                <a:off x="1547664" y="3024366"/>
                <a:ext cx="122413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R" i="1" dirty="0" smtClean="0">
                          <a:latin typeface="Cambria Math"/>
                          <a:ea typeface="Cambria Math"/>
                        </a:rPr>
                        <m:t>𝛼</m:t>
                      </m:r>
                      <m:r>
                        <a:rPr lang="es-CR" b="0" i="1" dirty="0" smtClean="0">
                          <a:latin typeface="Cambria Math"/>
                          <a:ea typeface="Cambria Math"/>
                        </a:rPr>
                        <m:t>=0.05</m:t>
                      </m:r>
                    </m:oMath>
                  </m:oMathPara>
                </a14:m>
                <a:endParaRPr lang="es-CR" dirty="0"/>
              </a:p>
            </p:txBody>
          </p:sp>
        </mc:Choice>
        <mc:Fallback xmlns="">
          <p:sp>
            <p:nvSpPr>
              <p:cNvPr id="14" name="13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7664" y="3024366"/>
                <a:ext cx="1224137" cy="36933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14 CuadroTexto"/>
          <p:cNvSpPr txBox="1"/>
          <p:nvPr/>
        </p:nvSpPr>
        <p:spPr>
          <a:xfrm>
            <a:off x="4211960" y="5301208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R" dirty="0" smtClean="0"/>
              <a:t>0</a:t>
            </a:r>
            <a:endParaRPr lang="es-C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15 CuadroTexto"/>
              <p:cNvSpPr txBox="1"/>
              <p:nvPr/>
            </p:nvSpPr>
            <p:spPr>
              <a:xfrm>
                <a:off x="2339752" y="3923764"/>
                <a:ext cx="7920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R" b="0" i="1" dirty="0" smtClean="0">
                          <a:latin typeface="Cambria Math"/>
                        </a:rPr>
                        <m:t>−1.65</m:t>
                      </m:r>
                    </m:oMath>
                  </m:oMathPara>
                </a14:m>
                <a:endParaRPr lang="es-CR" dirty="0"/>
              </a:p>
            </p:txBody>
          </p:sp>
        </mc:Choice>
        <mc:Fallback xmlns="">
          <p:sp>
            <p:nvSpPr>
              <p:cNvPr id="16" name="15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9752" y="3923764"/>
                <a:ext cx="792088" cy="369332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16 CuadroTexto"/>
              <p:cNvSpPr txBox="1"/>
              <p:nvPr/>
            </p:nvSpPr>
            <p:spPr>
              <a:xfrm>
                <a:off x="6012160" y="2807434"/>
                <a:ext cx="22322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R" i="1" dirty="0" smtClean="0">
                          <a:latin typeface="Cambria Math"/>
                          <a:ea typeface="Cambria Math"/>
                        </a:rPr>
                        <m:t>𝐶</m:t>
                      </m:r>
                      <m:r>
                        <a:rPr lang="es-CR" b="0" i="1" dirty="0" smtClean="0">
                          <a:latin typeface="Cambria Math"/>
                          <a:ea typeface="Cambria Math"/>
                        </a:rPr>
                        <m:t>𝑜𝑛𝑓𝑖𝑎𝑛𝑧𝑎</m:t>
                      </m:r>
                      <m:r>
                        <a:rPr lang="es-CR" b="0" i="1" dirty="0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s-CR" b="0" i="1" dirty="0" smtClean="0">
                          <a:latin typeface="Cambria Math"/>
                          <a:ea typeface="Cambria Math"/>
                        </a:rPr>
                        <m:t>𝑑𝑒𝑙</m:t>
                      </m:r>
                      <m:r>
                        <a:rPr lang="es-CR" b="0" i="1" dirty="0" smtClean="0">
                          <a:latin typeface="Cambria Math"/>
                          <a:ea typeface="Cambria Math"/>
                        </a:rPr>
                        <m:t> 95%</m:t>
                      </m:r>
                    </m:oMath>
                  </m:oMathPara>
                </a14:m>
                <a:endParaRPr lang="es-CR" dirty="0"/>
              </a:p>
            </p:txBody>
          </p:sp>
        </mc:Choice>
        <mc:Fallback xmlns="">
          <p:sp>
            <p:nvSpPr>
              <p:cNvPr id="17" name="16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2160" y="2807434"/>
                <a:ext cx="2232248" cy="369332"/>
              </a:xfrm>
              <a:prstGeom prst="rect">
                <a:avLst/>
              </a:prstGeom>
              <a:blipFill rotWithShape="1">
                <a:blip r:embed="rId6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949633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2 Marcador de contenido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323528" y="1484784"/>
                <a:ext cx="6192688" cy="5040560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s-CR" sz="2400" dirty="0" smtClean="0"/>
                  <a:t>Suponga </a:t>
                </a:r>
                <a:r>
                  <a:rPr lang="es-CR" sz="2400" dirty="0"/>
                  <a:t>que los investigadores se hubieran preguntado: </a:t>
                </a:r>
                <a:r>
                  <a:rPr lang="es-CR" sz="2400" dirty="0" smtClean="0"/>
                  <a:t>es posible concluir que </a:t>
                </a:r>
                <a14:m>
                  <m:oMath xmlns:m="http://schemas.openxmlformats.org/officeDocument/2006/math">
                    <m:r>
                      <a:rPr lang="es-CR" sz="2400" i="1" smtClean="0">
                        <a:latin typeface="Cambria Math"/>
                        <a:ea typeface="Cambria Math"/>
                      </a:rPr>
                      <m:t>𝜇</m:t>
                    </m:r>
                    <m:r>
                      <a:rPr lang="es-CR" sz="2400" b="0" i="1" smtClean="0">
                        <a:latin typeface="Cambria Math"/>
                        <a:ea typeface="Cambria Math"/>
                      </a:rPr>
                      <m:t>&lt;30</m:t>
                    </m:r>
                  </m:oMath>
                </a14:m>
                <a:r>
                  <a:rPr lang="es-CR" sz="2400" b="0" dirty="0" smtClean="0">
                    <a:ea typeface="Cambria Math"/>
                  </a:rPr>
                  <a:t> ?.</a:t>
                </a:r>
              </a:p>
              <a:p>
                <a:pPr algn="just"/>
                <a:endParaRPr lang="es-CR" sz="2400" dirty="0">
                  <a:ea typeface="Cambria Math"/>
                </a:endParaRPr>
              </a:p>
              <a:p>
                <a:pPr algn="just"/>
                <a:r>
                  <a:rPr lang="es-CR" sz="2400" dirty="0"/>
                  <a:t>La respuesta a esta pregunta es que puede llegarse a esta </a:t>
                </a:r>
                <a:r>
                  <a:rPr lang="es-CR" sz="2400" dirty="0" smtClean="0"/>
                  <a:t>conclusión si </a:t>
                </a:r>
                <a:r>
                  <a:rPr lang="es-CR" sz="2400" dirty="0"/>
                  <a:t>es posible </a:t>
                </a:r>
                <a:r>
                  <a:rPr lang="es-CR" sz="2400" dirty="0" smtClean="0"/>
                  <a:t>rechazar </a:t>
                </a:r>
                <a:r>
                  <a:rPr lang="es-CR" sz="2400" dirty="0"/>
                  <a:t>la </a:t>
                </a:r>
                <a:r>
                  <a:rPr lang="es-CR" sz="2400" dirty="0" smtClean="0"/>
                  <a:t>hipótesis nula </a:t>
                </a:r>
                <a14:m>
                  <m:oMath xmlns:m="http://schemas.openxmlformats.org/officeDocument/2006/math">
                    <m:r>
                      <a:rPr lang="es-CR" sz="2400" i="1">
                        <a:latin typeface="Cambria Math"/>
                        <a:ea typeface="Cambria Math"/>
                      </a:rPr>
                      <m:t>𝜇</m:t>
                    </m:r>
                    <m:r>
                      <a:rPr lang="es-CR" sz="2400" i="1" smtClean="0">
                        <a:latin typeface="Cambria Math"/>
                        <a:ea typeface="Cambria Math"/>
                      </a:rPr>
                      <m:t>≥</m:t>
                    </m:r>
                    <m:r>
                      <a:rPr lang="es-CR" sz="2400" b="0" i="1" smtClean="0">
                        <a:latin typeface="Cambria Math"/>
                        <a:ea typeface="Cambria Math"/>
                      </a:rPr>
                      <m:t>30?</m:t>
                    </m:r>
                  </m:oMath>
                </a14:m>
                <a:r>
                  <a:rPr lang="es-CR" sz="2400" b="0" dirty="0" smtClean="0">
                    <a:ea typeface="Cambria Math"/>
                  </a:rPr>
                  <a:t> </a:t>
                </a:r>
              </a:p>
              <a:p>
                <a:pPr algn="just"/>
                <a:endParaRPr lang="es-CR" sz="2400" dirty="0">
                  <a:ea typeface="Cambria Math"/>
                </a:endParaRPr>
              </a:p>
              <a:p>
                <a:pPr algn="just"/>
                <a:r>
                  <a:rPr lang="es-CR" sz="2400" dirty="0"/>
                  <a:t>Mediante el uso del procedimiento de los diez pasos y con base en </a:t>
                </a:r>
                <a:r>
                  <a:rPr lang="es-CR" sz="2400" dirty="0" smtClean="0"/>
                  <a:t>una prueba </a:t>
                </a:r>
                <a:r>
                  <a:rPr lang="es-CR" sz="2400" dirty="0"/>
                  <a:t>unilateral se llega a una </a:t>
                </a:r>
                <a:r>
                  <a:rPr lang="es-CR" sz="2400" dirty="0" smtClean="0"/>
                  <a:t>decisión o conclusión.</a:t>
                </a:r>
                <a:endParaRPr lang="es-CR" sz="2400" b="0" dirty="0" smtClean="0">
                  <a:ea typeface="Cambria Math"/>
                </a:endParaRPr>
              </a:p>
            </p:txBody>
          </p:sp>
        </mc:Choice>
        <mc:Fallback xmlns="">
          <p:sp>
            <p:nvSpPr>
              <p:cNvPr id="3" name="2 Marcador de contenido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323528" y="1484784"/>
                <a:ext cx="6192688" cy="5040560"/>
              </a:xfrm>
              <a:blipFill rotWithShape="1">
                <a:blip r:embed="rId2"/>
                <a:stretch>
                  <a:fillRect l="-689" t="-969" r="-1575"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395536" y="58614"/>
            <a:ext cx="8496944" cy="850106"/>
          </a:xfrm>
        </p:spPr>
        <p:txBody>
          <a:bodyPr>
            <a:normAutofit/>
          </a:bodyPr>
          <a:lstStyle/>
          <a:p>
            <a:pPr algn="ctr"/>
            <a:r>
              <a:rPr lang="es-CR" sz="3200" dirty="0" smtClean="0"/>
              <a:t>Prueba de hipótesis unilateral para la media</a:t>
            </a:r>
            <a:endParaRPr lang="es-CR" sz="3200" dirty="0"/>
          </a:p>
        </p:txBody>
      </p:sp>
      <p:pic>
        <p:nvPicPr>
          <p:cNvPr id="7170" name="Picture 2" descr="http://johnbarban.com/wp-content/uploads/2009/07/istock_000006172836xsmall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4580" y="1484784"/>
            <a:ext cx="2088232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https://cdn2.content.compendiumblog.com/uploads/user/b8bbc9ab-67b1-4a8e-ac5c-5811daa967bd/1bfbf295-292e-4b39-a40d-a3fed11a5f1e/Image/d6a276fb0fae34e986fcad0ef5c5ef0a/beakers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4957" y="4941168"/>
            <a:ext cx="1507477" cy="1362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731470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323528" y="1268760"/>
            <a:ext cx="5472608" cy="5400600"/>
          </a:xfrm>
        </p:spPr>
        <p:txBody>
          <a:bodyPr/>
          <a:lstStyle/>
          <a:p>
            <a:pPr marL="0" indent="0">
              <a:buNone/>
            </a:pPr>
            <a:r>
              <a:rPr lang="es-CR" dirty="0" smtClean="0"/>
              <a:t>1. </a:t>
            </a:r>
            <a:r>
              <a:rPr lang="es-CR" b="1" dirty="0" smtClean="0"/>
              <a:t>Datos</a:t>
            </a:r>
            <a:r>
              <a:rPr lang="es-CR" dirty="0" smtClean="0"/>
              <a:t>: lo de antes.</a:t>
            </a:r>
          </a:p>
          <a:p>
            <a:endParaRPr lang="es-CR" dirty="0"/>
          </a:p>
          <a:p>
            <a:pPr marL="0" indent="0">
              <a:buNone/>
            </a:pPr>
            <a:r>
              <a:rPr lang="es-CR" dirty="0" smtClean="0"/>
              <a:t>2. </a:t>
            </a:r>
            <a:r>
              <a:rPr lang="es-CR" b="1" dirty="0" smtClean="0"/>
              <a:t>Suposiciones</a:t>
            </a:r>
            <a:r>
              <a:rPr lang="es-CR" dirty="0" smtClean="0"/>
              <a:t>: lo de antes.</a:t>
            </a:r>
          </a:p>
          <a:p>
            <a:pPr marL="0" indent="0">
              <a:buNone/>
            </a:pPr>
            <a:endParaRPr lang="es-CR" dirty="0"/>
          </a:p>
          <a:p>
            <a:pPr marL="0" indent="0">
              <a:buNone/>
            </a:pPr>
            <a:r>
              <a:rPr lang="es-CR" dirty="0" smtClean="0"/>
              <a:t>3. </a:t>
            </a:r>
            <a:r>
              <a:rPr lang="es-CR" b="1" dirty="0" smtClean="0"/>
              <a:t>Hipótesis</a:t>
            </a:r>
            <a:r>
              <a:rPr lang="es-CR" dirty="0" smtClean="0"/>
              <a:t>:</a:t>
            </a:r>
          </a:p>
          <a:p>
            <a:pPr marL="0" indent="0">
              <a:buNone/>
            </a:pPr>
            <a:endParaRPr lang="es-CR" dirty="0"/>
          </a:p>
          <a:p>
            <a:pPr marL="0" indent="0">
              <a:buNone/>
            </a:pPr>
            <a:r>
              <a:rPr lang="es-CR" dirty="0" smtClean="0"/>
              <a:t>4. </a:t>
            </a:r>
            <a:r>
              <a:rPr lang="es-CR" b="1" dirty="0" smtClean="0"/>
              <a:t>Estadística de prueba</a:t>
            </a:r>
            <a:r>
              <a:rPr lang="es-CR" dirty="0" smtClean="0"/>
              <a:t>:</a:t>
            </a:r>
          </a:p>
          <a:p>
            <a:pPr marL="0" indent="0">
              <a:buNone/>
            </a:pPr>
            <a:endParaRPr lang="es-CR" dirty="0"/>
          </a:p>
          <a:p>
            <a:pPr marL="0" indent="0">
              <a:buNone/>
            </a:pPr>
            <a:r>
              <a:rPr lang="es-CR" dirty="0" smtClean="0"/>
              <a:t>5. </a:t>
            </a:r>
            <a:r>
              <a:rPr lang="es-CR" b="1" dirty="0" smtClean="0"/>
              <a:t>Distribución</a:t>
            </a:r>
            <a:r>
              <a:rPr lang="es-CR" dirty="0" smtClean="0"/>
              <a:t> : lo de antes.</a:t>
            </a:r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395536" y="58614"/>
            <a:ext cx="8496944" cy="850106"/>
          </a:xfrm>
        </p:spPr>
        <p:txBody>
          <a:bodyPr>
            <a:normAutofit/>
          </a:bodyPr>
          <a:lstStyle/>
          <a:p>
            <a:pPr algn="ctr"/>
            <a:r>
              <a:rPr lang="es-CR" sz="3200" dirty="0" smtClean="0"/>
              <a:t>Prueba de hipótesis unilateral para la media</a:t>
            </a:r>
            <a:endParaRPr lang="es-CR" sz="32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6932" y="2938403"/>
            <a:ext cx="1368152" cy="916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9952" y="3929484"/>
            <a:ext cx="1598578" cy="1008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4" name="Picture 2" descr="http://keebar.com/wp-content/uploads/2013/05/solution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9237" y="992932"/>
            <a:ext cx="3590925" cy="2714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http://admis.hp.nic.in/ngtkullu/Images/validatepermit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176" y="4293096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387363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611560" y="1412776"/>
            <a:ext cx="7772400" cy="4572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R" sz="2400" dirty="0" smtClean="0"/>
              <a:t>6. </a:t>
            </a:r>
            <a:r>
              <a:rPr lang="es-CR" sz="2400" b="1" dirty="0" smtClean="0"/>
              <a:t>Regla de decisión</a:t>
            </a:r>
            <a:r>
              <a:rPr lang="es-CR" sz="2400" dirty="0" smtClean="0"/>
              <a:t>: </a:t>
            </a:r>
            <a:r>
              <a:rPr lang="es-CR" sz="2400" dirty="0"/>
              <a:t>l</a:t>
            </a:r>
            <a:r>
              <a:rPr lang="es-CR" sz="2400" dirty="0" smtClean="0"/>
              <a:t>a regla </a:t>
            </a:r>
            <a:r>
              <a:rPr lang="es-CR" sz="2400" dirty="0"/>
              <a:t>de </a:t>
            </a:r>
            <a:r>
              <a:rPr lang="es-CR" sz="2400" dirty="0" smtClean="0"/>
              <a:t>decisión señala </a:t>
            </a:r>
            <a:r>
              <a:rPr lang="es-CR" sz="2400" dirty="0"/>
              <a:t>que se rechaza </a:t>
            </a:r>
            <a:r>
              <a:rPr lang="es-CR" sz="2400" i="1" dirty="0"/>
              <a:t>Ho </a:t>
            </a:r>
            <a:r>
              <a:rPr lang="es-CR" sz="2400" dirty="0"/>
              <a:t>si el valor </a:t>
            </a:r>
            <a:r>
              <a:rPr lang="es-CR" sz="2400" dirty="0" smtClean="0"/>
              <a:t>calculado de </a:t>
            </a:r>
            <a:r>
              <a:rPr lang="es-CR" sz="2400" dirty="0"/>
              <a:t>la </a:t>
            </a:r>
            <a:r>
              <a:rPr lang="es-CR" sz="2400" dirty="0" smtClean="0"/>
              <a:t>estadística </a:t>
            </a:r>
            <a:r>
              <a:rPr lang="es-CR" sz="2400" dirty="0"/>
              <a:t>de prueba es menor </a:t>
            </a:r>
            <a:r>
              <a:rPr lang="es-CR" sz="2400" dirty="0" smtClean="0"/>
              <a:t>o </a:t>
            </a:r>
            <a:r>
              <a:rPr lang="es-CR" sz="2400" dirty="0"/>
              <a:t>igual que -1.645.</a:t>
            </a:r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395536" y="58614"/>
            <a:ext cx="8496944" cy="850106"/>
          </a:xfrm>
        </p:spPr>
        <p:txBody>
          <a:bodyPr>
            <a:normAutofit/>
          </a:bodyPr>
          <a:lstStyle/>
          <a:p>
            <a:pPr algn="ctr"/>
            <a:r>
              <a:rPr lang="es-CR" sz="3200" dirty="0" smtClean="0"/>
              <a:t>Prueba de hipótesis unilateral para la media</a:t>
            </a:r>
            <a:endParaRPr lang="es-CR" sz="32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2780928"/>
            <a:ext cx="6912768" cy="3601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8969224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51520" y="1124744"/>
            <a:ext cx="6408712" cy="547260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CR" sz="2400" b="1" dirty="0" smtClean="0"/>
              <a:t>7. Cálculo de la estadística de prueba</a:t>
            </a:r>
            <a:r>
              <a:rPr lang="es-CR" sz="2400" dirty="0" smtClean="0"/>
              <a:t>:</a:t>
            </a:r>
          </a:p>
          <a:p>
            <a:pPr marL="0" indent="0" algn="just">
              <a:buNone/>
            </a:pPr>
            <a:endParaRPr lang="es-CR" sz="2400" dirty="0"/>
          </a:p>
          <a:p>
            <a:pPr marL="0" indent="0" algn="just">
              <a:buNone/>
            </a:pPr>
            <a:endParaRPr lang="es-CR" sz="2400" dirty="0" smtClean="0"/>
          </a:p>
          <a:p>
            <a:pPr marL="0" indent="0" algn="just">
              <a:buNone/>
            </a:pPr>
            <a:endParaRPr lang="es-CR" sz="2400" dirty="0"/>
          </a:p>
          <a:p>
            <a:pPr marL="0" indent="0" algn="just">
              <a:buNone/>
            </a:pPr>
            <a:r>
              <a:rPr lang="es-CR" sz="2400" dirty="0" smtClean="0"/>
              <a:t>8. </a:t>
            </a:r>
            <a:r>
              <a:rPr lang="es-CR" sz="2400" b="1" dirty="0" smtClean="0"/>
              <a:t>Decisión estadística</a:t>
            </a:r>
            <a:r>
              <a:rPr lang="es-CR" sz="2400" dirty="0" smtClean="0"/>
              <a:t>: No se puede rechazar la hipótesis nula debido a que 2.64 es superior a -1.645.</a:t>
            </a:r>
          </a:p>
          <a:p>
            <a:pPr marL="0" indent="0" algn="just">
              <a:buNone/>
            </a:pPr>
            <a:endParaRPr lang="es-CR" sz="2400" dirty="0"/>
          </a:p>
          <a:p>
            <a:pPr marL="0" indent="0" algn="just">
              <a:buNone/>
            </a:pPr>
            <a:r>
              <a:rPr lang="es-CR" sz="2400" dirty="0" smtClean="0"/>
              <a:t>9. </a:t>
            </a:r>
            <a:r>
              <a:rPr lang="es-CR" sz="2400" b="1" dirty="0" smtClean="0"/>
              <a:t>Conclusión: </a:t>
            </a:r>
            <a:r>
              <a:rPr lang="es-CR" sz="2400" dirty="0" smtClean="0"/>
              <a:t>se concluye que al no poder rechazar la hipótesis nula, la población de pacientes del hospital posee estadísticamente una edad promedio que es superior a los 30 años.</a:t>
            </a:r>
            <a:endParaRPr lang="es-CR" sz="2400" dirty="0"/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370433" y="32420"/>
            <a:ext cx="8496944" cy="850106"/>
          </a:xfrm>
        </p:spPr>
        <p:txBody>
          <a:bodyPr>
            <a:normAutofit/>
          </a:bodyPr>
          <a:lstStyle/>
          <a:p>
            <a:pPr algn="ctr"/>
            <a:r>
              <a:rPr lang="es-CR" sz="3200" dirty="0" smtClean="0"/>
              <a:t>Prueba de hipótesis unilateral para la media</a:t>
            </a:r>
            <a:endParaRPr lang="es-CR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4 Rectángulo"/>
              <p:cNvSpPr/>
              <p:nvPr/>
            </p:nvSpPr>
            <p:spPr>
              <a:xfrm>
                <a:off x="2195736" y="1916831"/>
                <a:ext cx="2423169" cy="112216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CR" sz="2400" i="1" smtClean="0">
                        <a:latin typeface="Cambria Math"/>
                      </a:rPr>
                      <m:t>𝑧</m:t>
                    </m:r>
                    <m:r>
                      <a:rPr lang="es-CR" sz="240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s-CR" sz="2400" i="1">
                            <a:latin typeface="Cambria Math"/>
                          </a:rPr>
                        </m:ctrlPr>
                      </m:fPr>
                      <m:num>
                        <m:r>
                          <a:rPr lang="es-CR" sz="2400" b="0" i="1" smtClean="0">
                            <a:latin typeface="Cambria Math"/>
                          </a:rPr>
                          <m:t>35</m:t>
                        </m:r>
                        <m:r>
                          <a:rPr lang="es-CR" sz="2400" i="1">
                            <a:latin typeface="Cambria Math"/>
                          </a:rPr>
                          <m:t>−30</m:t>
                        </m:r>
                      </m:num>
                      <m:den>
                        <m:f>
                          <m:fPr>
                            <m:type m:val="skw"/>
                            <m:ctrlPr>
                              <a:rPr lang="es-CR" sz="2400" i="1"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s-CR" sz="2400" b="0" i="1" smtClean="0">
                                <a:latin typeface="Cambria Math"/>
                              </a:rPr>
                              <m:t>12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s-CR" sz="2400" i="1">
                                    <a:latin typeface="Cambria Math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s-CR" sz="2400" b="0" i="1" smtClean="0">
                                    <a:latin typeface="Cambria Math"/>
                                  </a:rPr>
                                  <m:t>40</m:t>
                                </m:r>
                              </m:e>
                            </m:rad>
                          </m:den>
                        </m:f>
                      </m:den>
                    </m:f>
                  </m:oMath>
                </a14:m>
                <a:r>
                  <a:rPr lang="es-CR" sz="2400" dirty="0" smtClean="0"/>
                  <a:t>=2.64</a:t>
                </a:r>
                <a:br>
                  <a:rPr lang="es-CR" sz="2400" dirty="0" smtClean="0"/>
                </a:br>
                <a:r>
                  <a:rPr lang="es-CR" sz="2400" dirty="0" smtClean="0"/>
                  <a:t> </a:t>
                </a:r>
                <a:endParaRPr lang="es-CR" sz="2400" dirty="0"/>
              </a:p>
            </p:txBody>
          </p:sp>
        </mc:Choice>
        <mc:Fallback xmlns="">
          <p:sp>
            <p:nvSpPr>
              <p:cNvPr id="5" name="4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5736" y="1916831"/>
                <a:ext cx="2423169" cy="1122167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218" name="Picture 2" descr="https://sokuninfo.files.wordpress.com/2008/06/empresa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34" t="3896" r="11032" b="11214"/>
          <a:stretch/>
        </p:blipFill>
        <p:spPr bwMode="auto">
          <a:xfrm>
            <a:off x="6948264" y="1268760"/>
            <a:ext cx="1933660" cy="1656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http://www.launch.ie/sites/default/files/Solution.jp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296" t="9698" r="22674" b="12844"/>
          <a:stretch/>
        </p:blipFill>
        <p:spPr bwMode="auto">
          <a:xfrm>
            <a:off x="7121343" y="3378199"/>
            <a:ext cx="1587501" cy="2552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037485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453504" y="1079624"/>
            <a:ext cx="7772400" cy="4572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R" sz="2400" dirty="0" smtClean="0"/>
              <a:t>Ejemplo gráfico del a regla de decisión para la hipótesis:</a:t>
            </a:r>
            <a:endParaRPr lang="es-CR" sz="2400" dirty="0"/>
          </a:p>
        </p:txBody>
      </p:sp>
      <p:pic>
        <p:nvPicPr>
          <p:cNvPr id="4" name="Picture 2" descr="F:\Oscar Centeno Mora\PH- izquierda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6556" y="2708920"/>
            <a:ext cx="6583680" cy="3326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4 Conector recto"/>
          <p:cNvCxnSpPr/>
          <p:nvPr/>
        </p:nvCxnSpPr>
        <p:spPr>
          <a:xfrm>
            <a:off x="2627784" y="5661248"/>
            <a:ext cx="5400600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5 Conector recto"/>
          <p:cNvCxnSpPr/>
          <p:nvPr/>
        </p:nvCxnSpPr>
        <p:spPr>
          <a:xfrm>
            <a:off x="1475656" y="5661248"/>
            <a:ext cx="1155973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6 Rectángulo redondeado"/>
          <p:cNvSpPr/>
          <p:nvPr/>
        </p:nvSpPr>
        <p:spPr>
          <a:xfrm>
            <a:off x="1475656" y="5885509"/>
            <a:ext cx="1440160" cy="504056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Rechazo</a:t>
            </a:r>
          </a:p>
        </p:txBody>
      </p:sp>
      <p:sp>
        <p:nvSpPr>
          <p:cNvPr id="8" name="7 Rectángulo redondeado"/>
          <p:cNvSpPr/>
          <p:nvPr/>
        </p:nvSpPr>
        <p:spPr>
          <a:xfrm>
            <a:off x="4139952" y="5876246"/>
            <a:ext cx="2622723" cy="64135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No rechazo</a:t>
            </a:r>
            <a:endParaRPr lang="es-CR" dirty="0"/>
          </a:p>
        </p:txBody>
      </p:sp>
      <p:cxnSp>
        <p:nvCxnSpPr>
          <p:cNvPr id="9" name="8 Conector recto"/>
          <p:cNvCxnSpPr/>
          <p:nvPr/>
        </p:nvCxnSpPr>
        <p:spPr>
          <a:xfrm flipV="1">
            <a:off x="2699792" y="4293096"/>
            <a:ext cx="0" cy="100811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9 Conector recto de flecha"/>
          <p:cNvCxnSpPr/>
          <p:nvPr/>
        </p:nvCxnSpPr>
        <p:spPr>
          <a:xfrm>
            <a:off x="2195736" y="3456414"/>
            <a:ext cx="0" cy="158417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10 CuadroTexto"/>
              <p:cNvSpPr txBox="1"/>
              <p:nvPr/>
            </p:nvSpPr>
            <p:spPr>
              <a:xfrm>
                <a:off x="1547664" y="3024366"/>
                <a:ext cx="122413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R" i="1" dirty="0" smtClean="0">
                          <a:latin typeface="Cambria Math"/>
                          <a:ea typeface="Cambria Math"/>
                        </a:rPr>
                        <m:t>𝛼</m:t>
                      </m:r>
                      <m:r>
                        <a:rPr lang="es-CR" b="0" i="1" dirty="0" smtClean="0">
                          <a:latin typeface="Cambria Math"/>
                          <a:ea typeface="Cambria Math"/>
                        </a:rPr>
                        <m:t>=0.05</m:t>
                      </m:r>
                    </m:oMath>
                  </m:oMathPara>
                </a14:m>
                <a:endParaRPr lang="es-CR" dirty="0"/>
              </a:p>
            </p:txBody>
          </p:sp>
        </mc:Choice>
        <mc:Fallback xmlns="">
          <p:sp>
            <p:nvSpPr>
              <p:cNvPr id="11" name="10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7664" y="3024366"/>
                <a:ext cx="1224137" cy="36933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11 CuadroTexto"/>
              <p:cNvSpPr txBox="1"/>
              <p:nvPr/>
            </p:nvSpPr>
            <p:spPr>
              <a:xfrm>
                <a:off x="3635896" y="2245514"/>
                <a:ext cx="22322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R" i="1" dirty="0" smtClean="0">
                          <a:latin typeface="Cambria Math"/>
                          <a:ea typeface="Cambria Math"/>
                        </a:rPr>
                        <m:t>𝐶</m:t>
                      </m:r>
                      <m:r>
                        <a:rPr lang="es-CR" b="0" i="1" dirty="0" smtClean="0">
                          <a:latin typeface="Cambria Math"/>
                          <a:ea typeface="Cambria Math"/>
                        </a:rPr>
                        <m:t>𝑜𝑛𝑓𝑖𝑎𝑛𝑧𝑎</m:t>
                      </m:r>
                      <m:r>
                        <a:rPr lang="es-CR" b="0" i="1" dirty="0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s-CR" b="0" i="1" dirty="0" smtClean="0">
                          <a:latin typeface="Cambria Math"/>
                          <a:ea typeface="Cambria Math"/>
                        </a:rPr>
                        <m:t>𝑑𝑒𝑙</m:t>
                      </m:r>
                      <m:r>
                        <a:rPr lang="es-CR" b="0" i="1" dirty="0" smtClean="0">
                          <a:latin typeface="Cambria Math"/>
                          <a:ea typeface="Cambria Math"/>
                        </a:rPr>
                        <m:t> 95%</m:t>
                      </m:r>
                    </m:oMath>
                  </m:oMathPara>
                </a14:m>
                <a:endParaRPr lang="es-CR" dirty="0"/>
              </a:p>
            </p:txBody>
          </p:sp>
        </mc:Choice>
        <mc:Fallback xmlns="">
          <p:sp>
            <p:nvSpPr>
              <p:cNvPr id="12" name="11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5896" y="2245514"/>
                <a:ext cx="2232248" cy="369332"/>
              </a:xfrm>
              <a:prstGeom prst="rect">
                <a:avLst/>
              </a:prstGeom>
              <a:blipFill rotWithShape="1">
                <a:blip r:embed="rId4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1 Título"/>
          <p:cNvSpPr>
            <a:spLocks noGrp="1"/>
          </p:cNvSpPr>
          <p:nvPr>
            <p:ph type="title"/>
          </p:nvPr>
        </p:nvSpPr>
        <p:spPr>
          <a:xfrm>
            <a:off x="370433" y="32420"/>
            <a:ext cx="8496944" cy="850106"/>
          </a:xfrm>
        </p:spPr>
        <p:txBody>
          <a:bodyPr>
            <a:normAutofit/>
          </a:bodyPr>
          <a:lstStyle/>
          <a:p>
            <a:pPr algn="ctr"/>
            <a:r>
              <a:rPr lang="es-CR" sz="3200" dirty="0" smtClean="0"/>
              <a:t>Prueba de hipótesis unilateral para la media</a:t>
            </a:r>
            <a:endParaRPr lang="es-CR" sz="3200" dirty="0"/>
          </a:p>
        </p:txBody>
      </p:sp>
      <p:cxnSp>
        <p:nvCxnSpPr>
          <p:cNvPr id="14" name="13 Conector recto de flecha"/>
          <p:cNvCxnSpPr/>
          <p:nvPr/>
        </p:nvCxnSpPr>
        <p:spPr>
          <a:xfrm>
            <a:off x="7092280" y="3212976"/>
            <a:ext cx="0" cy="158417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14 Elipse"/>
          <p:cNvSpPr/>
          <p:nvPr/>
        </p:nvSpPr>
        <p:spPr>
          <a:xfrm>
            <a:off x="7020272" y="5085184"/>
            <a:ext cx="144016" cy="21602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16" name="15 CuadroTexto"/>
          <p:cNvSpPr txBox="1"/>
          <p:nvPr/>
        </p:nvSpPr>
        <p:spPr>
          <a:xfrm>
            <a:off x="6732240" y="2708920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 smtClean="0"/>
              <a:t>2.64</a:t>
            </a:r>
            <a:endParaRPr lang="es-C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16 CuadroTexto"/>
              <p:cNvSpPr txBox="1"/>
              <p:nvPr/>
            </p:nvSpPr>
            <p:spPr>
              <a:xfrm>
                <a:off x="2228528" y="3635732"/>
                <a:ext cx="122413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R" i="1" dirty="0" smtClean="0">
                          <a:latin typeface="Cambria Math"/>
                          <a:ea typeface="Cambria Math"/>
                        </a:rPr>
                        <m:t>−</m:t>
                      </m:r>
                      <m:r>
                        <a:rPr lang="es-CR" b="0" i="1" dirty="0" smtClean="0">
                          <a:latin typeface="Cambria Math"/>
                          <a:ea typeface="Cambria Math"/>
                        </a:rPr>
                        <m:t>1.645</m:t>
                      </m:r>
                    </m:oMath>
                  </m:oMathPara>
                </a14:m>
                <a:endParaRPr lang="es-CR" dirty="0"/>
              </a:p>
            </p:txBody>
          </p:sp>
        </mc:Choice>
        <mc:Fallback xmlns="">
          <p:sp>
            <p:nvSpPr>
              <p:cNvPr id="17" name="16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8528" y="3635732"/>
                <a:ext cx="1224137" cy="369332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5480" y="1000170"/>
            <a:ext cx="1368152" cy="916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2544512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51520" y="1412776"/>
            <a:ext cx="6336704" cy="5112568"/>
          </a:xfrm>
        </p:spPr>
        <p:txBody>
          <a:bodyPr>
            <a:normAutofit/>
          </a:bodyPr>
          <a:lstStyle/>
          <a:p>
            <a:pPr algn="just"/>
            <a:r>
              <a:rPr lang="es-CR" sz="2400" dirty="0"/>
              <a:t>Si la pregunta de los investigadores hubiera sido: </a:t>
            </a:r>
            <a:r>
              <a:rPr lang="es-CR" sz="2400" dirty="0" smtClean="0"/>
              <a:t>¿Es </a:t>
            </a:r>
            <a:r>
              <a:rPr lang="es-CR" sz="2400" dirty="0"/>
              <a:t>posible </a:t>
            </a:r>
            <a:r>
              <a:rPr lang="es-CR" sz="2400" dirty="0" smtClean="0"/>
              <a:t>concluir que </a:t>
            </a:r>
            <a:r>
              <a:rPr lang="es-CR" sz="2400" dirty="0"/>
              <a:t>la media es mayor que </a:t>
            </a:r>
            <a:r>
              <a:rPr lang="es-CR" sz="2400" i="1" dirty="0" smtClean="0"/>
              <a:t>30 años? </a:t>
            </a:r>
          </a:p>
          <a:p>
            <a:pPr algn="just"/>
            <a:endParaRPr lang="es-CR" sz="2400" i="1" dirty="0" smtClean="0"/>
          </a:p>
          <a:p>
            <a:pPr algn="just"/>
            <a:r>
              <a:rPr lang="es-CR" sz="2400" i="1" dirty="0" smtClean="0"/>
              <a:t>Desarrollo la prueba de hipótesis bajo la interrogante de investigación de si la media es mayor que 30 años.</a:t>
            </a:r>
            <a:endParaRPr lang="es-CR" sz="2400" i="1" dirty="0"/>
          </a:p>
          <a:p>
            <a:pPr algn="just"/>
            <a:endParaRPr lang="es-CR" sz="2400" i="1" dirty="0"/>
          </a:p>
          <a:p>
            <a:pPr algn="just"/>
            <a:r>
              <a:rPr lang="es-CR" sz="2400" i="1" dirty="0" smtClean="0"/>
              <a:t> </a:t>
            </a:r>
            <a:r>
              <a:rPr lang="es-CR" sz="2400" dirty="0" smtClean="0"/>
              <a:t>Se debe llegar a una prueba </a:t>
            </a:r>
            <a:r>
              <a:rPr lang="es-CR" sz="2400" dirty="0"/>
              <a:t>unilateral con toda la </a:t>
            </a:r>
            <a:r>
              <a:rPr lang="es-CR" sz="2400" dirty="0" smtClean="0"/>
              <a:t>región de rechazo </a:t>
            </a:r>
            <a:r>
              <a:rPr lang="es-CR" sz="2400" dirty="0"/>
              <a:t>en la cola superior de la </a:t>
            </a:r>
            <a:r>
              <a:rPr lang="es-CR" sz="2400" dirty="0" smtClean="0"/>
              <a:t>distribución </a:t>
            </a:r>
            <a:r>
              <a:rPr lang="es-CR" sz="2400" dirty="0"/>
              <a:t>de la </a:t>
            </a:r>
            <a:r>
              <a:rPr lang="es-CR" sz="2400" dirty="0" smtClean="0"/>
              <a:t>estadística </a:t>
            </a:r>
            <a:r>
              <a:rPr lang="es-CR" sz="2400" dirty="0"/>
              <a:t>de </a:t>
            </a:r>
            <a:r>
              <a:rPr lang="es-CR" sz="2400" dirty="0" smtClean="0"/>
              <a:t>prueba y </a:t>
            </a:r>
            <a:r>
              <a:rPr lang="es-CR" sz="2400" dirty="0"/>
              <a:t>a un valor </a:t>
            </a:r>
            <a:r>
              <a:rPr lang="es-CR" sz="2400" dirty="0" smtClean="0"/>
              <a:t>crítico </a:t>
            </a:r>
            <a:r>
              <a:rPr lang="es-CR" sz="2400" dirty="0"/>
              <a:t>de +1.645</a:t>
            </a:r>
            <a:r>
              <a:rPr lang="es-CR" sz="2400" dirty="0" smtClean="0"/>
              <a:t>. </a:t>
            </a:r>
            <a:endParaRPr lang="es-CR" sz="2400" dirty="0"/>
          </a:p>
          <a:p>
            <a:pPr algn="just"/>
            <a:endParaRPr lang="es-CR" sz="2400" dirty="0" smtClean="0"/>
          </a:p>
          <a:p>
            <a:pPr algn="just"/>
            <a:r>
              <a:rPr lang="es-CR" sz="2400" dirty="0" smtClean="0"/>
              <a:t>¿Cuál sería la conclusión? ¿Y el valor de p?</a:t>
            </a:r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370433" y="32420"/>
            <a:ext cx="8496944" cy="850106"/>
          </a:xfrm>
        </p:spPr>
        <p:txBody>
          <a:bodyPr>
            <a:normAutofit/>
          </a:bodyPr>
          <a:lstStyle/>
          <a:p>
            <a:pPr algn="ctr"/>
            <a:r>
              <a:rPr lang="es-CR" sz="3200" dirty="0" smtClean="0"/>
              <a:t>Prueba de hipótesis unilateral para la media</a:t>
            </a:r>
            <a:endParaRPr lang="es-CR" sz="3200" dirty="0"/>
          </a:p>
        </p:txBody>
      </p:sp>
      <p:pic>
        <p:nvPicPr>
          <p:cNvPr id="10242" name="Picture 2" descr="http://www.drivingsales.com/upload/c972bf8c6be95baf24cb0d0bef7cdb67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05" r="8945"/>
          <a:stretch/>
        </p:blipFill>
        <p:spPr bwMode="auto">
          <a:xfrm>
            <a:off x="6871146" y="1484784"/>
            <a:ext cx="1866901" cy="4752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083596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107504" y="1113236"/>
            <a:ext cx="6696744" cy="5484115"/>
          </a:xfrm>
        </p:spPr>
        <p:txBody>
          <a:bodyPr>
            <a:normAutofit lnSpcReduction="10000"/>
          </a:bodyPr>
          <a:lstStyle/>
          <a:p>
            <a:pPr algn="just"/>
            <a:r>
              <a:rPr lang="es-CR" sz="2400" dirty="0"/>
              <a:t>Se desea saber si es posible concluir que el consumo medio diario de </a:t>
            </a:r>
            <a:r>
              <a:rPr lang="es-CR" sz="2400" dirty="0" smtClean="0"/>
              <a:t>calorías </a:t>
            </a:r>
            <a:r>
              <a:rPr lang="es-CR" sz="2400" dirty="0"/>
              <a:t>de la </a:t>
            </a:r>
            <a:r>
              <a:rPr lang="es-CR" sz="2400" dirty="0" smtClean="0"/>
              <a:t>poblaci6n rural </a:t>
            </a:r>
            <a:r>
              <a:rPr lang="es-CR" sz="2400" dirty="0"/>
              <a:t>de un </a:t>
            </a:r>
            <a:r>
              <a:rPr lang="es-CR" sz="2400" dirty="0" smtClean="0"/>
              <a:t>país </a:t>
            </a:r>
            <a:r>
              <a:rPr lang="es-CR" sz="2400" dirty="0"/>
              <a:t>en desarrollo es de menos de 2000. Una muestra de 500 individuos </a:t>
            </a:r>
            <a:r>
              <a:rPr lang="es-CR" sz="2400" dirty="0" smtClean="0"/>
              <a:t>produjo un </a:t>
            </a:r>
            <a:r>
              <a:rPr lang="es-CR" sz="2400" dirty="0"/>
              <a:t>consumo medio de 1985 y una </a:t>
            </a:r>
            <a:r>
              <a:rPr lang="es-CR" sz="2400" dirty="0" smtClean="0"/>
              <a:t>desviación estándar </a:t>
            </a:r>
            <a:r>
              <a:rPr lang="es-CR" sz="2400" dirty="0"/>
              <a:t>de 210. Sea </a:t>
            </a:r>
            <a:r>
              <a:rPr lang="el-GR" sz="2400" dirty="0" smtClean="0">
                <a:latin typeface="Times New Roman"/>
                <a:cs typeface="Times New Roman"/>
              </a:rPr>
              <a:t>α</a:t>
            </a:r>
            <a:r>
              <a:rPr lang="es-CR" sz="2400" dirty="0" smtClean="0"/>
              <a:t> </a:t>
            </a:r>
            <a:r>
              <a:rPr lang="es-CR" sz="2400" dirty="0"/>
              <a:t>= </a:t>
            </a:r>
            <a:r>
              <a:rPr lang="es-CR" sz="2400" dirty="0" smtClean="0"/>
              <a:t>0.05.</a:t>
            </a:r>
          </a:p>
          <a:p>
            <a:pPr algn="just"/>
            <a:endParaRPr lang="es-CR" sz="2400" dirty="0"/>
          </a:p>
          <a:p>
            <a:pPr algn="just"/>
            <a:r>
              <a:rPr lang="es-CR" sz="2400" dirty="0" smtClean="0"/>
              <a:t>Después </a:t>
            </a:r>
            <a:r>
              <a:rPr lang="es-CR" sz="2400" dirty="0"/>
              <a:t>de seguir un programa de </a:t>
            </a:r>
            <a:r>
              <a:rPr lang="es-CR" sz="2400" dirty="0" smtClean="0"/>
              <a:t>capacitación </a:t>
            </a:r>
            <a:r>
              <a:rPr lang="es-CR" sz="2400" dirty="0"/>
              <a:t>en </a:t>
            </a:r>
            <a:r>
              <a:rPr lang="es-CR" sz="2400" dirty="0" smtClean="0"/>
              <a:t>supervisión </a:t>
            </a:r>
            <a:r>
              <a:rPr lang="es-CR" sz="2400" dirty="0"/>
              <a:t>de hospitales durante una </a:t>
            </a:r>
            <a:r>
              <a:rPr lang="es-CR" sz="2400" dirty="0" smtClean="0"/>
              <a:t>semana, 16 administradores </a:t>
            </a:r>
            <a:r>
              <a:rPr lang="es-CR" sz="2400" dirty="0"/>
              <a:t>de hospital obtuvieron una calificaci6n media de 74 en una </a:t>
            </a:r>
            <a:r>
              <a:rPr lang="es-CR" sz="2400" dirty="0" smtClean="0"/>
              <a:t>prueba llevada </a:t>
            </a:r>
            <a:r>
              <a:rPr lang="es-CR" sz="2400" dirty="0"/>
              <a:t>a cabo como parte de la </a:t>
            </a:r>
            <a:r>
              <a:rPr lang="es-CR" sz="2400" dirty="0" smtClean="0"/>
              <a:t>evaluación </a:t>
            </a:r>
            <a:r>
              <a:rPr lang="es-CR" sz="2400" dirty="0"/>
              <a:t>del programa de </a:t>
            </a:r>
            <a:r>
              <a:rPr lang="es-CR" sz="2400" dirty="0" smtClean="0"/>
              <a:t>capacitación. </a:t>
            </a:r>
            <a:r>
              <a:rPr lang="es-CR" sz="2400" dirty="0"/>
              <a:t>La </a:t>
            </a:r>
            <a:r>
              <a:rPr lang="es-CR" sz="2400" dirty="0" smtClean="0"/>
              <a:t>desviación estándar </a:t>
            </a:r>
            <a:r>
              <a:rPr lang="es-CR" sz="2400" dirty="0"/>
              <a:t>de 1a muestra fue de </a:t>
            </a:r>
            <a:r>
              <a:rPr lang="es-CR" sz="2400" dirty="0" smtClean="0"/>
              <a:t>12. ¿Es </a:t>
            </a:r>
            <a:r>
              <a:rPr lang="es-CR" sz="2400" dirty="0"/>
              <a:t>posible concluir a partir de estos datos que la media </a:t>
            </a:r>
            <a:r>
              <a:rPr lang="es-CR" sz="2400" dirty="0" smtClean="0"/>
              <a:t>de la </a:t>
            </a:r>
            <a:r>
              <a:rPr lang="es-CR" sz="2400" dirty="0" err="1" smtClean="0"/>
              <a:t>pobladón</a:t>
            </a:r>
            <a:r>
              <a:rPr lang="es-CR" sz="2400" dirty="0" smtClean="0"/>
              <a:t> </a:t>
            </a:r>
            <a:r>
              <a:rPr lang="es-CR" sz="2400" dirty="0"/>
              <a:t>es mayor que 70? Sea </a:t>
            </a:r>
            <a:r>
              <a:rPr lang="el-GR" sz="2400" dirty="0">
                <a:latin typeface="Times New Roman"/>
                <a:cs typeface="Times New Roman"/>
              </a:rPr>
              <a:t>α</a:t>
            </a:r>
            <a:r>
              <a:rPr lang="es-CR" sz="2400" dirty="0"/>
              <a:t> = 0.05</a:t>
            </a:r>
            <a:r>
              <a:rPr lang="es-CR" sz="2400" dirty="0" smtClean="0"/>
              <a:t>. </a:t>
            </a:r>
            <a:r>
              <a:rPr lang="es-CR" sz="2400" dirty="0"/>
              <a:t>¿</a:t>
            </a:r>
            <a:r>
              <a:rPr lang="es-CR" sz="2400" dirty="0" smtClean="0"/>
              <a:t>Cuales </a:t>
            </a:r>
            <a:r>
              <a:rPr lang="es-CR" sz="2400" dirty="0"/>
              <a:t>son los supuestos que se deben cumplir?</a:t>
            </a:r>
            <a:endParaRPr lang="es-CR" sz="2400" dirty="0"/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370433" y="32420"/>
            <a:ext cx="8496944" cy="850106"/>
          </a:xfrm>
        </p:spPr>
        <p:txBody>
          <a:bodyPr>
            <a:normAutofit/>
          </a:bodyPr>
          <a:lstStyle/>
          <a:p>
            <a:pPr algn="ctr"/>
            <a:r>
              <a:rPr lang="es-CR" sz="3200" dirty="0" smtClean="0"/>
              <a:t>Prueba de hipótesis unilateral para la media</a:t>
            </a:r>
            <a:endParaRPr lang="es-CR" sz="3200" dirty="0"/>
          </a:p>
        </p:txBody>
      </p:sp>
      <p:pic>
        <p:nvPicPr>
          <p:cNvPr id="5" name="Picture 4" descr="http://www.cliparts101.com/files/134/6734D2B46B0455D4C93EBA4FA42DE4DC/Thinking_1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26" r="17245"/>
          <a:stretch/>
        </p:blipFill>
        <p:spPr bwMode="auto">
          <a:xfrm>
            <a:off x="7380312" y="3895690"/>
            <a:ext cx="1656184" cy="2485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http://images.clipartpanda.com/thinking-clipart-KingzdE5T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312" y="1124744"/>
            <a:ext cx="1645273" cy="2088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576438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Elipse"/>
          <p:cNvSpPr/>
          <p:nvPr/>
        </p:nvSpPr>
        <p:spPr>
          <a:xfrm>
            <a:off x="323528" y="1700808"/>
            <a:ext cx="864096" cy="86409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7</a:t>
            </a:r>
          </a:p>
        </p:txBody>
      </p:sp>
      <p:sp>
        <p:nvSpPr>
          <p:cNvPr id="5" name="4 Elipse"/>
          <p:cNvSpPr/>
          <p:nvPr/>
        </p:nvSpPr>
        <p:spPr>
          <a:xfrm>
            <a:off x="323528" y="3501008"/>
            <a:ext cx="864096" cy="86409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8</a:t>
            </a:r>
            <a:endParaRPr lang="es-CR" dirty="0"/>
          </a:p>
        </p:txBody>
      </p:sp>
      <p:sp>
        <p:nvSpPr>
          <p:cNvPr id="6" name="5 Rectángulo redondeado"/>
          <p:cNvSpPr/>
          <p:nvPr/>
        </p:nvSpPr>
        <p:spPr>
          <a:xfrm>
            <a:off x="1475656" y="1556792"/>
            <a:ext cx="2376264" cy="1224136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Prueba de hipótesis para la media : unilaterales</a:t>
            </a:r>
            <a:endParaRPr lang="es-CR" dirty="0"/>
          </a:p>
        </p:txBody>
      </p:sp>
      <p:sp>
        <p:nvSpPr>
          <p:cNvPr id="7" name="6 Rectángulo redondeado"/>
          <p:cNvSpPr/>
          <p:nvPr/>
        </p:nvSpPr>
        <p:spPr>
          <a:xfrm>
            <a:off x="1475656" y="3320988"/>
            <a:ext cx="2376264" cy="1224136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Valores críticos</a:t>
            </a:r>
            <a:endParaRPr lang="es-CR" dirty="0"/>
          </a:p>
        </p:txBody>
      </p:sp>
      <p:sp>
        <p:nvSpPr>
          <p:cNvPr id="8" name="1 Título"/>
          <p:cNvSpPr>
            <a:spLocks noGrp="1"/>
          </p:cNvSpPr>
          <p:nvPr>
            <p:ph type="title"/>
          </p:nvPr>
        </p:nvSpPr>
        <p:spPr>
          <a:xfrm>
            <a:off x="616024" y="188640"/>
            <a:ext cx="7772400" cy="1008112"/>
          </a:xfrm>
        </p:spPr>
        <p:txBody>
          <a:bodyPr>
            <a:normAutofit/>
          </a:bodyPr>
          <a:lstStyle/>
          <a:p>
            <a:pPr algn="ctr"/>
            <a:r>
              <a:rPr lang="es-CR" dirty="0" smtClean="0"/>
              <a:t>Índice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3343594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67544" y="260648"/>
            <a:ext cx="7772400" cy="850106"/>
          </a:xfrm>
        </p:spPr>
        <p:txBody>
          <a:bodyPr>
            <a:normAutofit/>
          </a:bodyPr>
          <a:lstStyle/>
          <a:p>
            <a:pPr algn="ctr"/>
            <a:r>
              <a:rPr lang="es-CR" sz="3200" dirty="0" smtClean="0"/>
              <a:t>Cuadro resumen de valores críticos</a:t>
            </a:r>
            <a:endParaRPr lang="es-CR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3 Tabla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04462938"/>
                  </p:ext>
                </p:extLst>
              </p:nvPr>
            </p:nvGraphicFramePr>
            <p:xfrm>
              <a:off x="539552" y="2204864"/>
              <a:ext cx="7632848" cy="4313176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908212"/>
                    <a:gridCol w="1908212"/>
                    <a:gridCol w="1908212"/>
                    <a:gridCol w="1908212"/>
                  </a:tblGrid>
                  <a:tr h="849694">
                    <a:tc>
                      <a:txBody>
                        <a:bodyPr/>
                        <a:lstStyle/>
                        <a:p>
                          <a:endParaRPr lang="es-C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R" dirty="0" smtClean="0"/>
                            <a:t>Bilateral</a:t>
                          </a:r>
                          <a:endParaRPr lang="es-C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R" dirty="0" smtClean="0"/>
                            <a:t>Unilateral</a:t>
                          </a:r>
                          <a:r>
                            <a:rPr lang="es-CR" baseline="0" dirty="0" smtClean="0"/>
                            <a:t> inferior</a:t>
                          </a:r>
                          <a:endParaRPr lang="es-C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R" dirty="0" smtClean="0"/>
                            <a:t>Unilateral superior</a:t>
                          </a:r>
                          <a:endParaRPr lang="es-CR" dirty="0"/>
                        </a:p>
                      </a:txBody>
                      <a:tcPr/>
                    </a:tc>
                  </a:tr>
                  <a:tr h="84969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R" dirty="0" smtClean="0"/>
                            <a:t>Confianza</a:t>
                          </a:r>
                          <a:r>
                            <a:rPr lang="es-CR" baseline="0" dirty="0" smtClean="0"/>
                            <a:t> del 80%</a:t>
                          </a:r>
                        </a:p>
                        <a:p>
                          <a:pPr algn="ctr"/>
                          <a:r>
                            <a:rPr lang="es-CR" baseline="0" dirty="0" smtClean="0"/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s-CR" i="1" baseline="0" smtClean="0">
                                  <a:latin typeface="Cambria Math"/>
                                  <a:ea typeface="Cambria Math"/>
                                </a:rPr>
                                <m:t>𝛼</m:t>
                              </m:r>
                              <m:r>
                                <a:rPr lang="es-CR" b="0" i="1" baseline="0" smtClean="0">
                                  <a:latin typeface="Cambria Math"/>
                                  <a:ea typeface="Cambria Math"/>
                                </a:rPr>
                                <m:t>=0.20</m:t>
                              </m:r>
                            </m:oMath>
                          </a14:m>
                          <a:r>
                            <a:rPr lang="es-CR" baseline="0" dirty="0" smtClean="0"/>
                            <a:t>)</a:t>
                          </a:r>
                          <a:endParaRPr lang="es-CR" dirty="0"/>
                        </a:p>
                        <a:p>
                          <a:pPr algn="ctr"/>
                          <a:endParaRPr lang="es-C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R" dirty="0" smtClean="0"/>
                            <a:t>-1.28 ; 1.28</a:t>
                          </a:r>
                          <a:endParaRPr lang="es-C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R" dirty="0" smtClean="0"/>
                            <a:t>-0.85</a:t>
                          </a:r>
                          <a:endParaRPr lang="es-C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R" dirty="0" smtClean="0"/>
                            <a:t>0.85</a:t>
                          </a:r>
                          <a:endParaRPr lang="es-CR" dirty="0"/>
                        </a:p>
                      </a:txBody>
                      <a:tcPr/>
                    </a:tc>
                  </a:tr>
                  <a:tr h="84969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R" dirty="0" smtClean="0"/>
                            <a:t>Confianza</a:t>
                          </a:r>
                          <a:r>
                            <a:rPr lang="es-CR" baseline="0" dirty="0" smtClean="0"/>
                            <a:t> del 90%</a:t>
                          </a:r>
                        </a:p>
                        <a:p>
                          <a:pPr algn="ctr"/>
                          <a:r>
                            <a:rPr lang="es-CR" baseline="0" dirty="0" smtClean="0"/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s-CR" i="1" baseline="0" smtClean="0">
                                  <a:latin typeface="Cambria Math"/>
                                  <a:ea typeface="Cambria Math"/>
                                </a:rPr>
                                <m:t>𝛼</m:t>
                              </m:r>
                              <m:r>
                                <a:rPr lang="es-CR" b="0" i="1" baseline="0" smtClean="0">
                                  <a:latin typeface="Cambria Math"/>
                                  <a:ea typeface="Cambria Math"/>
                                </a:rPr>
                                <m:t>=0.10</m:t>
                              </m:r>
                            </m:oMath>
                          </a14:m>
                          <a:r>
                            <a:rPr lang="es-CR" baseline="0" dirty="0" smtClean="0"/>
                            <a:t>)</a:t>
                          </a:r>
                          <a:endParaRPr lang="es-C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R" dirty="0" smtClean="0"/>
                            <a:t>-1.65 ; 1.65</a:t>
                          </a:r>
                          <a:endParaRPr lang="es-C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R" dirty="0" smtClean="0"/>
                            <a:t>-1.28 </a:t>
                          </a:r>
                          <a:endParaRPr lang="es-C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CR" dirty="0" smtClean="0"/>
                            <a:t>1.28</a:t>
                          </a:r>
                        </a:p>
                      </a:txBody>
                      <a:tcPr/>
                    </a:tc>
                  </a:tr>
                  <a:tr h="84969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R" dirty="0" smtClean="0"/>
                            <a:t>Confianza</a:t>
                          </a:r>
                          <a:r>
                            <a:rPr lang="es-CR" baseline="0" dirty="0" smtClean="0"/>
                            <a:t> del 95%</a:t>
                          </a:r>
                        </a:p>
                        <a:p>
                          <a:pPr algn="ctr"/>
                          <a:r>
                            <a:rPr lang="es-CR" baseline="0" dirty="0" smtClean="0"/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s-CR" i="1" baseline="0" smtClean="0">
                                  <a:latin typeface="Cambria Math"/>
                                  <a:ea typeface="Cambria Math"/>
                                </a:rPr>
                                <m:t>𝛼</m:t>
                              </m:r>
                              <m:r>
                                <a:rPr lang="es-CR" b="0" i="1" baseline="0" smtClean="0">
                                  <a:latin typeface="Cambria Math"/>
                                  <a:ea typeface="Cambria Math"/>
                                </a:rPr>
                                <m:t>=0.05</m:t>
                              </m:r>
                            </m:oMath>
                          </a14:m>
                          <a:r>
                            <a:rPr lang="es-CR" baseline="0" dirty="0" smtClean="0"/>
                            <a:t>)</a:t>
                          </a:r>
                          <a:endParaRPr lang="es-C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R" dirty="0" smtClean="0"/>
                            <a:t>-1.96 ; 1.96</a:t>
                          </a:r>
                          <a:endParaRPr lang="es-C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R" dirty="0" smtClean="0"/>
                            <a:t>-1.65 </a:t>
                          </a:r>
                          <a:endParaRPr lang="es-C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CR" dirty="0" smtClean="0"/>
                            <a:t>1.65</a:t>
                          </a:r>
                        </a:p>
                        <a:p>
                          <a:pPr algn="ctr"/>
                          <a:endParaRPr lang="es-CR" dirty="0"/>
                        </a:p>
                      </a:txBody>
                      <a:tcPr/>
                    </a:tc>
                  </a:tr>
                  <a:tr h="84969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R" dirty="0" smtClean="0"/>
                            <a:t>Confianza</a:t>
                          </a:r>
                          <a:r>
                            <a:rPr lang="es-CR" baseline="0" dirty="0" smtClean="0"/>
                            <a:t> del 99%</a:t>
                          </a:r>
                        </a:p>
                        <a:p>
                          <a:pPr algn="ctr"/>
                          <a:r>
                            <a:rPr lang="es-CR" baseline="0" dirty="0" smtClean="0"/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s-CR" i="1" baseline="0" smtClean="0">
                                  <a:latin typeface="Cambria Math"/>
                                  <a:ea typeface="Cambria Math"/>
                                </a:rPr>
                                <m:t>𝛼</m:t>
                              </m:r>
                              <m:r>
                                <a:rPr lang="es-CR" b="0" i="1" baseline="0" smtClean="0">
                                  <a:latin typeface="Cambria Math"/>
                                  <a:ea typeface="Cambria Math"/>
                                </a:rPr>
                                <m:t>=0.01</m:t>
                              </m:r>
                            </m:oMath>
                          </a14:m>
                          <a:r>
                            <a:rPr lang="es-CR" baseline="0" dirty="0" smtClean="0"/>
                            <a:t>)</a:t>
                          </a:r>
                          <a:endParaRPr lang="es-C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R" dirty="0" smtClean="0"/>
                            <a:t>-2.58 ; 2.58</a:t>
                          </a:r>
                          <a:endParaRPr lang="es-C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R" dirty="0" smtClean="0"/>
                            <a:t>-2.33</a:t>
                          </a:r>
                          <a:endParaRPr lang="es-C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CR" dirty="0" smtClean="0"/>
                            <a:t>2.33</a:t>
                          </a:r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3 Tabla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04462938"/>
                  </p:ext>
                </p:extLst>
              </p:nvPr>
            </p:nvGraphicFramePr>
            <p:xfrm>
              <a:off x="539552" y="2204864"/>
              <a:ext cx="7632848" cy="4313176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908212"/>
                    <a:gridCol w="1908212"/>
                    <a:gridCol w="1908212"/>
                    <a:gridCol w="1908212"/>
                  </a:tblGrid>
                  <a:tr h="849694">
                    <a:tc>
                      <a:txBody>
                        <a:bodyPr/>
                        <a:lstStyle/>
                        <a:p>
                          <a:endParaRPr lang="es-C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R" dirty="0" smtClean="0"/>
                            <a:t>Bilateral</a:t>
                          </a:r>
                          <a:endParaRPr lang="es-C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R" dirty="0" smtClean="0"/>
                            <a:t>Unilateral</a:t>
                          </a:r>
                          <a:r>
                            <a:rPr lang="es-CR" baseline="0" dirty="0" smtClean="0"/>
                            <a:t> inferior</a:t>
                          </a:r>
                          <a:endParaRPr lang="es-C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R" dirty="0" smtClean="0"/>
                            <a:t>Unilateral superior</a:t>
                          </a:r>
                          <a:endParaRPr lang="es-CR" dirty="0"/>
                        </a:p>
                      </a:txBody>
                      <a:tcPr/>
                    </a:tc>
                  </a:tr>
                  <a:tr h="914400">
                    <a:tc>
                      <a:txBody>
                        <a:bodyPr/>
                        <a:lstStyle/>
                        <a:p>
                          <a:endParaRPr lang="es-CR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319" t="-96000" r="-300000" b="-27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R" dirty="0" smtClean="0"/>
                            <a:t>-1.28 ; 1.28</a:t>
                          </a:r>
                          <a:endParaRPr lang="es-C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R" dirty="0" smtClean="0"/>
                            <a:t>-0.85</a:t>
                          </a:r>
                          <a:endParaRPr lang="es-C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R" dirty="0" smtClean="0"/>
                            <a:t>0.85</a:t>
                          </a:r>
                          <a:endParaRPr lang="es-CR" dirty="0"/>
                        </a:p>
                      </a:txBody>
                      <a:tcPr/>
                    </a:tc>
                  </a:tr>
                  <a:tr h="849694">
                    <a:tc>
                      <a:txBody>
                        <a:bodyPr/>
                        <a:lstStyle/>
                        <a:p>
                          <a:endParaRPr lang="es-CR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319" t="-211511" r="-300000" b="-2014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R" dirty="0" smtClean="0"/>
                            <a:t>-1.65 ; 1.65</a:t>
                          </a:r>
                          <a:endParaRPr lang="es-C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R" dirty="0" smtClean="0"/>
                            <a:t>-1.28 </a:t>
                          </a:r>
                          <a:endParaRPr lang="es-C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CR" dirty="0" smtClean="0"/>
                            <a:t>1.28</a:t>
                          </a:r>
                        </a:p>
                      </a:txBody>
                      <a:tcPr/>
                    </a:tc>
                  </a:tr>
                  <a:tr h="849694">
                    <a:tc>
                      <a:txBody>
                        <a:bodyPr/>
                        <a:lstStyle/>
                        <a:p>
                          <a:endParaRPr lang="es-CR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319" t="-309286" r="-300000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R" dirty="0" smtClean="0"/>
                            <a:t>-1.96 ; 1.96</a:t>
                          </a:r>
                          <a:endParaRPr lang="es-C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R" dirty="0" smtClean="0"/>
                            <a:t>-1.65 </a:t>
                          </a:r>
                          <a:endParaRPr lang="es-C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CR" dirty="0" smtClean="0"/>
                            <a:t>1.65</a:t>
                          </a:r>
                        </a:p>
                        <a:p>
                          <a:pPr algn="ctr"/>
                          <a:endParaRPr lang="es-CR" dirty="0"/>
                        </a:p>
                      </a:txBody>
                      <a:tcPr/>
                    </a:tc>
                  </a:tr>
                  <a:tr h="849694">
                    <a:tc>
                      <a:txBody>
                        <a:bodyPr/>
                        <a:lstStyle/>
                        <a:p>
                          <a:endParaRPr lang="es-CR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319" t="-412230" r="-300000" b="-7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R" dirty="0" smtClean="0"/>
                            <a:t>-2.58 ; 2.58</a:t>
                          </a:r>
                          <a:endParaRPr lang="es-C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R" dirty="0" smtClean="0"/>
                            <a:t>-2.33</a:t>
                          </a:r>
                          <a:endParaRPr lang="es-C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CR" dirty="0" smtClean="0"/>
                            <a:t>2.33</a:t>
                          </a:r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sp>
        <p:nvSpPr>
          <p:cNvPr id="3" name="2 Rectángulo redondeado"/>
          <p:cNvSpPr/>
          <p:nvPr/>
        </p:nvSpPr>
        <p:spPr>
          <a:xfrm>
            <a:off x="2555776" y="1268760"/>
            <a:ext cx="3600400" cy="720080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2800" dirty="0" smtClean="0"/>
              <a:t>Curva normal estándar</a:t>
            </a:r>
            <a:endParaRPr lang="es-CR" sz="2800" dirty="0"/>
          </a:p>
        </p:txBody>
      </p:sp>
    </p:spTree>
    <p:extLst>
      <p:ext uri="{BB962C8B-B14F-4D97-AF65-F5344CB8AC3E}">
        <p14:creationId xmlns:p14="http://schemas.microsoft.com/office/powerpoint/2010/main" val="290265602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11560" y="188640"/>
            <a:ext cx="7772400" cy="792089"/>
          </a:xfrm>
        </p:spPr>
        <p:txBody>
          <a:bodyPr/>
          <a:lstStyle/>
          <a:p>
            <a:pPr algn="ctr"/>
            <a:r>
              <a:rPr lang="es-CR" dirty="0" smtClean="0"/>
              <a:t>Conclusión</a:t>
            </a:r>
            <a:endParaRPr lang="es-CR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179512" y="1052736"/>
            <a:ext cx="6264696" cy="5544616"/>
          </a:xfrm>
        </p:spPr>
        <p:txBody>
          <a:bodyPr>
            <a:normAutofit lnSpcReduction="10000"/>
          </a:bodyPr>
          <a:lstStyle/>
          <a:p>
            <a:pPr algn="just"/>
            <a:r>
              <a:rPr lang="es-CR" sz="2400" dirty="0" smtClean="0"/>
              <a:t>El presente capitulo presentó la prueba de hipótesis  como la técnica complementaria para el análisis inferencial.</a:t>
            </a:r>
          </a:p>
          <a:p>
            <a:pPr algn="just"/>
            <a:endParaRPr lang="es-CR" sz="2400" dirty="0"/>
          </a:p>
          <a:p>
            <a:pPr algn="just"/>
            <a:r>
              <a:rPr lang="es-CR" sz="2400" dirty="0" smtClean="0"/>
              <a:t>Los dos tipos análisis, estimación como prueba de hipótesis, fueron utilizados en la comparación de medias. </a:t>
            </a:r>
          </a:p>
          <a:p>
            <a:pPr algn="just"/>
            <a:endParaRPr lang="es-CR" sz="2400" dirty="0"/>
          </a:p>
          <a:p>
            <a:pPr algn="just"/>
            <a:r>
              <a:rPr lang="es-CR" sz="2400" dirty="0" smtClean="0"/>
              <a:t>Se realizó el supuesto de que los datos provenían de una distribución normal.</a:t>
            </a:r>
          </a:p>
          <a:p>
            <a:pPr algn="just"/>
            <a:endParaRPr lang="es-CR" sz="2400" dirty="0"/>
          </a:p>
          <a:p>
            <a:pPr algn="just"/>
            <a:r>
              <a:rPr lang="es-CR" sz="2400" dirty="0" smtClean="0"/>
              <a:t>El siguiente capítulo aplica las dos técnicas inferenciales en el análisis de correlación y regresión lineal simple.</a:t>
            </a:r>
            <a:endParaRPr lang="es-CR" sz="2400" dirty="0"/>
          </a:p>
        </p:txBody>
      </p:sp>
      <p:pic>
        <p:nvPicPr>
          <p:cNvPr id="28674" name="Picture 2" descr="http://biblioteca.itson.mx/oa/educacion/oa1/ParadigmasInvestigacion/img/conclusion_imagen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224" y="980728"/>
            <a:ext cx="2304256" cy="2160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676" name="Picture 4" descr="https://atochamarkets.wikispaces.com/file/view/PicMonkey%20Collage.jpg/490520096/512x249/PicMonkey%20Collag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7298" y="3582144"/>
            <a:ext cx="2046107" cy="2371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324558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s-CR"/>
          </a:p>
        </p:txBody>
      </p:sp>
      <p:pic>
        <p:nvPicPr>
          <p:cNvPr id="4" name="Picture 2" descr="http://www.zemos98.org/festivales/zemos987/fotogramas/the%20end%20(short%20version)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32" y="0"/>
            <a:ext cx="9144000" cy="685802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08282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dad">
  <a:themeElements>
    <a:clrScheme name="Equidad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dad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quidad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2323</TotalTime>
  <Words>4938</Words>
  <Application>Microsoft Office PowerPoint</Application>
  <PresentationFormat>Presentación en pantalla (4:3)</PresentationFormat>
  <Paragraphs>555</Paragraphs>
  <Slides>77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77</vt:i4>
      </vt:variant>
    </vt:vector>
  </HeadingPairs>
  <TitlesOfParts>
    <vt:vector size="78" baseType="lpstr">
      <vt:lpstr>Equidad</vt:lpstr>
      <vt:lpstr>Prueba de Hipótesis</vt:lpstr>
      <vt:lpstr>Introducción</vt:lpstr>
      <vt:lpstr>Introducción</vt:lpstr>
      <vt:lpstr>Índice</vt:lpstr>
      <vt:lpstr>Índice</vt:lpstr>
      <vt:lpstr>Índice</vt:lpstr>
      <vt:lpstr>Significado de una hipótesis</vt:lpstr>
      <vt:lpstr>Significado de una hipótesis</vt:lpstr>
      <vt:lpstr>Índice</vt:lpstr>
      <vt:lpstr>Tipos de hipótesis</vt:lpstr>
      <vt:lpstr>Tipos de hipótesis</vt:lpstr>
      <vt:lpstr>Índice</vt:lpstr>
      <vt:lpstr>Pasos de una prueba de hipótesis</vt:lpstr>
      <vt:lpstr>Pasos de una prueba de hipótesis: datos</vt:lpstr>
      <vt:lpstr>Pasos de una prueba de hipótesis: supuestos</vt:lpstr>
      <vt:lpstr>Pasos de una prueba de hipótesis: hipótesis</vt:lpstr>
      <vt:lpstr>Pasos de una prueba de hipótesis: hipótesis</vt:lpstr>
      <vt:lpstr>Pasos de una prueba de hipótesis: hipótesis</vt:lpstr>
      <vt:lpstr>Pasos de una prueba de hipótesis: hipótesis</vt:lpstr>
      <vt:lpstr>Pasos de una prueba de hipótesis: hipótesis</vt:lpstr>
      <vt:lpstr>Pasos de una prueba de hipótesis: estadística de prueba</vt:lpstr>
      <vt:lpstr>Pasos de una prueba de hipótesis: estadística de prueba</vt:lpstr>
      <vt:lpstr>Pasos de una prueba de hipótesis: distribución de la estadística de prueba</vt:lpstr>
      <vt:lpstr>Pasos de una prueba de hipótesis: regla de decisión</vt:lpstr>
      <vt:lpstr>Pasos de una prueba de hipótesis: regla de decisión</vt:lpstr>
      <vt:lpstr>Pasos de una prueba de hipótesis: regla de decisión</vt:lpstr>
      <vt:lpstr>Pasos de una prueba de hipótesis: regla de decisión</vt:lpstr>
      <vt:lpstr>Pasos de una prueba de hipótesis: regla de decisión</vt:lpstr>
      <vt:lpstr>Pasos de una prueba de hipótesis: cálculo de la estadística de prueba</vt:lpstr>
      <vt:lpstr>Pasos de una prueba de hipótesis: cálculo de la estadística de prueba</vt:lpstr>
      <vt:lpstr>Pasos de una prueba de hipótesis: decisión estadística</vt:lpstr>
      <vt:lpstr>Pasos de una prueba de hipótesis: regla de decisión</vt:lpstr>
      <vt:lpstr>Pasos de una prueba de hipótesis: regla de decisión</vt:lpstr>
      <vt:lpstr>Pasos de una prueba de hipótesis: valor de p</vt:lpstr>
      <vt:lpstr>Pasos de una prueba de hipótesis: valor de p</vt:lpstr>
      <vt:lpstr>Pasos de una prueba de hipótesis: conclusión</vt:lpstr>
      <vt:lpstr>Pasos de una prueba de hipótesis: resumen</vt:lpstr>
      <vt:lpstr>Índice</vt:lpstr>
      <vt:lpstr>Prueba de hipótesis para una media</vt:lpstr>
      <vt:lpstr>Prueba de hipótesis para una media</vt:lpstr>
      <vt:lpstr>Prueba de hipótesis para una media</vt:lpstr>
      <vt:lpstr>Índice</vt:lpstr>
      <vt:lpstr>Aplicación: PH para una media</vt:lpstr>
      <vt:lpstr>Aplicación: PH para una media</vt:lpstr>
      <vt:lpstr>Aplicación: PH para una media</vt:lpstr>
      <vt:lpstr>Aplicación: PH para una media</vt:lpstr>
      <vt:lpstr>Aplicación: PH para una media</vt:lpstr>
      <vt:lpstr>Aplicación: PH para una media</vt:lpstr>
      <vt:lpstr>Aplicación: PH para una media</vt:lpstr>
      <vt:lpstr>Aplicación: PH para una media</vt:lpstr>
      <vt:lpstr>Aplicación: PH para una media</vt:lpstr>
      <vt:lpstr>Ejercicio: PH para una media</vt:lpstr>
      <vt:lpstr>Índice</vt:lpstr>
      <vt:lpstr>Estimación y la prueba de hipótesis</vt:lpstr>
      <vt:lpstr>Estimación y la prueba de hipótesis</vt:lpstr>
      <vt:lpstr>Estimación y la prueba de hipótesis</vt:lpstr>
      <vt:lpstr>Estimación y la prueba de hipótesis</vt:lpstr>
      <vt:lpstr>Índice</vt:lpstr>
      <vt:lpstr>Prueba de hipótesis unilateral para la media</vt:lpstr>
      <vt:lpstr>Prueba de hipótesis unilateral para la media</vt:lpstr>
      <vt:lpstr>Prueba de hipótesis unilateral para la media</vt:lpstr>
      <vt:lpstr>Prueba de hipótesis unilateral para la media</vt:lpstr>
      <vt:lpstr>Prueba de hipótesis unilateral para la media</vt:lpstr>
      <vt:lpstr>Prueba de hipótesis unilateral para la media</vt:lpstr>
      <vt:lpstr>Prueba de hipótesis unilateral para la media</vt:lpstr>
      <vt:lpstr>Prueba de hipótesis unilateral para la media</vt:lpstr>
      <vt:lpstr>Prueba de hipótesis unilateral para la media</vt:lpstr>
      <vt:lpstr>Prueba de hipótesis unilateral para la media</vt:lpstr>
      <vt:lpstr>Prueba de hipótesis unilateral para la media</vt:lpstr>
      <vt:lpstr>Prueba de hipótesis unilateral para la media</vt:lpstr>
      <vt:lpstr>Prueba de hipótesis unilateral para la media</vt:lpstr>
      <vt:lpstr>Prueba de hipótesis unilateral para la media</vt:lpstr>
      <vt:lpstr>Prueba de hipótesis unilateral para la media</vt:lpstr>
      <vt:lpstr>Índice</vt:lpstr>
      <vt:lpstr>Cuadro resumen de valores críticos</vt:lpstr>
      <vt:lpstr>Conclusión</vt:lpstr>
      <vt:lpstr>Presentación de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Oscar</dc:creator>
  <cp:lastModifiedBy>Oscar Centeno Mora</cp:lastModifiedBy>
  <cp:revision>181</cp:revision>
  <dcterms:created xsi:type="dcterms:W3CDTF">2015-07-05T01:23:45Z</dcterms:created>
  <dcterms:modified xsi:type="dcterms:W3CDTF">2016-06-03T15:40:07Z</dcterms:modified>
</cp:coreProperties>
</file>