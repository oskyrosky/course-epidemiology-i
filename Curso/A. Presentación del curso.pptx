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4" r:id="rId4"/>
    <p:sldId id="260" r:id="rId5"/>
    <p:sldId id="261" r:id="rId6"/>
    <p:sldId id="263" r:id="rId7"/>
    <p:sldId id="265" r:id="rId8"/>
    <p:sldId id="267" r:id="rId9"/>
    <p:sldId id="259" r:id="rId10"/>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smtClean="0"/>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smtClean="0"/>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t>10/05/2016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t>10/05/2016</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2411760" y="5157192"/>
            <a:ext cx="6400800" cy="1296144"/>
          </a:xfrm>
        </p:spPr>
        <p:txBody>
          <a:bodyPr/>
          <a:lstStyle/>
          <a:p>
            <a:pPr algn="r"/>
            <a:r>
              <a:rPr lang="es-CR" dirty="0" smtClean="0"/>
              <a:t>Oscar Centeno Mora</a:t>
            </a:r>
          </a:p>
        </p:txBody>
      </p:sp>
      <p:sp>
        <p:nvSpPr>
          <p:cNvPr id="2" name="1 Título"/>
          <p:cNvSpPr>
            <a:spLocks noGrp="1"/>
          </p:cNvSpPr>
          <p:nvPr>
            <p:ph type="ctrTitle"/>
          </p:nvPr>
        </p:nvSpPr>
        <p:spPr/>
        <p:txBody>
          <a:bodyPr/>
          <a:lstStyle/>
          <a:p>
            <a:r>
              <a:rPr lang="es-CR" dirty="0" smtClean="0"/>
              <a:t>Presentación del curso</a:t>
            </a:r>
            <a:endParaRPr lang="es-CR" dirty="0"/>
          </a:p>
        </p:txBody>
      </p:sp>
    </p:spTree>
    <p:extLst>
      <p:ext uri="{BB962C8B-B14F-4D97-AF65-F5344CB8AC3E}">
        <p14:creationId xmlns:p14="http://schemas.microsoft.com/office/powerpoint/2010/main" val="1323730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4638"/>
            <a:ext cx="7772400" cy="922114"/>
          </a:xfrm>
        </p:spPr>
        <p:txBody>
          <a:bodyPr>
            <a:normAutofit/>
          </a:bodyPr>
          <a:lstStyle/>
          <a:p>
            <a:pPr algn="ctr"/>
            <a:r>
              <a:rPr lang="es-CR" sz="3600" dirty="0" smtClean="0"/>
              <a:t>Índice</a:t>
            </a:r>
            <a:endParaRPr lang="es-CR" sz="3600" dirty="0"/>
          </a:p>
        </p:txBody>
      </p:sp>
      <p:sp>
        <p:nvSpPr>
          <p:cNvPr id="3" name="2 Marcador de contenido"/>
          <p:cNvSpPr>
            <a:spLocks noGrp="1"/>
          </p:cNvSpPr>
          <p:nvPr>
            <p:ph sz="quarter" idx="1"/>
          </p:nvPr>
        </p:nvSpPr>
        <p:spPr>
          <a:xfrm>
            <a:off x="395536" y="1484784"/>
            <a:ext cx="7772400" cy="4572000"/>
          </a:xfrm>
        </p:spPr>
        <p:txBody>
          <a:bodyPr/>
          <a:lstStyle/>
          <a:p>
            <a:r>
              <a:rPr lang="es-CR" dirty="0" smtClean="0"/>
              <a:t>Presentación del curso</a:t>
            </a:r>
          </a:p>
          <a:p>
            <a:endParaRPr lang="es-CR" dirty="0"/>
          </a:p>
          <a:p>
            <a:r>
              <a:rPr lang="es-CR" dirty="0" smtClean="0"/>
              <a:t>Objetivo</a:t>
            </a:r>
          </a:p>
          <a:p>
            <a:endParaRPr lang="es-CR" dirty="0"/>
          </a:p>
          <a:p>
            <a:r>
              <a:rPr lang="es-CR" dirty="0" smtClean="0"/>
              <a:t>Capítulos del curso</a:t>
            </a:r>
          </a:p>
          <a:p>
            <a:endParaRPr lang="es-CR" dirty="0"/>
          </a:p>
          <a:p>
            <a:r>
              <a:rPr lang="es-CR" dirty="0" smtClean="0"/>
              <a:t>Recursos a utilizar</a:t>
            </a:r>
          </a:p>
          <a:p>
            <a:endParaRPr lang="es-CR" dirty="0" smtClean="0"/>
          </a:p>
          <a:p>
            <a:r>
              <a:rPr lang="es-CR" dirty="0" smtClean="0"/>
              <a:t>Otros</a:t>
            </a:r>
            <a:endParaRPr lang="es-CR" dirty="0"/>
          </a:p>
        </p:txBody>
      </p:sp>
      <p:pic>
        <p:nvPicPr>
          <p:cNvPr id="6146" name="Picture 2" descr="http://www.utl-larochelle.org/wordpress/wp-content/uploads/2014/02/agenda-gifs-animes-01855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0152" y="1412776"/>
            <a:ext cx="1816105" cy="225425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ludobel.be/wp-content/uploads/2014/02/Agenda_flipchart.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4601" y="4077072"/>
            <a:ext cx="2241309" cy="2160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513986"/>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4638"/>
            <a:ext cx="7772400" cy="922114"/>
          </a:xfrm>
        </p:spPr>
        <p:txBody>
          <a:bodyPr>
            <a:normAutofit/>
          </a:bodyPr>
          <a:lstStyle/>
          <a:p>
            <a:pPr algn="ctr"/>
            <a:r>
              <a:rPr lang="es-CR" sz="3600" dirty="0" smtClean="0"/>
              <a:t>Objetivo</a:t>
            </a:r>
            <a:endParaRPr lang="es-CR" sz="3600" dirty="0"/>
          </a:p>
        </p:txBody>
      </p:sp>
      <p:sp>
        <p:nvSpPr>
          <p:cNvPr id="3" name="2 Marcador de contenido"/>
          <p:cNvSpPr>
            <a:spLocks noGrp="1"/>
          </p:cNvSpPr>
          <p:nvPr>
            <p:ph sz="quarter" idx="1"/>
          </p:nvPr>
        </p:nvSpPr>
        <p:spPr>
          <a:xfrm>
            <a:off x="323528" y="1340768"/>
            <a:ext cx="5976664" cy="5040560"/>
          </a:xfrm>
        </p:spPr>
        <p:txBody>
          <a:bodyPr/>
          <a:lstStyle/>
          <a:p>
            <a:endParaRPr lang="es-CR" dirty="0" smtClean="0"/>
          </a:p>
          <a:p>
            <a:pPr marL="0" indent="0" algn="just">
              <a:buNone/>
            </a:pPr>
            <a:r>
              <a:rPr lang="es-CR" dirty="0" smtClean="0"/>
              <a:t>El </a:t>
            </a:r>
            <a:r>
              <a:rPr lang="es-CR" dirty="0"/>
              <a:t>objetivo general del curso se centra en enseñar al estudiante del área de la Salud los conceptos y principales aplicaciones de la Estadística, además de brindarle los conocimientos necesarios para poder desenvolverse como profesional. Para esto debe adquirir tanto conocimientos teóricos como el poder aplicar la Estadística en sus tres grandes contextos: </a:t>
            </a:r>
            <a:r>
              <a:rPr lang="es-CR" i="1" dirty="0"/>
              <a:t>Estadística Descriptiva</a:t>
            </a:r>
            <a:r>
              <a:rPr lang="es-CR" dirty="0"/>
              <a:t>, </a:t>
            </a:r>
            <a:r>
              <a:rPr lang="es-CR" i="1" dirty="0"/>
              <a:t>Probabilidades </a:t>
            </a:r>
            <a:r>
              <a:rPr lang="es-CR" dirty="0"/>
              <a:t>y </a:t>
            </a:r>
            <a:r>
              <a:rPr lang="es-CR" i="1" dirty="0"/>
              <a:t>Estadística Inferencial</a:t>
            </a:r>
            <a:r>
              <a:rPr lang="es-CR" dirty="0"/>
              <a:t>. </a:t>
            </a:r>
          </a:p>
        </p:txBody>
      </p:sp>
      <p:pic>
        <p:nvPicPr>
          <p:cNvPr id="5122" name="Picture 2" descr="http://www.asescontables.cl/wp-content/uploads/2015/05/objetiv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6390" y="1670972"/>
            <a:ext cx="1800200" cy="194891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g.cdn.ecn.cl/coaching/files/2012/12/conseguir-objetivo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4362" y="4330402"/>
            <a:ext cx="2304256" cy="2304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995392"/>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2704"/>
            <a:ext cx="7772400" cy="764704"/>
          </a:xfrm>
        </p:spPr>
        <p:txBody>
          <a:bodyPr>
            <a:normAutofit/>
          </a:bodyPr>
          <a:lstStyle/>
          <a:p>
            <a:pPr algn="ctr"/>
            <a:r>
              <a:rPr lang="es-CR" sz="3600" dirty="0" smtClean="0"/>
              <a:t>Capítulos: estadística descriptiva</a:t>
            </a:r>
            <a:endParaRPr lang="es-CR" sz="3600" dirty="0"/>
          </a:p>
        </p:txBody>
      </p:sp>
      <p:sp>
        <p:nvSpPr>
          <p:cNvPr id="3" name="2 Marcador de contenido"/>
          <p:cNvSpPr>
            <a:spLocks noGrp="1"/>
          </p:cNvSpPr>
          <p:nvPr>
            <p:ph sz="quarter" idx="1"/>
          </p:nvPr>
        </p:nvSpPr>
        <p:spPr>
          <a:xfrm>
            <a:off x="323528" y="980728"/>
            <a:ext cx="7416824" cy="5688632"/>
          </a:xfrm>
        </p:spPr>
        <p:txBody>
          <a:bodyPr>
            <a:normAutofit/>
          </a:bodyPr>
          <a:lstStyle/>
          <a:p>
            <a:pPr marL="571500" indent="-571500">
              <a:buAutoNum type="romanUcPeriod"/>
            </a:pPr>
            <a:r>
              <a:rPr lang="es-CR" dirty="0" smtClean="0"/>
              <a:t>Conceptos básicos </a:t>
            </a:r>
          </a:p>
          <a:p>
            <a:pPr marL="571500" indent="-571500">
              <a:buAutoNum type="romanUcPeriod"/>
            </a:pPr>
            <a:endParaRPr lang="es-CR" dirty="0"/>
          </a:p>
          <a:p>
            <a:pPr marL="571500" indent="-571500">
              <a:buAutoNum type="romanUcPeriod"/>
            </a:pPr>
            <a:r>
              <a:rPr lang="es-CR" dirty="0" smtClean="0"/>
              <a:t>La estadística y el método científico</a:t>
            </a:r>
          </a:p>
          <a:p>
            <a:pPr marL="571500" indent="-571500">
              <a:buAutoNum type="romanUcPeriod"/>
            </a:pPr>
            <a:endParaRPr lang="es-CR" dirty="0"/>
          </a:p>
          <a:p>
            <a:pPr marL="571500" indent="-571500">
              <a:buAutoNum type="romanUcPeriod"/>
            </a:pPr>
            <a:r>
              <a:rPr lang="es-CR" dirty="0" smtClean="0"/>
              <a:t>Números relativos</a:t>
            </a:r>
          </a:p>
          <a:p>
            <a:pPr marL="571500" indent="-571500">
              <a:buAutoNum type="romanUcPeriod"/>
            </a:pPr>
            <a:endParaRPr lang="es-CR" dirty="0"/>
          </a:p>
          <a:p>
            <a:pPr marL="571500" indent="-571500">
              <a:buAutoNum type="romanUcPeriod"/>
            </a:pPr>
            <a:r>
              <a:rPr lang="es-CR" dirty="0" smtClean="0"/>
              <a:t>Cuadros, gráficos y otras formas de presentar la información </a:t>
            </a:r>
            <a:endParaRPr lang="es-CR" dirty="0" smtClean="0"/>
          </a:p>
          <a:p>
            <a:pPr marL="571500" indent="-571500">
              <a:buAutoNum type="romanUcPeriod"/>
            </a:pPr>
            <a:endParaRPr lang="es-CR" dirty="0"/>
          </a:p>
          <a:p>
            <a:pPr marL="571500" indent="-571500">
              <a:buAutoNum type="romanUcPeriod"/>
            </a:pPr>
            <a:r>
              <a:rPr lang="es-CR" dirty="0" smtClean="0"/>
              <a:t>Medidas de posición</a:t>
            </a:r>
          </a:p>
          <a:p>
            <a:pPr marL="571500" indent="-571500">
              <a:buAutoNum type="romanUcPeriod"/>
            </a:pPr>
            <a:endParaRPr lang="es-CR" dirty="0"/>
          </a:p>
          <a:p>
            <a:pPr marL="571500" indent="-571500">
              <a:buAutoNum type="romanUcPeriod"/>
            </a:pPr>
            <a:r>
              <a:rPr lang="es-CR" dirty="0" smtClean="0"/>
              <a:t>Medidas de variabilidad</a:t>
            </a:r>
          </a:p>
          <a:p>
            <a:pPr marL="0" indent="0">
              <a:buNone/>
            </a:pPr>
            <a:endParaRPr lang="es-CR" dirty="0" smtClean="0"/>
          </a:p>
        </p:txBody>
      </p:sp>
    </p:spTree>
    <p:extLst>
      <p:ext uri="{BB962C8B-B14F-4D97-AF65-F5344CB8AC3E}">
        <p14:creationId xmlns:p14="http://schemas.microsoft.com/office/powerpoint/2010/main" val="1848206366"/>
      </p:ext>
    </p:extLst>
  </p:cSld>
  <p:clrMapOvr>
    <a:masterClrMapping/>
  </p:clrMapOvr>
  <p:transition spd="slow">
    <p:randomBar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274638"/>
            <a:ext cx="8568952" cy="1210146"/>
          </a:xfrm>
        </p:spPr>
        <p:txBody>
          <a:bodyPr>
            <a:normAutofit fontScale="90000"/>
          </a:bodyPr>
          <a:lstStyle/>
          <a:p>
            <a:pPr algn="ctr"/>
            <a:r>
              <a:rPr lang="es-CR" dirty="0"/>
              <a:t>Capítulos: </a:t>
            </a:r>
            <a:r>
              <a:rPr lang="es-CR" dirty="0" smtClean="0"/>
              <a:t>medidas de caracterización y probabilidades</a:t>
            </a:r>
            <a:endParaRPr lang="es-CR" dirty="0"/>
          </a:p>
        </p:txBody>
      </p:sp>
      <p:sp>
        <p:nvSpPr>
          <p:cNvPr id="3" name="2 Marcador de contenido"/>
          <p:cNvSpPr>
            <a:spLocks noGrp="1"/>
          </p:cNvSpPr>
          <p:nvPr>
            <p:ph sz="quarter" idx="1"/>
          </p:nvPr>
        </p:nvSpPr>
        <p:spPr>
          <a:xfrm>
            <a:off x="395536" y="1737320"/>
            <a:ext cx="7772400" cy="4716016"/>
          </a:xfrm>
        </p:spPr>
        <p:txBody>
          <a:bodyPr>
            <a:normAutofit lnSpcReduction="10000"/>
          </a:bodyPr>
          <a:lstStyle/>
          <a:p>
            <a:pPr marL="571500" indent="-571500">
              <a:buAutoNum type="romanUcPeriod"/>
            </a:pPr>
            <a:r>
              <a:rPr lang="es-CR" dirty="0" smtClean="0"/>
              <a:t>Introducción a las probabilidades.</a:t>
            </a:r>
          </a:p>
          <a:p>
            <a:pPr marL="571500" indent="-571500">
              <a:buAutoNum type="romanUcPeriod"/>
            </a:pPr>
            <a:endParaRPr lang="es-CR" dirty="0"/>
          </a:p>
          <a:p>
            <a:pPr marL="571500" indent="-571500">
              <a:buAutoNum type="romanUcPeriod"/>
            </a:pPr>
            <a:r>
              <a:rPr lang="es-CR" dirty="0" smtClean="0"/>
              <a:t>Los tres enfoques de </a:t>
            </a:r>
            <a:r>
              <a:rPr lang="es-CR" dirty="0" smtClean="0"/>
              <a:t>las probabilidades: clásico, </a:t>
            </a:r>
            <a:r>
              <a:rPr lang="es-CR" dirty="0" err="1" smtClean="0"/>
              <a:t>frecuentista</a:t>
            </a:r>
            <a:r>
              <a:rPr lang="es-CR" dirty="0"/>
              <a:t> </a:t>
            </a:r>
            <a:r>
              <a:rPr lang="es-CR" dirty="0" smtClean="0"/>
              <a:t>y subjetivo.</a:t>
            </a:r>
            <a:endParaRPr lang="es-CR" dirty="0" smtClean="0"/>
          </a:p>
          <a:p>
            <a:pPr marL="571500" indent="-571500">
              <a:buAutoNum type="romanUcPeriod"/>
            </a:pPr>
            <a:endParaRPr lang="es-CR" dirty="0"/>
          </a:p>
          <a:p>
            <a:pPr marL="571500" indent="-571500">
              <a:buAutoNum type="romanUcPeriod"/>
            </a:pPr>
            <a:r>
              <a:rPr lang="es-CR" dirty="0" smtClean="0"/>
              <a:t>La curva normal y la normal estándar.</a:t>
            </a:r>
          </a:p>
          <a:p>
            <a:pPr marL="571500" indent="-571500">
              <a:buAutoNum type="romanUcPeriod"/>
            </a:pPr>
            <a:endParaRPr lang="es-CR" dirty="0"/>
          </a:p>
          <a:p>
            <a:pPr marL="571500" indent="-571500">
              <a:buAutoNum type="romanUcPeriod"/>
            </a:pPr>
            <a:r>
              <a:rPr lang="es-CR" dirty="0" smtClean="0"/>
              <a:t>La estandarización.</a:t>
            </a:r>
          </a:p>
          <a:p>
            <a:pPr marL="571500" indent="-571500">
              <a:buAutoNum type="romanUcPeriod"/>
            </a:pPr>
            <a:endParaRPr lang="es-CR" dirty="0"/>
          </a:p>
          <a:p>
            <a:pPr marL="571500" indent="-571500">
              <a:buAutoNum type="romanUcPeriod"/>
            </a:pPr>
            <a:r>
              <a:rPr lang="es-CR" dirty="0" smtClean="0"/>
              <a:t>Otras funciones de </a:t>
            </a:r>
            <a:r>
              <a:rPr lang="es-CR" dirty="0" smtClean="0"/>
              <a:t>probabilidad: t de </a:t>
            </a:r>
            <a:r>
              <a:rPr lang="es-CR" dirty="0" err="1" smtClean="0"/>
              <a:t>Student</a:t>
            </a:r>
            <a:r>
              <a:rPr lang="es-CR" dirty="0" smtClean="0"/>
              <a:t>, F de </a:t>
            </a:r>
            <a:r>
              <a:rPr lang="es-CR" dirty="0" err="1" smtClean="0"/>
              <a:t>Snedecor</a:t>
            </a:r>
            <a:r>
              <a:rPr lang="es-CR" dirty="0" smtClean="0"/>
              <a:t> y la Chi cuadrado.</a:t>
            </a:r>
            <a:endParaRPr lang="es-CR" dirty="0" smtClean="0"/>
          </a:p>
          <a:p>
            <a:pPr marL="0" indent="0">
              <a:buNone/>
            </a:pPr>
            <a:endParaRPr lang="es-CR" dirty="0"/>
          </a:p>
          <a:p>
            <a:pPr marL="0" indent="0">
              <a:buNone/>
            </a:pPr>
            <a:endParaRPr lang="es-CR" dirty="0" smtClean="0"/>
          </a:p>
        </p:txBody>
      </p:sp>
    </p:spTree>
    <p:extLst>
      <p:ext uri="{BB962C8B-B14F-4D97-AF65-F5344CB8AC3E}">
        <p14:creationId xmlns:p14="http://schemas.microsoft.com/office/powerpoint/2010/main" val="1884668786"/>
      </p:ext>
    </p:extLst>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7992" y="1268760"/>
            <a:ext cx="7772400" cy="5589240"/>
          </a:xfrm>
        </p:spPr>
        <p:txBody>
          <a:bodyPr/>
          <a:lstStyle/>
          <a:p>
            <a:pPr marL="571500" indent="-571500">
              <a:buAutoNum type="romanUcPeriod"/>
            </a:pPr>
            <a:r>
              <a:rPr lang="es-CR" dirty="0" smtClean="0"/>
              <a:t>La Estimación</a:t>
            </a:r>
          </a:p>
          <a:p>
            <a:pPr marL="571500" indent="-571500">
              <a:buAutoNum type="romanUcPeriod"/>
            </a:pPr>
            <a:endParaRPr lang="es-CR" dirty="0"/>
          </a:p>
          <a:p>
            <a:pPr marL="571500" indent="-571500">
              <a:buAutoNum type="romanUcPeriod"/>
            </a:pPr>
            <a:r>
              <a:rPr lang="es-CR" dirty="0" smtClean="0"/>
              <a:t>Prueba de hipótesis</a:t>
            </a:r>
          </a:p>
          <a:p>
            <a:pPr marL="571500" indent="-571500">
              <a:buAutoNum type="romanUcPeriod"/>
            </a:pPr>
            <a:endParaRPr lang="es-CR" dirty="0"/>
          </a:p>
          <a:p>
            <a:pPr marL="571500" indent="-571500">
              <a:buAutoNum type="romanUcPeriod"/>
            </a:pPr>
            <a:r>
              <a:rPr lang="es-CR" dirty="0" smtClean="0"/>
              <a:t>Comparación de medias</a:t>
            </a:r>
          </a:p>
          <a:p>
            <a:pPr marL="571500" indent="-571500">
              <a:buAutoNum type="romanUcPeriod"/>
            </a:pPr>
            <a:endParaRPr lang="es-CR" dirty="0"/>
          </a:p>
          <a:p>
            <a:pPr marL="571500" indent="-571500">
              <a:buAutoNum type="romanUcPeriod"/>
            </a:pPr>
            <a:r>
              <a:rPr lang="es-CR" dirty="0" smtClean="0"/>
              <a:t>Análisis de variancia</a:t>
            </a:r>
          </a:p>
          <a:p>
            <a:pPr marL="571500" indent="-571500">
              <a:buAutoNum type="romanUcPeriod"/>
            </a:pPr>
            <a:endParaRPr lang="es-CR" dirty="0"/>
          </a:p>
          <a:p>
            <a:pPr marL="571500" indent="-571500">
              <a:buAutoNum type="romanUcPeriod"/>
            </a:pPr>
            <a:r>
              <a:rPr lang="es-CR" dirty="0" smtClean="0"/>
              <a:t>Correlación y regresión bivariada</a:t>
            </a:r>
          </a:p>
          <a:p>
            <a:pPr marL="571500" indent="-571500">
              <a:buAutoNum type="romanUcPeriod"/>
            </a:pPr>
            <a:endParaRPr lang="es-CR" dirty="0" smtClean="0"/>
          </a:p>
          <a:p>
            <a:pPr marL="571500" indent="-571500">
              <a:buAutoNum type="romanUcPeriod"/>
            </a:pPr>
            <a:r>
              <a:rPr lang="es-CR" dirty="0" smtClean="0"/>
              <a:t>Estadística no paramétrica</a:t>
            </a:r>
          </a:p>
          <a:p>
            <a:pPr marL="0" indent="0">
              <a:buNone/>
            </a:pPr>
            <a:endParaRPr lang="es-CR" dirty="0"/>
          </a:p>
        </p:txBody>
      </p:sp>
      <p:sp>
        <p:nvSpPr>
          <p:cNvPr id="4" name="1 Título"/>
          <p:cNvSpPr>
            <a:spLocks noGrp="1"/>
          </p:cNvSpPr>
          <p:nvPr>
            <p:ph type="title"/>
          </p:nvPr>
        </p:nvSpPr>
        <p:spPr>
          <a:xfrm>
            <a:off x="539552" y="116632"/>
            <a:ext cx="7772400" cy="792088"/>
          </a:xfrm>
        </p:spPr>
        <p:txBody>
          <a:bodyPr>
            <a:normAutofit/>
          </a:bodyPr>
          <a:lstStyle/>
          <a:p>
            <a:pPr algn="ctr"/>
            <a:r>
              <a:rPr lang="es-CR" sz="3600" dirty="0" smtClean="0"/>
              <a:t>Capítulos: estadística inferencial</a:t>
            </a:r>
            <a:endParaRPr lang="es-CR" sz="3600" dirty="0"/>
          </a:p>
        </p:txBody>
      </p:sp>
    </p:spTree>
    <p:extLst>
      <p:ext uri="{BB962C8B-B14F-4D97-AF65-F5344CB8AC3E}">
        <p14:creationId xmlns:p14="http://schemas.microsoft.com/office/powerpoint/2010/main" val="307227551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14400" y="202630"/>
            <a:ext cx="7772400" cy="922114"/>
          </a:xfrm>
        </p:spPr>
        <p:txBody>
          <a:bodyPr>
            <a:normAutofit/>
          </a:bodyPr>
          <a:lstStyle/>
          <a:p>
            <a:pPr algn="ctr"/>
            <a:r>
              <a:rPr lang="es-CR" sz="3600" dirty="0" smtClean="0"/>
              <a:t>Metodología</a:t>
            </a:r>
            <a:endParaRPr lang="es-CR" sz="3600" dirty="0"/>
          </a:p>
        </p:txBody>
      </p:sp>
      <p:sp>
        <p:nvSpPr>
          <p:cNvPr id="5" name="2 Marcador de contenido"/>
          <p:cNvSpPr>
            <a:spLocks noGrp="1"/>
          </p:cNvSpPr>
          <p:nvPr>
            <p:ph sz="quarter" idx="1"/>
          </p:nvPr>
        </p:nvSpPr>
        <p:spPr>
          <a:xfrm>
            <a:off x="255984" y="1340768"/>
            <a:ext cx="6404248" cy="4896544"/>
          </a:xfrm>
        </p:spPr>
        <p:txBody>
          <a:bodyPr>
            <a:normAutofit/>
          </a:bodyPr>
          <a:lstStyle/>
          <a:p>
            <a:pPr algn="just"/>
            <a:r>
              <a:rPr lang="es-CR" dirty="0" smtClean="0"/>
              <a:t>Clases interactivas entre profesor y alumnos.</a:t>
            </a:r>
          </a:p>
          <a:p>
            <a:pPr algn="just"/>
            <a:endParaRPr lang="es-CR" dirty="0"/>
          </a:p>
          <a:p>
            <a:pPr algn="just"/>
            <a:r>
              <a:rPr lang="es-CR" dirty="0" smtClean="0"/>
              <a:t>El profesor entregará tanto las clases como los ejercicios para su resolución.</a:t>
            </a:r>
          </a:p>
          <a:p>
            <a:pPr algn="just"/>
            <a:endParaRPr lang="es-CR" dirty="0"/>
          </a:p>
          <a:p>
            <a:pPr algn="just"/>
            <a:r>
              <a:rPr lang="es-CR" dirty="0" smtClean="0"/>
              <a:t>Se quiere que las personas que estén llevando a cabo un trabajo de un curso, tesis o investigación participen para el aporte del curso.</a:t>
            </a:r>
          </a:p>
          <a:p>
            <a:pPr algn="just"/>
            <a:endParaRPr lang="es-CR" dirty="0"/>
          </a:p>
          <a:p>
            <a:pPr algn="just"/>
            <a:r>
              <a:rPr lang="es-CR" dirty="0" smtClean="0"/>
              <a:t>Se dará un receso de 10 minutos…</a:t>
            </a:r>
            <a:endParaRPr lang="es-CR" dirty="0" smtClean="0"/>
          </a:p>
        </p:txBody>
      </p:sp>
      <p:pic>
        <p:nvPicPr>
          <p:cNvPr id="2052" name="Picture 4" descr="http://www.tudocente.com/wp-content/uploads/2013/05/lectur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2690" y="1694334"/>
            <a:ext cx="2016224" cy="200950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eloportunodemichoacan.com/wp-content/uploads/2015/04/Debat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33542" y="4470098"/>
            <a:ext cx="1594520" cy="191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1199631"/>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3074" name="Picture 2" descr="http://www.reseauode.fr/wp-content/uploads/2015/02/question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4145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R" dirty="0" err="1" smtClean="0"/>
              <a:t>ner</a:t>
            </a:r>
            <a:endParaRPr lang="es-CR" dirty="0"/>
          </a:p>
        </p:txBody>
      </p:sp>
      <p:sp>
        <p:nvSpPr>
          <p:cNvPr id="3" name="2 Marcador de contenido"/>
          <p:cNvSpPr>
            <a:spLocks noGrp="1"/>
          </p:cNvSpPr>
          <p:nvPr>
            <p:ph sz="quarter" idx="1"/>
          </p:nvPr>
        </p:nvSpPr>
        <p:spPr/>
        <p:txBody>
          <a:bodyPr/>
          <a:lstStyle/>
          <a:p>
            <a:endParaRPr lang="es-CR"/>
          </a:p>
        </p:txBody>
      </p:sp>
      <p:pic>
        <p:nvPicPr>
          <p:cNvPr id="1026" name="Picture 2" descr="http://www.unexpected.org/wp-content/uploads/2014/02/the-en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76" y="0"/>
            <a:ext cx="916617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34533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150</TotalTime>
  <Words>244</Words>
  <Application>Microsoft Office PowerPoint</Application>
  <PresentationFormat>Presentación en pantalla (4:3)</PresentationFormat>
  <Paragraphs>58</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Franklin Gothic Book</vt:lpstr>
      <vt:lpstr>Perpetua</vt:lpstr>
      <vt:lpstr>Wingdings 2</vt:lpstr>
      <vt:lpstr>Equidad</vt:lpstr>
      <vt:lpstr>Presentación del curso</vt:lpstr>
      <vt:lpstr>Índice</vt:lpstr>
      <vt:lpstr>Objetivo</vt:lpstr>
      <vt:lpstr>Capítulos: estadística descriptiva</vt:lpstr>
      <vt:lpstr>Capítulos: medidas de caracterización y probabilidades</vt:lpstr>
      <vt:lpstr>Capítulos: estadística inferencial</vt:lpstr>
      <vt:lpstr>Metodología</vt:lpstr>
      <vt:lpstr>Presentación de PowerPoint</vt:lpstr>
      <vt:lpstr>ner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del curso</dc:title>
  <dc:creator>Oscar</dc:creator>
  <cp:lastModifiedBy>Oscar</cp:lastModifiedBy>
  <cp:revision>25</cp:revision>
  <dcterms:created xsi:type="dcterms:W3CDTF">2015-07-05T01:30:56Z</dcterms:created>
  <dcterms:modified xsi:type="dcterms:W3CDTF">2016-05-10T20:16:49Z</dcterms:modified>
</cp:coreProperties>
</file>