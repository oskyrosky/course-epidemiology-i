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73"/>
  </p:notesMasterIdLst>
  <p:sldIdLst>
    <p:sldId id="256" r:id="rId2"/>
    <p:sldId id="359" r:id="rId3"/>
    <p:sldId id="258" r:id="rId4"/>
    <p:sldId id="360" r:id="rId5"/>
    <p:sldId id="343" r:id="rId6"/>
    <p:sldId id="376" r:id="rId7"/>
    <p:sldId id="361" r:id="rId8"/>
    <p:sldId id="365" r:id="rId9"/>
    <p:sldId id="366" r:id="rId10"/>
    <p:sldId id="367" r:id="rId11"/>
    <p:sldId id="368" r:id="rId12"/>
    <p:sldId id="378" r:id="rId13"/>
    <p:sldId id="377" r:id="rId14"/>
    <p:sldId id="379" r:id="rId15"/>
    <p:sldId id="381" r:id="rId16"/>
    <p:sldId id="380" r:id="rId17"/>
    <p:sldId id="369" r:id="rId18"/>
    <p:sldId id="344" r:id="rId19"/>
    <p:sldId id="347" r:id="rId20"/>
    <p:sldId id="370" r:id="rId21"/>
    <p:sldId id="352" r:id="rId22"/>
    <p:sldId id="259" r:id="rId23"/>
    <p:sldId id="260" r:id="rId24"/>
    <p:sldId id="263" r:id="rId25"/>
    <p:sldId id="264" r:id="rId26"/>
    <p:sldId id="266" r:id="rId27"/>
    <p:sldId id="268" r:id="rId28"/>
    <p:sldId id="269" r:id="rId29"/>
    <p:sldId id="371" r:id="rId30"/>
    <p:sldId id="270" r:id="rId31"/>
    <p:sldId id="271" r:id="rId32"/>
    <p:sldId id="274" r:id="rId33"/>
    <p:sldId id="272" r:id="rId34"/>
    <p:sldId id="353" r:id="rId35"/>
    <p:sldId id="273" r:id="rId36"/>
    <p:sldId id="276" r:id="rId37"/>
    <p:sldId id="275" r:id="rId38"/>
    <p:sldId id="277" r:id="rId39"/>
    <p:sldId id="278" r:id="rId40"/>
    <p:sldId id="262" r:id="rId41"/>
    <p:sldId id="355" r:id="rId42"/>
    <p:sldId id="282" r:id="rId43"/>
    <p:sldId id="283" r:id="rId44"/>
    <p:sldId id="284" r:id="rId45"/>
    <p:sldId id="286" r:id="rId46"/>
    <p:sldId id="287" r:id="rId47"/>
    <p:sldId id="288" r:id="rId48"/>
    <p:sldId id="289" r:id="rId49"/>
    <p:sldId id="301" r:id="rId50"/>
    <p:sldId id="290" r:id="rId51"/>
    <p:sldId id="291" r:id="rId52"/>
    <p:sldId id="292" r:id="rId53"/>
    <p:sldId id="293" r:id="rId54"/>
    <p:sldId id="294" r:id="rId55"/>
    <p:sldId id="372" r:id="rId56"/>
    <p:sldId id="316" r:id="rId57"/>
    <p:sldId id="317" r:id="rId58"/>
    <p:sldId id="321" r:id="rId59"/>
    <p:sldId id="336" r:id="rId60"/>
    <p:sldId id="337" r:id="rId61"/>
    <p:sldId id="338" r:id="rId62"/>
    <p:sldId id="318" r:id="rId63"/>
    <p:sldId id="319" r:id="rId64"/>
    <p:sldId id="320" r:id="rId65"/>
    <p:sldId id="357" r:id="rId66"/>
    <p:sldId id="335" r:id="rId67"/>
    <p:sldId id="339" r:id="rId68"/>
    <p:sldId id="382" r:id="rId69"/>
    <p:sldId id="383" r:id="rId70"/>
    <p:sldId id="351" r:id="rId71"/>
    <p:sldId id="341" r:id="rId7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1" autoAdjust="0"/>
    <p:restoredTop sz="94660"/>
  </p:normalViewPr>
  <p:slideViewPr>
    <p:cSldViewPr>
      <p:cViewPr>
        <p:scale>
          <a:sx n="70" d="100"/>
          <a:sy n="70" d="100"/>
        </p:scale>
        <p:origin x="-150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Oscar\Desktop\Cos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C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CR"/>
              <a:t>Notas de estudio</a:t>
            </a:r>
          </a:p>
        </c:rich>
      </c:tx>
      <c:layout/>
      <c:overlay val="0"/>
    </c:title>
    <c:autoTitleDeleted val="0"/>
    <c:plotArea>
      <c:layout>
        <c:manualLayout>
          <c:layoutTarget val="inner"/>
          <c:xMode val="edge"/>
          <c:yMode val="edge"/>
          <c:x val="0.21977554247392195"/>
          <c:y val="0.12284645093514322"/>
          <c:w val="0.77005246689550799"/>
          <c:h val="0.66776173811606965"/>
        </c:manualLayout>
      </c:layout>
      <c:lineChart>
        <c:grouping val="standard"/>
        <c:varyColors val="0"/>
        <c:ser>
          <c:idx val="0"/>
          <c:order val="0"/>
          <c:spPr>
            <a:ln>
              <a:noFill/>
              <a:prstDash val="sysDash"/>
            </a:ln>
          </c:spPr>
          <c:marker>
            <c:symbol val="circle"/>
            <c:size val="5"/>
          </c:marker>
          <c:val>
            <c:numRef>
              <c:f>Hoja4!$G$6:$G$14</c:f>
              <c:numCache>
                <c:formatCode>General</c:formatCode>
                <c:ptCount val="9"/>
                <c:pt idx="0">
                  <c:v>49</c:v>
                </c:pt>
                <c:pt idx="1">
                  <c:v>62</c:v>
                </c:pt>
                <c:pt idx="2">
                  <c:v>68</c:v>
                </c:pt>
                <c:pt idx="3">
                  <c:v>74</c:v>
                </c:pt>
                <c:pt idx="4">
                  <c:v>82</c:v>
                </c:pt>
                <c:pt idx="5">
                  <c:v>86</c:v>
                </c:pt>
                <c:pt idx="6">
                  <c:v>89</c:v>
                </c:pt>
                <c:pt idx="7">
                  <c:v>94</c:v>
                </c:pt>
                <c:pt idx="8">
                  <c:v>100</c:v>
                </c:pt>
              </c:numCache>
            </c:numRef>
          </c:val>
          <c:smooth val="0"/>
        </c:ser>
        <c:dLbls>
          <c:showLegendKey val="0"/>
          <c:showVal val="0"/>
          <c:showCatName val="0"/>
          <c:showSerName val="0"/>
          <c:showPercent val="0"/>
          <c:showBubbleSize val="0"/>
        </c:dLbls>
        <c:hiLowLines/>
        <c:marker val="1"/>
        <c:smooth val="0"/>
        <c:axId val="82217600"/>
        <c:axId val="85066496"/>
      </c:lineChart>
      <c:catAx>
        <c:axId val="82217600"/>
        <c:scaling>
          <c:orientation val="minMax"/>
        </c:scaling>
        <c:delete val="0"/>
        <c:axPos val="b"/>
        <c:title>
          <c:tx>
            <c:rich>
              <a:bodyPr/>
              <a:lstStyle/>
              <a:p>
                <a:pPr>
                  <a:defRPr sz="1600"/>
                </a:pPr>
                <a:r>
                  <a:rPr lang="es-CR" sz="1600"/>
                  <a:t>Horas</a:t>
                </a:r>
              </a:p>
            </c:rich>
          </c:tx>
          <c:layout>
            <c:manualLayout>
              <c:xMode val="edge"/>
              <c:yMode val="edge"/>
              <c:x val="0.49501005704645418"/>
              <c:y val="0.92722527293063983"/>
            </c:manualLayout>
          </c:layout>
          <c:overlay val="0"/>
        </c:title>
        <c:majorTickMark val="none"/>
        <c:minorTickMark val="none"/>
        <c:tickLblPos val="nextTo"/>
        <c:txPr>
          <a:bodyPr/>
          <a:lstStyle/>
          <a:p>
            <a:pPr>
              <a:defRPr sz="1600"/>
            </a:pPr>
            <a:endParaRPr lang="es-CR"/>
          </a:p>
        </c:txPr>
        <c:crossAx val="85066496"/>
        <c:crosses val="autoZero"/>
        <c:auto val="1"/>
        <c:lblAlgn val="ctr"/>
        <c:lblOffset val="100"/>
        <c:noMultiLvlLbl val="0"/>
      </c:catAx>
      <c:valAx>
        <c:axId val="85066496"/>
        <c:scaling>
          <c:orientation val="minMax"/>
          <c:max val="105"/>
          <c:min val="45"/>
        </c:scaling>
        <c:delete val="0"/>
        <c:axPos val="l"/>
        <c:majorGridlines/>
        <c:title>
          <c:tx>
            <c:rich>
              <a:bodyPr/>
              <a:lstStyle/>
              <a:p>
                <a:pPr>
                  <a:defRPr/>
                </a:pPr>
                <a:r>
                  <a:rPr lang="es-CR" sz="2000" dirty="0" smtClean="0"/>
                  <a:t>Notas</a:t>
                </a:r>
                <a:endParaRPr lang="es-CR" sz="2000" dirty="0"/>
              </a:p>
            </c:rich>
          </c:tx>
          <c:layout>
            <c:manualLayout>
              <c:xMode val="edge"/>
              <c:yMode val="edge"/>
              <c:x val="5.0000233302537542E-3"/>
              <c:y val="0.30174650279496495"/>
            </c:manualLayout>
          </c:layout>
          <c:overlay val="0"/>
        </c:title>
        <c:numFmt formatCode="General" sourceLinked="1"/>
        <c:majorTickMark val="out"/>
        <c:minorTickMark val="none"/>
        <c:tickLblPos val="nextTo"/>
        <c:txPr>
          <a:bodyPr/>
          <a:lstStyle/>
          <a:p>
            <a:pPr>
              <a:defRPr sz="1600"/>
            </a:pPr>
            <a:endParaRPr lang="es-CR"/>
          </a:p>
        </c:txPr>
        <c:crossAx val="82217600"/>
        <c:crosses val="autoZero"/>
        <c:crossBetween val="between"/>
      </c:valAx>
    </c:plotArea>
    <c:plotVisOnly val="1"/>
    <c:dispBlanksAs val="gap"/>
    <c:showDLblsOverMax val="0"/>
  </c:chart>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C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04068280111022"/>
          <c:y val="7.4433143773694949E-2"/>
          <c:w val="0.82288348785214549"/>
          <c:h val="0.7464654418197727"/>
        </c:manualLayout>
      </c:layout>
      <c:lineChart>
        <c:grouping val="standard"/>
        <c:varyColors val="0"/>
        <c:ser>
          <c:idx val="0"/>
          <c:order val="0"/>
          <c:spPr>
            <a:ln>
              <a:noFill/>
            </a:ln>
          </c:spPr>
          <c:marker>
            <c:symbol val="circle"/>
            <c:size val="5"/>
          </c:marker>
          <c:val>
            <c:numRef>
              <c:f>Hoja4!$C$22:$C$41</c:f>
              <c:numCache>
                <c:formatCode>General</c:formatCode>
                <c:ptCount val="20"/>
                <c:pt idx="0">
                  <c:v>89</c:v>
                </c:pt>
                <c:pt idx="1">
                  <c:v>88</c:v>
                </c:pt>
                <c:pt idx="2">
                  <c:v>86</c:v>
                </c:pt>
                <c:pt idx="3">
                  <c:v>85</c:v>
                </c:pt>
                <c:pt idx="4">
                  <c:v>84</c:v>
                </c:pt>
                <c:pt idx="5">
                  <c:v>82</c:v>
                </c:pt>
                <c:pt idx="6">
                  <c:v>80</c:v>
                </c:pt>
                <c:pt idx="7">
                  <c:v>78</c:v>
                </c:pt>
                <c:pt idx="8">
                  <c:v>77</c:v>
                </c:pt>
                <c:pt idx="9">
                  <c:v>75</c:v>
                </c:pt>
                <c:pt idx="10">
                  <c:v>74</c:v>
                </c:pt>
                <c:pt idx="11">
                  <c:v>73</c:v>
                </c:pt>
                <c:pt idx="12">
                  <c:v>70</c:v>
                </c:pt>
                <c:pt idx="13">
                  <c:v>69</c:v>
                </c:pt>
                <c:pt idx="14">
                  <c:v>68</c:v>
                </c:pt>
                <c:pt idx="15">
                  <c:v>65</c:v>
                </c:pt>
                <c:pt idx="16">
                  <c:v>66</c:v>
                </c:pt>
                <c:pt idx="17">
                  <c:v>63</c:v>
                </c:pt>
                <c:pt idx="18">
                  <c:v>63</c:v>
                </c:pt>
                <c:pt idx="19">
                  <c:v>61</c:v>
                </c:pt>
              </c:numCache>
            </c:numRef>
          </c:val>
          <c:smooth val="0"/>
        </c:ser>
        <c:dLbls>
          <c:showLegendKey val="0"/>
          <c:showVal val="0"/>
          <c:showCatName val="0"/>
          <c:showSerName val="0"/>
          <c:showPercent val="0"/>
          <c:showBubbleSize val="0"/>
        </c:dLbls>
        <c:hiLowLines>
          <c:spPr>
            <a:ln>
              <a:prstDash val="lgDash"/>
            </a:ln>
          </c:spPr>
        </c:hiLowLines>
        <c:marker val="1"/>
        <c:smooth val="0"/>
        <c:axId val="85113472"/>
        <c:axId val="85115648"/>
      </c:lineChart>
      <c:catAx>
        <c:axId val="85113472"/>
        <c:scaling>
          <c:orientation val="minMax"/>
        </c:scaling>
        <c:delete val="0"/>
        <c:axPos val="b"/>
        <c:title>
          <c:tx>
            <c:rich>
              <a:bodyPr/>
              <a:lstStyle/>
              <a:p>
                <a:pPr>
                  <a:defRPr/>
                </a:pPr>
                <a:r>
                  <a:rPr lang="es-CR" sz="1400" dirty="0"/>
                  <a:t>Horas por semana</a:t>
                </a:r>
              </a:p>
            </c:rich>
          </c:tx>
          <c:layout>
            <c:manualLayout>
              <c:xMode val="edge"/>
              <c:yMode val="edge"/>
              <c:x val="0.60754789224845873"/>
              <c:y val="0.91396523186006939"/>
            </c:manualLayout>
          </c:layout>
          <c:overlay val="0"/>
        </c:title>
        <c:majorTickMark val="none"/>
        <c:minorTickMark val="none"/>
        <c:tickLblPos val="nextTo"/>
        <c:txPr>
          <a:bodyPr/>
          <a:lstStyle/>
          <a:p>
            <a:pPr>
              <a:defRPr sz="1400"/>
            </a:pPr>
            <a:endParaRPr lang="es-CR"/>
          </a:p>
        </c:txPr>
        <c:crossAx val="85115648"/>
        <c:crosses val="autoZero"/>
        <c:auto val="1"/>
        <c:lblAlgn val="ctr"/>
        <c:lblOffset val="100"/>
        <c:noMultiLvlLbl val="0"/>
      </c:catAx>
      <c:valAx>
        <c:axId val="85115648"/>
        <c:scaling>
          <c:orientation val="minMax"/>
          <c:min val="55"/>
        </c:scaling>
        <c:delete val="0"/>
        <c:axPos val="l"/>
        <c:majorGridlines/>
        <c:title>
          <c:tx>
            <c:rich>
              <a:bodyPr/>
              <a:lstStyle/>
              <a:p>
                <a:pPr>
                  <a:defRPr sz="1800"/>
                </a:pPr>
                <a:r>
                  <a:rPr lang="es-CR" sz="1800"/>
                  <a:t>Peso</a:t>
                </a:r>
              </a:p>
            </c:rich>
          </c:tx>
          <c:layout>
            <c:manualLayout>
              <c:xMode val="edge"/>
              <c:yMode val="edge"/>
              <c:x val="4.9275930359801313E-3"/>
              <c:y val="0.33408944564772053"/>
            </c:manualLayout>
          </c:layout>
          <c:overlay val="0"/>
        </c:title>
        <c:numFmt formatCode="General" sourceLinked="1"/>
        <c:majorTickMark val="out"/>
        <c:minorTickMark val="none"/>
        <c:tickLblPos val="nextTo"/>
        <c:txPr>
          <a:bodyPr/>
          <a:lstStyle/>
          <a:p>
            <a:pPr>
              <a:defRPr sz="1400"/>
            </a:pPr>
            <a:endParaRPr lang="es-CR"/>
          </a:p>
        </c:txPr>
        <c:crossAx val="85113472"/>
        <c:crosses val="autoZero"/>
        <c:crossBetween val="between"/>
      </c:valAx>
    </c:plotArea>
    <c:plotVisOnly val="1"/>
    <c:dispBlanksAs val="gap"/>
    <c:showDLblsOverMax val="0"/>
  </c:chart>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0.17528</cdr:x>
      <cdr:y>0.14493</cdr:y>
    </cdr:from>
    <cdr:to>
      <cdr:x>0.95577</cdr:x>
      <cdr:y>0.74017</cdr:y>
    </cdr:to>
    <cdr:sp macro="" textlink="">
      <cdr:nvSpPr>
        <cdr:cNvPr id="2" name="1 Conector recto"/>
        <cdr:cNvSpPr/>
      </cdr:nvSpPr>
      <cdr:spPr>
        <a:xfrm xmlns:a="http://schemas.openxmlformats.org/drawingml/2006/main" flipV="1">
          <a:off x="738574" y="720080"/>
          <a:ext cx="3288752" cy="2957481"/>
        </a:xfrm>
        <a:prstGeom xmlns:a="http://schemas.openxmlformats.org/drawingml/2006/main" prst="line">
          <a:avLst/>
        </a:prstGeom>
        <a:noFill xmlns:a="http://schemas.openxmlformats.org/drawingml/2006/main"/>
        <a:ln xmlns:a="http://schemas.openxmlformats.org/drawingml/2006/main" w="12700" cap="flat" cmpd="sng" algn="ctr">
          <a:solidFill>
            <a:sysClr val="windowText" lastClr="000000"/>
          </a:solidFill>
          <a:prstDash val="solid"/>
        </a:ln>
        <a:effectLst xmlns:a="http://schemas.openxmlformats.org/drawingml/2006/main">
          <a:outerShdw blurRad="38100" dist="25400" dir="5400000" algn="t" rotWithShape="0">
            <a:srgbClr val="000000">
              <a:alpha val="50000"/>
            </a:srgbClr>
          </a:outerShdw>
        </a:effectLst>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txBody>
        <a:bodyPr xmlns:a="http://schemas.openxmlformats.org/drawingml/2006/main"/>
        <a:lstStyle xmlns:a="http://schemas.openxmlformats.org/drawingml/2006/main">
          <a:lvl1pPr marL="0" indent="0">
            <a:defRPr sz="1100">
              <a:solidFill>
                <a:sysClr val="windowText" lastClr="000000"/>
              </a:solidFill>
              <a:latin typeface="Perpetua"/>
            </a:defRPr>
          </a:lvl1pPr>
          <a:lvl2pPr marL="457200" indent="0">
            <a:defRPr sz="1100">
              <a:solidFill>
                <a:sysClr val="windowText" lastClr="000000"/>
              </a:solidFill>
              <a:latin typeface="Perpetua"/>
            </a:defRPr>
          </a:lvl2pPr>
          <a:lvl3pPr marL="914400" indent="0">
            <a:defRPr sz="1100">
              <a:solidFill>
                <a:sysClr val="windowText" lastClr="000000"/>
              </a:solidFill>
              <a:latin typeface="Perpetua"/>
            </a:defRPr>
          </a:lvl3pPr>
          <a:lvl4pPr marL="1371600" indent="0">
            <a:defRPr sz="1100">
              <a:solidFill>
                <a:sysClr val="windowText" lastClr="000000"/>
              </a:solidFill>
              <a:latin typeface="Perpetua"/>
            </a:defRPr>
          </a:lvl4pPr>
          <a:lvl5pPr marL="1828800" indent="0">
            <a:defRPr sz="1100">
              <a:solidFill>
                <a:sysClr val="windowText" lastClr="000000"/>
              </a:solidFill>
              <a:latin typeface="Perpetua"/>
            </a:defRPr>
          </a:lvl5pPr>
          <a:lvl6pPr marL="2286000" indent="0">
            <a:defRPr sz="1100">
              <a:solidFill>
                <a:sysClr val="windowText" lastClr="000000"/>
              </a:solidFill>
              <a:latin typeface="Perpetua"/>
            </a:defRPr>
          </a:lvl6pPr>
          <a:lvl7pPr marL="2743200" indent="0">
            <a:defRPr sz="1100">
              <a:solidFill>
                <a:sysClr val="windowText" lastClr="000000"/>
              </a:solidFill>
              <a:latin typeface="Perpetua"/>
            </a:defRPr>
          </a:lvl7pPr>
          <a:lvl8pPr marL="3200400" indent="0">
            <a:defRPr sz="1100">
              <a:solidFill>
                <a:sysClr val="windowText" lastClr="000000"/>
              </a:solidFill>
              <a:latin typeface="Perpetua"/>
            </a:defRPr>
          </a:lvl8pPr>
          <a:lvl9pPr marL="3657600" indent="0">
            <a:defRPr sz="1100">
              <a:solidFill>
                <a:sysClr val="windowText" lastClr="000000"/>
              </a:solidFill>
              <a:latin typeface="Perpetua"/>
            </a:defRPr>
          </a:lvl9pPr>
        </a:lstStyle>
        <a:p xmlns:a="http://schemas.openxmlformats.org/drawingml/2006/main">
          <a:endParaRPr lang="es-C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876629-0903-4B64-A4E2-57211EAF32FD}" type="datetimeFigureOut">
              <a:rPr lang="es-CR" smtClean="0"/>
              <a:pPr/>
              <a:t>03/05/2016</a:t>
            </a:fld>
            <a:endParaRPr lang="es-C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CB83-55D6-4B96-86CC-8A769277C4E1}" type="slidenum">
              <a:rPr lang="es-CR" smtClean="0"/>
              <a:pPr/>
              <a:t>‹Nº›</a:t>
            </a:fld>
            <a:endParaRPr lang="es-CR"/>
          </a:p>
        </p:txBody>
      </p:sp>
    </p:spTree>
    <p:extLst>
      <p:ext uri="{BB962C8B-B14F-4D97-AF65-F5344CB8AC3E}">
        <p14:creationId xmlns:p14="http://schemas.microsoft.com/office/powerpoint/2010/main" val="367517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5DFBCB83-55D6-4B96-86CC-8A769277C4E1}" type="slidenum">
              <a:rPr lang="es-CR" smtClean="0"/>
              <a:pPr/>
              <a:t>28</a:t>
            </a:fld>
            <a:endParaRPr lang="es-CR"/>
          </a:p>
        </p:txBody>
      </p:sp>
    </p:spTree>
    <p:extLst>
      <p:ext uri="{BB962C8B-B14F-4D97-AF65-F5344CB8AC3E}">
        <p14:creationId xmlns:p14="http://schemas.microsoft.com/office/powerpoint/2010/main" val="389872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R" dirty="0"/>
          </a:p>
        </p:txBody>
      </p:sp>
      <p:sp>
        <p:nvSpPr>
          <p:cNvPr id="4" name="3 Marcador de número de diapositiva"/>
          <p:cNvSpPr>
            <a:spLocks noGrp="1"/>
          </p:cNvSpPr>
          <p:nvPr>
            <p:ph type="sldNum" sz="quarter" idx="10"/>
          </p:nvPr>
        </p:nvSpPr>
        <p:spPr/>
        <p:txBody>
          <a:bodyPr/>
          <a:lstStyle/>
          <a:p>
            <a:fld id="{5DFBCB83-55D6-4B96-86CC-8A769277C4E1}" type="slidenum">
              <a:rPr lang="es-CR" smtClean="0"/>
              <a:pPr/>
              <a:t>41</a:t>
            </a:fld>
            <a:endParaRPr lang="es-CR"/>
          </a:p>
        </p:txBody>
      </p:sp>
    </p:spTree>
    <p:extLst>
      <p:ext uri="{BB962C8B-B14F-4D97-AF65-F5344CB8AC3E}">
        <p14:creationId xmlns:p14="http://schemas.microsoft.com/office/powerpoint/2010/main" val="3181681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17" name="16 Marcador de pie de página"/>
          <p:cNvSpPr>
            <a:spLocks noGrp="1"/>
          </p:cNvSpPr>
          <p:nvPr>
            <p:ph type="ftr" sz="quarter" idx="11"/>
          </p:nvPr>
        </p:nvSpPr>
        <p:spPr/>
        <p:txBody>
          <a:bodyPr/>
          <a:lstStyle/>
          <a:p>
            <a:endParaRPr lang="es-ES" dirty="0"/>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dirty="0"/>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5" name="4 Marcador de pie de página"/>
          <p:cNvSpPr>
            <a:spLocks noGrp="1"/>
          </p:cNvSpPr>
          <p:nvPr>
            <p:ph type="ftr" sz="quarter" idx="11"/>
          </p:nvPr>
        </p:nvSpPr>
        <p:spPr>
          <a:xfrm>
            <a:off x="800100" y="6172200"/>
            <a:ext cx="4000500" cy="457200"/>
          </a:xfrm>
        </p:spPr>
        <p:txBody>
          <a:bodyPr/>
          <a:lstStyle/>
          <a:p>
            <a:endParaRPr lang="es-ES" dirty="0"/>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6" name="5 Marcador de pie de página"/>
          <p:cNvSpPr>
            <a:spLocks noGrp="1"/>
          </p:cNvSpPr>
          <p:nvPr>
            <p:ph type="ftr" sz="quarter" idx="11"/>
          </p:nvPr>
        </p:nvSpPr>
        <p:spPr>
          <a:xfrm>
            <a:off x="914400" y="6172200"/>
            <a:ext cx="3886200" cy="457200"/>
          </a:xfrm>
        </p:spPr>
        <p:txBody>
          <a:bodyPr/>
          <a:lstStyle/>
          <a:p>
            <a:endParaRPr lang="es-ES" dirty="0"/>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dirty="0"/>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dirty="0"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03/05/2016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03/05/2016</a:t>
            </a:fld>
            <a:endParaRPr lang="es-ES" dirty="0"/>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dirty="0"/>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gif"/><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jpeg"/></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72.gif"/></Relationships>
</file>

<file path=ppt/slides/_rels/slide4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3.xml.rels><?xml version="1.0" encoding="UTF-8" standalone="yes"?>
<Relationships xmlns="http://schemas.openxmlformats.org/package/2006/relationships"><Relationship Id="rId3" Type="http://schemas.openxmlformats.org/officeDocument/2006/relationships/image" Target="../media/image77.gif"/><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9.gif"/></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90.gif"/></Relationships>
</file>

<file path=ppt/slides/_rels/slide5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3.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92.png"/><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7.png"/><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96.png"/><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100.jpeg"/><Relationship Id="rId4" Type="http://schemas.openxmlformats.org/officeDocument/2006/relationships/image" Target="../media/image99.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5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11.gif"/><Relationship Id="rId4" Type="http://schemas.openxmlformats.org/officeDocument/2006/relationships/image" Target="../media/image110.png"/></Relationships>
</file>

<file path=ppt/slides/_rels/slide6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jpeg"/></Relationships>
</file>

<file path=ppt/slides/_rels/slide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27.gif"/><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23528" y="1628800"/>
            <a:ext cx="8352928" cy="1224136"/>
          </a:xfrm>
          <a:prstGeom prst="rect">
            <a:avLst/>
          </a:prstGeom>
        </p:spPr>
        <p:txBody>
          <a:bodyPr vert="horz" lIns="91440" tIns="45720" rIns="91440" bIns="45720" rtlCol="0" anchor="ctr">
            <a:normAutofit fontScale="85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7200" b="0" i="0" u="none" strike="noStrike" kern="1200" cap="none" spc="0" normalizeH="0" baseline="0" noProof="0" dirty="0" smtClean="0">
                <a:ln>
                  <a:noFill/>
                </a:ln>
                <a:solidFill>
                  <a:schemeClr val="bg1"/>
                </a:solidFill>
                <a:effectLst/>
                <a:uLnTx/>
                <a:uFillTx/>
                <a:latin typeface="+mj-lt"/>
                <a:ea typeface="+mj-ea"/>
                <a:cs typeface="+mj-cs"/>
              </a:rPr>
              <a:t>Regresión y correlación</a:t>
            </a:r>
            <a:endParaRPr kumimoji="0" lang="es-CR" sz="7200" b="0" i="0" u="none" strike="noStrike" kern="1200" cap="none" spc="0" normalizeH="0" baseline="0" noProof="0" dirty="0">
              <a:ln>
                <a:noFill/>
              </a:ln>
              <a:solidFill>
                <a:schemeClr val="bg1"/>
              </a:solidFill>
              <a:effectLst/>
              <a:uLnTx/>
              <a:uFillTx/>
              <a:latin typeface="+mj-lt"/>
              <a:ea typeface="+mj-ea"/>
              <a:cs typeface="+mj-cs"/>
            </a:endParaRPr>
          </a:p>
        </p:txBody>
      </p:sp>
      <p:sp>
        <p:nvSpPr>
          <p:cNvPr id="8" name="2 Subtítulo"/>
          <p:cNvSpPr txBox="1">
            <a:spLocks/>
          </p:cNvSpPr>
          <p:nvPr/>
        </p:nvSpPr>
        <p:spPr>
          <a:xfrm>
            <a:off x="3779912" y="5733256"/>
            <a:ext cx="4997152" cy="857256"/>
          </a:xfrm>
          <a:prstGeom prst="rect">
            <a:avLst/>
          </a:prstGeom>
        </p:spPr>
        <p:txBody>
          <a:bodyPr vert="horz" lIns="91440" tIns="45720" rIns="91440" bIns="45720" rtlCol="0">
            <a:noAutofit/>
          </a:bodyPr>
          <a:lstStyle/>
          <a:p>
            <a:pPr marL="342900" marR="0" lvl="0" indent="-342900" algn="r" defTabSz="914400" rtl="0" eaLnBrk="1" fontAlgn="auto" latinLnBrk="0" hangingPunct="1">
              <a:lnSpc>
                <a:spcPct val="100000"/>
              </a:lnSpc>
              <a:spcBef>
                <a:spcPct val="20000"/>
              </a:spcBef>
              <a:spcAft>
                <a:spcPts val="0"/>
              </a:spcAft>
              <a:buClrTx/>
              <a:buSzTx/>
              <a:tabLst/>
              <a:defRPr/>
            </a:pPr>
            <a:r>
              <a:rPr kumimoji="0" lang="es-CR" sz="3200" b="0" i="0" u="none" strike="noStrike" kern="1200" cap="none" spc="0" normalizeH="0" baseline="0" noProof="0" dirty="0" smtClean="0">
                <a:ln>
                  <a:noFill/>
                </a:ln>
                <a:solidFill>
                  <a:schemeClr val="tx1"/>
                </a:solidFill>
                <a:effectLst/>
                <a:uLnTx/>
                <a:uFillTx/>
                <a:latin typeface="+mn-lt"/>
                <a:ea typeface="+mn-ea"/>
                <a:cs typeface="+mn-cs"/>
              </a:rPr>
              <a:t> </a:t>
            </a:r>
            <a:r>
              <a:rPr kumimoji="0" lang="es-CR" sz="3200" b="1" u="none" strike="noStrike" kern="1200" cap="none" spc="0" normalizeH="0" baseline="0" noProof="0" dirty="0" smtClean="0">
                <a:ln>
                  <a:noFill/>
                </a:ln>
                <a:effectLst/>
                <a:uLnTx/>
                <a:uFillTx/>
                <a:latin typeface="+mn-lt"/>
                <a:ea typeface="+mn-ea"/>
                <a:cs typeface="+mn-cs"/>
              </a:rPr>
              <a:t>Oscar Centeno Mora</a:t>
            </a:r>
            <a:endParaRPr kumimoji="0" lang="es-CR" sz="3200" b="1" u="none" strike="noStrike" kern="1200" cap="none" spc="0" normalizeH="0" baseline="0" noProof="0" dirty="0">
              <a:ln>
                <a:noFill/>
              </a:ln>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title"/>
          </p:nvPr>
        </p:nvSpPr>
        <p:spPr>
          <a:xfrm>
            <a:off x="539552" y="44624"/>
            <a:ext cx="7772400" cy="724942"/>
          </a:xfrm>
        </p:spPr>
        <p:txBody>
          <a:bodyPr>
            <a:normAutofit fontScale="90000"/>
          </a:bodyPr>
          <a:lstStyle/>
          <a:p>
            <a:pPr algn="ctr"/>
            <a:r>
              <a:rPr lang="es-CR" dirty="0" smtClean="0"/>
              <a:t>Introducción</a:t>
            </a:r>
            <a:endParaRPr lang="es-CR" dirty="0"/>
          </a:p>
        </p:txBody>
      </p:sp>
      <p:sp>
        <p:nvSpPr>
          <p:cNvPr id="8" name="7 Marcador de contenido"/>
          <p:cNvSpPr>
            <a:spLocks noGrp="1"/>
          </p:cNvSpPr>
          <p:nvPr>
            <p:ph sz="quarter" idx="1"/>
          </p:nvPr>
        </p:nvSpPr>
        <p:spPr>
          <a:xfrm>
            <a:off x="251520" y="1052736"/>
            <a:ext cx="6120680" cy="5400600"/>
          </a:xfrm>
        </p:spPr>
        <p:txBody>
          <a:bodyPr>
            <a:noAutofit/>
          </a:bodyPr>
          <a:lstStyle/>
          <a:p>
            <a:pPr algn="just"/>
            <a:r>
              <a:rPr lang="es-CR" sz="2000" dirty="0" smtClean="0"/>
              <a:t>En los dos últimos capítulos se estudió la estimación y la prueba de hipótesis para hacer conjeturas sobre la población.</a:t>
            </a:r>
          </a:p>
          <a:p>
            <a:pPr algn="just"/>
            <a:endParaRPr lang="es-CR" sz="2000" dirty="0"/>
          </a:p>
          <a:p>
            <a:pPr algn="just"/>
            <a:r>
              <a:rPr lang="es-CR" sz="2000" dirty="0" smtClean="0"/>
              <a:t>El presente capítulo aplica técnicas para evaluar las relaciones entre dos variables. </a:t>
            </a:r>
          </a:p>
          <a:p>
            <a:pPr algn="just"/>
            <a:endParaRPr lang="es-CR" sz="2000" dirty="0"/>
          </a:p>
          <a:p>
            <a:pPr algn="just"/>
            <a:r>
              <a:rPr lang="es-CR" sz="2000" dirty="0" smtClean="0"/>
              <a:t>Se pretende estudiar la correlación y la regresión bivariada cómo técnicas para establecer relaciones entre dos variables cuantitativas. Para  ambos casos, es estudia para dos variables</a:t>
            </a:r>
          </a:p>
          <a:p>
            <a:pPr algn="just"/>
            <a:endParaRPr lang="es-CR" sz="2000" dirty="0" smtClean="0"/>
          </a:p>
          <a:p>
            <a:pPr algn="just"/>
            <a:r>
              <a:rPr lang="es-CR" sz="2000" dirty="0" smtClean="0"/>
              <a:t>A nivel de la regresión, se estudia la aplicación de intervalos de confianza y prueba de hipótesis para poder inferir los resultados a nivel población.</a:t>
            </a:r>
          </a:p>
          <a:p>
            <a:pPr algn="just"/>
            <a:endParaRPr lang="es-CR" sz="2000" dirty="0"/>
          </a:p>
          <a:p>
            <a:pPr algn="just"/>
            <a:r>
              <a:rPr lang="es-CR" sz="2000" dirty="0" smtClean="0"/>
              <a:t>Cualquier técnica siempre busca el poder inferir a nivel poblacional.</a:t>
            </a:r>
            <a:endParaRPr lang="es-CR" sz="2000" dirty="0"/>
          </a:p>
        </p:txBody>
      </p:sp>
      <p:pic>
        <p:nvPicPr>
          <p:cNvPr id="68610" name="Picture 2" descr="http://www.ellenfinkelstein.com/pptblog/wp-content/uploads/2011/the-beginning-road-sign.jpg"/>
          <p:cNvPicPr>
            <a:picLocks noChangeAspect="1" noChangeArrowheads="1"/>
          </p:cNvPicPr>
          <p:nvPr/>
        </p:nvPicPr>
        <p:blipFill rotWithShape="1">
          <a:blip r:embed="rId2">
            <a:extLst>
              <a:ext uri="{28A0092B-C50C-407E-A947-70E740481C1C}">
                <a14:useLocalDpi xmlns:a14="http://schemas.microsoft.com/office/drawing/2010/main" val="0"/>
              </a:ext>
            </a:extLst>
          </a:blip>
          <a:srcRect l="6662" t="11256" r="4427"/>
          <a:stretch/>
        </p:blipFill>
        <p:spPr bwMode="auto">
          <a:xfrm>
            <a:off x="6602130" y="1052736"/>
            <a:ext cx="2395987" cy="1944216"/>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www.careerealism.com/wp-content/uploads/2012/02/Cover-Letter-Introduction-Goals-Featured.png"/>
          <p:cNvPicPr>
            <a:picLocks noChangeAspect="1" noChangeArrowheads="1"/>
          </p:cNvPicPr>
          <p:nvPr/>
        </p:nvPicPr>
        <p:blipFill rotWithShape="1">
          <a:blip r:embed="rId3">
            <a:extLst>
              <a:ext uri="{28A0092B-C50C-407E-A947-70E740481C1C}">
                <a14:useLocalDpi xmlns:a14="http://schemas.microsoft.com/office/drawing/2010/main" val="0"/>
              </a:ext>
            </a:extLst>
          </a:blip>
          <a:srcRect l="16655" r="9919" b="3692"/>
          <a:stretch/>
        </p:blipFill>
        <p:spPr bwMode="auto">
          <a:xfrm>
            <a:off x="6602130" y="4293096"/>
            <a:ext cx="2324090" cy="1524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82274"/>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Elipse"/>
          <p:cNvSpPr/>
          <p:nvPr/>
        </p:nvSpPr>
        <p:spPr>
          <a:xfrm>
            <a:off x="4211960"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
        <p:nvSpPr>
          <p:cNvPr id="17" name="16 Rectángulo"/>
          <p:cNvSpPr/>
          <p:nvPr/>
        </p:nvSpPr>
        <p:spPr>
          <a:xfrm>
            <a:off x="5724128"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Inferencia Estadística</a:t>
            </a:r>
            <a:endParaRPr lang="es-CR"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323528" y="58614"/>
            <a:ext cx="8640960" cy="706090"/>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7" name="6 Marcador de contenido"/>
          <p:cNvSpPr>
            <a:spLocks noGrp="1"/>
          </p:cNvSpPr>
          <p:nvPr>
            <p:ph sz="quarter" idx="1"/>
          </p:nvPr>
        </p:nvSpPr>
        <p:spPr>
          <a:xfrm>
            <a:off x="179512" y="1124744"/>
            <a:ext cx="6120680" cy="5472608"/>
          </a:xfrm>
        </p:spPr>
        <p:txBody>
          <a:bodyPr>
            <a:normAutofit/>
          </a:bodyPr>
          <a:lstStyle/>
          <a:p>
            <a:pPr algn="just"/>
            <a:r>
              <a:rPr lang="es-CR" sz="2000" dirty="0" smtClean="0"/>
              <a:t>Los análisis de la regresión y la correlación se deben de plantear ante todo como una cuestión conceptual.</a:t>
            </a:r>
          </a:p>
          <a:p>
            <a:pPr algn="just"/>
            <a:endParaRPr lang="es-CR" sz="2000" dirty="0"/>
          </a:p>
          <a:p>
            <a:pPr algn="just"/>
            <a:r>
              <a:rPr lang="es-CR" sz="2000" dirty="0" smtClean="0"/>
              <a:t>En el análisis de datos se quiere saber si existe o no relación entre dos variables: relación entre el peso y la estatura o relación entre la edad y las veces que se asiste al hospital.</a:t>
            </a:r>
          </a:p>
          <a:p>
            <a:pPr algn="just"/>
            <a:endParaRPr lang="es-CR" sz="2000" dirty="0"/>
          </a:p>
          <a:p>
            <a:pPr algn="just"/>
            <a:r>
              <a:rPr lang="es-CR" sz="2000" dirty="0" smtClean="0"/>
              <a:t>Por otra parte, a veces se quiere saber cuál es o son los factores que podrían explicar cierto acontecimiento: las horas de estudio son refleja de los altos o bajos puntajes en las calificaciones, las horas de ejercicio por semana sobre el porcentaje de grasa corporal, etc.</a:t>
            </a:r>
          </a:p>
          <a:p>
            <a:pPr algn="just"/>
            <a:endParaRPr lang="es-CR" sz="2000" dirty="0" smtClean="0"/>
          </a:p>
          <a:p>
            <a:pPr algn="just"/>
            <a:r>
              <a:rPr lang="es-CR" sz="2000" dirty="0" smtClean="0"/>
              <a:t>De lo anterior, es importante saber qué es lo que se quiere en término de análisis de datos.</a:t>
            </a:r>
          </a:p>
          <a:p>
            <a:pPr algn="just"/>
            <a:endParaRPr lang="es-CR" sz="2000" dirty="0" smtClean="0"/>
          </a:p>
          <a:p>
            <a:pPr algn="just"/>
            <a:endParaRPr lang="es-CR" sz="2000" dirty="0"/>
          </a:p>
          <a:p>
            <a:pPr algn="just"/>
            <a:endParaRPr lang="es-CR" sz="2000" dirty="0"/>
          </a:p>
        </p:txBody>
      </p:sp>
      <p:pic>
        <p:nvPicPr>
          <p:cNvPr id="69636" name="Picture 4" descr="http://definicion.de/wp-content/uploads/2008/11/mapaconceptu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545" y="1340768"/>
            <a:ext cx="1872208" cy="1800225"/>
          </a:xfrm>
          <a:prstGeom prst="rect">
            <a:avLst/>
          </a:prstGeom>
          <a:noFill/>
          <a:extLst>
            <a:ext uri="{909E8E84-426E-40DD-AFC4-6F175D3DCCD1}">
              <a14:hiddenFill xmlns:a14="http://schemas.microsoft.com/office/drawing/2010/main">
                <a:solidFill>
                  <a:srgbClr val="FFFFFF"/>
                </a:solidFill>
              </a14:hiddenFill>
            </a:ext>
          </a:extLst>
        </p:spPr>
      </p:pic>
      <p:pic>
        <p:nvPicPr>
          <p:cNvPr id="69642" name="Picture 10" descr="http://p1.pkcdn.com/concepto-de-liderazgo-conceptual_551194.jpg"/>
          <p:cNvPicPr>
            <a:picLocks noChangeAspect="1" noChangeArrowheads="1"/>
          </p:cNvPicPr>
          <p:nvPr/>
        </p:nvPicPr>
        <p:blipFill rotWithShape="1">
          <a:blip r:embed="rId3">
            <a:extLst>
              <a:ext uri="{28A0092B-C50C-407E-A947-70E740481C1C}">
                <a14:useLocalDpi xmlns:a14="http://schemas.microsoft.com/office/drawing/2010/main" val="0"/>
              </a:ext>
            </a:extLst>
          </a:blip>
          <a:srcRect l="15103" t="7583" r="17883" b="9855"/>
          <a:stretch/>
        </p:blipFill>
        <p:spPr bwMode="auto">
          <a:xfrm>
            <a:off x="6582275" y="3772983"/>
            <a:ext cx="2270747" cy="2185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3614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25760"/>
            <a:ext cx="7772400" cy="638944"/>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3" name="2 Marcador de texto"/>
          <p:cNvSpPr>
            <a:spLocks noGrp="1"/>
          </p:cNvSpPr>
          <p:nvPr>
            <p:ph type="body" idx="1"/>
          </p:nvPr>
        </p:nvSpPr>
        <p:spPr>
          <a:xfrm>
            <a:off x="251520" y="1057672"/>
            <a:ext cx="4320480" cy="508992"/>
          </a:xfrm>
        </p:spPr>
        <p:txBody>
          <a:bodyPr/>
          <a:lstStyle/>
          <a:p>
            <a:pPr algn="ctr"/>
            <a:r>
              <a:rPr lang="es-CR" dirty="0" smtClean="0"/>
              <a:t>Relación simétrica: correlación</a:t>
            </a:r>
            <a:endParaRPr lang="es-CR" dirty="0"/>
          </a:p>
        </p:txBody>
      </p:sp>
      <p:sp>
        <p:nvSpPr>
          <p:cNvPr id="4" name="3 Marcador de texto"/>
          <p:cNvSpPr>
            <a:spLocks noGrp="1"/>
          </p:cNvSpPr>
          <p:nvPr>
            <p:ph type="body" sz="half" idx="3"/>
          </p:nvPr>
        </p:nvSpPr>
        <p:spPr>
          <a:xfrm>
            <a:off x="4788024" y="1052736"/>
            <a:ext cx="4176464" cy="508992"/>
          </a:xfrm>
        </p:spPr>
        <p:txBody>
          <a:bodyPr/>
          <a:lstStyle/>
          <a:p>
            <a:pPr algn="ctr"/>
            <a:r>
              <a:rPr lang="es-CR" dirty="0" smtClean="0"/>
              <a:t>Relación asimétrica: regresión</a:t>
            </a:r>
            <a:endParaRPr lang="es-CR" dirty="0"/>
          </a:p>
        </p:txBody>
      </p:sp>
      <p:sp>
        <p:nvSpPr>
          <p:cNvPr id="5" name="4 Marcador de contenido"/>
          <p:cNvSpPr>
            <a:spLocks noGrp="1"/>
          </p:cNvSpPr>
          <p:nvPr>
            <p:ph sz="half" idx="2"/>
          </p:nvPr>
        </p:nvSpPr>
        <p:spPr>
          <a:xfrm>
            <a:off x="334144" y="1844824"/>
            <a:ext cx="3733800" cy="3269332"/>
          </a:xfrm>
        </p:spPr>
        <p:txBody>
          <a:bodyPr>
            <a:normAutofit/>
          </a:bodyPr>
          <a:lstStyle/>
          <a:p>
            <a:pPr algn="just"/>
            <a:r>
              <a:rPr lang="es-CR" sz="1800" dirty="0" smtClean="0"/>
              <a:t>Supone la relación entre dos variables de igual importancia.</a:t>
            </a:r>
          </a:p>
          <a:p>
            <a:pPr algn="just"/>
            <a:endParaRPr lang="es-CR" sz="1800" dirty="0"/>
          </a:p>
          <a:p>
            <a:pPr algn="just"/>
            <a:r>
              <a:rPr lang="es-CR" sz="1800" dirty="0" smtClean="0"/>
              <a:t>También conocido como correlación, y más generalmente como asociación.</a:t>
            </a:r>
          </a:p>
          <a:p>
            <a:pPr algn="just"/>
            <a:endParaRPr lang="es-CR" sz="1800" dirty="0"/>
          </a:p>
          <a:p>
            <a:pPr algn="just"/>
            <a:r>
              <a:rPr lang="es-CR" sz="1800" dirty="0" smtClean="0"/>
              <a:t>No se busca una explicación alguna. Solo conocer en que medida existe un asociación entre las variables.</a:t>
            </a:r>
            <a:endParaRPr lang="es-CR" sz="1800" dirty="0"/>
          </a:p>
        </p:txBody>
      </p:sp>
      <p:sp>
        <p:nvSpPr>
          <p:cNvPr id="6" name="5 Marcador de contenido"/>
          <p:cNvSpPr>
            <a:spLocks noGrp="1"/>
          </p:cNvSpPr>
          <p:nvPr>
            <p:ph sz="half" idx="4"/>
          </p:nvPr>
        </p:nvSpPr>
        <p:spPr>
          <a:xfrm>
            <a:off x="4860032" y="1844824"/>
            <a:ext cx="3733800" cy="3022104"/>
          </a:xfrm>
        </p:spPr>
        <p:txBody>
          <a:bodyPr/>
          <a:lstStyle/>
          <a:p>
            <a:pPr algn="just"/>
            <a:r>
              <a:rPr lang="es-CR" sz="1800" dirty="0" smtClean="0"/>
              <a:t>Supone una relación de diferente importancia entre las variables</a:t>
            </a:r>
          </a:p>
          <a:p>
            <a:pPr algn="just"/>
            <a:endParaRPr lang="es-CR" sz="1800" dirty="0"/>
          </a:p>
          <a:p>
            <a:pPr algn="just"/>
            <a:r>
              <a:rPr lang="es-CR" sz="1800" dirty="0" smtClean="0"/>
              <a:t>Una variable trata de explicar a la otra, y esta explicación se suele expresar mediante una función matemática.</a:t>
            </a:r>
          </a:p>
          <a:p>
            <a:pPr algn="just"/>
            <a:endParaRPr lang="es-CR" sz="1800" dirty="0" smtClean="0"/>
          </a:p>
          <a:p>
            <a:pPr algn="just"/>
            <a:r>
              <a:rPr lang="es-CR" sz="1800" dirty="0" smtClean="0"/>
              <a:t>La relación de asimetría se busca determinar una relación de causalidad.</a:t>
            </a:r>
            <a:endParaRPr lang="es-CR" sz="1800" dirty="0"/>
          </a:p>
        </p:txBody>
      </p:sp>
      <p:sp>
        <p:nvSpPr>
          <p:cNvPr id="7" name="6 CuadroTexto"/>
          <p:cNvSpPr txBox="1"/>
          <p:nvPr/>
        </p:nvSpPr>
        <p:spPr>
          <a:xfrm>
            <a:off x="683568" y="5445224"/>
            <a:ext cx="432048"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Y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9" name="8 CuadroTexto"/>
          <p:cNvSpPr txBox="1"/>
          <p:nvPr/>
        </p:nvSpPr>
        <p:spPr>
          <a:xfrm>
            <a:off x="2771800" y="5445224"/>
            <a:ext cx="1080120"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X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10" name="9 CuadroTexto"/>
          <p:cNvSpPr txBox="1"/>
          <p:nvPr/>
        </p:nvSpPr>
        <p:spPr>
          <a:xfrm>
            <a:off x="5436096" y="5445224"/>
            <a:ext cx="432048"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Y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sp>
        <p:nvSpPr>
          <p:cNvPr id="11" name="10 CuadroTexto"/>
          <p:cNvSpPr txBox="1"/>
          <p:nvPr/>
        </p:nvSpPr>
        <p:spPr>
          <a:xfrm>
            <a:off x="7524328" y="5445224"/>
            <a:ext cx="1080120" cy="584775"/>
          </a:xfrm>
          <a:prstGeom prst="rect">
            <a:avLst/>
          </a:prstGeom>
          <a:noFill/>
        </p:spPr>
        <p:txBody>
          <a:bodyPr wrap="square" rtlCol="0">
            <a:spAutoFit/>
          </a:bodyPr>
          <a:lstStyle/>
          <a:p>
            <a:pPr algn="ctr"/>
            <a:r>
              <a:rPr lang="es-CR" sz="3200" dirty="0" smtClean="0">
                <a:effectLst>
                  <a:glow rad="228600">
                    <a:schemeClr val="accent5">
                      <a:satMod val="175000"/>
                      <a:alpha val="40000"/>
                    </a:schemeClr>
                  </a:glow>
                </a:effectLst>
              </a:rPr>
              <a:t>X </a:t>
            </a:r>
            <a:r>
              <a:rPr lang="es-CR" dirty="0" smtClean="0">
                <a:effectLst>
                  <a:glow rad="228600">
                    <a:schemeClr val="accent5">
                      <a:satMod val="175000"/>
                      <a:alpha val="40000"/>
                    </a:schemeClr>
                  </a:glow>
                </a:effectLst>
              </a:rPr>
              <a:t>     </a:t>
            </a:r>
            <a:endParaRPr lang="es-CR" dirty="0">
              <a:effectLst>
                <a:glow rad="228600">
                  <a:schemeClr val="accent5">
                    <a:satMod val="175000"/>
                    <a:alpha val="40000"/>
                  </a:schemeClr>
                </a:glow>
              </a:effectLst>
            </a:endParaRPr>
          </a:p>
        </p:txBody>
      </p:sp>
      <p:cxnSp>
        <p:nvCxnSpPr>
          <p:cNvPr id="13" name="12 Conector recto de flecha"/>
          <p:cNvCxnSpPr/>
          <p:nvPr/>
        </p:nvCxnSpPr>
        <p:spPr>
          <a:xfrm>
            <a:off x="1259632" y="5589240"/>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 name="14 Conector recto de flecha"/>
          <p:cNvCxnSpPr/>
          <p:nvPr/>
        </p:nvCxnSpPr>
        <p:spPr>
          <a:xfrm flipH="1">
            <a:off x="1259632" y="5877272"/>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17 Conector recto de flecha"/>
          <p:cNvCxnSpPr/>
          <p:nvPr/>
        </p:nvCxnSpPr>
        <p:spPr>
          <a:xfrm>
            <a:off x="6084168" y="5741640"/>
            <a:ext cx="158417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761114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1447800"/>
            <a:ext cx="8219256" cy="3565376"/>
          </a:xfrm>
        </p:spPr>
        <p:txBody>
          <a:bodyPr>
            <a:normAutofit/>
          </a:bodyPr>
          <a:lstStyle/>
          <a:p>
            <a:pPr marL="0" indent="0" algn="ctr">
              <a:buNone/>
            </a:pPr>
            <a:r>
              <a:rPr lang="es-CR" sz="6600" dirty="0" smtClean="0"/>
              <a:t>¿Cuál es la diferencia entre una asociación y una correlación?</a:t>
            </a:r>
            <a:endParaRPr lang="es-CR" sz="6600" dirty="0"/>
          </a:p>
        </p:txBody>
      </p:sp>
      <p:sp>
        <p:nvSpPr>
          <p:cNvPr id="4" name="1 Título"/>
          <p:cNvSpPr>
            <a:spLocks noGrp="1"/>
          </p:cNvSpPr>
          <p:nvPr>
            <p:ph type="title"/>
          </p:nvPr>
        </p:nvSpPr>
        <p:spPr>
          <a:xfrm>
            <a:off x="683568" y="125760"/>
            <a:ext cx="7772400" cy="638944"/>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2" name="AutoShape 2" descr="Résultat de recherche d'images pour &quot;thinking&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0660" name="Picture 4" descr="http://elescolar.com.uy/wp-content/uploads/2015/07/PENSAND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8260" t="4578" r="20014" b="5024"/>
          <a:stretch/>
        </p:blipFill>
        <p:spPr bwMode="auto">
          <a:xfrm>
            <a:off x="539552" y="4005064"/>
            <a:ext cx="1737046" cy="2276806"/>
          </a:xfrm>
          <a:prstGeom prst="rect">
            <a:avLst/>
          </a:prstGeom>
          <a:noFill/>
          <a:extLst>
            <a:ext uri="{909E8E84-426E-40DD-AFC4-6F175D3DCCD1}">
              <a14:hiddenFill xmlns:a14="http://schemas.microsoft.com/office/drawing/2010/main">
                <a:solidFill>
                  <a:srgbClr val="FFFFFF"/>
                </a:solidFill>
              </a14:hiddenFill>
            </a:ext>
          </a:extLst>
        </p:spPr>
      </p:pic>
      <p:pic>
        <p:nvPicPr>
          <p:cNvPr id="70662" name="Picture 6" descr="http://images.clipartpanda.com/thinking-clipart-KingzdE5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3789040"/>
            <a:ext cx="1815474"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2166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a:spLocks noGrp="1"/>
          </p:cNvSpPr>
          <p:nvPr>
            <p:ph type="title"/>
          </p:nvPr>
        </p:nvSpPr>
        <p:spPr>
          <a:xfrm>
            <a:off x="611560" y="188640"/>
            <a:ext cx="7772400" cy="724942"/>
          </a:xfrm>
        </p:spPr>
        <p:txBody>
          <a:bodyPr>
            <a:normAutofit/>
          </a:bodyPr>
          <a:lstStyle/>
          <a:p>
            <a:pPr algn="ctr"/>
            <a:r>
              <a:rPr lang="es-CR" sz="2800" dirty="0" smtClean="0"/>
              <a:t>Relaciones</a:t>
            </a:r>
            <a:r>
              <a:rPr lang="es-CR" sz="3200" dirty="0" smtClean="0"/>
              <a:t>: simétrica vs asimétrica</a:t>
            </a:r>
            <a:endParaRPr lang="es-CR" sz="3200" dirty="0"/>
          </a:p>
        </p:txBody>
      </p:sp>
      <p:sp>
        <p:nvSpPr>
          <p:cNvPr id="2" name="1 Marcador de contenido"/>
          <p:cNvSpPr>
            <a:spLocks noGrp="1"/>
          </p:cNvSpPr>
          <p:nvPr>
            <p:ph sz="quarter" idx="1"/>
          </p:nvPr>
        </p:nvSpPr>
        <p:spPr>
          <a:xfrm>
            <a:off x="395536" y="1340768"/>
            <a:ext cx="5904656" cy="5184576"/>
          </a:xfrm>
        </p:spPr>
        <p:txBody>
          <a:bodyPr>
            <a:normAutofit/>
          </a:bodyPr>
          <a:lstStyle/>
          <a:p>
            <a:pPr algn="just"/>
            <a:r>
              <a:rPr lang="es-CR" sz="2000" dirty="0" smtClean="0"/>
              <a:t>Se estudia primero la relación simétrica entre las variables, dígase también como la correlación.</a:t>
            </a:r>
          </a:p>
          <a:p>
            <a:pPr algn="just"/>
            <a:endParaRPr lang="es-CR" sz="2000" dirty="0"/>
          </a:p>
          <a:p>
            <a:pPr algn="just"/>
            <a:r>
              <a:rPr lang="es-CR" sz="2000" dirty="0" smtClean="0"/>
              <a:t>Seguido, se analiza la relación asimétrica entre las variables, denominada también cómo la regresión.</a:t>
            </a:r>
          </a:p>
          <a:p>
            <a:pPr algn="just"/>
            <a:endParaRPr lang="es-CR" sz="2000" dirty="0"/>
          </a:p>
          <a:p>
            <a:pPr algn="just"/>
            <a:r>
              <a:rPr lang="es-CR" sz="2000" dirty="0" smtClean="0"/>
              <a:t>Ningún de los dos anteriores busca competir a la hora de analizar datos. No son técnicas complementarias, dado que el análisis de correlación ayuda a la regresión en muchos análisis de soporte.</a:t>
            </a:r>
            <a:endParaRPr lang="es-CR" sz="2000" dirty="0"/>
          </a:p>
        </p:txBody>
      </p:sp>
      <p:pic>
        <p:nvPicPr>
          <p:cNvPr id="71682" name="Picture 2" descr="http://letsgrowleaders.com/wp-content/uploads/2013/04/iStock_000013038272XSma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4725144"/>
            <a:ext cx="3810000"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1684" name="Picture 4" descr="http://hosting.soonet.ca/eliris/remotesensing/LectureImages/correlation.gif"/>
          <p:cNvPicPr>
            <a:picLocks noChangeAspect="1" noChangeArrowheads="1"/>
          </p:cNvPicPr>
          <p:nvPr/>
        </p:nvPicPr>
        <p:blipFill rotWithShape="1">
          <a:blip r:embed="rId3">
            <a:extLst>
              <a:ext uri="{28A0092B-C50C-407E-A947-70E740481C1C}">
                <a14:useLocalDpi xmlns:a14="http://schemas.microsoft.com/office/drawing/2010/main" val="0"/>
              </a:ext>
            </a:extLst>
          </a:blip>
          <a:srcRect l="5940" r="5627" b="2709"/>
          <a:stretch/>
        </p:blipFill>
        <p:spPr bwMode="auto">
          <a:xfrm>
            <a:off x="6565521" y="1484734"/>
            <a:ext cx="2193149"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562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340768"/>
            <a:ext cx="6048672" cy="5256584"/>
          </a:xfrm>
        </p:spPr>
        <p:txBody>
          <a:bodyPr>
            <a:normAutofit/>
          </a:bodyPr>
          <a:lstStyle/>
          <a:p>
            <a:pPr algn="just"/>
            <a:r>
              <a:rPr lang="es-CR" sz="2200" dirty="0" smtClean="0"/>
              <a:t>El análisis de correlación indica si dos variables están relacionadas o no.</a:t>
            </a:r>
          </a:p>
          <a:p>
            <a:pPr algn="just"/>
            <a:endParaRPr lang="es-CR" sz="2200" dirty="0"/>
          </a:p>
          <a:p>
            <a:pPr algn="just"/>
            <a:r>
              <a:rPr lang="es-CR" sz="2200" dirty="0" smtClean="0"/>
              <a:t>Por ejemplo la relación entre la edad y el aumento de salario, la edad y la producción de estrógenos,  etc.</a:t>
            </a:r>
          </a:p>
          <a:p>
            <a:pPr algn="just"/>
            <a:endParaRPr lang="es-CR" sz="2200" dirty="0" smtClean="0"/>
          </a:p>
          <a:p>
            <a:pPr algn="just"/>
            <a:r>
              <a:rPr lang="es-CR" sz="2200" dirty="0"/>
              <a:t>Si el cambio en una variable está acompañado de un cambio en la otra, entonces se dice que las variables están </a:t>
            </a:r>
            <a:r>
              <a:rPr lang="es-CR" sz="2200" dirty="0" smtClean="0"/>
              <a:t>correlacionadas.</a:t>
            </a:r>
          </a:p>
          <a:p>
            <a:pPr algn="just"/>
            <a:endParaRPr lang="es-CR" sz="2200" dirty="0"/>
          </a:p>
          <a:p>
            <a:pPr algn="just"/>
            <a:r>
              <a:rPr lang="es-CR" sz="2200" dirty="0" smtClean="0"/>
              <a:t>Al hablar de correlación, partimos de variables que son únicamente cuantitativas.</a:t>
            </a:r>
            <a:endParaRPr lang="es-CR" sz="2200" dirty="0"/>
          </a:p>
        </p:txBody>
      </p:sp>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pic>
        <p:nvPicPr>
          <p:cNvPr id="72708" name="Picture 4" descr="http://www.themerlyngroup.com/wp-content/uploads/2013/03/breaking-barriers-300x2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511" y="4293096"/>
            <a:ext cx="2400266" cy="2160240"/>
          </a:xfrm>
          <a:prstGeom prst="rect">
            <a:avLst/>
          </a:prstGeom>
          <a:noFill/>
          <a:extLst>
            <a:ext uri="{909E8E84-426E-40DD-AFC4-6F175D3DCCD1}">
              <a14:hiddenFill xmlns:a14="http://schemas.microsoft.com/office/drawing/2010/main">
                <a:solidFill>
                  <a:srgbClr val="FFFFFF"/>
                </a:solidFill>
              </a14:hiddenFill>
            </a:ext>
          </a:extLst>
        </p:spPr>
      </p:pic>
      <p:pic>
        <p:nvPicPr>
          <p:cNvPr id="72710" name="Picture 6" descr="http://analyticstraining.com/wp-content/uploads/2014/05/Popular-Applications-of-Linear-Regression-for-Business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520" y="1124744"/>
            <a:ext cx="2322257"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5123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980728"/>
                <a:ext cx="6192688" cy="5616624"/>
              </a:xfrm>
            </p:spPr>
            <p:txBody>
              <a:bodyPr>
                <a:normAutofit/>
              </a:bodyPr>
              <a:lstStyle/>
              <a:p>
                <a:pPr algn="just"/>
                <a:r>
                  <a:rPr lang="es-CR" sz="2400" dirty="0" smtClean="0"/>
                  <a:t>La correlación puede decir algo acerca de la relación entre las variables. </a:t>
                </a:r>
                <a:r>
                  <a:rPr lang="es-CR" sz="2400" dirty="0"/>
                  <a:t>Se utiliza para entender</a:t>
                </a:r>
                <a:r>
                  <a:rPr lang="es-CR" sz="2400" dirty="0" smtClean="0"/>
                  <a:t>:</a:t>
                </a:r>
              </a:p>
              <a:p>
                <a:pPr marL="514350" indent="-514350" algn="just">
                  <a:buAutoNum type="arabicPeriod"/>
                </a:pPr>
                <a:r>
                  <a:rPr lang="es-CR" sz="2400" dirty="0" smtClean="0"/>
                  <a:t>Relación es positiva o negativa</a:t>
                </a:r>
              </a:p>
              <a:p>
                <a:pPr marL="514350" indent="-514350" algn="just">
                  <a:buAutoNum type="arabicPeriod"/>
                </a:pPr>
                <a:r>
                  <a:rPr lang="es-CR" sz="2400" dirty="0" smtClean="0"/>
                  <a:t>La fuerza de la relación</a:t>
                </a:r>
              </a:p>
              <a:p>
                <a:pPr marL="514350" indent="-514350" algn="just">
                  <a:buAutoNum type="arabicPeriod"/>
                </a:pPr>
                <a:endParaRPr lang="es-CR" sz="2400" dirty="0"/>
              </a:p>
              <a:p>
                <a:pPr algn="just"/>
                <a:r>
                  <a:rPr lang="es-CR" sz="2400" dirty="0" smtClean="0"/>
                  <a:t>En el análisis de datos, sobre todo en el análisis entre las variables cuantitativas, </a:t>
                </a:r>
                <a:r>
                  <a:rPr lang="es-CR" sz="2400" dirty="0"/>
                  <a:t>l</a:t>
                </a:r>
                <a:r>
                  <a:rPr lang="es-CR" sz="2400" dirty="0" smtClean="0"/>
                  <a:t>a </a:t>
                </a:r>
                <a:r>
                  <a:rPr lang="es-CR" sz="2400" dirty="0"/>
                  <a:t>correlación es una herramienta poderosa que brinda piezas vitales de información</a:t>
                </a:r>
                <a:r>
                  <a:rPr lang="es-CR" sz="2400" dirty="0" smtClean="0"/>
                  <a:t>.</a:t>
                </a:r>
              </a:p>
              <a:p>
                <a:pPr algn="just"/>
                <a:endParaRPr lang="es-CR" sz="2400" dirty="0" smtClean="0"/>
              </a:p>
              <a:p>
                <a:pPr algn="just"/>
                <a:r>
                  <a:rPr lang="es-CR" sz="2400" dirty="0" smtClean="0"/>
                  <a:t>Para medir la correlación, se suele utilizar el estadístico de rho, representado por la letra griega </a:t>
                </a:r>
                <a14:m>
                  <m:oMath xmlns:m="http://schemas.openxmlformats.org/officeDocument/2006/math">
                    <m:r>
                      <a:rPr lang="es-CR" sz="2400" b="1" i="1" smtClean="0">
                        <a:latin typeface="Cambria Math"/>
                        <a:ea typeface="Cambria Math"/>
                      </a:rPr>
                      <m:t>𝝆</m:t>
                    </m:r>
                    <m:r>
                      <a:rPr lang="es-CR" sz="2400" b="0" i="0" smtClean="0">
                        <a:latin typeface="Cambria Math"/>
                        <a:ea typeface="Cambria Math"/>
                      </a:rPr>
                      <m:t>,</m:t>
                    </m:r>
                  </m:oMath>
                </a14:m>
                <a:r>
                  <a:rPr lang="es-CR" sz="2400" dirty="0" smtClean="0"/>
                  <a:t> siendo este el parámetro y </a:t>
                </a:r>
                <a14:m>
                  <m:oMath xmlns:m="http://schemas.openxmlformats.org/officeDocument/2006/math">
                    <m:r>
                      <a:rPr lang="es-CR" sz="2400" b="1" i="1" smtClean="0">
                        <a:latin typeface="Cambria Math"/>
                      </a:rPr>
                      <m:t>𝒓</m:t>
                    </m:r>
                  </m:oMath>
                </a14:m>
                <a:r>
                  <a:rPr lang="es-CR" sz="2400" dirty="0" smtClean="0"/>
                  <a:t> el estimador.</a:t>
                </a:r>
                <a:endParaRPr lang="es-CR" sz="2400" dirty="0"/>
              </a:p>
              <a:p>
                <a:pPr marL="0" indent="0">
                  <a:buNone/>
                </a:pPr>
                <a:endParaRPr lang="es-CR" sz="2400" dirty="0" smtClean="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980728"/>
                <a:ext cx="6192688" cy="5616624"/>
              </a:xfrm>
              <a:blipFill rotWithShape="1">
                <a:blip r:embed="rId2"/>
                <a:stretch>
                  <a:fillRect l="-886" t="-869" r="-1575"/>
                </a:stretch>
              </a:blipFill>
            </p:spPr>
            <p:txBody>
              <a:bodyPr/>
              <a:lstStyle/>
              <a:p>
                <a:r>
                  <a:rPr lang="es-CR">
                    <a:noFill/>
                  </a:rPr>
                  <a:t> </a:t>
                </a:r>
              </a:p>
            </p:txBody>
          </p:sp>
        </mc:Fallback>
      </mc:AlternateContent>
      <p:sp>
        <p:nvSpPr>
          <p:cNvPr id="4" name="6 Título"/>
          <p:cNvSpPr>
            <a:spLocks noGrp="1"/>
          </p:cNvSpPr>
          <p:nvPr>
            <p:ph type="title"/>
          </p:nvPr>
        </p:nvSpPr>
        <p:spPr>
          <a:xfrm>
            <a:off x="539552" y="44624"/>
            <a:ext cx="7772400" cy="796950"/>
          </a:xfrm>
        </p:spPr>
        <p:txBody>
          <a:bodyPr>
            <a:normAutofit/>
          </a:bodyPr>
          <a:lstStyle/>
          <a:p>
            <a:pPr algn="ctr"/>
            <a:r>
              <a:rPr lang="es-CR" sz="3600" dirty="0" smtClean="0"/>
              <a:t>Análisis de correlación</a:t>
            </a:r>
            <a:endParaRPr lang="es-CR" sz="3600" dirty="0"/>
          </a:p>
        </p:txBody>
      </p:sp>
      <p:pic>
        <p:nvPicPr>
          <p:cNvPr id="73730" name="Picture 2" descr="http://www.ialg.fr/sites/default/files/e-learning.png"/>
          <p:cNvPicPr>
            <a:picLocks noChangeAspect="1" noChangeArrowheads="1"/>
          </p:cNvPicPr>
          <p:nvPr/>
        </p:nvPicPr>
        <p:blipFill rotWithShape="1">
          <a:blip r:embed="rId3">
            <a:extLst>
              <a:ext uri="{28A0092B-C50C-407E-A947-70E740481C1C}">
                <a14:useLocalDpi xmlns:a14="http://schemas.microsoft.com/office/drawing/2010/main" val="0"/>
              </a:ext>
            </a:extLst>
          </a:blip>
          <a:srcRect l="9793" t="9631" r="10317" b="7520"/>
          <a:stretch/>
        </p:blipFill>
        <p:spPr bwMode="auto">
          <a:xfrm>
            <a:off x="6732241" y="1268760"/>
            <a:ext cx="222196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73732" name="Picture 4" descr="http://upload.wikimedia.org/wikipedia/commons/e/e1/RHO_(capital_and_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172" y="3573016"/>
            <a:ext cx="1905007"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464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1268760"/>
                <a:ext cx="7560840" cy="5472608"/>
              </a:xfrm>
            </p:spPr>
            <p:txBody>
              <a:bodyPr>
                <a:normAutofit/>
              </a:bodyPr>
              <a:lstStyle/>
              <a:p>
                <a:pPr algn="just"/>
                <a:r>
                  <a:rPr lang="es-CR" sz="2200" dirty="0" smtClean="0"/>
                  <a:t>Para obtener la correlación estadística debemos de calcular el estadístico de rho,  conocido también como la correlación de Pearson.</a:t>
                </a:r>
              </a:p>
              <a:p>
                <a:pPr algn="just"/>
                <a:endParaRPr lang="es-CR" sz="2200" dirty="0"/>
              </a:p>
              <a:p>
                <a:pPr algn="just"/>
                <a:r>
                  <a:rPr lang="es-CR" sz="2200" dirty="0" smtClean="0"/>
                  <a:t>La fórmula es la siguiente: </a:t>
                </a:r>
              </a:p>
              <a:p>
                <a:pPr algn="just"/>
                <a:endParaRPr lang="es-CR" sz="2200" dirty="0" smtClean="0"/>
              </a:p>
              <a:p>
                <a:pPr marL="0" indent="0" algn="just">
                  <a:buNone/>
                </a:pPr>
                <a14:m>
                  <m:oMathPara xmlns:m="http://schemas.openxmlformats.org/officeDocument/2006/math">
                    <m:oMathParaPr>
                      <m:jc m:val="left"/>
                    </m:oMathParaPr>
                    <m:oMath xmlns:m="http://schemas.openxmlformats.org/officeDocument/2006/math">
                      <m:r>
                        <a:rPr lang="es-CR" sz="2200" i="1">
                          <a:latin typeface="Cambria Math"/>
                        </a:rPr>
                        <m:t>𝑟</m:t>
                      </m:r>
                      <m:r>
                        <a:rPr lang="es-CR" sz="2200" i="1">
                          <a:latin typeface="Cambria Math"/>
                        </a:rPr>
                        <m:t>=</m:t>
                      </m:r>
                      <m:f>
                        <m:fPr>
                          <m:ctrlPr>
                            <a:rPr lang="es-CR" sz="2200" i="1">
                              <a:latin typeface="Cambria Math"/>
                            </a:rPr>
                          </m:ctrlPr>
                        </m:fPr>
                        <m:num>
                          <m:r>
                            <a:rPr lang="es-CR" sz="2200" i="1">
                              <a:latin typeface="Cambria Math"/>
                            </a:rPr>
                            <m:t>𝐶𝑜𝑣</m:t>
                          </m:r>
                          <m:r>
                            <a:rPr lang="es-CR" sz="2200" i="1">
                              <a:latin typeface="Cambria Math"/>
                            </a:rPr>
                            <m:t>(</m:t>
                          </m:r>
                          <m:r>
                            <a:rPr lang="es-CR" sz="2200" i="1">
                              <a:latin typeface="Cambria Math"/>
                            </a:rPr>
                            <m:t>𝑋</m:t>
                          </m:r>
                          <m:r>
                            <a:rPr lang="es-CR" sz="2200" i="1">
                              <a:latin typeface="Cambria Math"/>
                            </a:rPr>
                            <m:t>,</m:t>
                          </m:r>
                          <m:r>
                            <a:rPr lang="es-CR" sz="2200" i="1">
                              <a:latin typeface="Cambria Math"/>
                            </a:rPr>
                            <m:t>𝑌</m:t>
                          </m:r>
                          <m:r>
                            <a:rPr lang="es-CR" sz="2200" i="1">
                              <a:latin typeface="Cambria Math"/>
                            </a:rPr>
                            <m:t>)</m:t>
                          </m:r>
                        </m:num>
                        <m:den>
                          <m:sSub>
                            <m:sSubPr>
                              <m:ctrlPr>
                                <a:rPr lang="es-CR" sz="2200" i="1">
                                  <a:latin typeface="Cambria Math"/>
                                </a:rPr>
                              </m:ctrlPr>
                            </m:sSubPr>
                            <m:e>
                              <m:r>
                                <a:rPr lang="es-CR" sz="2200" i="1">
                                  <a:latin typeface="Cambria Math"/>
                                </a:rPr>
                                <m:t>𝑠</m:t>
                              </m:r>
                            </m:e>
                            <m:sub>
                              <m:r>
                                <a:rPr lang="es-CR" sz="2200" i="1">
                                  <a:latin typeface="Cambria Math"/>
                                </a:rPr>
                                <m:t>𝑋</m:t>
                              </m:r>
                            </m:sub>
                          </m:sSub>
                          <m:sSub>
                            <m:sSubPr>
                              <m:ctrlPr>
                                <a:rPr lang="es-CR" sz="2200" i="1">
                                  <a:latin typeface="Cambria Math"/>
                                </a:rPr>
                              </m:ctrlPr>
                            </m:sSubPr>
                            <m:e>
                              <m:r>
                                <a:rPr lang="es-CR" sz="2200" i="1">
                                  <a:latin typeface="Cambria Math"/>
                                </a:rPr>
                                <m:t>𝑆</m:t>
                              </m:r>
                            </m:e>
                            <m:sub>
                              <m:r>
                                <a:rPr lang="es-CR" sz="2200" i="1">
                                  <a:latin typeface="Cambria Math"/>
                                </a:rPr>
                                <m:t>𝑌</m:t>
                              </m:r>
                            </m:sub>
                          </m:sSub>
                        </m:den>
                      </m:f>
                    </m:oMath>
                  </m:oMathPara>
                </a14:m>
                <a:endParaRPr lang="es-CR" sz="2200" dirty="0" smtClean="0"/>
              </a:p>
              <a:p>
                <a:pPr marL="0" indent="0" algn="just">
                  <a:buNone/>
                </a:pPr>
                <a:endParaRPr lang="es-CR" sz="2200" dirty="0" smtClean="0"/>
              </a:p>
              <a:p>
                <a:pPr marL="0" indent="0" algn="just">
                  <a:buNone/>
                </a:pPr>
                <a:endParaRPr lang="es-CR" sz="2200" dirty="0" smtClean="0"/>
              </a:p>
              <a:p>
                <a:pPr marL="0" indent="0" algn="just">
                  <a:buNone/>
                </a:pPr>
                <a:endParaRPr lang="es-CR" sz="2200" dirty="0" smtClean="0"/>
              </a:p>
              <a:p>
                <a:pPr marL="0" indent="0" algn="just">
                  <a:buNone/>
                </a:pPr>
                <a:endParaRPr lang="es-CR" sz="2200" dirty="0"/>
              </a:p>
              <a:p>
                <a:pPr marL="0" indent="0" algn="just">
                  <a:buNone/>
                </a:pPr>
                <a14:m>
                  <m:oMathPara xmlns:m="http://schemas.openxmlformats.org/officeDocument/2006/math">
                    <m:oMathParaPr>
                      <m:jc m:val="left"/>
                    </m:oMathParaPr>
                    <m:oMath xmlns:m="http://schemas.openxmlformats.org/officeDocument/2006/math">
                      <m:r>
                        <a:rPr lang="es-CR" sz="2200" i="1">
                          <a:latin typeface="Cambria Math"/>
                        </a:rPr>
                        <m:t>𝑟</m:t>
                      </m:r>
                      <m:r>
                        <a:rPr lang="es-CR" sz="2200" i="1">
                          <a:latin typeface="Cambria Math"/>
                        </a:rPr>
                        <m:t>=</m:t>
                      </m:r>
                      <m:f>
                        <m:fPr>
                          <m:ctrlPr>
                            <a:rPr lang="es-CR" sz="2200" i="1">
                              <a:latin typeface="Cambria Math"/>
                            </a:rPr>
                          </m:ctrlPr>
                        </m:fPr>
                        <m:num>
                          <m:r>
                            <a:rPr lang="es-CR" sz="2200" i="1">
                              <a:latin typeface="Cambria Math"/>
                            </a:rPr>
                            <m:t>𝑛</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r>
                                <a:rPr lang="es-CR" sz="2200" i="1">
                                  <a:latin typeface="Cambria Math"/>
                                </a:rPr>
                                <m:t>𝑋𝑖𝑌𝑖</m:t>
                              </m:r>
                            </m:e>
                          </m:nary>
                          <m:r>
                            <a:rPr lang="es-CR" sz="2200" i="1">
                              <a:latin typeface="Cambria Math"/>
                            </a:rPr>
                            <m:t>−</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a:rPr>
                                  </m:ctrlPr>
                                </m:sSubPr>
                                <m:e>
                                  <m:r>
                                    <a:rPr lang="es-CR" sz="2200" i="1">
                                      <a:latin typeface="Cambria Math"/>
                                    </a:rPr>
                                    <m:t>𝑋</m:t>
                                  </m:r>
                                </m:e>
                                <m:sub>
                                  <m:r>
                                    <a:rPr lang="es-CR" sz="2200" i="1">
                                      <a:latin typeface="Cambria Math"/>
                                    </a:rPr>
                                    <m:t>𝑖</m:t>
                                  </m:r>
                                </m:sub>
                              </m:sSub>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a:rPr>
                                      </m:ctrlPr>
                                    </m:sSubPr>
                                    <m:e>
                                      <m:r>
                                        <a:rPr lang="es-CR" sz="2200" i="1">
                                          <a:latin typeface="Cambria Math"/>
                                        </a:rPr>
                                        <m:t>𝑌</m:t>
                                      </m:r>
                                    </m:e>
                                    <m:sub>
                                      <m:r>
                                        <a:rPr lang="es-CR" sz="2200" i="1">
                                          <a:latin typeface="Cambria Math"/>
                                        </a:rPr>
                                        <m:t>𝑖</m:t>
                                      </m:r>
                                    </m:sub>
                                  </m:sSub>
                                </m:e>
                              </m:nary>
                            </m:e>
                          </m:nary>
                        </m:num>
                        <m:den>
                          <m:rad>
                            <m:radPr>
                              <m:degHide m:val="on"/>
                              <m:ctrlPr>
                                <a:rPr lang="es-CR" sz="2200" i="1">
                                  <a:latin typeface="Cambria Math"/>
                                </a:rPr>
                              </m:ctrlPr>
                            </m:radPr>
                            <m:deg/>
                            <m:e>
                              <m:d>
                                <m:dPr>
                                  <m:begChr m:val="["/>
                                  <m:endChr m:val="]"/>
                                  <m:ctrlPr>
                                    <a:rPr lang="es-CR" sz="2200" i="1">
                                      <a:latin typeface="Cambria Math"/>
                                    </a:rPr>
                                  </m:ctrlPr>
                                </m:dPr>
                                <m:e>
                                  <m:r>
                                    <a:rPr lang="es-CR" sz="2200" i="1">
                                      <a:latin typeface="Cambria Math"/>
                                    </a:rPr>
                                    <m:t>𝑛</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p>
                                        <m:sSupPr>
                                          <m:ctrlPr>
                                            <a:rPr lang="es-CR" sz="2200" i="1">
                                              <a:latin typeface="Cambria Math"/>
                                            </a:rPr>
                                          </m:ctrlPr>
                                        </m:sSupPr>
                                        <m:e>
                                          <m:sSub>
                                            <m:sSubPr>
                                              <m:ctrlPr>
                                                <a:rPr lang="es-CR" sz="2200" i="1">
                                                  <a:latin typeface="Cambria Math"/>
                                                </a:rPr>
                                              </m:ctrlPr>
                                            </m:sSubPr>
                                            <m:e>
                                              <m:r>
                                                <a:rPr lang="es-CR" sz="2200" i="1">
                                                  <a:latin typeface="Cambria Math"/>
                                                </a:rPr>
                                                <m:t>𝑋</m:t>
                                              </m:r>
                                            </m:e>
                                            <m:sub>
                                              <m:r>
                                                <a:rPr lang="es-CR" sz="2200" i="1">
                                                  <a:latin typeface="Cambria Math"/>
                                                </a:rPr>
                                                <m:t>𝑖</m:t>
                                              </m:r>
                                            </m:sub>
                                          </m:sSub>
                                        </m:e>
                                        <m:sup>
                                          <m:r>
                                            <a:rPr lang="es-CR" sz="2200" i="1">
                                              <a:latin typeface="Cambria Math"/>
                                            </a:rPr>
                                            <m:t>2</m:t>
                                          </m:r>
                                        </m:sup>
                                      </m:sSup>
                                    </m:e>
                                  </m:nary>
                                  <m:r>
                                    <a:rPr lang="es-CR" sz="2200" i="1">
                                      <a:latin typeface="Cambria Math"/>
                                    </a:rPr>
                                    <m:t>−</m:t>
                                  </m:r>
                                  <m:sSup>
                                    <m:sSupPr>
                                      <m:ctrlPr>
                                        <a:rPr lang="es-CR" sz="2200" i="1">
                                          <a:latin typeface="Cambria Math"/>
                                        </a:rPr>
                                      </m:ctrlPr>
                                    </m:sSupPr>
                                    <m:e>
                                      <m:r>
                                        <a:rPr lang="es-CR" sz="2200" i="1">
                                          <a:latin typeface="Cambria Math"/>
                                        </a:rPr>
                                        <m:t>(</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a:rPr>
                                              </m:ctrlPr>
                                            </m:sSubPr>
                                            <m:e>
                                              <m:r>
                                                <a:rPr lang="es-CR" sz="2200" i="1">
                                                  <a:latin typeface="Cambria Math"/>
                                                </a:rPr>
                                                <m:t>𝑥</m:t>
                                              </m:r>
                                            </m:e>
                                            <m:sub>
                                              <m:r>
                                                <a:rPr lang="es-CR" sz="2200" i="1">
                                                  <a:latin typeface="Cambria Math"/>
                                                </a:rPr>
                                                <m:t>𝑖</m:t>
                                              </m:r>
                                            </m:sub>
                                          </m:sSub>
                                        </m:e>
                                      </m:nary>
                                      <m:r>
                                        <a:rPr lang="es-CR" sz="2200" i="1">
                                          <a:latin typeface="Cambria Math"/>
                                        </a:rPr>
                                        <m:t>)</m:t>
                                      </m:r>
                                    </m:e>
                                    <m:sup>
                                      <m:r>
                                        <a:rPr lang="es-CR" sz="2200" i="1">
                                          <a:latin typeface="Cambria Math"/>
                                        </a:rPr>
                                        <m:t>2</m:t>
                                      </m:r>
                                    </m:sup>
                                  </m:sSup>
                                </m:e>
                              </m:d>
                              <m:r>
                                <a:rPr lang="es-CR" sz="2200" i="1">
                                  <a:latin typeface="Cambria Math"/>
                                </a:rPr>
                                <m:t>∗</m:t>
                              </m:r>
                              <m:d>
                                <m:dPr>
                                  <m:begChr m:val="["/>
                                  <m:endChr m:val="]"/>
                                  <m:ctrlPr>
                                    <a:rPr lang="es-CR" sz="2200" i="1">
                                      <a:latin typeface="Cambria Math"/>
                                    </a:rPr>
                                  </m:ctrlPr>
                                </m:dPr>
                                <m:e>
                                  <m:r>
                                    <a:rPr lang="es-CR" sz="2200" i="1">
                                      <a:latin typeface="Cambria Math"/>
                                    </a:rPr>
                                    <m:t>𝑛</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p>
                                        <m:sSupPr>
                                          <m:ctrlPr>
                                            <a:rPr lang="es-CR" sz="2200" i="1">
                                              <a:latin typeface="Cambria Math"/>
                                            </a:rPr>
                                          </m:ctrlPr>
                                        </m:sSupPr>
                                        <m:e>
                                          <m:sSub>
                                            <m:sSubPr>
                                              <m:ctrlPr>
                                                <a:rPr lang="es-CR" sz="2200" i="1">
                                                  <a:latin typeface="Cambria Math"/>
                                                </a:rPr>
                                              </m:ctrlPr>
                                            </m:sSubPr>
                                            <m:e>
                                              <m:r>
                                                <a:rPr lang="es-CR" sz="2200" i="1">
                                                  <a:latin typeface="Cambria Math"/>
                                                </a:rPr>
                                                <m:t>𝑌</m:t>
                                              </m:r>
                                            </m:e>
                                            <m:sub>
                                              <m:r>
                                                <a:rPr lang="es-CR" sz="2200" i="1">
                                                  <a:latin typeface="Cambria Math"/>
                                                </a:rPr>
                                                <m:t>𝑖</m:t>
                                              </m:r>
                                            </m:sub>
                                          </m:sSub>
                                        </m:e>
                                        <m:sup>
                                          <m:r>
                                            <a:rPr lang="es-CR" sz="2200" i="1">
                                              <a:latin typeface="Cambria Math"/>
                                            </a:rPr>
                                            <m:t>2</m:t>
                                          </m:r>
                                        </m:sup>
                                      </m:sSup>
                                    </m:e>
                                  </m:nary>
                                  <m:r>
                                    <a:rPr lang="es-CR" sz="2200" i="1">
                                      <a:latin typeface="Cambria Math"/>
                                    </a:rPr>
                                    <m:t>−</m:t>
                                  </m:r>
                                  <m:sSup>
                                    <m:sSupPr>
                                      <m:ctrlPr>
                                        <a:rPr lang="es-CR" sz="2200" i="1">
                                          <a:latin typeface="Cambria Math"/>
                                        </a:rPr>
                                      </m:ctrlPr>
                                    </m:sSupPr>
                                    <m:e>
                                      <m:r>
                                        <a:rPr lang="es-CR" sz="2200" i="1">
                                          <a:latin typeface="Cambria Math"/>
                                        </a:rPr>
                                        <m:t>(</m:t>
                                      </m:r>
                                      <m:nary>
                                        <m:naryPr>
                                          <m:chr m:val="∑"/>
                                          <m:limLoc m:val="undOvr"/>
                                          <m:ctrlPr>
                                            <a:rPr lang="es-CR" sz="2200" i="1">
                                              <a:latin typeface="Cambria Math"/>
                                            </a:rPr>
                                          </m:ctrlPr>
                                        </m:naryPr>
                                        <m:sub>
                                          <m:r>
                                            <a:rPr lang="es-CR" sz="2200" i="1">
                                              <a:latin typeface="Cambria Math"/>
                                            </a:rPr>
                                            <m:t>𝑖</m:t>
                                          </m:r>
                                          <m:r>
                                            <a:rPr lang="es-CR" sz="2200" i="1">
                                              <a:latin typeface="Cambria Math"/>
                                            </a:rPr>
                                            <m:t>=1</m:t>
                                          </m:r>
                                        </m:sub>
                                        <m:sup>
                                          <m:r>
                                            <a:rPr lang="es-CR" sz="2200" i="1">
                                              <a:latin typeface="Cambria Math"/>
                                            </a:rPr>
                                            <m:t>𝑛</m:t>
                                          </m:r>
                                        </m:sup>
                                        <m:e>
                                          <m:sSub>
                                            <m:sSubPr>
                                              <m:ctrlPr>
                                                <a:rPr lang="es-CR" sz="2200" i="1">
                                                  <a:latin typeface="Cambria Math"/>
                                                </a:rPr>
                                              </m:ctrlPr>
                                            </m:sSubPr>
                                            <m:e>
                                              <m:r>
                                                <a:rPr lang="es-CR" sz="2200" i="1">
                                                  <a:latin typeface="Cambria Math"/>
                                                </a:rPr>
                                                <m:t>𝑌</m:t>
                                              </m:r>
                                            </m:e>
                                            <m:sub>
                                              <m:r>
                                                <a:rPr lang="es-CR" sz="2200" i="1">
                                                  <a:latin typeface="Cambria Math"/>
                                                </a:rPr>
                                                <m:t>𝑖</m:t>
                                              </m:r>
                                            </m:sub>
                                          </m:sSub>
                                        </m:e>
                                      </m:nary>
                                      <m:r>
                                        <a:rPr lang="es-CR" sz="2200" i="1">
                                          <a:latin typeface="Cambria Math"/>
                                        </a:rPr>
                                        <m:t>)</m:t>
                                      </m:r>
                                    </m:e>
                                    <m:sup>
                                      <m:r>
                                        <a:rPr lang="es-CR" sz="2200" i="1">
                                          <a:latin typeface="Cambria Math"/>
                                        </a:rPr>
                                        <m:t>2</m:t>
                                      </m:r>
                                    </m:sup>
                                  </m:sSup>
                                </m:e>
                              </m:d>
                            </m:e>
                          </m:rad>
                        </m:den>
                      </m:f>
                    </m:oMath>
                  </m:oMathPara>
                </a14:m>
                <a:endParaRPr lang="es-CR" sz="2200"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1268760"/>
                <a:ext cx="7560840" cy="5472608"/>
              </a:xfrm>
              <a:blipFill rotWithShape="1">
                <a:blip r:embed="rId2"/>
                <a:stretch>
                  <a:fillRect l="-403" t="-668" r="-1129"/>
                </a:stretch>
              </a:blipFill>
            </p:spPr>
            <p:txBody>
              <a:bodyPr/>
              <a:lstStyle/>
              <a:p>
                <a:r>
                  <a:rPr lang="es-CR">
                    <a:noFill/>
                  </a:rPr>
                  <a:t> </a:t>
                </a:r>
              </a:p>
            </p:txBody>
          </p:sp>
        </mc:Fallback>
      </mc:AlternateContent>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mc:AlternateContent xmlns:mc="http://schemas.openxmlformats.org/markup-compatibility/2006" xmlns:a14="http://schemas.microsoft.com/office/drawing/2010/main">
        <mc:Choice Requires="a14">
          <p:sp>
            <p:nvSpPr>
              <p:cNvPr id="2" name="1 Rectángulo"/>
              <p:cNvSpPr/>
              <p:nvPr/>
            </p:nvSpPr>
            <p:spPr>
              <a:xfrm>
                <a:off x="363536" y="4326454"/>
                <a:ext cx="3920432" cy="9747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i="1">
                          <a:latin typeface="Cambria Math"/>
                        </a:rPr>
                        <m:t>𝑟</m:t>
                      </m:r>
                      <m:r>
                        <a:rPr lang="es-CR" i="1">
                          <a:latin typeface="Cambria Math"/>
                        </a:rPr>
                        <m:t>=</m:t>
                      </m:r>
                      <m:f>
                        <m:fPr>
                          <m:ctrlPr>
                            <a:rPr lang="es-CR" i="1">
                              <a:latin typeface="Cambria Math"/>
                            </a:rPr>
                          </m:ctrlPr>
                        </m:fPr>
                        <m:num>
                          <m:nary>
                            <m:naryPr>
                              <m:chr m:val="∑"/>
                              <m:limLoc m:val="undOvr"/>
                              <m:ctrlPr>
                                <a:rPr lang="es-CR" i="1">
                                  <a:latin typeface="Cambria Math"/>
                                </a:rPr>
                              </m:ctrlPr>
                            </m:naryPr>
                            <m:sub>
                              <m:r>
                                <a:rPr lang="es-CR" i="1">
                                  <a:latin typeface="Cambria Math"/>
                                </a:rPr>
                                <m:t>𝑖</m:t>
                              </m:r>
                              <m:r>
                                <a:rPr lang="es-CR" i="1">
                                  <a:latin typeface="Cambria Math"/>
                                </a:rPr>
                                <m:t>=1</m:t>
                              </m:r>
                            </m:sub>
                            <m:sup>
                              <m:r>
                                <a:rPr lang="es-CR" i="1">
                                  <a:latin typeface="Cambria Math"/>
                                </a:rPr>
                                <m:t>𝑛</m:t>
                              </m:r>
                            </m:sup>
                            <m:e>
                              <m:d>
                                <m:dPr>
                                  <m:ctrlPr>
                                    <a:rPr lang="es-CR" i="1">
                                      <a:latin typeface="Cambria Math"/>
                                    </a:rPr>
                                  </m:ctrlPr>
                                </m:dPr>
                                <m:e>
                                  <m:sSub>
                                    <m:sSubPr>
                                      <m:ctrlPr>
                                        <a:rPr lang="es-CR" i="1">
                                          <a:latin typeface="Cambria Math"/>
                                        </a:rPr>
                                      </m:ctrlPr>
                                    </m:sSubPr>
                                    <m:e>
                                      <m:r>
                                        <a:rPr lang="es-CR" i="1">
                                          <a:latin typeface="Cambria Math"/>
                                        </a:rPr>
                                        <m:t>𝑋</m:t>
                                      </m:r>
                                    </m:e>
                                    <m:sub>
                                      <m:r>
                                        <a:rPr lang="es-CR" i="1">
                                          <a:latin typeface="Cambria Math"/>
                                        </a:rPr>
                                        <m:t>𝑖</m:t>
                                      </m:r>
                                    </m:sub>
                                  </m:sSub>
                                  <m:r>
                                    <a:rPr lang="es-CR" i="1">
                                      <a:latin typeface="Cambria Math"/>
                                    </a:rPr>
                                    <m:t>−</m:t>
                                  </m:r>
                                  <m:r>
                                    <a:rPr lang="es-CR" i="1">
                                      <a:latin typeface="Cambria Math"/>
                                    </a:rPr>
                                    <m:t>𝑋</m:t>
                                  </m:r>
                                </m:e>
                              </m:d>
                              <m:r>
                                <a:rPr lang="es-CR" i="1">
                                  <a:latin typeface="Cambria Math"/>
                                </a:rPr>
                                <m:t>∗(</m:t>
                              </m:r>
                              <m:sSub>
                                <m:sSubPr>
                                  <m:ctrlPr>
                                    <a:rPr lang="es-CR" i="1">
                                      <a:latin typeface="Cambria Math"/>
                                    </a:rPr>
                                  </m:ctrlPr>
                                </m:sSubPr>
                                <m:e>
                                  <m:r>
                                    <a:rPr lang="es-CR" i="1">
                                      <a:latin typeface="Cambria Math"/>
                                    </a:rPr>
                                    <m:t>𝑌</m:t>
                                  </m:r>
                                </m:e>
                                <m:sub>
                                  <m:r>
                                    <a:rPr lang="es-CR" i="1">
                                      <a:latin typeface="Cambria Math"/>
                                    </a:rPr>
                                    <m:t>𝑖</m:t>
                                  </m:r>
                                </m:sub>
                              </m:sSub>
                              <m:r>
                                <a:rPr lang="es-CR" i="1">
                                  <a:latin typeface="Cambria Math"/>
                                </a:rPr>
                                <m:t>−</m:t>
                              </m:r>
                              <m:r>
                                <a:rPr lang="es-CR" i="1">
                                  <a:latin typeface="Cambria Math"/>
                                </a:rPr>
                                <m:t>𝑌</m:t>
                              </m:r>
                              <m:r>
                                <a:rPr lang="es-CR" i="1">
                                  <a:latin typeface="Cambria Math"/>
                                </a:rPr>
                                <m:t>)</m:t>
                              </m:r>
                            </m:e>
                          </m:nary>
                        </m:num>
                        <m:den>
                          <m:rad>
                            <m:radPr>
                              <m:degHide m:val="on"/>
                              <m:ctrlPr>
                                <a:rPr lang="es-CR" i="1">
                                  <a:latin typeface="Cambria Math"/>
                                </a:rPr>
                              </m:ctrlPr>
                            </m:radPr>
                            <m:deg/>
                            <m:e>
                              <m:nary>
                                <m:naryPr>
                                  <m:chr m:val="∑"/>
                                  <m:limLoc m:val="undOvr"/>
                                  <m:ctrlPr>
                                    <a:rPr lang="es-CR" i="1">
                                      <a:latin typeface="Cambria Math"/>
                                    </a:rPr>
                                  </m:ctrlPr>
                                </m:naryPr>
                                <m:sub>
                                  <m:r>
                                    <a:rPr lang="es-CR" i="1">
                                      <a:latin typeface="Cambria Math"/>
                                    </a:rPr>
                                    <m:t>𝑖</m:t>
                                  </m:r>
                                  <m:r>
                                    <a:rPr lang="es-CR" i="1">
                                      <a:latin typeface="Cambria Math"/>
                                    </a:rPr>
                                    <m:t>=1</m:t>
                                  </m:r>
                                </m:sub>
                                <m:sup>
                                  <m:r>
                                    <a:rPr lang="es-CR" i="1">
                                      <a:latin typeface="Cambria Math"/>
                                    </a:rPr>
                                    <m:t>𝑛</m:t>
                                  </m:r>
                                </m:sup>
                                <m:e>
                                  <m:sSup>
                                    <m:sSupPr>
                                      <m:ctrlPr>
                                        <a:rPr lang="es-CR" i="1">
                                          <a:latin typeface="Cambria Math"/>
                                        </a:rPr>
                                      </m:ctrlPr>
                                    </m:sSupPr>
                                    <m:e>
                                      <m:d>
                                        <m:dPr>
                                          <m:ctrlPr>
                                            <a:rPr lang="es-CR" i="1">
                                              <a:latin typeface="Cambria Math"/>
                                            </a:rPr>
                                          </m:ctrlPr>
                                        </m:dPr>
                                        <m:e>
                                          <m:sSub>
                                            <m:sSubPr>
                                              <m:ctrlPr>
                                                <a:rPr lang="es-CR" i="1">
                                                  <a:latin typeface="Cambria Math"/>
                                                </a:rPr>
                                              </m:ctrlPr>
                                            </m:sSubPr>
                                            <m:e>
                                              <m:r>
                                                <a:rPr lang="es-CR" i="1">
                                                  <a:latin typeface="Cambria Math"/>
                                                </a:rPr>
                                                <m:t>𝑋</m:t>
                                              </m:r>
                                            </m:e>
                                            <m:sub>
                                              <m:r>
                                                <a:rPr lang="es-CR" i="1">
                                                  <a:latin typeface="Cambria Math"/>
                                                </a:rPr>
                                                <m:t>𝑖</m:t>
                                              </m:r>
                                            </m:sub>
                                          </m:sSub>
                                          <m:r>
                                            <a:rPr lang="es-CR" i="1">
                                              <a:latin typeface="Cambria Math"/>
                                            </a:rPr>
                                            <m:t>−</m:t>
                                          </m:r>
                                          <m:r>
                                            <a:rPr lang="es-CR" i="1">
                                              <a:latin typeface="Cambria Math"/>
                                            </a:rPr>
                                            <m:t>𝑋</m:t>
                                          </m:r>
                                        </m:e>
                                      </m:d>
                                    </m:e>
                                    <m:sup>
                                      <m:r>
                                        <a:rPr lang="es-CR" i="1">
                                          <a:latin typeface="Cambria Math"/>
                                        </a:rPr>
                                        <m:t>2</m:t>
                                      </m:r>
                                    </m:sup>
                                  </m:sSup>
                                </m:e>
                              </m:nary>
                            </m:e>
                          </m:rad>
                          <m:r>
                            <a:rPr lang="es-CR" i="1">
                              <a:latin typeface="Cambria Math"/>
                            </a:rPr>
                            <m:t>∗</m:t>
                          </m:r>
                          <m:rad>
                            <m:radPr>
                              <m:degHide m:val="on"/>
                              <m:ctrlPr>
                                <a:rPr lang="es-CR" i="1">
                                  <a:latin typeface="Cambria Math"/>
                                </a:rPr>
                              </m:ctrlPr>
                            </m:radPr>
                            <m:deg/>
                            <m:e>
                              <m:nary>
                                <m:naryPr>
                                  <m:chr m:val="∑"/>
                                  <m:limLoc m:val="undOvr"/>
                                  <m:ctrlPr>
                                    <a:rPr lang="es-CR" i="1">
                                      <a:latin typeface="Cambria Math"/>
                                    </a:rPr>
                                  </m:ctrlPr>
                                </m:naryPr>
                                <m:sub>
                                  <m:r>
                                    <a:rPr lang="es-CR" i="1">
                                      <a:latin typeface="Cambria Math"/>
                                    </a:rPr>
                                    <m:t>𝑖</m:t>
                                  </m:r>
                                  <m:r>
                                    <a:rPr lang="es-CR" i="1">
                                      <a:latin typeface="Cambria Math"/>
                                    </a:rPr>
                                    <m:t>=1</m:t>
                                  </m:r>
                                </m:sub>
                                <m:sup>
                                  <m:r>
                                    <a:rPr lang="es-CR" i="1">
                                      <a:latin typeface="Cambria Math"/>
                                    </a:rPr>
                                    <m:t>𝑛</m:t>
                                  </m:r>
                                </m:sup>
                                <m:e>
                                  <m:sSup>
                                    <m:sSupPr>
                                      <m:ctrlPr>
                                        <a:rPr lang="es-CR" i="1">
                                          <a:latin typeface="Cambria Math"/>
                                        </a:rPr>
                                      </m:ctrlPr>
                                    </m:sSupPr>
                                    <m:e>
                                      <m:r>
                                        <a:rPr lang="es-CR" i="1">
                                          <a:latin typeface="Cambria Math"/>
                                        </a:rPr>
                                        <m:t>(</m:t>
                                      </m:r>
                                      <m:sSub>
                                        <m:sSubPr>
                                          <m:ctrlPr>
                                            <a:rPr lang="es-CR" i="1">
                                              <a:latin typeface="Cambria Math"/>
                                            </a:rPr>
                                          </m:ctrlPr>
                                        </m:sSubPr>
                                        <m:e>
                                          <m:r>
                                            <a:rPr lang="es-CR" i="1">
                                              <a:latin typeface="Cambria Math"/>
                                            </a:rPr>
                                            <m:t>𝑌</m:t>
                                          </m:r>
                                        </m:e>
                                        <m:sub>
                                          <m:r>
                                            <a:rPr lang="es-CR" i="1">
                                              <a:latin typeface="Cambria Math"/>
                                            </a:rPr>
                                            <m:t>𝑖</m:t>
                                          </m:r>
                                        </m:sub>
                                      </m:sSub>
                                      <m:r>
                                        <a:rPr lang="es-CR" i="1">
                                          <a:latin typeface="Cambria Math"/>
                                        </a:rPr>
                                        <m:t>−</m:t>
                                      </m:r>
                                      <m:r>
                                        <a:rPr lang="es-CR" i="1">
                                          <a:latin typeface="Cambria Math"/>
                                        </a:rPr>
                                        <m:t>𝑌</m:t>
                                      </m:r>
                                      <m:r>
                                        <a:rPr lang="es-CR" i="1">
                                          <a:latin typeface="Cambria Math"/>
                                        </a:rPr>
                                        <m:t>)</m:t>
                                      </m:r>
                                    </m:e>
                                    <m:sup>
                                      <m:r>
                                        <a:rPr lang="es-CR" i="1">
                                          <a:latin typeface="Cambria Math"/>
                                        </a:rPr>
                                        <m:t>2</m:t>
                                      </m:r>
                                    </m:sup>
                                  </m:sSup>
                                </m:e>
                              </m:nary>
                            </m:e>
                          </m:rad>
                        </m:den>
                      </m:f>
                    </m:oMath>
                  </m:oMathPara>
                </a14:m>
                <a:endParaRPr lang="es-CR" dirty="0"/>
              </a:p>
            </p:txBody>
          </p:sp>
        </mc:Choice>
        <mc:Fallback xmlns="">
          <p:sp>
            <p:nvSpPr>
              <p:cNvPr id="2" name="1 Rectángulo"/>
              <p:cNvSpPr>
                <a:spLocks noRot="1" noChangeAspect="1" noMove="1" noResize="1" noEditPoints="1" noAdjustHandles="1" noChangeArrowheads="1" noChangeShapeType="1" noTextEdit="1"/>
              </p:cNvSpPr>
              <p:nvPr/>
            </p:nvSpPr>
            <p:spPr>
              <a:xfrm>
                <a:off x="363536" y="4326454"/>
                <a:ext cx="3920432" cy="974754"/>
              </a:xfrm>
              <a:prstGeom prst="rect">
                <a:avLst/>
              </a:prstGeom>
              <a:blipFill rotWithShape="1">
                <a:blip r:embed="rId3"/>
                <a:stretch>
                  <a:fillRect/>
                </a:stretch>
              </a:blipFill>
            </p:spPr>
            <p:txBody>
              <a:bodyPr/>
              <a:lstStyle/>
              <a:p>
                <a:r>
                  <a:rPr lang="es-CR">
                    <a:noFill/>
                  </a:rPr>
                  <a:t> </a:t>
                </a:r>
              </a:p>
            </p:txBody>
          </p:sp>
        </mc:Fallback>
      </mc:AlternateContent>
      <p:sp>
        <p:nvSpPr>
          <p:cNvPr id="7" name="6 Flecha derecha"/>
          <p:cNvSpPr/>
          <p:nvPr/>
        </p:nvSpPr>
        <p:spPr>
          <a:xfrm rot="8951347">
            <a:off x="7434058" y="5244065"/>
            <a:ext cx="1080120" cy="64807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R"/>
          </a:p>
        </p:txBody>
      </p:sp>
      <p:pic>
        <p:nvPicPr>
          <p:cNvPr id="74754" name="Picture 2" descr="http://p8cdn4static.sharpschool.com/UserFiles/Servers/Server_50409/Image/clip%20art/math%20rocks.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084" y="2241645"/>
            <a:ext cx="3816424" cy="2251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7847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268760"/>
            <a:ext cx="6336704" cy="5472608"/>
          </a:xfrm>
        </p:spPr>
        <p:txBody>
          <a:bodyPr>
            <a:normAutofit fontScale="92500" lnSpcReduction="10000"/>
          </a:bodyPr>
          <a:lstStyle/>
          <a:p>
            <a:pPr algn="just"/>
            <a:r>
              <a:rPr lang="es-CR" sz="2200" dirty="0"/>
              <a:t>Si </a:t>
            </a:r>
            <a:r>
              <a:rPr lang="es-CR" sz="2200" i="1" dirty="0"/>
              <a:t>r</a:t>
            </a:r>
            <a:r>
              <a:rPr lang="es-CR" sz="2200" dirty="0"/>
              <a:t> = 1, existe una correlación positiva perfecta. El índice indica una dependencia total entre las dos variables denominada </a:t>
            </a:r>
            <a:r>
              <a:rPr lang="es-CR" sz="2200" i="1" dirty="0"/>
              <a:t>relación directa</a:t>
            </a:r>
            <a:r>
              <a:rPr lang="es-CR" sz="2200" dirty="0"/>
              <a:t>: cuando una de ellas aumenta, la otra también lo hace en proporción constante</a:t>
            </a:r>
            <a:r>
              <a:rPr lang="es-CR" sz="2200" dirty="0" smtClean="0"/>
              <a:t>.</a:t>
            </a:r>
          </a:p>
          <a:p>
            <a:pPr algn="just"/>
            <a:endParaRPr lang="es-CR" sz="2200" dirty="0"/>
          </a:p>
          <a:p>
            <a:pPr algn="just"/>
            <a:r>
              <a:rPr lang="es-CR" sz="2200" dirty="0"/>
              <a:t>Si 0 &lt; </a:t>
            </a:r>
            <a:r>
              <a:rPr lang="es-CR" sz="2200" i="1" dirty="0"/>
              <a:t>r</a:t>
            </a:r>
            <a:r>
              <a:rPr lang="es-CR" sz="2200" dirty="0"/>
              <a:t> &lt; 1, existe una correlación positiva</a:t>
            </a:r>
            <a:r>
              <a:rPr lang="es-CR" sz="2200" dirty="0" smtClean="0"/>
              <a:t>.</a:t>
            </a:r>
          </a:p>
          <a:p>
            <a:pPr algn="just"/>
            <a:endParaRPr lang="es-CR" sz="2200" dirty="0"/>
          </a:p>
          <a:p>
            <a:pPr algn="just"/>
            <a:r>
              <a:rPr lang="es-CR" sz="2200" dirty="0" smtClean="0"/>
              <a:t>Si </a:t>
            </a:r>
            <a:r>
              <a:rPr lang="es-CR" sz="2200" dirty="0"/>
              <a:t>-1 &lt; </a:t>
            </a:r>
            <a:r>
              <a:rPr lang="es-CR" sz="2200" i="1" dirty="0"/>
              <a:t>r</a:t>
            </a:r>
            <a:r>
              <a:rPr lang="es-CR" sz="2200" dirty="0"/>
              <a:t> &lt; 0, existe una correlación negativa</a:t>
            </a:r>
            <a:r>
              <a:rPr lang="es-CR" sz="2200" dirty="0" smtClean="0"/>
              <a:t>.</a:t>
            </a:r>
          </a:p>
          <a:p>
            <a:pPr algn="just"/>
            <a:endParaRPr lang="es-CR" sz="2200" dirty="0"/>
          </a:p>
          <a:p>
            <a:pPr algn="just"/>
            <a:r>
              <a:rPr lang="es-CR" sz="2200" dirty="0"/>
              <a:t>Si </a:t>
            </a:r>
            <a:r>
              <a:rPr lang="es-CR" sz="2200" i="1" dirty="0"/>
              <a:t>r</a:t>
            </a:r>
            <a:r>
              <a:rPr lang="es-CR" sz="2200" dirty="0"/>
              <a:t> = -1, existe una correlación negativa perfecta. El índice indica una dependencia total entre las dos variables </a:t>
            </a:r>
            <a:r>
              <a:rPr lang="es-CR" sz="2200" dirty="0" err="1"/>
              <a:t>llamada</a:t>
            </a:r>
            <a:r>
              <a:rPr lang="es-CR" sz="2200" i="1" dirty="0" err="1"/>
              <a:t>relación</a:t>
            </a:r>
            <a:r>
              <a:rPr lang="es-CR" sz="2200" i="1" dirty="0"/>
              <a:t> inversa</a:t>
            </a:r>
            <a:r>
              <a:rPr lang="es-CR" sz="2200" dirty="0"/>
              <a:t>: cuando una de ellas aumenta, la otra disminuye en proporción constante</a:t>
            </a:r>
            <a:r>
              <a:rPr lang="es-CR" sz="2200" dirty="0" smtClean="0"/>
              <a:t>.</a:t>
            </a:r>
          </a:p>
          <a:p>
            <a:pPr algn="just"/>
            <a:endParaRPr lang="es-CR" sz="2200" dirty="0" smtClean="0"/>
          </a:p>
          <a:p>
            <a:pPr algn="just"/>
            <a:r>
              <a:rPr lang="es-CR" sz="2200" dirty="0"/>
              <a:t>Si </a:t>
            </a:r>
            <a:r>
              <a:rPr lang="es-CR" sz="2200" i="1" dirty="0"/>
              <a:t>r</a:t>
            </a:r>
            <a:r>
              <a:rPr lang="es-CR" sz="2200" dirty="0"/>
              <a:t> = 0, no existe relación lineal. Pero esto no necesariamente implica que las variables son independientes:  pueden existir todavía relaciones no lineales entre las dos variables</a:t>
            </a:r>
            <a:r>
              <a:rPr lang="es-CR" sz="2200" dirty="0" smtClean="0"/>
              <a:t>.</a:t>
            </a:r>
            <a:endParaRPr lang="es-CR" sz="2200" dirty="0"/>
          </a:p>
        </p:txBody>
      </p:sp>
      <p:sp>
        <p:nvSpPr>
          <p:cNvPr id="4" name="6 Título"/>
          <p:cNvSpPr>
            <a:spLocks noGrp="1"/>
          </p:cNvSpPr>
          <p:nvPr>
            <p:ph type="title"/>
          </p:nvPr>
        </p:nvSpPr>
        <p:spPr>
          <a:xfrm>
            <a:off x="611560" y="188640"/>
            <a:ext cx="7772400" cy="796950"/>
          </a:xfrm>
        </p:spPr>
        <p:txBody>
          <a:bodyPr>
            <a:normAutofit/>
          </a:bodyPr>
          <a:lstStyle/>
          <a:p>
            <a:pPr algn="ctr"/>
            <a:r>
              <a:rPr lang="es-CR" sz="3600" dirty="0" smtClean="0"/>
              <a:t>Análisis de correlación</a:t>
            </a:r>
            <a:endParaRPr lang="es-CR" sz="3600" dirty="0"/>
          </a:p>
        </p:txBody>
      </p:sp>
      <p:pic>
        <p:nvPicPr>
          <p:cNvPr id="75780" name="Picture 4" descr="http://www.creactionweb.com/images/stories/analyse-we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340768"/>
            <a:ext cx="1947919" cy="2592288"/>
          </a:xfrm>
          <a:prstGeom prst="rect">
            <a:avLst/>
          </a:prstGeom>
          <a:noFill/>
          <a:extLst>
            <a:ext uri="{909E8E84-426E-40DD-AFC4-6F175D3DCCD1}">
              <a14:hiddenFill xmlns:a14="http://schemas.microsoft.com/office/drawing/2010/main">
                <a:solidFill>
                  <a:srgbClr val="FFFFFF"/>
                </a:solidFill>
              </a14:hiddenFill>
            </a:ext>
          </a:extLst>
        </p:spPr>
      </p:pic>
      <p:pic>
        <p:nvPicPr>
          <p:cNvPr id="75782" name="Picture 6" descr="https://encrypted-tbn1.gstatic.com/images?q=tbn:ANd9GcTiWyNEL6TR22Gz1Y4tYWBCf6ONCjvY1FfDxhteBb6hZtbu2jDW"/>
          <p:cNvPicPr>
            <a:picLocks noChangeAspect="1" noChangeArrowheads="1"/>
          </p:cNvPicPr>
          <p:nvPr/>
        </p:nvPicPr>
        <p:blipFill rotWithShape="1">
          <a:blip r:embed="rId3">
            <a:extLst>
              <a:ext uri="{28A0092B-C50C-407E-A947-70E740481C1C}">
                <a14:useLocalDpi xmlns:a14="http://schemas.microsoft.com/office/drawing/2010/main" val="0"/>
              </a:ext>
            </a:extLst>
          </a:blip>
          <a:srcRect t="5787" r="29515" b="5896"/>
          <a:stretch/>
        </p:blipFill>
        <p:spPr bwMode="auto">
          <a:xfrm>
            <a:off x="7228869" y="4653136"/>
            <a:ext cx="1530724" cy="1716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422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312" y="2781112"/>
            <a:ext cx="1440160" cy="125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743" y="2780928"/>
            <a:ext cx="1512168" cy="125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2780928"/>
            <a:ext cx="1512168" cy="125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080" y="2780928"/>
            <a:ext cx="1440160" cy="125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003" y="5156482"/>
            <a:ext cx="1711077" cy="136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redondeado"/>
          <p:cNvSpPr/>
          <p:nvPr/>
        </p:nvSpPr>
        <p:spPr>
          <a:xfrm>
            <a:off x="3058213" y="1453852"/>
            <a:ext cx="2756655" cy="936104"/>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Correlación negativa y positiva</a:t>
            </a:r>
            <a:endParaRPr lang="es-CR" dirty="0"/>
          </a:p>
        </p:txBody>
      </p:sp>
      <p:sp>
        <p:nvSpPr>
          <p:cNvPr id="12" name="11 Rectángulo redondeado"/>
          <p:cNvSpPr/>
          <p:nvPr/>
        </p:nvSpPr>
        <p:spPr>
          <a:xfrm>
            <a:off x="383743" y="5372861"/>
            <a:ext cx="2756655" cy="936104"/>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Correlación “nula”</a:t>
            </a:r>
            <a:endParaRPr lang="es-CR" dirty="0"/>
          </a:p>
        </p:txBody>
      </p:sp>
      <p:pic>
        <p:nvPicPr>
          <p:cNvPr id="76802" name="Picture 2" descr="http://wiki.dpconline.org/images/d/d8/Analyse_web.pn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8218" t="4555" r="7759" b="5886"/>
          <a:stretch/>
        </p:blipFill>
        <p:spPr bwMode="auto">
          <a:xfrm>
            <a:off x="6273645" y="4634047"/>
            <a:ext cx="2056161" cy="1866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536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6984776" cy="5328592"/>
          </a:xfrm>
        </p:spPr>
        <p:txBody>
          <a:bodyPr>
            <a:normAutofit/>
          </a:bodyPr>
          <a:lstStyle/>
          <a:p>
            <a:r>
              <a:rPr lang="es-CR" sz="2000" dirty="0" smtClean="0"/>
              <a:t>En la aplicación de cierto medicamento, un doctor quiere ver si la aplicación de este tiene efecto según el peso y la edad. </a:t>
            </a:r>
          </a:p>
          <a:p>
            <a:endParaRPr lang="es-CR" sz="2000" dirty="0" smtClean="0"/>
          </a:p>
          <a:p>
            <a:r>
              <a:rPr lang="es-CR" sz="2000" dirty="0" smtClean="0"/>
              <a:t>Para esto decide analizar antes la posible relación entre la edad y el peso de sus pacientes, y establecer una medida de relación para las características.</a:t>
            </a:r>
          </a:p>
          <a:p>
            <a:endParaRPr lang="es-CR" sz="2000" dirty="0" smtClean="0"/>
          </a:p>
          <a:p>
            <a:endParaRPr lang="es-CR" sz="2000" dirty="0"/>
          </a:p>
          <a:p>
            <a:r>
              <a:rPr lang="es-CR" sz="2000" dirty="0" smtClean="0"/>
              <a:t>¿Cuál es el tipo de análisis que debe realizar?</a:t>
            </a:r>
          </a:p>
          <a:p>
            <a:pPr marL="0" indent="0">
              <a:buNone/>
            </a:pPr>
            <a:r>
              <a:rPr lang="es-CR" sz="2000" dirty="0" smtClean="0"/>
              <a:t>     ¿Cuál sería el método que analiza lo anterior?</a:t>
            </a:r>
          </a:p>
          <a:p>
            <a:pPr marL="0" indent="0">
              <a:buNone/>
            </a:pPr>
            <a:r>
              <a:rPr lang="es-CR" sz="2000" dirty="0"/>
              <a:t> </a:t>
            </a:r>
            <a:r>
              <a:rPr lang="es-CR" sz="2000" dirty="0" smtClean="0"/>
              <a:t>    ¿Cuál sería su expresión matemática?</a:t>
            </a:r>
          </a:p>
          <a:p>
            <a:pPr marL="0" indent="0">
              <a:buNone/>
            </a:pPr>
            <a:endParaRPr lang="es-CR" sz="2000" dirty="0"/>
          </a:p>
          <a:p>
            <a:r>
              <a:rPr lang="es-CR" sz="2000" dirty="0" smtClean="0"/>
              <a:t>Los datos se presentan como siguen:</a:t>
            </a:r>
          </a:p>
          <a:p>
            <a:endParaRPr lang="es-CR" sz="2000" dirty="0"/>
          </a:p>
        </p:txBody>
      </p:sp>
      <p:sp>
        <p:nvSpPr>
          <p:cNvPr id="4" name="6 Título"/>
          <p:cNvSpPr>
            <a:spLocks noGrp="1"/>
          </p:cNvSpPr>
          <p:nvPr>
            <p:ph type="title"/>
          </p:nvPr>
        </p:nvSpPr>
        <p:spPr>
          <a:xfrm>
            <a:off x="539552" y="260648"/>
            <a:ext cx="7772400" cy="796950"/>
          </a:xfrm>
        </p:spPr>
        <p:txBody>
          <a:bodyPr>
            <a:normAutofit/>
          </a:bodyPr>
          <a:lstStyle/>
          <a:p>
            <a:pPr algn="ctr"/>
            <a:r>
              <a:rPr lang="es-CR" sz="3600" dirty="0" smtClean="0"/>
              <a:t>Análisis de correlación</a:t>
            </a:r>
            <a:endParaRPr lang="es-CR" sz="3600" dirty="0"/>
          </a:p>
        </p:txBody>
      </p:sp>
      <p:sp>
        <p:nvSpPr>
          <p:cNvPr id="5" name="Text Box 2"/>
          <p:cNvSpPr txBox="1">
            <a:spLocks noChangeArrowheads="1"/>
          </p:cNvSpPr>
          <p:nvPr/>
        </p:nvSpPr>
        <p:spPr bwMode="auto">
          <a:xfrm>
            <a:off x="5076056" y="3682252"/>
            <a:ext cx="1778496" cy="28334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lang="es-CR" altLang="es-CR" sz="1400" b="1" i="1" u="sng" dirty="0">
                <a:solidFill>
                  <a:srgbClr val="000000"/>
                </a:solidFill>
                <a:latin typeface="Calibri" pitchFamily="34" charset="0"/>
                <a:cs typeface="Arial" pitchFamily="34" charset="0"/>
              </a:rPr>
              <a:t>E</a:t>
            </a:r>
            <a:r>
              <a:rPr kumimoji="0" lang="es-CR" altLang="es-CR" sz="1400" b="1" i="1" u="sng" strike="noStrike" cap="none" normalizeH="0" baseline="0" dirty="0" smtClean="0">
                <a:ln>
                  <a:noFill/>
                </a:ln>
                <a:solidFill>
                  <a:srgbClr val="000000"/>
                </a:solidFill>
                <a:effectLst/>
                <a:latin typeface="Calibri" pitchFamily="34" charset="0"/>
                <a:cs typeface="Arial" pitchFamily="34" charset="0"/>
              </a:rPr>
              <a:t>dad</a:t>
            </a:r>
            <a:r>
              <a:rPr kumimoji="0" lang="es-CR" altLang="es-CR" sz="1400" b="1" i="1" strike="noStrike" cap="none" normalizeH="0" baseline="0" dirty="0" smtClean="0">
                <a:ln>
                  <a:noFill/>
                </a:ln>
                <a:solidFill>
                  <a:srgbClr val="000000"/>
                </a:solidFill>
                <a:effectLst/>
                <a:latin typeface="Calibri" pitchFamily="34" charset="0"/>
                <a:cs typeface="Arial" pitchFamily="34" charset="0"/>
              </a:rPr>
              <a:t>	</a:t>
            </a:r>
            <a:r>
              <a:rPr kumimoji="0" lang="es-CR" altLang="es-CR" sz="1400" b="1" i="1" u="sng" strike="noStrike" cap="none" normalizeH="0" baseline="0" dirty="0" smtClean="0">
                <a:ln>
                  <a:noFill/>
                </a:ln>
                <a:solidFill>
                  <a:srgbClr val="000000"/>
                </a:solidFill>
                <a:effectLst/>
                <a:latin typeface="Calibri" pitchFamily="34" charset="0"/>
                <a:cs typeface="Arial" pitchFamily="34" charset="0"/>
              </a:rPr>
              <a:t>Peso</a:t>
            </a:r>
            <a:endParaRPr kumimoji="0" lang="es-CR" altLang="es-CR" sz="1400" b="0" i="0" u="sng"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15	60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30	75</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18	67</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42	80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28	60</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19	65</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s-CR" altLang="es-CR" sz="1400" b="1" i="0" u="none" strike="noStrike" cap="none" normalizeH="0" baseline="0" dirty="0" smtClean="0">
                <a:ln>
                  <a:noFill/>
                </a:ln>
                <a:solidFill>
                  <a:srgbClr val="000000"/>
                </a:solidFill>
                <a:effectLst/>
                <a:latin typeface="Calibri" pitchFamily="34" charset="0"/>
                <a:cs typeface="Arial" pitchFamily="34" charset="0"/>
              </a:rPr>
              <a:t>31	92</a:t>
            </a:r>
            <a:endParaRPr kumimoji="0" lang="es-CR" altLang="es-CR" sz="1400" b="0" i="0" u="none" strike="noStrike" cap="none" normalizeH="0" baseline="0" dirty="0" smtClean="0">
              <a:ln>
                <a:noFill/>
              </a:ln>
              <a:solidFill>
                <a:srgbClr val="000000"/>
              </a:solidFill>
              <a:effectLst/>
              <a:latin typeface="Times New Roman" pitchFamily="18" charset="0"/>
              <a:cs typeface="Arial" pitchFamily="34" charset="0"/>
            </a:endParaRPr>
          </a:p>
        </p:txBody>
      </p:sp>
      <p:pic>
        <p:nvPicPr>
          <p:cNvPr id="77826" name="Picture 2" descr="http://www.bonjourdefrance.com/image/age-bonjourdefra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309636"/>
            <a:ext cx="1759099" cy="2341484"/>
          </a:xfrm>
          <a:prstGeom prst="rect">
            <a:avLst/>
          </a:prstGeom>
          <a:noFill/>
          <a:extLst>
            <a:ext uri="{909E8E84-426E-40DD-AFC4-6F175D3DCCD1}">
              <a14:hiddenFill xmlns:a14="http://schemas.microsoft.com/office/drawing/2010/main">
                <a:solidFill>
                  <a:srgbClr val="FFFFFF"/>
                </a:solidFill>
              </a14:hiddenFill>
            </a:ext>
          </a:extLst>
        </p:spPr>
      </p:pic>
      <p:pic>
        <p:nvPicPr>
          <p:cNvPr id="77828" name="Picture 4" descr="http://www.brighton-pride.org/upload/1367937044_t.jpg"/>
          <p:cNvPicPr>
            <a:picLocks noChangeAspect="1" noChangeArrowheads="1"/>
          </p:cNvPicPr>
          <p:nvPr/>
        </p:nvPicPr>
        <p:blipFill rotWithShape="1">
          <a:blip r:embed="rId3">
            <a:extLst>
              <a:ext uri="{28A0092B-C50C-407E-A947-70E740481C1C}">
                <a14:useLocalDpi xmlns:a14="http://schemas.microsoft.com/office/drawing/2010/main" val="0"/>
              </a:ext>
            </a:extLst>
          </a:blip>
          <a:srcRect l="19473" t="6334" r="19705" b="7111"/>
          <a:stretch/>
        </p:blipFill>
        <p:spPr bwMode="auto">
          <a:xfrm>
            <a:off x="6993225" y="4293096"/>
            <a:ext cx="1813192" cy="177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214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23528" y="692696"/>
                <a:ext cx="7772400" cy="6165304"/>
              </a:xfrm>
            </p:spPr>
            <p:txBody>
              <a:bodyPr>
                <a:normAutofit lnSpcReduction="10000"/>
              </a:bodyPr>
              <a:lstStyle/>
              <a:p>
                <a:r>
                  <a:rPr lang="es-CR" sz="2000" dirty="0" smtClean="0"/>
                  <a:t>La fórmula:</a:t>
                </a:r>
              </a:p>
              <a:p>
                <a:pPr marL="0" indent="0">
                  <a:buNone/>
                </a:pPr>
                <a14:m>
                  <m:oMathPara xmlns:m="http://schemas.openxmlformats.org/officeDocument/2006/math">
                    <m:oMathParaPr>
                      <m:jc m:val="centerGroup"/>
                    </m:oMathParaPr>
                    <m:oMath xmlns:m="http://schemas.openxmlformats.org/officeDocument/2006/math">
                      <m:r>
                        <a:rPr lang="es-CR" sz="1700" i="1">
                          <a:latin typeface="Cambria Math"/>
                        </a:rPr>
                        <m:t>𝑟</m:t>
                      </m:r>
                      <m:r>
                        <a:rPr lang="es-CR" sz="1700" i="1">
                          <a:latin typeface="Cambria Math"/>
                        </a:rPr>
                        <m:t>=</m:t>
                      </m:r>
                      <m:f>
                        <m:fPr>
                          <m:ctrlPr>
                            <a:rPr lang="es-CR" sz="1700" i="1">
                              <a:latin typeface="Cambria Math"/>
                            </a:rPr>
                          </m:ctrlPr>
                        </m:fPr>
                        <m:num>
                          <m:r>
                            <a:rPr lang="es-CR" sz="1700" i="1">
                              <a:latin typeface="Cambria Math"/>
                            </a:rPr>
                            <m:t>𝑛</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r>
                                <a:rPr lang="es-CR" sz="1700" i="1">
                                  <a:latin typeface="Cambria Math"/>
                                </a:rPr>
                                <m:t>𝑋𝑖𝑌𝑖</m:t>
                              </m:r>
                            </m:e>
                          </m:nary>
                          <m:r>
                            <a:rPr lang="es-CR" sz="1700" i="1">
                              <a:latin typeface="Cambria Math"/>
                            </a:rPr>
                            <m:t>−</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a:rPr>
                                  </m:ctrlPr>
                                </m:sSubPr>
                                <m:e>
                                  <m:r>
                                    <a:rPr lang="es-CR" sz="1700" i="1">
                                      <a:latin typeface="Cambria Math"/>
                                    </a:rPr>
                                    <m:t>𝑋</m:t>
                                  </m:r>
                                </m:e>
                                <m:sub>
                                  <m:r>
                                    <a:rPr lang="es-CR" sz="1700" i="1">
                                      <a:latin typeface="Cambria Math"/>
                                    </a:rPr>
                                    <m:t>𝑖</m:t>
                                  </m:r>
                                </m:sub>
                              </m:sSub>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a:rPr>
                                      </m:ctrlPr>
                                    </m:sSubPr>
                                    <m:e>
                                      <m:r>
                                        <a:rPr lang="es-CR" sz="1700" i="1">
                                          <a:latin typeface="Cambria Math"/>
                                        </a:rPr>
                                        <m:t>𝑌</m:t>
                                      </m:r>
                                    </m:e>
                                    <m:sub>
                                      <m:r>
                                        <a:rPr lang="es-CR" sz="1700" i="1">
                                          <a:latin typeface="Cambria Math"/>
                                        </a:rPr>
                                        <m:t>𝑖</m:t>
                                      </m:r>
                                    </m:sub>
                                  </m:sSub>
                                </m:e>
                              </m:nary>
                            </m:e>
                          </m:nary>
                        </m:num>
                        <m:den>
                          <m:rad>
                            <m:radPr>
                              <m:degHide m:val="on"/>
                              <m:ctrlPr>
                                <a:rPr lang="es-CR" sz="1700" i="1">
                                  <a:latin typeface="Cambria Math"/>
                                </a:rPr>
                              </m:ctrlPr>
                            </m:radPr>
                            <m:deg/>
                            <m:e>
                              <m:d>
                                <m:dPr>
                                  <m:begChr m:val="["/>
                                  <m:endChr m:val="]"/>
                                  <m:ctrlPr>
                                    <a:rPr lang="es-CR" sz="1700" i="1">
                                      <a:latin typeface="Cambria Math"/>
                                    </a:rPr>
                                  </m:ctrlPr>
                                </m:dPr>
                                <m:e>
                                  <m:r>
                                    <a:rPr lang="es-CR" sz="1700" i="1">
                                      <a:latin typeface="Cambria Math"/>
                                    </a:rPr>
                                    <m:t>𝑛</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p>
                                        <m:sSupPr>
                                          <m:ctrlPr>
                                            <a:rPr lang="es-CR" sz="1700" i="1">
                                              <a:latin typeface="Cambria Math"/>
                                            </a:rPr>
                                          </m:ctrlPr>
                                        </m:sSupPr>
                                        <m:e>
                                          <m:sSub>
                                            <m:sSubPr>
                                              <m:ctrlPr>
                                                <a:rPr lang="es-CR" sz="1700" i="1">
                                                  <a:latin typeface="Cambria Math"/>
                                                </a:rPr>
                                              </m:ctrlPr>
                                            </m:sSubPr>
                                            <m:e>
                                              <m:r>
                                                <a:rPr lang="es-CR" sz="1700" i="1">
                                                  <a:latin typeface="Cambria Math"/>
                                                </a:rPr>
                                                <m:t>𝑋</m:t>
                                              </m:r>
                                            </m:e>
                                            <m:sub>
                                              <m:r>
                                                <a:rPr lang="es-CR" sz="1700" i="1">
                                                  <a:latin typeface="Cambria Math"/>
                                                </a:rPr>
                                                <m:t>𝑖</m:t>
                                              </m:r>
                                            </m:sub>
                                          </m:sSub>
                                        </m:e>
                                        <m:sup>
                                          <m:r>
                                            <a:rPr lang="es-CR" sz="1700" i="1">
                                              <a:latin typeface="Cambria Math"/>
                                            </a:rPr>
                                            <m:t>2</m:t>
                                          </m:r>
                                        </m:sup>
                                      </m:sSup>
                                    </m:e>
                                  </m:nary>
                                  <m:r>
                                    <a:rPr lang="es-CR" sz="1700" i="1">
                                      <a:latin typeface="Cambria Math"/>
                                    </a:rPr>
                                    <m:t>−</m:t>
                                  </m:r>
                                  <m:sSup>
                                    <m:sSupPr>
                                      <m:ctrlPr>
                                        <a:rPr lang="es-CR" sz="1700" i="1">
                                          <a:latin typeface="Cambria Math"/>
                                        </a:rPr>
                                      </m:ctrlPr>
                                    </m:sSupPr>
                                    <m:e>
                                      <m:r>
                                        <a:rPr lang="es-CR" sz="1700" i="1">
                                          <a:latin typeface="Cambria Math"/>
                                        </a:rPr>
                                        <m:t>(</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a:rPr>
                                              </m:ctrlPr>
                                            </m:sSubPr>
                                            <m:e>
                                              <m:r>
                                                <a:rPr lang="es-CR" sz="1700" i="1">
                                                  <a:latin typeface="Cambria Math"/>
                                                </a:rPr>
                                                <m:t>𝑥</m:t>
                                              </m:r>
                                            </m:e>
                                            <m:sub>
                                              <m:r>
                                                <a:rPr lang="es-CR" sz="1700" i="1">
                                                  <a:latin typeface="Cambria Math"/>
                                                </a:rPr>
                                                <m:t>𝑖</m:t>
                                              </m:r>
                                            </m:sub>
                                          </m:sSub>
                                        </m:e>
                                      </m:nary>
                                      <m:r>
                                        <a:rPr lang="es-CR" sz="1700" i="1">
                                          <a:latin typeface="Cambria Math"/>
                                        </a:rPr>
                                        <m:t>)</m:t>
                                      </m:r>
                                    </m:e>
                                    <m:sup>
                                      <m:r>
                                        <a:rPr lang="es-CR" sz="1700" i="1">
                                          <a:latin typeface="Cambria Math"/>
                                        </a:rPr>
                                        <m:t>2</m:t>
                                      </m:r>
                                    </m:sup>
                                  </m:sSup>
                                </m:e>
                              </m:d>
                              <m:r>
                                <a:rPr lang="es-CR" sz="1700" i="1">
                                  <a:latin typeface="Cambria Math"/>
                                </a:rPr>
                                <m:t>∗</m:t>
                              </m:r>
                              <m:d>
                                <m:dPr>
                                  <m:begChr m:val="["/>
                                  <m:endChr m:val="]"/>
                                  <m:ctrlPr>
                                    <a:rPr lang="es-CR" sz="1700" i="1">
                                      <a:latin typeface="Cambria Math"/>
                                    </a:rPr>
                                  </m:ctrlPr>
                                </m:dPr>
                                <m:e>
                                  <m:r>
                                    <a:rPr lang="es-CR" sz="1700" i="1">
                                      <a:latin typeface="Cambria Math"/>
                                    </a:rPr>
                                    <m:t>𝑛</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p>
                                        <m:sSupPr>
                                          <m:ctrlPr>
                                            <a:rPr lang="es-CR" sz="1700" i="1">
                                              <a:latin typeface="Cambria Math"/>
                                            </a:rPr>
                                          </m:ctrlPr>
                                        </m:sSupPr>
                                        <m:e>
                                          <m:sSub>
                                            <m:sSubPr>
                                              <m:ctrlPr>
                                                <a:rPr lang="es-CR" sz="1700" i="1">
                                                  <a:latin typeface="Cambria Math"/>
                                                </a:rPr>
                                              </m:ctrlPr>
                                            </m:sSubPr>
                                            <m:e>
                                              <m:r>
                                                <a:rPr lang="es-CR" sz="1700" i="1">
                                                  <a:latin typeface="Cambria Math"/>
                                                </a:rPr>
                                                <m:t>𝑌</m:t>
                                              </m:r>
                                            </m:e>
                                            <m:sub>
                                              <m:r>
                                                <a:rPr lang="es-CR" sz="1700" i="1">
                                                  <a:latin typeface="Cambria Math"/>
                                                </a:rPr>
                                                <m:t>𝑖</m:t>
                                              </m:r>
                                            </m:sub>
                                          </m:sSub>
                                        </m:e>
                                        <m:sup>
                                          <m:r>
                                            <a:rPr lang="es-CR" sz="1700" i="1">
                                              <a:latin typeface="Cambria Math"/>
                                            </a:rPr>
                                            <m:t>2</m:t>
                                          </m:r>
                                        </m:sup>
                                      </m:sSup>
                                    </m:e>
                                  </m:nary>
                                  <m:r>
                                    <a:rPr lang="es-CR" sz="1700" i="1">
                                      <a:latin typeface="Cambria Math"/>
                                    </a:rPr>
                                    <m:t>−</m:t>
                                  </m:r>
                                  <m:sSup>
                                    <m:sSupPr>
                                      <m:ctrlPr>
                                        <a:rPr lang="es-CR" sz="1700" i="1">
                                          <a:latin typeface="Cambria Math"/>
                                        </a:rPr>
                                      </m:ctrlPr>
                                    </m:sSupPr>
                                    <m:e>
                                      <m:r>
                                        <a:rPr lang="es-CR" sz="1700" i="1">
                                          <a:latin typeface="Cambria Math"/>
                                        </a:rPr>
                                        <m:t>(</m:t>
                                      </m:r>
                                      <m:nary>
                                        <m:naryPr>
                                          <m:chr m:val="∑"/>
                                          <m:limLoc m:val="undOvr"/>
                                          <m:ctrlPr>
                                            <a:rPr lang="es-CR" sz="1700" i="1">
                                              <a:latin typeface="Cambria Math"/>
                                            </a:rPr>
                                          </m:ctrlPr>
                                        </m:naryPr>
                                        <m:sub>
                                          <m:r>
                                            <a:rPr lang="es-CR" sz="1700" i="1">
                                              <a:latin typeface="Cambria Math"/>
                                            </a:rPr>
                                            <m:t>𝑖</m:t>
                                          </m:r>
                                          <m:r>
                                            <a:rPr lang="es-CR" sz="1700" i="1">
                                              <a:latin typeface="Cambria Math"/>
                                            </a:rPr>
                                            <m:t>=1</m:t>
                                          </m:r>
                                        </m:sub>
                                        <m:sup>
                                          <m:r>
                                            <a:rPr lang="es-CR" sz="1700" i="1">
                                              <a:latin typeface="Cambria Math"/>
                                            </a:rPr>
                                            <m:t>𝑛</m:t>
                                          </m:r>
                                        </m:sup>
                                        <m:e>
                                          <m:sSub>
                                            <m:sSubPr>
                                              <m:ctrlPr>
                                                <a:rPr lang="es-CR" sz="1700" i="1">
                                                  <a:latin typeface="Cambria Math"/>
                                                </a:rPr>
                                              </m:ctrlPr>
                                            </m:sSubPr>
                                            <m:e>
                                              <m:r>
                                                <a:rPr lang="es-CR" sz="1700" i="1">
                                                  <a:latin typeface="Cambria Math"/>
                                                </a:rPr>
                                                <m:t>𝑌</m:t>
                                              </m:r>
                                            </m:e>
                                            <m:sub>
                                              <m:r>
                                                <a:rPr lang="es-CR" sz="1700" i="1">
                                                  <a:latin typeface="Cambria Math"/>
                                                </a:rPr>
                                                <m:t>𝑖</m:t>
                                              </m:r>
                                            </m:sub>
                                          </m:sSub>
                                        </m:e>
                                      </m:nary>
                                      <m:r>
                                        <a:rPr lang="es-CR" sz="1700" i="1">
                                          <a:latin typeface="Cambria Math"/>
                                        </a:rPr>
                                        <m:t>)</m:t>
                                      </m:r>
                                    </m:e>
                                    <m:sup>
                                      <m:r>
                                        <a:rPr lang="es-CR" sz="1700" i="1">
                                          <a:latin typeface="Cambria Math"/>
                                        </a:rPr>
                                        <m:t>2</m:t>
                                      </m:r>
                                    </m:sup>
                                  </m:sSup>
                                </m:e>
                              </m:d>
                            </m:e>
                          </m:rad>
                        </m:den>
                      </m:f>
                    </m:oMath>
                  </m:oMathPara>
                </a14:m>
                <a:endParaRPr lang="es-CR" sz="1700" dirty="0" smtClean="0"/>
              </a:p>
              <a:p>
                <a:pPr marL="0" indent="0">
                  <a:buNone/>
                </a:pPr>
                <a:endParaRPr lang="es-CR" sz="2000" dirty="0" smtClean="0"/>
              </a:p>
              <a:p>
                <a:r>
                  <a:rPr lang="es-CR" sz="2000" dirty="0" smtClean="0"/>
                  <a:t>Para obtener los resultados:</a:t>
                </a:r>
              </a:p>
              <a:p>
                <a:endParaRPr lang="es-CR" sz="2000" dirty="0"/>
              </a:p>
              <a:p>
                <a:endParaRPr lang="es-CR" sz="2000" dirty="0" smtClean="0"/>
              </a:p>
              <a:p>
                <a:endParaRPr lang="es-CR" sz="2000" dirty="0"/>
              </a:p>
              <a:p>
                <a:endParaRPr lang="es-CR" sz="2000" dirty="0" smtClean="0"/>
              </a:p>
              <a:p>
                <a:endParaRPr lang="es-CR" sz="2000" dirty="0"/>
              </a:p>
              <a:p>
                <a:endParaRPr lang="es-CR" sz="2000" dirty="0" smtClean="0"/>
              </a:p>
              <a:p>
                <a:endParaRPr lang="es-CR" sz="2000" dirty="0"/>
              </a:p>
              <a:p>
                <a:endParaRPr lang="es-CR" sz="2000" dirty="0" smtClean="0"/>
              </a:p>
              <a:p>
                <a:endParaRPr lang="es-CR" sz="2000" dirty="0" smtClean="0"/>
              </a:p>
              <a:p>
                <a:endParaRPr lang="es-CR" sz="2000" dirty="0"/>
              </a:p>
              <a:p>
                <a:pPr marL="0" indent="0">
                  <a:buNone/>
                </a:pPr>
                <a14:m>
                  <m:oMathPara xmlns:m="http://schemas.openxmlformats.org/officeDocument/2006/math">
                    <m:oMathParaPr>
                      <m:jc m:val="centerGroup"/>
                    </m:oMathParaPr>
                    <m:oMath xmlns:m="http://schemas.openxmlformats.org/officeDocument/2006/math">
                      <m:r>
                        <a:rPr lang="es-CR" sz="1700" i="1">
                          <a:latin typeface="Cambria Math"/>
                        </a:rPr>
                        <m:t>𝑟</m:t>
                      </m:r>
                      <m:r>
                        <a:rPr lang="es-CR" sz="1700" i="1">
                          <a:latin typeface="Cambria Math"/>
                        </a:rPr>
                        <m:t>=</m:t>
                      </m:r>
                      <m:f>
                        <m:fPr>
                          <m:ctrlPr>
                            <a:rPr lang="es-CR" sz="1700" i="1">
                              <a:latin typeface="Cambria Math"/>
                            </a:rPr>
                          </m:ctrlPr>
                        </m:fPr>
                        <m:num>
                          <m:r>
                            <m:rPr>
                              <m:brk/>
                            </m:rPr>
                            <a:rPr lang="es-CR" sz="1700" b="0" i="1" smtClean="0">
                              <a:latin typeface="Cambria Math"/>
                            </a:rPr>
                            <m:t>7</m:t>
                          </m:r>
                          <m:r>
                            <a:rPr lang="es-CR" sz="1700" b="0" i="1" smtClean="0">
                              <a:latin typeface="Cambria Math"/>
                            </a:rPr>
                            <m:t>∗13483</m:t>
                          </m:r>
                          <m:r>
                            <a:rPr lang="es-CR" sz="1700" i="1">
                              <a:latin typeface="Cambria Math"/>
                            </a:rPr>
                            <m:t>−</m:t>
                          </m:r>
                          <m:r>
                            <a:rPr lang="es-CR" sz="1700" b="0" i="1" smtClean="0">
                              <a:latin typeface="Cambria Math"/>
                            </a:rPr>
                            <m:t>(183∗499)</m:t>
                          </m:r>
                        </m:num>
                        <m:den>
                          <m:rad>
                            <m:radPr>
                              <m:degHide m:val="on"/>
                              <m:ctrlPr>
                                <a:rPr lang="es-CR" sz="1700" i="1">
                                  <a:latin typeface="Cambria Math"/>
                                </a:rPr>
                              </m:ctrlPr>
                            </m:radPr>
                            <m:deg/>
                            <m:e>
                              <m:d>
                                <m:dPr>
                                  <m:begChr m:val="["/>
                                  <m:endChr m:val="]"/>
                                  <m:ctrlPr>
                                    <a:rPr lang="es-CR" sz="1700" i="1">
                                      <a:latin typeface="Cambria Math"/>
                                    </a:rPr>
                                  </m:ctrlPr>
                                </m:dPr>
                                <m:e>
                                  <m:r>
                                    <m:rPr>
                                      <m:brk/>
                                    </m:rPr>
                                    <a:rPr lang="es-CR" sz="1700" b="0" i="1" smtClean="0">
                                      <a:latin typeface="Cambria Math"/>
                                    </a:rPr>
                                    <m:t>7</m:t>
                                  </m:r>
                                  <m:r>
                                    <a:rPr lang="es-CR" sz="1700" b="0" i="1" smtClean="0">
                                      <a:latin typeface="Cambria Math"/>
                                    </a:rPr>
                                    <m:t>∗5319</m:t>
                                  </m:r>
                                  <m:r>
                                    <a:rPr lang="es-CR" sz="1700" i="1">
                                      <a:latin typeface="Cambria Math"/>
                                    </a:rPr>
                                    <m:t>−</m:t>
                                  </m:r>
                                  <m:sSup>
                                    <m:sSupPr>
                                      <m:ctrlPr>
                                        <a:rPr lang="es-CR" sz="1700" i="1">
                                          <a:latin typeface="Cambria Math"/>
                                        </a:rPr>
                                      </m:ctrlPr>
                                    </m:sSupPr>
                                    <m:e>
                                      <m:r>
                                        <a:rPr lang="es-CR" sz="1700" i="1">
                                          <a:latin typeface="Cambria Math"/>
                                        </a:rPr>
                                        <m:t>(</m:t>
                                      </m:r>
                                      <m:r>
                                        <a:rPr lang="es-CR" sz="1700" b="0" i="1" smtClean="0">
                                          <a:latin typeface="Cambria Math"/>
                                        </a:rPr>
                                        <m:t>183</m:t>
                                      </m:r>
                                      <m:r>
                                        <a:rPr lang="es-CR" sz="1700" i="1">
                                          <a:latin typeface="Cambria Math"/>
                                        </a:rPr>
                                        <m:t>)</m:t>
                                      </m:r>
                                    </m:e>
                                    <m:sup>
                                      <m:r>
                                        <a:rPr lang="es-CR" sz="1700" i="1">
                                          <a:latin typeface="Cambria Math"/>
                                        </a:rPr>
                                        <m:t>2</m:t>
                                      </m:r>
                                    </m:sup>
                                  </m:sSup>
                                </m:e>
                              </m:d>
                              <m:r>
                                <a:rPr lang="es-CR" sz="1700" i="1">
                                  <a:latin typeface="Cambria Math"/>
                                </a:rPr>
                                <m:t>∗</m:t>
                              </m:r>
                              <m:d>
                                <m:dPr>
                                  <m:begChr m:val="["/>
                                  <m:endChr m:val="]"/>
                                  <m:ctrlPr>
                                    <a:rPr lang="es-CR" sz="1700" i="1">
                                      <a:latin typeface="Cambria Math"/>
                                    </a:rPr>
                                  </m:ctrlPr>
                                </m:dPr>
                                <m:e>
                                  <m:r>
                                    <m:rPr>
                                      <m:brk/>
                                    </m:rPr>
                                    <a:rPr lang="es-CR" sz="1700" b="0" i="1" smtClean="0">
                                      <a:latin typeface="Cambria Math"/>
                                    </a:rPr>
                                    <m:t>7</m:t>
                                  </m:r>
                                  <m:r>
                                    <a:rPr lang="es-CR" sz="1700" b="0" i="1" smtClean="0">
                                      <a:latin typeface="Cambria Math"/>
                                    </a:rPr>
                                    <m:t>∗36403</m:t>
                                  </m:r>
                                  <m:r>
                                    <a:rPr lang="es-CR" sz="1700" i="1">
                                      <a:latin typeface="Cambria Math"/>
                                    </a:rPr>
                                    <m:t>−</m:t>
                                  </m:r>
                                  <m:sSup>
                                    <m:sSupPr>
                                      <m:ctrlPr>
                                        <a:rPr lang="es-CR" sz="1700" i="1">
                                          <a:latin typeface="Cambria Math"/>
                                        </a:rPr>
                                      </m:ctrlPr>
                                    </m:sSupPr>
                                    <m:e>
                                      <m:r>
                                        <a:rPr lang="es-CR" sz="1700" i="1">
                                          <a:latin typeface="Cambria Math"/>
                                        </a:rPr>
                                        <m:t>(</m:t>
                                      </m:r>
                                      <m:r>
                                        <a:rPr lang="es-CR" sz="1700" b="0" i="1" smtClean="0">
                                          <a:latin typeface="Cambria Math"/>
                                        </a:rPr>
                                        <m:t>499</m:t>
                                      </m:r>
                                      <m:r>
                                        <a:rPr lang="es-CR" sz="1700" i="1">
                                          <a:latin typeface="Cambria Math"/>
                                        </a:rPr>
                                        <m:t>)</m:t>
                                      </m:r>
                                    </m:e>
                                    <m:sup>
                                      <m:r>
                                        <a:rPr lang="es-CR" sz="1700" i="1">
                                          <a:latin typeface="Cambria Math"/>
                                        </a:rPr>
                                        <m:t>2</m:t>
                                      </m:r>
                                    </m:sup>
                                  </m:sSup>
                                </m:e>
                              </m:d>
                            </m:e>
                          </m:rad>
                        </m:den>
                      </m:f>
                      <m:r>
                        <a:rPr lang="es-CR" sz="1700" b="0" i="1" smtClean="0">
                          <a:latin typeface="Cambria Math"/>
                        </a:rPr>
                        <m:t>=0,6564</m:t>
                      </m:r>
                    </m:oMath>
                  </m:oMathPara>
                </a14:m>
                <a:endParaRPr lang="es-CR" sz="2000"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23528" y="692696"/>
                <a:ext cx="7772400" cy="6165304"/>
              </a:xfrm>
              <a:blipFill rotWithShape="1">
                <a:blip r:embed="rId2"/>
                <a:stretch>
                  <a:fillRect l="-235" t="-791"/>
                </a:stretch>
              </a:blipFill>
            </p:spPr>
            <p:txBody>
              <a:bodyPr/>
              <a:lstStyle/>
              <a:p>
                <a:r>
                  <a:rPr lang="es-CR">
                    <a:noFill/>
                  </a:rPr>
                  <a:t> </a:t>
                </a:r>
              </a:p>
            </p:txBody>
          </p:sp>
        </mc:Fallback>
      </mc:AlternateContent>
      <p:sp>
        <p:nvSpPr>
          <p:cNvPr id="4" name="6 Título"/>
          <p:cNvSpPr>
            <a:spLocks noGrp="1"/>
          </p:cNvSpPr>
          <p:nvPr>
            <p:ph type="title"/>
          </p:nvPr>
        </p:nvSpPr>
        <p:spPr>
          <a:xfrm>
            <a:off x="539552" y="116632"/>
            <a:ext cx="7772400" cy="648072"/>
          </a:xfrm>
        </p:spPr>
        <p:txBody>
          <a:bodyPr>
            <a:normAutofit/>
          </a:bodyPr>
          <a:lstStyle/>
          <a:p>
            <a:pPr algn="ctr"/>
            <a:r>
              <a:rPr lang="es-CR" sz="3200" dirty="0" smtClean="0"/>
              <a:t>Análisis de correlación</a:t>
            </a:r>
            <a:endParaRPr lang="es-CR" sz="3200" dirty="0"/>
          </a:p>
        </p:txBody>
      </p:sp>
      <p:graphicFrame>
        <p:nvGraphicFramePr>
          <p:cNvPr id="5" name="4 Tabla"/>
          <p:cNvGraphicFramePr>
            <a:graphicFrameLocks noGrp="1"/>
          </p:cNvGraphicFramePr>
          <p:nvPr>
            <p:extLst>
              <p:ext uri="{D42A27DB-BD31-4B8C-83A1-F6EECF244321}">
                <p14:modId xmlns:p14="http://schemas.microsoft.com/office/powerpoint/2010/main" val="898004505"/>
              </p:ext>
            </p:extLst>
          </p:nvPr>
        </p:nvGraphicFramePr>
        <p:xfrm>
          <a:off x="323528" y="2852935"/>
          <a:ext cx="4896543" cy="2664297"/>
        </p:xfrm>
        <a:graphic>
          <a:graphicData uri="http://schemas.openxmlformats.org/drawingml/2006/table">
            <a:tbl>
              <a:tblPr>
                <a:tableStyleId>{9D7B26C5-4107-4FEC-AEDC-1716B250A1EF}</a:tableStyleId>
              </a:tblPr>
              <a:tblGrid>
                <a:gridCol w="502209"/>
                <a:gridCol w="1053020"/>
                <a:gridCol w="1008469"/>
                <a:gridCol w="777615"/>
                <a:gridCol w="777615"/>
                <a:gridCol w="777615"/>
              </a:tblGrid>
              <a:tr h="296033">
                <a:tc>
                  <a:txBody>
                    <a:bodyPr/>
                    <a:lstStyle/>
                    <a:p>
                      <a:pPr algn="ctr" fontAlgn="b"/>
                      <a:r>
                        <a:rPr lang="es-CR" sz="1600" b="1" u="none" strike="noStrike" dirty="0">
                          <a:effectLst/>
                        </a:rPr>
                        <a:t> </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Edad (X)</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Peso (Y)</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X^2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Y^2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XY</a:t>
                      </a:r>
                      <a:endParaRPr lang="es-CR" sz="1600" b="1" i="0" u="none" strike="noStrike" dirty="0">
                        <a:solidFill>
                          <a:srgbClr val="000000"/>
                        </a:solidFill>
                        <a:effectLst/>
                        <a:latin typeface="Calibri"/>
                      </a:endParaRPr>
                    </a:p>
                  </a:txBody>
                  <a:tcPr marL="9525" marR="9525" marT="9525" marB="0" anchor="b"/>
                </a:tc>
              </a:tr>
              <a:tr h="296033">
                <a:tc>
                  <a:txBody>
                    <a:bodyPr/>
                    <a:lstStyle/>
                    <a:p>
                      <a:pPr algn="ctr" fontAlgn="b"/>
                      <a:r>
                        <a:rPr lang="es-CR" sz="1600" b="1" u="none" strike="noStrike" dirty="0">
                          <a:effectLst/>
                        </a:rPr>
                        <a:t>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3600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900</a:t>
                      </a:r>
                      <a:endParaRPr lang="es-CR" sz="1600" b="1" i="0" u="none" strike="noStrike" dirty="0">
                        <a:solidFill>
                          <a:srgbClr val="000000"/>
                        </a:solidFill>
                        <a:effectLst/>
                        <a:latin typeface="Calibri"/>
                      </a:endParaRPr>
                    </a:p>
                  </a:txBody>
                  <a:tcPr marL="9525" marR="9525" marT="9525" marB="0" anchor="b"/>
                </a:tc>
              </a:tr>
              <a:tr h="296033">
                <a:tc>
                  <a:txBody>
                    <a:bodyPr/>
                    <a:lstStyle/>
                    <a:p>
                      <a:pPr algn="ctr" fontAlgn="b"/>
                      <a:r>
                        <a:rPr lang="es-CR" sz="1600" b="1" u="none" strike="noStrike">
                          <a:effectLst/>
                        </a:rPr>
                        <a:t>2</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75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900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5625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2250</a:t>
                      </a:r>
                      <a:endParaRPr lang="es-CR" sz="1600" b="1" i="0" u="none" strike="noStrike">
                        <a:solidFill>
                          <a:srgbClr val="000000"/>
                        </a:solidFill>
                        <a:effectLst/>
                        <a:latin typeface="Calibri"/>
                      </a:endParaRPr>
                    </a:p>
                  </a:txBody>
                  <a:tcPr marL="9525" marR="9525" marT="9525" marB="0" anchor="b"/>
                </a:tc>
              </a:tr>
              <a:tr h="296033">
                <a:tc>
                  <a:txBody>
                    <a:bodyPr/>
                    <a:lstStyle/>
                    <a:p>
                      <a:pPr algn="ctr" fontAlgn="b"/>
                      <a:r>
                        <a:rPr lang="es-CR" sz="1600" b="1" u="none" strike="noStrike">
                          <a:effectLst/>
                        </a:rPr>
                        <a:t>3</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18</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67</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324</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4489</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1206</a:t>
                      </a:r>
                      <a:endParaRPr lang="es-CR" sz="1600" b="1" i="0" u="none" strike="noStrike">
                        <a:solidFill>
                          <a:srgbClr val="000000"/>
                        </a:solidFill>
                        <a:effectLst/>
                        <a:latin typeface="Calibri"/>
                      </a:endParaRPr>
                    </a:p>
                  </a:txBody>
                  <a:tcPr marL="9525" marR="9525" marT="9525" marB="0" anchor="b"/>
                </a:tc>
              </a:tr>
              <a:tr h="296033">
                <a:tc>
                  <a:txBody>
                    <a:bodyPr/>
                    <a:lstStyle/>
                    <a:p>
                      <a:pPr algn="ctr" fontAlgn="b"/>
                      <a:r>
                        <a:rPr lang="es-CR" sz="1600" b="1" u="none" strike="noStrike">
                          <a:effectLst/>
                        </a:rPr>
                        <a:t>4</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42</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80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1764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6400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3360</a:t>
                      </a:r>
                      <a:endParaRPr lang="es-CR" sz="1600" b="1" i="0" u="none" strike="noStrike">
                        <a:solidFill>
                          <a:srgbClr val="000000"/>
                        </a:solidFill>
                        <a:effectLst/>
                        <a:latin typeface="Calibri"/>
                      </a:endParaRPr>
                    </a:p>
                  </a:txBody>
                  <a:tcPr marL="9525" marR="9525" marT="9525" marB="0" anchor="b"/>
                </a:tc>
              </a:tr>
              <a:tr h="296033">
                <a:tc>
                  <a:txBody>
                    <a:bodyPr/>
                    <a:lstStyle/>
                    <a:p>
                      <a:pPr algn="ctr" fontAlgn="b"/>
                      <a:r>
                        <a:rPr lang="es-CR" sz="1600" b="1" u="none" strike="noStrike">
                          <a:effectLst/>
                        </a:rPr>
                        <a:t>5</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28</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60</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784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3600</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a:effectLst/>
                        </a:rPr>
                        <a:t>1680</a:t>
                      </a:r>
                      <a:endParaRPr lang="es-CR" sz="1600" b="1" i="0" u="none" strike="noStrike">
                        <a:solidFill>
                          <a:srgbClr val="000000"/>
                        </a:solidFill>
                        <a:effectLst/>
                        <a:latin typeface="Calibri"/>
                      </a:endParaRPr>
                    </a:p>
                  </a:txBody>
                  <a:tcPr marL="9525" marR="9525" marT="9525" marB="0" anchor="b"/>
                </a:tc>
              </a:tr>
              <a:tr h="296033">
                <a:tc>
                  <a:txBody>
                    <a:bodyPr/>
                    <a:lstStyle/>
                    <a:p>
                      <a:pPr algn="ctr" fontAlgn="b"/>
                      <a:r>
                        <a:rPr lang="es-CR" sz="1600" b="1" u="none" strike="noStrike">
                          <a:effectLst/>
                        </a:rPr>
                        <a:t>6</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19</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65</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a:effectLst/>
                        </a:rPr>
                        <a:t>361</a:t>
                      </a:r>
                      <a:endParaRPr lang="es-CR" sz="1600" b="1" i="0" u="none" strike="noStrike">
                        <a:solidFill>
                          <a:srgbClr val="000000"/>
                        </a:solidFill>
                        <a:effectLst/>
                        <a:latin typeface="Calibri"/>
                      </a:endParaRPr>
                    </a:p>
                  </a:txBody>
                  <a:tcPr marL="9525" marR="9525" marT="9525" marB="0" anchor="b"/>
                </a:tc>
                <a:tc>
                  <a:txBody>
                    <a:bodyPr/>
                    <a:lstStyle/>
                    <a:p>
                      <a:pPr algn="ctr" fontAlgn="b"/>
                      <a:r>
                        <a:rPr lang="es-CR" sz="1600" b="1" u="none" strike="noStrike" dirty="0">
                          <a:effectLst/>
                        </a:rPr>
                        <a:t>4225</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1235</a:t>
                      </a:r>
                      <a:endParaRPr lang="es-CR" sz="1600" b="1" i="0" u="none" strike="noStrike" dirty="0">
                        <a:solidFill>
                          <a:srgbClr val="000000"/>
                        </a:solidFill>
                        <a:effectLst/>
                        <a:latin typeface="Calibri"/>
                      </a:endParaRPr>
                    </a:p>
                  </a:txBody>
                  <a:tcPr marL="9525" marR="9525" marT="9525" marB="0" anchor="b"/>
                </a:tc>
              </a:tr>
              <a:tr h="296033">
                <a:tc>
                  <a:txBody>
                    <a:bodyPr/>
                    <a:lstStyle/>
                    <a:p>
                      <a:pPr algn="ctr" fontAlgn="b"/>
                      <a:r>
                        <a:rPr lang="es-CR" sz="1600" b="1" u="none" strike="noStrike" dirty="0">
                          <a:effectLst/>
                        </a:rPr>
                        <a:t>7</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92</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961</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8464</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2852</a:t>
                      </a:r>
                      <a:endParaRPr lang="es-CR" sz="1600" b="1" i="0" u="none" strike="noStrike" dirty="0">
                        <a:solidFill>
                          <a:srgbClr val="000000"/>
                        </a:solidFill>
                        <a:effectLst/>
                        <a:latin typeface="Calibri"/>
                      </a:endParaRPr>
                    </a:p>
                  </a:txBody>
                  <a:tcPr marL="9525" marR="9525" marT="9525" marB="0" anchor="b"/>
                </a:tc>
              </a:tr>
              <a:tr h="296033">
                <a:tc>
                  <a:txBody>
                    <a:bodyPr/>
                    <a:lstStyle/>
                    <a:p>
                      <a:pPr algn="l" fontAlgn="b"/>
                      <a:r>
                        <a:rPr lang="es-CR" sz="1600" b="1" u="none" strike="noStrike" dirty="0">
                          <a:effectLst/>
                        </a:rPr>
                        <a:t>Total</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183</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499</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5319</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36403</a:t>
                      </a:r>
                      <a:endParaRPr lang="es-CR" sz="1600" b="1" i="0" u="none" strike="noStrike" dirty="0">
                        <a:solidFill>
                          <a:srgbClr val="000000"/>
                        </a:solidFill>
                        <a:effectLst/>
                        <a:latin typeface="Calibri"/>
                      </a:endParaRPr>
                    </a:p>
                  </a:txBody>
                  <a:tcPr marL="9525" marR="9525" marT="9525" marB="0" anchor="b"/>
                </a:tc>
                <a:tc>
                  <a:txBody>
                    <a:bodyPr/>
                    <a:lstStyle/>
                    <a:p>
                      <a:pPr algn="ctr" fontAlgn="b"/>
                      <a:r>
                        <a:rPr lang="es-CR" sz="1600" b="1" u="none" strike="noStrike" dirty="0">
                          <a:effectLst/>
                        </a:rPr>
                        <a:t>13483</a:t>
                      </a:r>
                      <a:endParaRPr lang="es-CR" sz="1600" b="1" i="0" u="none" strike="noStrike" dirty="0">
                        <a:solidFill>
                          <a:srgbClr val="000000"/>
                        </a:solidFill>
                        <a:effectLst/>
                        <a:latin typeface="Calibri"/>
                      </a:endParaRPr>
                    </a:p>
                  </a:txBody>
                  <a:tcPr marL="9525" marR="9525" marT="9525" marB="0" anchor="b"/>
                </a:tc>
              </a:tr>
            </a:tbl>
          </a:graphicData>
        </a:graphic>
      </p:graphicFrame>
      <p:cxnSp>
        <p:nvCxnSpPr>
          <p:cNvPr id="9" name="8 Conector recto de flecha"/>
          <p:cNvCxnSpPr/>
          <p:nvPr/>
        </p:nvCxnSpPr>
        <p:spPr>
          <a:xfrm flipH="1">
            <a:off x="5436096" y="5373216"/>
            <a:ext cx="10081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Rectángulo"/>
          <p:cNvSpPr/>
          <p:nvPr/>
        </p:nvSpPr>
        <p:spPr>
          <a:xfrm>
            <a:off x="1115616" y="5229200"/>
            <a:ext cx="4104456"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78850" name="Picture 2" descr="http://school.discoveryeducation.com/clipart/images/calcltr.gif"/>
          <p:cNvPicPr>
            <a:picLocks noChangeAspect="1" noChangeArrowheads="1"/>
          </p:cNvPicPr>
          <p:nvPr/>
        </p:nvPicPr>
        <p:blipFill rotWithShape="1">
          <a:blip r:embed="rId3">
            <a:extLst>
              <a:ext uri="{28A0092B-C50C-407E-A947-70E740481C1C}">
                <a14:useLocalDpi xmlns:a14="http://schemas.microsoft.com/office/drawing/2010/main" val="0"/>
              </a:ext>
            </a:extLst>
          </a:blip>
          <a:srcRect l="14682" r="13833"/>
          <a:stretch/>
        </p:blipFill>
        <p:spPr bwMode="auto">
          <a:xfrm>
            <a:off x="6922412" y="2924943"/>
            <a:ext cx="1800200" cy="193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6869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8"/>
            <a:ext cx="5976664" cy="5544616"/>
          </a:xfrm>
        </p:spPr>
        <p:txBody>
          <a:bodyPr>
            <a:normAutofit/>
          </a:bodyPr>
          <a:lstStyle/>
          <a:p>
            <a:pPr algn="just"/>
            <a:r>
              <a:rPr lang="es-CR" sz="2000" dirty="0" smtClean="0"/>
              <a:t>Para su solución, se aplicó la fórmula de la correlación de Pearson.</a:t>
            </a:r>
          </a:p>
          <a:p>
            <a:pPr algn="just"/>
            <a:endParaRPr lang="es-CR" sz="2000" dirty="0"/>
          </a:p>
          <a:p>
            <a:pPr algn="just"/>
            <a:r>
              <a:rPr lang="es-CR" sz="2000" dirty="0" smtClean="0"/>
              <a:t>El resultado del coeficiente de correlación de Pearson resultó de 0,6564.</a:t>
            </a:r>
            <a:endParaRPr lang="es-CR" sz="2000" dirty="0"/>
          </a:p>
          <a:p>
            <a:pPr algn="just"/>
            <a:endParaRPr lang="es-CR" sz="2000" dirty="0"/>
          </a:p>
          <a:p>
            <a:pPr algn="just"/>
            <a:r>
              <a:rPr lang="es-CR" sz="2000" dirty="0" smtClean="0"/>
              <a:t>Al ser el resultado del coeficiente de Pearson de 0.6564 esto indica una relación positiva.</a:t>
            </a:r>
          </a:p>
          <a:p>
            <a:pPr algn="just"/>
            <a:endParaRPr lang="es-CR" sz="2000" dirty="0" smtClean="0"/>
          </a:p>
          <a:p>
            <a:pPr algn="just"/>
            <a:r>
              <a:rPr lang="es-CR" sz="2000" dirty="0"/>
              <a:t>La relación entre el peso y la edad, o la edad y el peso, resultó ser positiva. Esto es, entre más años de la persona, esta suele poseer mayor </a:t>
            </a:r>
            <a:r>
              <a:rPr lang="es-CR" sz="2000" dirty="0" smtClean="0"/>
              <a:t>peso, y viceversa.</a:t>
            </a:r>
          </a:p>
          <a:p>
            <a:pPr algn="just"/>
            <a:endParaRPr lang="es-CR" sz="2000" dirty="0"/>
          </a:p>
          <a:p>
            <a:pPr algn="just"/>
            <a:r>
              <a:rPr lang="es-CR" sz="2000" dirty="0" smtClean="0"/>
              <a:t>Nótese que no busca una explicación de una u otra variable, simplemente una relación entre ambas. </a:t>
            </a:r>
            <a:endParaRPr lang="es-CR" sz="2000" dirty="0"/>
          </a:p>
        </p:txBody>
      </p:sp>
      <p:sp>
        <p:nvSpPr>
          <p:cNvPr id="4" name="6 Título"/>
          <p:cNvSpPr>
            <a:spLocks noGrp="1"/>
          </p:cNvSpPr>
          <p:nvPr>
            <p:ph type="title"/>
          </p:nvPr>
        </p:nvSpPr>
        <p:spPr>
          <a:xfrm>
            <a:off x="539552" y="116632"/>
            <a:ext cx="7772400" cy="796950"/>
          </a:xfrm>
        </p:spPr>
        <p:txBody>
          <a:bodyPr>
            <a:normAutofit/>
          </a:bodyPr>
          <a:lstStyle/>
          <a:p>
            <a:pPr algn="ctr"/>
            <a:r>
              <a:rPr lang="es-CR" sz="3200" dirty="0" smtClean="0"/>
              <a:t>Análisis de correlación</a:t>
            </a:r>
            <a:endParaRPr lang="es-CR" sz="3200" dirty="0"/>
          </a:p>
        </p:txBody>
      </p:sp>
      <p:pic>
        <p:nvPicPr>
          <p:cNvPr id="79876" name="Picture 4" descr="http://thetyee.ca/Mediacheck/2013/03/24/Exclamation-Point.jpg"/>
          <p:cNvPicPr>
            <a:picLocks noChangeAspect="1" noChangeArrowheads="1"/>
          </p:cNvPicPr>
          <p:nvPr/>
        </p:nvPicPr>
        <p:blipFill rotWithShape="1">
          <a:blip r:embed="rId2">
            <a:extLst>
              <a:ext uri="{28A0092B-C50C-407E-A947-70E740481C1C}">
                <a14:useLocalDpi xmlns:a14="http://schemas.microsoft.com/office/drawing/2010/main" val="0"/>
              </a:ext>
            </a:extLst>
          </a:blip>
          <a:srcRect l="13516" t="8820" r="9333" b="11571"/>
          <a:stretch/>
        </p:blipFill>
        <p:spPr bwMode="auto">
          <a:xfrm>
            <a:off x="6732240" y="1196752"/>
            <a:ext cx="1909570" cy="2274798"/>
          </a:xfrm>
          <a:prstGeom prst="rect">
            <a:avLst/>
          </a:prstGeom>
          <a:noFill/>
          <a:extLst>
            <a:ext uri="{909E8E84-426E-40DD-AFC4-6F175D3DCCD1}">
              <a14:hiddenFill xmlns:a14="http://schemas.microsoft.com/office/drawing/2010/main">
                <a:solidFill>
                  <a:srgbClr val="FFFFFF"/>
                </a:solidFill>
              </a14:hiddenFill>
            </a:ext>
          </a:extLst>
        </p:spPr>
      </p:pic>
      <p:pic>
        <p:nvPicPr>
          <p:cNvPr id="79880" name="Picture 8" descr="http://photos.gograph.com/thumbs/CSP/CSP994/k1553694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837" y="4437112"/>
            <a:ext cx="1476375" cy="1619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7035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608" y="260648"/>
            <a:ext cx="6681936" cy="724942"/>
          </a:xfrm>
        </p:spPr>
        <p:txBody>
          <a:bodyPr>
            <a:normAutofit/>
          </a:bodyPr>
          <a:lstStyle/>
          <a:p>
            <a:r>
              <a:rPr lang="es-CR" sz="2800" dirty="0" smtClean="0"/>
              <a:t>¿De dónde surge la regresión?</a:t>
            </a:r>
            <a:endParaRPr lang="es-CR" sz="2800" dirty="0"/>
          </a:p>
        </p:txBody>
      </p:sp>
      <p:sp>
        <p:nvSpPr>
          <p:cNvPr id="3" name="2 Marcador de contenido"/>
          <p:cNvSpPr>
            <a:spLocks noGrp="1"/>
          </p:cNvSpPr>
          <p:nvPr>
            <p:ph sz="quarter" idx="1"/>
          </p:nvPr>
        </p:nvSpPr>
        <p:spPr>
          <a:xfrm>
            <a:off x="323528" y="1772816"/>
            <a:ext cx="5184576" cy="4752528"/>
          </a:xfrm>
        </p:spPr>
        <p:txBody>
          <a:bodyPr>
            <a:normAutofit lnSpcReduction="10000"/>
          </a:bodyPr>
          <a:lstStyle/>
          <a:p>
            <a:pPr algn="just"/>
            <a:r>
              <a:rPr lang="es-CR" sz="1800" dirty="0" smtClean="0"/>
              <a:t>Desarrollado por Sir Francis Galton a final del siglo XIX.</a:t>
            </a:r>
          </a:p>
          <a:p>
            <a:pPr algn="just"/>
            <a:endParaRPr lang="es-CR" sz="1800" dirty="0"/>
          </a:p>
          <a:p>
            <a:pPr algn="just"/>
            <a:r>
              <a:rPr lang="es-CR" sz="1800" dirty="0" smtClean="0"/>
              <a:t>Galton busco estudiar la relación entre las estaturas de los padres y de los hijos para predecir las edades.</a:t>
            </a:r>
          </a:p>
          <a:p>
            <a:pPr algn="just"/>
            <a:endParaRPr lang="es-CR" sz="1800" dirty="0" smtClean="0"/>
          </a:p>
          <a:p>
            <a:pPr algn="just"/>
            <a:r>
              <a:rPr lang="es-CR" sz="1800" dirty="0" smtClean="0"/>
              <a:t>Galton desarrolló los modelos matemáticos para regresar la estatura del padre y así saber para una edad determinada la estatura del hijo.</a:t>
            </a:r>
          </a:p>
          <a:p>
            <a:pPr algn="just"/>
            <a:endParaRPr lang="es-CR" sz="1800" dirty="0"/>
          </a:p>
          <a:p>
            <a:pPr algn="just"/>
            <a:r>
              <a:rPr lang="es-CR" sz="1800" dirty="0" smtClean="0"/>
              <a:t>El descubrimiento causó un revolución analítica importante, por lo que el término de regresión ha perdurado en el tiempo.</a:t>
            </a:r>
          </a:p>
          <a:p>
            <a:pPr algn="just"/>
            <a:endParaRPr lang="es-CR" sz="1800" dirty="0"/>
          </a:p>
          <a:p>
            <a:pPr algn="just"/>
            <a:r>
              <a:rPr lang="es-CR" sz="1800" dirty="0" smtClean="0"/>
              <a:t>Siempre se mantuvo la idea de buscar una función matemática que explicase la relación causal entre dos variables.</a:t>
            </a:r>
          </a:p>
        </p:txBody>
      </p:sp>
      <p:pic>
        <p:nvPicPr>
          <p:cNvPr id="69634" name="Picture 2" descr="http://www.jcu.edu.au/cgc/Galto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6315" y="764704"/>
            <a:ext cx="19050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http://thumb7.shutterstock.com/display_pic_with_logo/80091/80091,1249502380,19/stock-photo--d-human-measuring-her-height-with-ruler-34808308.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461" t="6253" r="15461" b="8457"/>
          <a:stretch/>
        </p:blipFill>
        <p:spPr bwMode="auto">
          <a:xfrm>
            <a:off x="6622002" y="3753133"/>
            <a:ext cx="1905000" cy="2456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936245"/>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484784"/>
            <a:ext cx="5400600" cy="5112568"/>
          </a:xfrm>
        </p:spPr>
        <p:txBody>
          <a:bodyPr>
            <a:normAutofit/>
          </a:bodyPr>
          <a:lstStyle/>
          <a:p>
            <a:pPr marL="0" indent="0">
              <a:buNone/>
            </a:pPr>
            <a:r>
              <a:rPr lang="es-CR" sz="1800" b="1" u="sng" dirty="0" smtClean="0"/>
              <a:t>Regresión bivariada </a:t>
            </a:r>
          </a:p>
          <a:p>
            <a:pPr marL="0" indent="0">
              <a:buNone/>
            </a:pPr>
            <a:endParaRPr lang="es-CR" sz="1800" dirty="0" smtClean="0"/>
          </a:p>
          <a:p>
            <a:pPr marL="0" indent="0">
              <a:buNone/>
            </a:pPr>
            <a:r>
              <a:rPr lang="es-CR" sz="1800" dirty="0" smtClean="0"/>
              <a:t>Una variable dependiente    (Y)</a:t>
            </a:r>
            <a:r>
              <a:rPr lang="es-CR" sz="1800" dirty="0"/>
              <a:t/>
            </a:r>
            <a:br>
              <a:rPr lang="es-CR" sz="1800" dirty="0"/>
            </a:br>
            <a:r>
              <a:rPr lang="es-CR" sz="1800" dirty="0" smtClean="0"/>
              <a:t>Una variable independiente (X)</a:t>
            </a:r>
          </a:p>
          <a:p>
            <a:pPr marL="0" indent="0">
              <a:buNone/>
            </a:pPr>
            <a:endParaRPr lang="es-CR" sz="1800" dirty="0" smtClean="0"/>
          </a:p>
          <a:p>
            <a:pPr marL="0" indent="0">
              <a:buNone/>
            </a:pPr>
            <a:endParaRPr lang="es-CR" sz="1800" dirty="0"/>
          </a:p>
          <a:p>
            <a:pPr marL="0" indent="0">
              <a:buNone/>
            </a:pPr>
            <a:endParaRPr lang="es-CR" sz="1800" dirty="0" smtClean="0"/>
          </a:p>
          <a:p>
            <a:pPr marL="0" indent="0">
              <a:buNone/>
            </a:pPr>
            <a:endParaRPr lang="es-CR" sz="1800" dirty="0"/>
          </a:p>
          <a:p>
            <a:pPr marL="0" indent="0">
              <a:buNone/>
            </a:pPr>
            <a:r>
              <a:rPr lang="es-CR" sz="1800" b="1" u="sng" dirty="0"/>
              <a:t>Regresión </a:t>
            </a:r>
            <a:r>
              <a:rPr lang="es-CR" sz="1800" b="1" u="sng" dirty="0" smtClean="0"/>
              <a:t>multivariada</a:t>
            </a:r>
          </a:p>
          <a:p>
            <a:pPr marL="0" indent="0">
              <a:buNone/>
            </a:pPr>
            <a:endParaRPr lang="es-CR" sz="1800" b="1" u="sng" dirty="0"/>
          </a:p>
          <a:p>
            <a:pPr marL="0" indent="0">
              <a:buNone/>
            </a:pPr>
            <a:r>
              <a:rPr lang="es-CR" sz="1800" dirty="0"/>
              <a:t>Una variable dependiente    </a:t>
            </a:r>
            <a:r>
              <a:rPr lang="es-CR" sz="1800" dirty="0" smtClean="0"/>
              <a:t>                     (Y)</a:t>
            </a:r>
            <a:br>
              <a:rPr lang="es-CR" sz="1800" dirty="0" smtClean="0"/>
            </a:br>
            <a:r>
              <a:rPr lang="es-CR" sz="1800" dirty="0" smtClean="0"/>
              <a:t>Dos o más variables independientes         (X1, X2 , …, Xp)</a:t>
            </a:r>
            <a:endParaRPr lang="es-CR" sz="1800" dirty="0"/>
          </a:p>
          <a:p>
            <a:pPr marL="0" indent="0">
              <a:buNone/>
            </a:pPr>
            <a:endParaRPr lang="es-CR" sz="1800" dirty="0"/>
          </a:p>
          <a:p>
            <a:pPr marL="0" indent="0">
              <a:buNone/>
            </a:pPr>
            <a:endParaRPr lang="es-CR" sz="1800" dirty="0" smtClean="0"/>
          </a:p>
        </p:txBody>
      </p:sp>
      <p:sp>
        <p:nvSpPr>
          <p:cNvPr id="4" name="1 Título"/>
          <p:cNvSpPr>
            <a:spLocks noGrp="1"/>
          </p:cNvSpPr>
          <p:nvPr>
            <p:ph type="title"/>
          </p:nvPr>
        </p:nvSpPr>
        <p:spPr>
          <a:xfrm>
            <a:off x="323528" y="332656"/>
            <a:ext cx="8280920" cy="792088"/>
          </a:xfrm>
        </p:spPr>
        <p:txBody>
          <a:bodyPr>
            <a:normAutofit/>
          </a:bodyPr>
          <a:lstStyle/>
          <a:p>
            <a:pPr algn="ctr"/>
            <a:r>
              <a:rPr lang="es-CR" sz="2800" dirty="0" smtClean="0"/>
              <a:t>Regresión bivariada y </a:t>
            </a:r>
            <a:r>
              <a:rPr lang="es-CR" sz="2800" dirty="0"/>
              <a:t>r</a:t>
            </a:r>
            <a:r>
              <a:rPr lang="es-CR" sz="2800" dirty="0" smtClean="0"/>
              <a:t>egresión multivariada</a:t>
            </a:r>
            <a:endParaRPr lang="es-CR" sz="2800" dirty="0"/>
          </a:p>
        </p:txBody>
      </p:sp>
      <p:pic>
        <p:nvPicPr>
          <p:cNvPr id="68610" name="Picture 2" descr="http://www.mu-sigma.com/analytics/images/cafe_cerebral/Linear%20regression%20%E2%80%93%20bivariate%20analysi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22033" y="1617339"/>
            <a:ext cx="2581275" cy="2171701"/>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ordination.okstate.edu/quadfi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0592" y="4359374"/>
            <a:ext cx="2381848" cy="2237978"/>
          </a:xfrm>
          <a:prstGeom prst="rect">
            <a:avLst/>
          </a:prstGeom>
          <a:noFill/>
          <a:extLst>
            <a:ext uri="{909E8E84-426E-40DD-AFC4-6F175D3DCCD1}">
              <a14:hiddenFill xmlns:a14="http://schemas.microsoft.com/office/drawing/2010/main">
                <a:solidFill>
                  <a:srgbClr val="FFFFFF"/>
                </a:solidFill>
              </a14:hiddenFill>
            </a:ext>
          </a:extLst>
        </p:spPr>
      </p:pic>
      <p:pic>
        <p:nvPicPr>
          <p:cNvPr id="6861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35696" y="2996952"/>
            <a:ext cx="1276350" cy="116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3688" y="5564460"/>
            <a:ext cx="2105025" cy="110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3930845"/>
      </p:ext>
    </p:extLst>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a:t>
            </a:r>
            <a:r>
              <a:rPr lang="es-CR" dirty="0" err="1" smtClean="0"/>
              <a:t>bivariada</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484784"/>
            <a:ext cx="5760640" cy="5112568"/>
          </a:xfrm>
        </p:spPr>
        <p:txBody>
          <a:bodyPr>
            <a:normAutofit/>
          </a:bodyPr>
          <a:lstStyle/>
          <a:p>
            <a:pPr algn="just"/>
            <a:r>
              <a:rPr lang="es-CR" sz="1800" dirty="0" smtClean="0"/>
              <a:t>Modelo de regresión cuenta con 6 etapas:</a:t>
            </a:r>
          </a:p>
          <a:p>
            <a:pPr algn="just"/>
            <a:endParaRPr lang="es-CR" sz="1800" dirty="0"/>
          </a:p>
          <a:p>
            <a:pPr marL="0" indent="0" algn="just">
              <a:buNone/>
            </a:pPr>
            <a:r>
              <a:rPr lang="es-CR" sz="1800" dirty="0" smtClean="0"/>
              <a:t>-Relación entre las variables</a:t>
            </a:r>
          </a:p>
          <a:p>
            <a:pPr marL="0" indent="0" algn="just">
              <a:buNone/>
            </a:pPr>
            <a:r>
              <a:rPr lang="es-CR" sz="1800" dirty="0" smtClean="0"/>
              <a:t>-Estimación de la recta de mejor ajuste (modelo de regresión)</a:t>
            </a:r>
          </a:p>
          <a:p>
            <a:pPr marL="0" indent="0" algn="just">
              <a:buNone/>
            </a:pPr>
            <a:r>
              <a:rPr lang="es-CR" sz="1800" dirty="0" smtClean="0"/>
              <a:t>-Diagnóstico del modelo de regresión</a:t>
            </a:r>
          </a:p>
          <a:p>
            <a:pPr marL="0" indent="0" algn="just">
              <a:buNone/>
            </a:pPr>
            <a:r>
              <a:rPr lang="es-CR" sz="1800" dirty="0" smtClean="0"/>
              <a:t>-Medidas remediales</a:t>
            </a:r>
          </a:p>
          <a:p>
            <a:pPr marL="0" indent="0" algn="just">
              <a:buNone/>
            </a:pPr>
            <a:r>
              <a:rPr lang="es-CR" sz="1800" dirty="0" smtClean="0"/>
              <a:t>-Estadísticas de bondad y ajuste</a:t>
            </a:r>
          </a:p>
          <a:p>
            <a:pPr marL="0" indent="0" algn="just">
              <a:buNone/>
            </a:pPr>
            <a:r>
              <a:rPr lang="es-CR" sz="1800" dirty="0" smtClean="0"/>
              <a:t>-Inferencia y prueba de hipótesis de los coeficientes del modelo</a:t>
            </a:r>
          </a:p>
          <a:p>
            <a:pPr marL="0" indent="0" algn="just">
              <a:buNone/>
            </a:pPr>
            <a:endParaRPr lang="es-CR" sz="1800" dirty="0"/>
          </a:p>
          <a:p>
            <a:pPr algn="just"/>
            <a:r>
              <a:rPr lang="es-CR" sz="1800" dirty="0" smtClean="0"/>
              <a:t>En la estimación de un modelo de regresión, se debe de seguir este orden.</a:t>
            </a:r>
          </a:p>
          <a:p>
            <a:pPr algn="just"/>
            <a:endParaRPr lang="es-CR" sz="1800" dirty="0"/>
          </a:p>
          <a:p>
            <a:pPr algn="just"/>
            <a:r>
              <a:rPr lang="es-CR" sz="1800" dirty="0" smtClean="0"/>
              <a:t>Las etapa </a:t>
            </a:r>
            <a:r>
              <a:rPr lang="es-CR" sz="1800" dirty="0"/>
              <a:t>de “Diagnóstico del modelo de </a:t>
            </a:r>
            <a:r>
              <a:rPr lang="es-CR" sz="1800" dirty="0" smtClean="0"/>
              <a:t>regresión” </a:t>
            </a:r>
            <a:r>
              <a:rPr lang="es-CR" sz="1800" dirty="0"/>
              <a:t>y “Medidas </a:t>
            </a:r>
            <a:r>
              <a:rPr lang="es-CR" sz="1800" dirty="0" smtClean="0"/>
              <a:t>remediales” y “Estadísticas de bondad y ajuste”  no se presentarán en el presente capítulo.</a:t>
            </a:r>
            <a:endParaRPr lang="es-CR" sz="1800" dirty="0"/>
          </a:p>
        </p:txBody>
      </p:sp>
      <p:sp>
        <p:nvSpPr>
          <p:cNvPr id="4" name="1 Título"/>
          <p:cNvSpPr>
            <a:spLocks noGrp="1"/>
          </p:cNvSpPr>
          <p:nvPr>
            <p:ph type="title"/>
          </p:nvPr>
        </p:nvSpPr>
        <p:spPr>
          <a:xfrm>
            <a:off x="467544" y="116632"/>
            <a:ext cx="8280920" cy="792088"/>
          </a:xfrm>
        </p:spPr>
        <p:txBody>
          <a:bodyPr>
            <a:normAutofit/>
          </a:bodyPr>
          <a:lstStyle/>
          <a:p>
            <a:pPr algn="ctr"/>
            <a:r>
              <a:rPr lang="es-CR" sz="2800" dirty="0" smtClean="0"/>
              <a:t>Etapas de un modelo de regresión bivariado</a:t>
            </a:r>
            <a:endParaRPr lang="es-CR" sz="2800" dirty="0"/>
          </a:p>
        </p:txBody>
      </p:sp>
      <p:pic>
        <p:nvPicPr>
          <p:cNvPr id="71682" name="Picture 2" descr="http://www.realcemexico.com/images/etapas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340768"/>
            <a:ext cx="2016224" cy="2828763"/>
          </a:xfrm>
          <a:prstGeom prst="rect">
            <a:avLst/>
          </a:prstGeom>
          <a:noFill/>
          <a:extLst>
            <a:ext uri="{909E8E84-426E-40DD-AFC4-6F175D3DCCD1}">
              <a14:hiddenFill xmlns:a14="http://schemas.microsoft.com/office/drawing/2010/main">
                <a:solidFill>
                  <a:srgbClr val="FFFFFF"/>
                </a:solidFill>
              </a14:hiddenFill>
            </a:ext>
          </a:extLst>
        </p:spPr>
      </p:pic>
      <p:pic>
        <p:nvPicPr>
          <p:cNvPr id="71686" name="Picture 6" descr="https://wrongwoman.files.wordpress.com/2013/03/depositphotos_5302825_m.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919" t="5799" r="12622" b="10807"/>
          <a:stretch/>
        </p:blipFill>
        <p:spPr bwMode="auto">
          <a:xfrm>
            <a:off x="6812429" y="4725144"/>
            <a:ext cx="1633444" cy="1391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322251"/>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16632"/>
            <a:ext cx="9144000" cy="692696"/>
          </a:xfrm>
        </p:spPr>
        <p:txBody>
          <a:bodyPr>
            <a:normAutofit/>
          </a:bodyPr>
          <a:lstStyle/>
          <a:p>
            <a:pPr algn="ctr"/>
            <a:r>
              <a:rPr lang="es-CR" sz="2800" dirty="0" smtClean="0"/>
              <a:t>Relaciones entre las variables: e principio de la regresión </a:t>
            </a:r>
            <a:endParaRPr lang="es-CR" sz="2800" dirty="0"/>
          </a:p>
        </p:txBody>
      </p:sp>
      <p:sp>
        <p:nvSpPr>
          <p:cNvPr id="3" name="2 Marcador de contenido"/>
          <p:cNvSpPr>
            <a:spLocks noGrp="1"/>
          </p:cNvSpPr>
          <p:nvPr>
            <p:ph sz="quarter" idx="1"/>
          </p:nvPr>
        </p:nvSpPr>
        <p:spPr>
          <a:xfrm>
            <a:off x="323528" y="1340768"/>
            <a:ext cx="5328592" cy="4536504"/>
          </a:xfrm>
        </p:spPr>
        <p:txBody>
          <a:bodyPr>
            <a:normAutofit/>
          </a:bodyPr>
          <a:lstStyle/>
          <a:p>
            <a:pPr algn="just"/>
            <a:r>
              <a:rPr lang="es-CR" sz="1800" dirty="0" smtClean="0"/>
              <a:t>Muchos estudios se basan en la creencia de identificar y cuantificar alguna relación asimétrica entre dos o más variables.</a:t>
            </a:r>
          </a:p>
          <a:p>
            <a:pPr algn="just"/>
            <a:endParaRPr lang="es-CR" sz="1800" dirty="0" smtClean="0"/>
          </a:p>
          <a:p>
            <a:pPr algn="just"/>
            <a:r>
              <a:rPr lang="es-CR" sz="1800" dirty="0" smtClean="0"/>
              <a:t>Esto es, para una variable “Y”, esta podría depender de cierta medida de otra variable “X”.</a:t>
            </a:r>
          </a:p>
          <a:p>
            <a:pPr algn="just"/>
            <a:endParaRPr lang="es-CR" sz="1800" dirty="0" smtClean="0"/>
          </a:p>
          <a:p>
            <a:pPr algn="just"/>
            <a:r>
              <a:rPr lang="es-CR" sz="1800" dirty="0" smtClean="0"/>
              <a:t>El análisis de regresión trata de </a:t>
            </a:r>
            <a:r>
              <a:rPr lang="es-CR" sz="1800" b="1" dirty="0" smtClean="0"/>
              <a:t>cuantificar o establecer una relación funcional</a:t>
            </a:r>
            <a:r>
              <a:rPr lang="es-CR" sz="1800" dirty="0" smtClean="0"/>
              <a:t> en la relación de estas variables. </a:t>
            </a:r>
          </a:p>
          <a:p>
            <a:pPr marL="0" indent="0" algn="just">
              <a:buNone/>
            </a:pPr>
            <a:endParaRPr lang="es-CR" sz="1800" dirty="0" smtClean="0"/>
          </a:p>
          <a:p>
            <a:pPr algn="just"/>
            <a:r>
              <a:rPr lang="es-CR" sz="1800" dirty="0" smtClean="0"/>
              <a:t>Generalmente,  se dice que “Y” depende de “X”, donde ambas son variables cualesquiera con alguna relación.</a:t>
            </a:r>
            <a:endParaRPr lang="es-CR" sz="1800" dirty="0"/>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5877272"/>
            <a:ext cx="5645427" cy="576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4 Conector recto"/>
          <p:cNvCxnSpPr/>
          <p:nvPr/>
        </p:nvCxnSpPr>
        <p:spPr>
          <a:xfrm>
            <a:off x="1403648" y="5877272"/>
            <a:ext cx="564542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1403648" y="6381328"/>
            <a:ext cx="564542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a:off x="7049075" y="5877272"/>
            <a:ext cx="0" cy="50405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1403648" y="5877272"/>
            <a:ext cx="0" cy="50405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4" name="AutoShape 2" descr="http://uxrepo.com/static/icon-sets/font-awesome/svg/attention.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4" descr="http://uxrepo.com/static/icon-sets/font-awesome/svg/attention.sv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8" name="AutoShape 6" descr="http://uxrepo.com/static/icon-sets/typicons/svg/attention.sv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2712" name="Picture 8" descr="http://img.papelenblanco.com/2011/06/el-principio-de-dilbert_978840810306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200"/>
          <a:stretch/>
        </p:blipFill>
        <p:spPr bwMode="auto">
          <a:xfrm>
            <a:off x="6804248" y="1484784"/>
            <a:ext cx="1970993" cy="3667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772816"/>
            <a:ext cx="4357718" cy="4536504"/>
          </a:xfrm>
        </p:spPr>
        <p:txBody>
          <a:bodyPr>
            <a:normAutofit/>
          </a:bodyPr>
          <a:lstStyle/>
          <a:p>
            <a:pPr marL="0" indent="0" algn="just">
              <a:buNone/>
            </a:pPr>
            <a:r>
              <a:rPr lang="es-CR" sz="1800" dirty="0" smtClean="0"/>
              <a:t>El </a:t>
            </a:r>
            <a:r>
              <a:rPr lang="es-CR" sz="1800" dirty="0"/>
              <a:t>director de una escuela desea analizar la relación entre las notas de los estudiantes y el tiempo que pasan estudiando</a:t>
            </a:r>
            <a:r>
              <a:rPr lang="es-CR" sz="1800" dirty="0" smtClean="0"/>
              <a:t>.</a:t>
            </a:r>
          </a:p>
          <a:p>
            <a:pPr marL="0" indent="0">
              <a:buNone/>
            </a:pPr>
            <a:endParaRPr lang="es-CR" sz="1800" dirty="0" smtClean="0"/>
          </a:p>
          <a:p>
            <a:pPr marL="0" indent="0">
              <a:buNone/>
            </a:pPr>
            <a:endParaRPr lang="es-CR" sz="1800" dirty="0"/>
          </a:p>
          <a:p>
            <a:pPr algn="just">
              <a:buFont typeface="Wingdings"/>
              <a:buChar char="à"/>
            </a:pPr>
            <a:r>
              <a:rPr lang="es-CR" sz="1800" dirty="0" smtClean="0">
                <a:sym typeface="Wingdings" pitchFamily="2" charset="2"/>
              </a:rPr>
              <a:t>Se </a:t>
            </a:r>
            <a:r>
              <a:rPr lang="es-CR" sz="1800" dirty="0">
                <a:sym typeface="Wingdings" pitchFamily="2" charset="2"/>
              </a:rPr>
              <a:t>quiere saber si  las notas están influencias por la cantidad de horas de estudio</a:t>
            </a:r>
            <a:r>
              <a:rPr lang="es-CR" sz="1800" dirty="0" smtClean="0">
                <a:sym typeface="Wingdings" pitchFamily="2" charset="2"/>
              </a:rPr>
              <a:t>.</a:t>
            </a:r>
          </a:p>
          <a:p>
            <a:pPr algn="just">
              <a:buFont typeface="Wingdings"/>
              <a:buChar char="à"/>
            </a:pPr>
            <a:endParaRPr lang="es-CR" sz="1800" dirty="0">
              <a:sym typeface="Wingdings" pitchFamily="2" charset="2"/>
            </a:endParaRPr>
          </a:p>
          <a:p>
            <a:pPr algn="just">
              <a:buFont typeface="Wingdings"/>
              <a:buChar char="à"/>
            </a:pPr>
            <a:r>
              <a:rPr lang="es-CR" sz="1800" dirty="0">
                <a:sym typeface="Wingdings" pitchFamily="2" charset="2"/>
              </a:rPr>
              <a:t>La variable dependiente es “Notas” y la independiente “Horas” </a:t>
            </a:r>
            <a:r>
              <a:rPr lang="es-CR" sz="1800" dirty="0" smtClean="0">
                <a:sym typeface="Wingdings" pitchFamily="2" charset="2"/>
              </a:rPr>
              <a:t>.</a:t>
            </a:r>
          </a:p>
          <a:p>
            <a:pPr algn="just">
              <a:buFont typeface="Wingdings"/>
              <a:buChar char="à"/>
            </a:pPr>
            <a:endParaRPr lang="es-CR" sz="1800" dirty="0">
              <a:sym typeface="Wingdings" pitchFamily="2" charset="2"/>
            </a:endParaRPr>
          </a:p>
          <a:p>
            <a:pPr algn="just">
              <a:buFont typeface="Wingdings"/>
              <a:buChar char="à"/>
            </a:pPr>
            <a:r>
              <a:rPr lang="es-CR" sz="1800" dirty="0" smtClean="0"/>
              <a:t>El ejemplo muestra una relación entre las notas y las horas de estudio: entre más horas de estudio, mejores serán las calificaciones.</a:t>
            </a:r>
            <a:endParaRPr lang="es-CR" sz="1800" dirty="0"/>
          </a:p>
          <a:p>
            <a:pPr>
              <a:buFont typeface="Wingdings"/>
              <a:buChar char="à"/>
            </a:pPr>
            <a:endParaRPr lang="es-CR" sz="1800" dirty="0">
              <a:sym typeface="Wingdings" pitchFamily="2" charset="2"/>
            </a:endParaRPr>
          </a:p>
          <a:p>
            <a:pPr>
              <a:buFont typeface="Wingdings"/>
              <a:buChar char="à"/>
            </a:pPr>
            <a:endParaRPr lang="es-CR" sz="1800" dirty="0" smtClean="0">
              <a:sym typeface="Wingdings" pitchFamily="2" charset="2"/>
            </a:endParaRPr>
          </a:p>
        </p:txBody>
      </p:sp>
      <p:graphicFrame>
        <p:nvGraphicFramePr>
          <p:cNvPr id="5" name="3 Gráfico"/>
          <p:cNvGraphicFramePr/>
          <p:nvPr>
            <p:extLst>
              <p:ext uri="{D42A27DB-BD31-4B8C-83A1-F6EECF244321}">
                <p14:modId xmlns:p14="http://schemas.microsoft.com/office/powerpoint/2010/main" val="966442036"/>
              </p:ext>
            </p:extLst>
          </p:nvPr>
        </p:nvGraphicFramePr>
        <p:xfrm>
          <a:off x="4716016" y="1556792"/>
          <a:ext cx="4213702" cy="4968552"/>
        </p:xfrm>
        <a:graphic>
          <a:graphicData uri="http://schemas.openxmlformats.org/drawingml/2006/chart">
            <c:chart xmlns:c="http://schemas.openxmlformats.org/drawingml/2006/chart" xmlns:r="http://schemas.openxmlformats.org/officeDocument/2006/relationships" r:id="rId2"/>
          </a:graphicData>
        </a:graphic>
      </p:graphicFrame>
      <p:sp>
        <p:nvSpPr>
          <p:cNvPr id="8" name="1 Título"/>
          <p:cNvSpPr txBox="1">
            <a:spLocks/>
          </p:cNvSpPr>
          <p:nvPr/>
        </p:nvSpPr>
        <p:spPr>
          <a:xfrm>
            <a:off x="357158" y="170384"/>
            <a:ext cx="8358246" cy="666328"/>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 ejemplo (1/2)</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pull dir="l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556792"/>
            <a:ext cx="4250561" cy="5286412"/>
          </a:xfrm>
        </p:spPr>
        <p:txBody>
          <a:bodyPr/>
          <a:lstStyle/>
          <a:p>
            <a:pPr algn="just"/>
            <a:r>
              <a:rPr lang="es-CR" sz="1800" dirty="0" smtClean="0"/>
              <a:t>El jefe de un gimnasio quiere investigar si las personas que bajan más de peso se debe a una rutina de más horas de ejercicio por semana.</a:t>
            </a:r>
          </a:p>
          <a:p>
            <a:pPr algn="just"/>
            <a:endParaRPr lang="es-CR" sz="1800" dirty="0" smtClean="0"/>
          </a:p>
          <a:p>
            <a:pPr algn="just">
              <a:buFont typeface="Wingdings"/>
              <a:buChar char="à"/>
            </a:pPr>
            <a:r>
              <a:rPr lang="es-CR" sz="1800" dirty="0" smtClean="0">
                <a:sym typeface="Wingdings" pitchFamily="2" charset="2"/>
              </a:rPr>
              <a:t>Se desea averiguar si disminuir peso está en función de la cantidad de horas de ejercicio por semana.</a:t>
            </a:r>
          </a:p>
          <a:p>
            <a:pPr marL="0" indent="0" algn="just">
              <a:buNone/>
            </a:pPr>
            <a:endParaRPr lang="es-CR" sz="1800" dirty="0" smtClean="0">
              <a:sym typeface="Wingdings" pitchFamily="2" charset="2"/>
            </a:endParaRPr>
          </a:p>
          <a:p>
            <a:pPr algn="just">
              <a:buFont typeface="Wingdings"/>
              <a:buChar char="à"/>
            </a:pPr>
            <a:r>
              <a:rPr lang="es-CR" sz="1800" dirty="0">
                <a:sym typeface="Wingdings" pitchFamily="2" charset="2"/>
              </a:rPr>
              <a:t>La variable dependiente es el “peso”, y la independiente “horas por semana</a:t>
            </a:r>
            <a:r>
              <a:rPr lang="es-CR" sz="1800" dirty="0" smtClean="0">
                <a:sym typeface="Wingdings" pitchFamily="2" charset="2"/>
              </a:rPr>
              <a:t>”.</a:t>
            </a:r>
          </a:p>
          <a:p>
            <a:pPr algn="just">
              <a:buFont typeface="Wingdings"/>
              <a:buChar char="à"/>
            </a:pPr>
            <a:endParaRPr lang="es-CR" sz="1800" dirty="0" smtClean="0">
              <a:sym typeface="Wingdings" pitchFamily="2" charset="2"/>
            </a:endParaRPr>
          </a:p>
          <a:p>
            <a:pPr algn="just">
              <a:buFont typeface="Wingdings"/>
              <a:buChar char="à"/>
            </a:pPr>
            <a:r>
              <a:rPr lang="es-CR" sz="1800" dirty="0" smtClean="0">
                <a:sym typeface="Wingdings" pitchFamily="2" charset="2"/>
              </a:rPr>
              <a:t>Se observa que entre más horas de ejercicio en el gimnasio, mayor es la disminución de las personas (en kilogramos).</a:t>
            </a:r>
          </a:p>
        </p:txBody>
      </p:sp>
      <p:graphicFrame>
        <p:nvGraphicFramePr>
          <p:cNvPr id="5" name="5 Gráfico"/>
          <p:cNvGraphicFramePr/>
          <p:nvPr>
            <p:extLst>
              <p:ext uri="{D42A27DB-BD31-4B8C-83A1-F6EECF244321}">
                <p14:modId xmlns:p14="http://schemas.microsoft.com/office/powerpoint/2010/main" val="453905711"/>
              </p:ext>
            </p:extLst>
          </p:nvPr>
        </p:nvGraphicFramePr>
        <p:xfrm>
          <a:off x="4536281" y="1124744"/>
          <a:ext cx="4466015" cy="5519536"/>
        </p:xfrm>
        <a:graphic>
          <a:graphicData uri="http://schemas.openxmlformats.org/drawingml/2006/chart">
            <c:chart xmlns:c="http://schemas.openxmlformats.org/drawingml/2006/chart" xmlns:r="http://schemas.openxmlformats.org/officeDocument/2006/relationships" r:id="rId2"/>
          </a:graphicData>
        </a:graphic>
      </p:graphicFrame>
      <p:sp>
        <p:nvSpPr>
          <p:cNvPr id="6" name="1 Conector recto"/>
          <p:cNvSpPr/>
          <p:nvPr/>
        </p:nvSpPr>
        <p:spPr>
          <a:xfrm>
            <a:off x="5436096" y="2060848"/>
            <a:ext cx="3240360" cy="3096344"/>
          </a:xfrm>
          <a:prstGeom prst="line">
            <a:avLst/>
          </a:prstGeom>
        </p:spPr>
        <p:style>
          <a:lnRef idx="2">
            <a:schemeClr val="dk1"/>
          </a:lnRef>
          <a:fillRef idx="0">
            <a:schemeClr val="dk1"/>
          </a:fillRef>
          <a:effectRef idx="1">
            <a:schemeClr val="dk1"/>
          </a:effectRef>
          <a:fontRef idx="minor">
            <a:schemeClr val="tx1"/>
          </a:fontRef>
        </p:style>
        <p:txBody>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endParaRPr lang="es-CR"/>
          </a:p>
        </p:txBody>
      </p:sp>
      <p:sp>
        <p:nvSpPr>
          <p:cNvPr id="7" name="1 Título"/>
          <p:cNvSpPr txBox="1">
            <a:spLocks/>
          </p:cNvSpPr>
          <p:nvPr/>
        </p:nvSpPr>
        <p:spPr>
          <a:xfrm>
            <a:off x="357158" y="147287"/>
            <a:ext cx="8358246" cy="666328"/>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 ejemplo (</a:t>
            </a:r>
            <a:r>
              <a:rPr lang="es-CR" sz="2800" dirty="0">
                <a:solidFill>
                  <a:schemeClr val="tx2"/>
                </a:solidFill>
                <a:latin typeface="+mj-lt"/>
                <a:ea typeface="+mj-ea"/>
                <a:cs typeface="+mj-cs"/>
              </a:rPr>
              <a:t>2</a:t>
            </a:r>
            <a:r>
              <a:rPr kumimoji="0" lang="es-CR" sz="2800" b="0" i="0" u="none" strike="noStrike" kern="1200" cap="none" spc="0" normalizeH="0" baseline="0" noProof="0" dirty="0" smtClean="0">
                <a:ln>
                  <a:noFill/>
                </a:ln>
                <a:solidFill>
                  <a:schemeClr val="tx2"/>
                </a:solidFill>
                <a:effectLst/>
                <a:uLnTx/>
                <a:uFillTx/>
                <a:latin typeface="+mj-lt"/>
                <a:ea typeface="+mj-ea"/>
                <a:cs typeface="+mj-cs"/>
              </a:rPr>
              <a:t>/2)</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pull dir="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a:spLocks noGrp="1"/>
          </p:cNvSpPr>
          <p:nvPr>
            <p:ph type="title"/>
          </p:nvPr>
        </p:nvSpPr>
        <p:spPr>
          <a:xfrm>
            <a:off x="0" y="332656"/>
            <a:ext cx="9144000" cy="566936"/>
          </a:xfrm>
        </p:spPr>
        <p:txBody>
          <a:bodyPr>
            <a:normAutofit/>
          </a:bodyPr>
          <a:lstStyle/>
          <a:p>
            <a:pPr algn="ctr"/>
            <a:r>
              <a:rPr lang="es-CR" sz="2800" dirty="0" smtClean="0"/>
              <a:t>El principio de la regresión : dependencia e independencia</a:t>
            </a:r>
            <a:endParaRPr lang="es-CR" sz="2800" dirty="0"/>
          </a:p>
        </p:txBody>
      </p:sp>
      <p:sp>
        <p:nvSpPr>
          <p:cNvPr id="3" name="2 Marcador de contenido"/>
          <p:cNvSpPr>
            <a:spLocks noGrp="1"/>
          </p:cNvSpPr>
          <p:nvPr>
            <p:ph sz="quarter" idx="1"/>
          </p:nvPr>
        </p:nvSpPr>
        <p:spPr>
          <a:xfrm>
            <a:off x="179512" y="1412776"/>
            <a:ext cx="5472608" cy="3160942"/>
          </a:xfrm>
        </p:spPr>
        <p:txBody>
          <a:bodyPr>
            <a:normAutofit/>
          </a:bodyPr>
          <a:lstStyle/>
          <a:p>
            <a:pPr algn="just"/>
            <a:r>
              <a:rPr lang="es-CR" sz="1800" dirty="0" smtClean="0"/>
              <a:t>Debido a que “Y” depende de “X”, se dice que “Y” es la variable dependiente, y “X” es la variable independiente.</a:t>
            </a:r>
          </a:p>
          <a:p>
            <a:pPr algn="just"/>
            <a:endParaRPr lang="es-CR" sz="1800" dirty="0" smtClean="0"/>
          </a:p>
          <a:p>
            <a:pPr algn="just"/>
            <a:r>
              <a:rPr lang="es-CR" sz="1800" dirty="0" smtClean="0"/>
              <a:t>Es importante </a:t>
            </a:r>
            <a:r>
              <a:rPr lang="es-CR" sz="1800" b="1" dirty="0" smtClean="0"/>
              <a:t>identificar cuál es la variable dependiente y cuál es la variable independiente </a:t>
            </a:r>
            <a:r>
              <a:rPr lang="es-CR" sz="1800" dirty="0" smtClean="0"/>
              <a:t>en el modelo de regresión.</a:t>
            </a:r>
          </a:p>
          <a:p>
            <a:pPr algn="just"/>
            <a:endParaRPr lang="es-CR" sz="1800" dirty="0" smtClean="0"/>
          </a:p>
          <a:p>
            <a:pPr algn="just"/>
            <a:r>
              <a:rPr lang="es-CR" sz="1800" dirty="0" smtClean="0"/>
              <a:t>Esto depende de la lógica y del problema de investigación que se tenga .</a:t>
            </a:r>
            <a:endParaRPr lang="es-CR" sz="1800" dirty="0"/>
          </a:p>
        </p:txBody>
      </p:sp>
      <p:sp>
        <p:nvSpPr>
          <p:cNvPr id="5" name="4 Rectángulo"/>
          <p:cNvSpPr/>
          <p:nvPr/>
        </p:nvSpPr>
        <p:spPr>
          <a:xfrm>
            <a:off x="428596" y="4573718"/>
            <a:ext cx="7671796" cy="79949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s-CR" b="1" u="sng" dirty="0" smtClean="0"/>
              <a:t>Variable dependiente</a:t>
            </a:r>
            <a:r>
              <a:rPr lang="es-CR" b="1" dirty="0" smtClean="0"/>
              <a:t> (Y)</a:t>
            </a:r>
            <a:r>
              <a:rPr lang="es-CR" dirty="0" smtClean="0"/>
              <a:t>: es la variable que se desea explicar o predecir; va a depender por lo tanto de otra variable para entender su cambio.</a:t>
            </a:r>
            <a:endParaRPr lang="es-CR" dirty="0"/>
          </a:p>
        </p:txBody>
      </p:sp>
      <p:sp>
        <p:nvSpPr>
          <p:cNvPr id="6" name="5 Rectángulo"/>
          <p:cNvSpPr/>
          <p:nvPr/>
        </p:nvSpPr>
        <p:spPr>
          <a:xfrm>
            <a:off x="428596" y="5733256"/>
            <a:ext cx="7671796" cy="8817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s-CR" b="1" u="sng" dirty="0" smtClean="0"/>
              <a:t>Variable independiente</a:t>
            </a:r>
            <a:r>
              <a:rPr lang="es-CR" b="1" dirty="0" smtClean="0"/>
              <a:t> (X)</a:t>
            </a:r>
            <a:r>
              <a:rPr lang="es-CR" dirty="0" smtClean="0"/>
              <a:t>: es la variable independiente. Está es la que aporta el factor explicativo al movimiento de l variable dependiente.</a:t>
            </a:r>
            <a:endParaRPr lang="es-CR" dirty="0"/>
          </a:p>
        </p:txBody>
      </p:sp>
      <p:pic>
        <p:nvPicPr>
          <p:cNvPr id="73730" name="Picture 2" descr="http://1.bp.blogspot.com/-5F4qHTY_Ko8/UVF5LB0c4wI/AAAAAAAAE3E/OTpN7hns5II/s1600/Cartelvariabl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284132"/>
            <a:ext cx="1560627" cy="2664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dir="in"/>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90118" y="1268759"/>
            <a:ext cx="4929954" cy="4365117"/>
          </a:xfrm>
        </p:spPr>
        <p:txBody>
          <a:bodyPr>
            <a:normAutofit/>
          </a:bodyPr>
          <a:lstStyle/>
          <a:p>
            <a:pPr algn="just"/>
            <a:r>
              <a:rPr lang="es-CR" sz="1800" dirty="0" smtClean="0"/>
              <a:t>En la relación entre las variables “X” y “Y” se pueden dar diversos tipos de asociaciones</a:t>
            </a:r>
          </a:p>
          <a:p>
            <a:pPr marL="0" indent="0" algn="just">
              <a:buNone/>
            </a:pPr>
            <a:endParaRPr lang="es-CR" sz="1800" dirty="0" smtClean="0"/>
          </a:p>
          <a:p>
            <a:pPr algn="just"/>
            <a:r>
              <a:rPr lang="es-CR" sz="1800" dirty="0" smtClean="0"/>
              <a:t>Las relaciones pueden ser lineales (ejemplos 1 y 2), curvilíneas (nivel de esteroides en una persona según la edad), logarítmica (ventas de un empresa según cambios en la producción), etc. </a:t>
            </a:r>
          </a:p>
          <a:p>
            <a:pPr algn="just"/>
            <a:endParaRPr lang="es-CR" sz="1800" dirty="0" smtClean="0"/>
          </a:p>
          <a:p>
            <a:pPr algn="just"/>
            <a:r>
              <a:rPr lang="es-CR" sz="1800" dirty="0" smtClean="0"/>
              <a:t>En la regresión lineal, se sostiene </a:t>
            </a:r>
            <a:r>
              <a:rPr lang="es-CR" sz="1800" b="1" i="1" dirty="0" smtClean="0"/>
              <a:t>que a medida que X cambia, Y cambia en una cantidad constante</a:t>
            </a:r>
            <a:r>
              <a:rPr lang="es-CR" sz="2400" dirty="0" smtClean="0"/>
              <a:t>.</a:t>
            </a:r>
            <a:endParaRPr lang="es-CR" sz="2400" dirty="0"/>
          </a:p>
        </p:txBody>
      </p:sp>
      <p:pic>
        <p:nvPicPr>
          <p:cNvPr id="9217" name="Picture 1"/>
          <p:cNvPicPr>
            <a:picLocks noChangeAspect="1" noChangeArrowheads="1"/>
          </p:cNvPicPr>
          <p:nvPr/>
        </p:nvPicPr>
        <p:blipFill>
          <a:blip r:embed="rId2" cstate="print"/>
          <a:srcRect/>
          <a:stretch>
            <a:fillRect/>
          </a:stretch>
        </p:blipFill>
        <p:spPr bwMode="auto">
          <a:xfrm>
            <a:off x="5724128" y="3153347"/>
            <a:ext cx="2520280" cy="1571797"/>
          </a:xfrm>
          <a:prstGeom prst="rect">
            <a:avLst/>
          </a:prstGeom>
          <a:noFill/>
          <a:ln w="9525">
            <a:noFill/>
            <a:miter lim="800000"/>
            <a:headEnd/>
            <a:tailEnd/>
          </a:ln>
        </p:spPr>
      </p:pic>
      <p:pic>
        <p:nvPicPr>
          <p:cNvPr id="9218" name="Picture 2"/>
          <p:cNvPicPr>
            <a:picLocks noChangeAspect="1" noChangeArrowheads="1"/>
          </p:cNvPicPr>
          <p:nvPr/>
        </p:nvPicPr>
        <p:blipFill>
          <a:blip r:embed="rId3" cstate="print"/>
          <a:srcRect/>
          <a:stretch>
            <a:fillRect/>
          </a:stretch>
        </p:blipFill>
        <p:spPr bwMode="auto">
          <a:xfrm>
            <a:off x="5724128" y="1196752"/>
            <a:ext cx="2520280" cy="1588962"/>
          </a:xfrm>
          <a:prstGeom prst="rect">
            <a:avLst/>
          </a:prstGeom>
          <a:noFill/>
          <a:ln w="9525">
            <a:noFill/>
            <a:miter lim="800000"/>
            <a:headEnd/>
            <a:tailEnd/>
          </a:ln>
        </p:spPr>
      </p:pic>
      <p:sp>
        <p:nvSpPr>
          <p:cNvPr id="8"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pic>
        <p:nvPicPr>
          <p:cNvPr id="696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584" y="4691506"/>
            <a:ext cx="3049385"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
          <p:cNvPicPr>
            <a:picLocks noChangeAspect="1" noChangeArrowheads="1"/>
          </p:cNvPicPr>
          <p:nvPr/>
        </p:nvPicPr>
        <p:blipFill>
          <a:blip r:embed="rId5" cstate="print"/>
          <a:srcRect/>
          <a:stretch>
            <a:fillRect/>
          </a:stretch>
        </p:blipFill>
        <p:spPr bwMode="auto">
          <a:xfrm>
            <a:off x="5724128" y="5054403"/>
            <a:ext cx="2520280" cy="146448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6539" y="1413916"/>
            <a:ext cx="5295581" cy="5183436"/>
          </a:xfrm>
        </p:spPr>
        <p:txBody>
          <a:bodyPr>
            <a:normAutofit/>
          </a:bodyPr>
          <a:lstStyle/>
          <a:p>
            <a:pPr algn="just"/>
            <a:r>
              <a:rPr lang="es-CR" sz="1800" dirty="0" smtClean="0"/>
              <a:t>Es importante hacer este comentario, ya que </a:t>
            </a:r>
            <a:r>
              <a:rPr lang="es-CR" sz="1800" b="1" dirty="0" smtClean="0"/>
              <a:t>NO todas las relaciones en la vida son lineales</a:t>
            </a:r>
            <a:r>
              <a:rPr lang="es-CR" sz="1800" dirty="0" smtClean="0"/>
              <a:t>. Sin embargo, se sigue bajo el paradigma de regresión lineal simple.</a:t>
            </a:r>
          </a:p>
          <a:p>
            <a:pPr algn="just"/>
            <a:endParaRPr lang="es-CR" sz="1800" dirty="0" smtClean="0"/>
          </a:p>
          <a:p>
            <a:pPr algn="just"/>
            <a:r>
              <a:rPr lang="es-CR" sz="1800" dirty="0" smtClean="0"/>
              <a:t>Ejemplo:</a:t>
            </a:r>
          </a:p>
          <a:p>
            <a:pPr algn="just">
              <a:buNone/>
            </a:pPr>
            <a:r>
              <a:rPr lang="es-CR" sz="1800" dirty="0" smtClean="0"/>
              <a:t>-El nivel de estrógenos en las mujeres de 18-32 años. Es una</a:t>
            </a:r>
          </a:p>
          <a:p>
            <a:pPr algn="just">
              <a:buNone/>
            </a:pPr>
            <a:r>
              <a:rPr lang="es-CR" sz="1800" dirty="0" smtClean="0"/>
              <a:t> función que aumenta, se estabiliza y vuelve a disminuir (      )</a:t>
            </a:r>
          </a:p>
          <a:p>
            <a:pPr algn="just">
              <a:buNone/>
            </a:pPr>
            <a:r>
              <a:rPr lang="es-CR" sz="1800" dirty="0" smtClean="0"/>
              <a:t>-La producción inicial de una nueva fábrica (         ).</a:t>
            </a:r>
          </a:p>
          <a:p>
            <a:pPr algn="just">
              <a:buNone/>
            </a:pPr>
            <a:endParaRPr lang="es-CR" sz="1800" dirty="0" smtClean="0"/>
          </a:p>
          <a:p>
            <a:pPr algn="just"/>
            <a:r>
              <a:rPr lang="es-CR" sz="1800" dirty="0" smtClean="0"/>
              <a:t>Por lo tanto, se debe considerar de igual forma las relaciones lineales como las curvilíneas.</a:t>
            </a:r>
          </a:p>
          <a:p>
            <a:pPr algn="just"/>
            <a:endParaRPr lang="es-CR" sz="1800" dirty="0"/>
          </a:p>
          <a:p>
            <a:pPr algn="just"/>
            <a:r>
              <a:rPr lang="es-CR" sz="1800" dirty="0" smtClean="0"/>
              <a:t>Aunque sean relaciones curvilíneas,    logarítmicas,  u otras y no necesariamente lineales, estas seguirán siendo modelos linéales con transformaciones en las variables, para linearisar las respuesta. </a:t>
            </a:r>
            <a:endParaRPr lang="es-CR" sz="1800"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064618" y="3431280"/>
            <a:ext cx="371478" cy="285752"/>
          </a:xfrm>
          <a:prstGeom prst="rect">
            <a:avLst/>
          </a:prstGeom>
          <a:noFill/>
        </p:spPr>
      </p:pic>
      <p:sp>
        <p:nvSpPr>
          <p:cNvPr id="71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7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142802" y="3789040"/>
            <a:ext cx="357190" cy="310600"/>
          </a:xfrm>
          <a:prstGeom prst="rect">
            <a:avLst/>
          </a:prstGeom>
          <a:noFill/>
        </p:spPr>
      </p:pic>
      <p:sp>
        <p:nvSpPr>
          <p:cNvPr id="10"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pic>
        <p:nvPicPr>
          <p:cNvPr id="74754" name="Picture 2" descr="http://www.teachersadvisor.com/wp-content/uploads/2011/06/2011-06-28-The-3-Different-Ways-to-Invest-Your-Money-Part-3-Variable-Accounts-pics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56176" y="1632671"/>
            <a:ext cx="2520280" cy="43166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2"/>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96752"/>
            <a:ext cx="5294962" cy="5501866"/>
          </a:xfrm>
        </p:spPr>
        <p:txBody>
          <a:bodyPr>
            <a:normAutofit/>
          </a:bodyPr>
          <a:lstStyle/>
          <a:p>
            <a:pPr algn="just"/>
            <a:r>
              <a:rPr lang="es-CR" sz="1800" dirty="0" smtClean="0"/>
              <a:t>De igual forma, hay que contemplar el hecho de que </a:t>
            </a:r>
            <a:r>
              <a:rPr lang="es-CR" sz="1800" dirty="0"/>
              <a:t>del </a:t>
            </a:r>
            <a:r>
              <a:rPr lang="es-CR" sz="1800" dirty="0" smtClean="0"/>
              <a:t>todo no haya relación. </a:t>
            </a:r>
          </a:p>
          <a:p>
            <a:pPr algn="just"/>
            <a:endParaRPr lang="es-CR" sz="1800" dirty="0" smtClean="0"/>
          </a:p>
          <a:p>
            <a:pPr algn="just"/>
            <a:r>
              <a:rPr lang="es-CR" sz="1800" dirty="0" smtClean="0"/>
              <a:t>Aunque se aplique la regresión, es posible que no se obtenga resultados satisfactorios.</a:t>
            </a:r>
            <a:endParaRPr lang="es-CR" sz="1800" dirty="0"/>
          </a:p>
          <a:p>
            <a:pPr algn="just"/>
            <a:endParaRPr lang="es-CR" sz="1800" dirty="0" smtClean="0"/>
          </a:p>
          <a:p>
            <a:pPr algn="just"/>
            <a:r>
              <a:rPr lang="es-CR" sz="1800" dirty="0" smtClean="0"/>
              <a:t>Si se grafica los pares “Y” y “X”, y realmente no se observa alguna relación, simplemente esto quiere decir que no hay una relación entre las variables de interés, y por lo tanto  “Y” no se puede ser explicada mediante “X”.</a:t>
            </a:r>
            <a:endParaRPr lang="es-CR" dirty="0" smtClean="0"/>
          </a:p>
          <a:p>
            <a:endParaRPr lang="es-CR" dirty="0" smtClean="0"/>
          </a:p>
          <a:p>
            <a:endParaRPr lang="es-CR" dirty="0" smtClean="0"/>
          </a:p>
          <a:p>
            <a:endParaRPr lang="es-CR" dirty="0" smtClean="0"/>
          </a:p>
          <a:p>
            <a:endParaRPr lang="es-CR" dirty="0" smtClean="0"/>
          </a:p>
          <a:p>
            <a:endParaRPr lang="es-CR" dirty="0"/>
          </a:p>
        </p:txBody>
      </p:sp>
      <p:pic>
        <p:nvPicPr>
          <p:cNvPr id="6145" name="Picture 1"/>
          <p:cNvPicPr>
            <a:picLocks noChangeAspect="1" noChangeArrowheads="1"/>
          </p:cNvPicPr>
          <p:nvPr/>
        </p:nvPicPr>
        <p:blipFill>
          <a:blip r:embed="rId3" cstate="print"/>
          <a:srcRect/>
          <a:stretch>
            <a:fillRect/>
          </a:stretch>
        </p:blipFill>
        <p:spPr bwMode="auto">
          <a:xfrm>
            <a:off x="1259632" y="4653136"/>
            <a:ext cx="2736611" cy="1872208"/>
          </a:xfrm>
          <a:prstGeom prst="rect">
            <a:avLst/>
          </a:prstGeom>
          <a:noFill/>
          <a:ln w="9525">
            <a:noFill/>
            <a:miter lim="800000"/>
            <a:headEnd/>
            <a:tailEnd/>
          </a:ln>
        </p:spPr>
      </p:pic>
      <p:sp>
        <p:nvSpPr>
          <p:cNvPr id="6" name="1 Título"/>
          <p:cNvSpPr txBox="1">
            <a:spLocks/>
          </p:cNvSpPr>
          <p:nvPr/>
        </p:nvSpPr>
        <p:spPr>
          <a:xfrm>
            <a:off x="0" y="147286"/>
            <a:ext cx="9144000" cy="761433"/>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2800" b="0" i="0" u="none" strike="noStrike" kern="1200" cap="none" spc="0" normalizeH="0" baseline="0" noProof="0" dirty="0" smtClean="0">
                <a:ln>
                  <a:noFill/>
                </a:ln>
                <a:solidFill>
                  <a:schemeClr val="tx2"/>
                </a:solidFill>
                <a:effectLst/>
                <a:uLnTx/>
                <a:uFillTx/>
                <a:latin typeface="+mj-lt"/>
                <a:ea typeface="+mj-ea"/>
                <a:cs typeface="+mj-cs"/>
              </a:rPr>
              <a:t>El principio de la regresión:</a:t>
            </a:r>
            <a:r>
              <a:rPr kumimoji="0" lang="es-CR" sz="2800" b="0" i="0" u="none" strike="noStrike" kern="1200" cap="none" spc="0" normalizeH="0" noProof="0" dirty="0" smtClean="0">
                <a:ln>
                  <a:noFill/>
                </a:ln>
                <a:solidFill>
                  <a:schemeClr val="tx2"/>
                </a:solidFill>
                <a:effectLst/>
                <a:uLnTx/>
                <a:uFillTx/>
                <a:latin typeface="+mj-lt"/>
                <a:ea typeface="+mj-ea"/>
                <a:cs typeface="+mj-cs"/>
              </a:rPr>
              <a:t> tipo de relación entre “Y” y “X” </a:t>
            </a:r>
            <a:endParaRPr kumimoji="0" lang="es-CR" sz="2800" b="0" i="0" u="none" strike="noStrike" kern="1200" cap="none" spc="0" normalizeH="0" baseline="0" noProof="0" dirty="0">
              <a:ln>
                <a:noFill/>
              </a:ln>
              <a:solidFill>
                <a:schemeClr val="tx2"/>
              </a:solidFill>
              <a:effectLst/>
              <a:uLnTx/>
              <a:uFillTx/>
              <a:latin typeface="+mj-lt"/>
              <a:ea typeface="+mj-ea"/>
              <a:cs typeface="+mj-cs"/>
            </a:endParaRPr>
          </a:p>
        </p:txBody>
      </p:sp>
      <p:sp>
        <p:nvSpPr>
          <p:cNvPr id="2" name="AutoShape 2" descr="Image result for variab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75780" name="Picture 4" descr="http://www.lawmatch.com/blog/wp-content/newupload/2011/06/stick_figure_search_clues_400_clr.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873" r="12977"/>
          <a:stretch/>
        </p:blipFill>
        <p:spPr bwMode="auto">
          <a:xfrm>
            <a:off x="6084167" y="1988840"/>
            <a:ext cx="2825087"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Tree>
    <p:extLst>
      <p:ext uri="{BB962C8B-B14F-4D97-AF65-F5344CB8AC3E}">
        <p14:creationId xmlns:p14="http://schemas.microsoft.com/office/powerpoint/2010/main" val="3606279910"/>
      </p:ext>
    </p:extLst>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116632"/>
            <a:ext cx="8429684" cy="857256"/>
          </a:xfrm>
        </p:spPr>
        <p:txBody>
          <a:bodyPr>
            <a:normAutofit/>
          </a:bodyPr>
          <a:lstStyle/>
          <a:p>
            <a:pPr algn="ctr"/>
            <a:r>
              <a:rPr lang="es-CR" sz="2800" dirty="0" smtClean="0"/>
              <a:t>Determinación del modelo de regresión : concepto</a:t>
            </a:r>
            <a:endParaRPr lang="es-CR" sz="2800" dirty="0"/>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357158" y="1412776"/>
                <a:ext cx="5006930" cy="5572164"/>
              </a:xfrm>
            </p:spPr>
            <p:txBody>
              <a:bodyPr>
                <a:normAutofit/>
              </a:bodyPr>
              <a:lstStyle/>
              <a:p>
                <a:pPr algn="just"/>
                <a:r>
                  <a:rPr lang="es-CR" sz="1800" dirty="0" smtClean="0"/>
                  <a:t>Para determinar un modelo de </a:t>
                </a:r>
                <a:r>
                  <a:rPr lang="es-CR" sz="1800" b="1" i="1" dirty="0" smtClean="0"/>
                  <a:t>regresión simple lineal</a:t>
                </a:r>
                <a:r>
                  <a:rPr lang="es-CR" sz="1800" dirty="0" smtClean="0"/>
                  <a:t>, el objetivo se centra en determinar una recta capaz de modelar la relación de los datos.</a:t>
                </a:r>
              </a:p>
              <a:p>
                <a:pPr algn="just"/>
                <a:endParaRPr lang="es-CR" sz="1800" i="1" dirty="0" smtClean="0"/>
              </a:p>
              <a:p>
                <a:pPr algn="just"/>
                <a:r>
                  <a:rPr lang="es-CR" sz="1800" dirty="0" smtClean="0"/>
                  <a:t>El modelo de la recta se expresa de la siguiente forma:</a:t>
                </a:r>
              </a:p>
              <a:p>
                <a:pPr algn="just">
                  <a:buNone/>
                </a:pPr>
                <a:endParaRPr lang="es-CR" sz="1800" dirty="0" smtClean="0"/>
              </a:p>
              <a:p>
                <a:pPr algn="just">
                  <a:buNone/>
                </a:pPr>
                <a:endParaRPr lang="es-CR" sz="1800" dirty="0" smtClean="0"/>
              </a:p>
              <a:p>
                <a:pPr algn="just">
                  <a:buNone/>
                </a:pPr>
                <a:endParaRPr lang="es-CR" sz="1800" dirty="0"/>
              </a:p>
              <a:p>
                <a:pPr algn="just">
                  <a:buNone/>
                </a:pPr>
                <a:endParaRPr lang="es-CR" sz="1800" dirty="0" smtClean="0"/>
              </a:p>
              <a:p>
                <a:pPr algn="just">
                  <a:buNone/>
                </a:pPr>
                <a:endParaRPr lang="es-CR" sz="1800" dirty="0" smtClean="0"/>
              </a:p>
              <a:p>
                <a:pPr algn="just">
                  <a:buNone/>
                </a:pPr>
                <a:r>
                  <a:rPr lang="es-CR" sz="1800" dirty="0" smtClean="0"/>
                  <a:t>donde, </a:t>
                </a:r>
              </a:p>
              <a:p>
                <a:pPr algn="just">
                  <a:buNone/>
                </a:pPr>
                <a14:m>
                  <m:oMath xmlns:m="http://schemas.openxmlformats.org/officeDocument/2006/math">
                    <m:acc>
                      <m:accPr>
                        <m:chr m:val="̂"/>
                        <m:ctrlPr>
                          <a:rPr lang="es-CR" sz="1800" i="1">
                            <a:latin typeface="Cambria Math"/>
                          </a:rPr>
                        </m:ctrlPr>
                      </m:accPr>
                      <m:e>
                        <m:r>
                          <a:rPr lang="es-CR" sz="1800" i="1">
                            <a:latin typeface="Cambria Math"/>
                          </a:rPr>
                          <m:t>𝑌</m:t>
                        </m:r>
                      </m:e>
                    </m:acc>
                  </m:oMath>
                </a14:m>
                <a:r>
                  <a:rPr lang="es-CR" sz="1800" dirty="0" smtClean="0"/>
                  <a:t> es la estimación de la recta para un valor X</a:t>
                </a:r>
              </a:p>
              <a:p>
                <a:pPr algn="just">
                  <a:buNone/>
                </a:pPr>
                <a:r>
                  <a:rPr lang="es-CR" sz="1800" dirty="0" smtClean="0"/>
                  <a:t>X es el cambio en la variable independiente </a:t>
                </a:r>
              </a:p>
              <a:p>
                <a:pPr algn="just">
                  <a:buNone/>
                </a:pPr>
                <a:r>
                  <a:rPr lang="es-CR" sz="1800" dirty="0"/>
                  <a:t>B</a:t>
                </a:r>
                <a:r>
                  <a:rPr lang="es-CR" sz="1800" baseline="-25000" dirty="0" smtClean="0"/>
                  <a:t>0</a:t>
                </a:r>
                <a:r>
                  <a:rPr lang="es-CR" sz="1800" dirty="0" smtClean="0"/>
                  <a:t> es el intercepto</a:t>
                </a:r>
              </a:p>
              <a:p>
                <a:pPr algn="just">
                  <a:buNone/>
                </a:pPr>
                <a:r>
                  <a:rPr lang="es-CR" sz="1800" dirty="0" smtClean="0"/>
                  <a:t>B</a:t>
                </a:r>
                <a:r>
                  <a:rPr lang="es-CR" sz="1800" baseline="-25000" dirty="0" smtClean="0"/>
                  <a:t>1</a:t>
                </a:r>
                <a:r>
                  <a:rPr lang="es-CR" sz="1800" dirty="0" smtClean="0"/>
                  <a:t>  es la pendiente de la recta                  </a:t>
                </a:r>
              </a:p>
              <a:p>
                <a:pPr>
                  <a:buNone/>
                </a:pPr>
                <a:endParaRPr lang="es-CR" dirty="0" smtClean="0"/>
              </a:p>
              <a:p>
                <a:pPr>
                  <a:buNone/>
                </a:pPr>
                <a:endParaRPr lang="es-CR" dirty="0" smtClean="0"/>
              </a:p>
              <a:p>
                <a:pPr>
                  <a:buNone/>
                </a:pPr>
                <a:endParaRPr lang="es-CR"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357158" y="1412776"/>
                <a:ext cx="5006930" cy="5572164"/>
              </a:xfrm>
              <a:blipFill rotWithShape="1">
                <a:blip r:embed="rId2" cstate="print"/>
                <a:stretch>
                  <a:fillRect l="-1096" t="-547" r="-974"/>
                </a:stretch>
              </a:blipFill>
            </p:spPr>
            <p:txBody>
              <a:bodyPr/>
              <a:lstStyle/>
              <a:p>
                <a:r>
                  <a:rPr lang="es-CR">
                    <a:noFill/>
                  </a:rPr>
                  <a:t> </a:t>
                </a:r>
              </a:p>
            </p:txBody>
          </p:sp>
        </mc:Fallback>
      </mc:AlternateContent>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06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645024"/>
            <a:ext cx="2736304" cy="801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6802" name="Picture 2" descr="http://newsoffice.mit.edu/sites/mit.edu.newsoffice/files/images/2010/20100315144150-1_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184" y="1556792"/>
            <a:ext cx="2592288"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6804" name="Picture 4" descr="https://statistics.laerd.com/spss-tutorials/img/lr/linear-nonlinear-relationships.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29702" y="4446567"/>
            <a:ext cx="3911170" cy="20787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357158" y="260648"/>
            <a:ext cx="8429684" cy="641232"/>
          </a:xfrm>
        </p:spPr>
        <p:txBody>
          <a:bodyPr>
            <a:normAutofit/>
          </a:bodyPr>
          <a:lstStyle/>
          <a:p>
            <a:pPr algn="ctr"/>
            <a:r>
              <a:rPr lang="es-CR" sz="2800" dirty="0" smtClean="0"/>
              <a:t>Determinación del modelo de </a:t>
            </a:r>
            <a:r>
              <a:rPr lang="es-CR" sz="2800" dirty="0"/>
              <a:t>regresión : concepto</a:t>
            </a:r>
          </a:p>
        </p:txBody>
      </p:sp>
      <p:sp>
        <p:nvSpPr>
          <p:cNvPr id="3" name="2 Marcador de contenido"/>
          <p:cNvSpPr>
            <a:spLocks noGrp="1"/>
          </p:cNvSpPr>
          <p:nvPr>
            <p:ph sz="quarter" idx="1"/>
          </p:nvPr>
        </p:nvSpPr>
        <p:spPr>
          <a:xfrm>
            <a:off x="323528" y="1571447"/>
            <a:ext cx="7772400" cy="2571933"/>
          </a:xfrm>
        </p:spPr>
        <p:txBody>
          <a:bodyPr>
            <a:normAutofit/>
          </a:bodyPr>
          <a:lstStyle/>
          <a:p>
            <a:r>
              <a:rPr lang="es-CR" sz="1800" dirty="0" smtClean="0"/>
              <a:t>Un ejemplo, de la estimación de un modelo de regresión es el siguiente. </a:t>
            </a:r>
            <a:endParaRPr lang="es-CR" sz="1800" dirty="0"/>
          </a:p>
        </p:txBody>
      </p:sp>
      <p:pic>
        <p:nvPicPr>
          <p:cNvPr id="4098"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500059" y="3500438"/>
            <a:ext cx="3571875" cy="3028950"/>
          </a:xfrm>
          <a:prstGeom prst="rect">
            <a:avLst/>
          </a:prstGeom>
          <a:noFill/>
        </p:spPr>
      </p:pic>
      <p:cxnSp>
        <p:nvCxnSpPr>
          <p:cNvPr id="7" name="6 Conector recto"/>
          <p:cNvCxnSpPr/>
          <p:nvPr/>
        </p:nvCxnSpPr>
        <p:spPr>
          <a:xfrm rot="5400000">
            <a:off x="1250133" y="5822173"/>
            <a:ext cx="78581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1500166" y="6143644"/>
            <a:ext cx="642942" cy="369332"/>
          </a:xfrm>
          <a:prstGeom prst="rect">
            <a:avLst/>
          </a:prstGeom>
          <a:noFill/>
        </p:spPr>
        <p:txBody>
          <a:bodyPr wrap="square" rtlCol="0">
            <a:spAutoFit/>
          </a:bodyPr>
          <a:lstStyle/>
          <a:p>
            <a:r>
              <a:rPr lang="es-CR" dirty="0" err="1" smtClean="0"/>
              <a:t>xj</a:t>
            </a:r>
            <a:endParaRPr lang="es-CR" dirty="0"/>
          </a:p>
        </p:txBody>
      </p:sp>
      <p:cxnSp>
        <p:nvCxnSpPr>
          <p:cNvPr id="10" name="9 Conector recto"/>
          <p:cNvCxnSpPr/>
          <p:nvPr/>
        </p:nvCxnSpPr>
        <p:spPr>
          <a:xfrm>
            <a:off x="1643042" y="5000636"/>
            <a:ext cx="64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rot="5400000" flipH="1" flipV="1">
            <a:off x="2107389" y="4822041"/>
            <a:ext cx="3571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flipV="1">
            <a:off x="1643042" y="4572008"/>
            <a:ext cx="642942"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1071538" y="5356238"/>
            <a:ext cx="45005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Rectángulo"/>
          <p:cNvSpPr/>
          <p:nvPr/>
        </p:nvSpPr>
        <p:spPr>
          <a:xfrm>
            <a:off x="5857884" y="521495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Intercepto</a:t>
            </a:r>
            <a:endParaRPr lang="es-CR" dirty="0"/>
          </a:p>
        </p:txBody>
      </p:sp>
      <p:cxnSp>
        <p:nvCxnSpPr>
          <p:cNvPr id="20" name="19 Conector recto de flecha"/>
          <p:cNvCxnSpPr/>
          <p:nvPr/>
        </p:nvCxnSpPr>
        <p:spPr>
          <a:xfrm>
            <a:off x="2071670" y="4857760"/>
            <a:ext cx="364333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Rectángulo"/>
          <p:cNvSpPr/>
          <p:nvPr/>
        </p:nvSpPr>
        <p:spPr>
          <a:xfrm>
            <a:off x="5857884" y="450057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Pendiente</a:t>
            </a:r>
            <a:endParaRPr lang="es-CR" dirty="0"/>
          </a:p>
        </p:txBody>
      </p:sp>
      <p:cxnSp>
        <p:nvCxnSpPr>
          <p:cNvPr id="23" name="22 Conector recto de flecha"/>
          <p:cNvCxnSpPr/>
          <p:nvPr/>
        </p:nvCxnSpPr>
        <p:spPr>
          <a:xfrm>
            <a:off x="3000364" y="4143380"/>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24 Rectángulo"/>
          <p:cNvSpPr/>
          <p:nvPr/>
        </p:nvSpPr>
        <p:spPr>
          <a:xfrm>
            <a:off x="5857884" y="378619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68652" y="1196752"/>
            <a:ext cx="4861774" cy="5472608"/>
          </a:xfrm>
        </p:spPr>
        <p:txBody>
          <a:bodyPr>
            <a:noAutofit/>
          </a:bodyPr>
          <a:lstStyle/>
          <a:p>
            <a:pPr algn="just"/>
            <a:r>
              <a:rPr lang="es-CR" sz="1800" dirty="0" smtClean="0"/>
              <a:t>Supóngase que los puntos del ejemplo anterior representan los  casos, y cada caso posee un valor  “X”  (variable independiente) y un valor “Y” (variable dependiente).</a:t>
            </a:r>
          </a:p>
          <a:p>
            <a:pPr algn="just"/>
            <a:endParaRPr lang="es-CR" sz="1800" dirty="0" smtClean="0"/>
          </a:p>
          <a:p>
            <a:pPr algn="just"/>
            <a:r>
              <a:rPr lang="es-CR" sz="1800" dirty="0" smtClean="0"/>
              <a:t>Supongamos que una estimación resultó como sigue:</a:t>
            </a:r>
          </a:p>
          <a:p>
            <a:pPr algn="just"/>
            <a:endParaRPr lang="es-CR" sz="1800" dirty="0" smtClean="0"/>
          </a:p>
          <a:p>
            <a:pPr algn="just"/>
            <a:endParaRPr lang="es-CR" sz="1800" dirty="0" smtClean="0"/>
          </a:p>
          <a:p>
            <a:pPr marL="0" indent="0" algn="just">
              <a:buNone/>
            </a:pPr>
            <a:endParaRPr lang="es-CR" sz="1800" dirty="0" smtClean="0"/>
          </a:p>
          <a:p>
            <a:pPr algn="just"/>
            <a:r>
              <a:rPr lang="es-CR" sz="1800" dirty="0" smtClean="0"/>
              <a:t>En este caso, </a:t>
            </a:r>
          </a:p>
          <a:p>
            <a:pPr algn="just">
              <a:buNone/>
            </a:pPr>
            <a:r>
              <a:rPr lang="es-CR" sz="1800" dirty="0" smtClean="0"/>
              <a:t>	5 sería el intercepto </a:t>
            </a:r>
          </a:p>
          <a:p>
            <a:pPr algn="just">
              <a:buNone/>
            </a:pPr>
            <a:r>
              <a:rPr lang="es-CR" sz="1800" dirty="0" smtClean="0"/>
              <a:t>	2 sería la pendiente</a:t>
            </a:r>
          </a:p>
          <a:p>
            <a:pPr algn="just">
              <a:buNone/>
            </a:pPr>
            <a:endParaRPr lang="es-CR" sz="1800" dirty="0" smtClean="0"/>
          </a:p>
          <a:p>
            <a:pPr algn="just">
              <a:buNone/>
            </a:pPr>
            <a:r>
              <a:rPr lang="es-CR" sz="1800" dirty="0" smtClean="0"/>
              <a:t>La pendiente expresa que para cada cambio de unidad en “X”, se tiene un cambio de “2”  en Y. De igual forma,  la variable “Y”, es una función de los valores de “X”.</a:t>
            </a:r>
          </a:p>
          <a:p>
            <a:pPr marL="0" indent="0">
              <a:buNone/>
            </a:pPr>
            <a:endParaRPr lang="es-CR" sz="1800" dirty="0" smtClean="0"/>
          </a:p>
        </p:txBody>
      </p:sp>
      <p:sp>
        <p:nvSpPr>
          <p:cNvPr id="4" name="1 Título"/>
          <p:cNvSpPr>
            <a:spLocks noGrp="1"/>
          </p:cNvSpPr>
          <p:nvPr>
            <p:ph type="title"/>
          </p:nvPr>
        </p:nvSpPr>
        <p:spPr>
          <a:xfrm>
            <a:off x="357158" y="188640"/>
            <a:ext cx="8429684" cy="668592"/>
          </a:xfrm>
        </p:spPr>
        <p:txBody>
          <a:bodyPr>
            <a:normAutofit/>
          </a:bodyPr>
          <a:lstStyle/>
          <a:p>
            <a:pPr algn="ctr"/>
            <a:r>
              <a:rPr lang="es-CR" sz="2800" dirty="0" smtClean="0"/>
              <a:t>Determinación del modelo de regresión: ejemplo</a:t>
            </a:r>
            <a:endParaRPr lang="es-CR" sz="2800" dirty="0"/>
          </a:p>
        </p:txBody>
      </p:sp>
      <p:sp>
        <p:nvSpPr>
          <p:cNvPr id="307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072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619672" y="3212976"/>
            <a:ext cx="2071702" cy="580077"/>
          </a:xfrm>
          <a:prstGeom prst="rect">
            <a:avLst/>
          </a:prstGeom>
          <a:noFill/>
        </p:spPr>
      </p:pic>
      <p:pic>
        <p:nvPicPr>
          <p:cNvPr id="69634" name="Picture 2" descr="http://treasuringwellness.abmp.com/Teaching%20pictur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1124744"/>
            <a:ext cx="2808312" cy="3038476"/>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http://www.sharurah.com/news/watermark.php?image=9triajtbrYe90bddff50015d14693d2d99826a7cc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4168" y="4653136"/>
            <a:ext cx="2817681" cy="1865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dir="in"/>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1134" y="1214422"/>
            <a:ext cx="5222954" cy="5143536"/>
          </a:xfrm>
        </p:spPr>
        <p:txBody>
          <a:bodyPr>
            <a:normAutofit/>
          </a:bodyPr>
          <a:lstStyle/>
          <a:p>
            <a:pPr algn="just"/>
            <a:r>
              <a:rPr lang="es-CR" sz="1800" dirty="0" smtClean="0"/>
              <a:t>En una regresión lineal bivariada, la mayor importancia del modelo se centra en el valor de la pendiente:</a:t>
            </a:r>
          </a:p>
          <a:p>
            <a:pPr algn="just"/>
            <a:endParaRPr lang="es-CR" sz="1800" dirty="0" smtClean="0"/>
          </a:p>
          <a:p>
            <a:pPr algn="just">
              <a:buNone/>
            </a:pPr>
            <a:r>
              <a:rPr lang="es-CR" sz="1800" dirty="0" smtClean="0"/>
              <a:t>	-Si esta es positiva, habrá una relación positiva.</a:t>
            </a:r>
          </a:p>
          <a:p>
            <a:pPr algn="just">
              <a:buNone/>
            </a:pPr>
            <a:r>
              <a:rPr lang="es-CR" sz="1800" dirty="0" smtClean="0"/>
              <a:t>	-Si esta es negativa, habrá una relación negativa.</a:t>
            </a:r>
          </a:p>
          <a:p>
            <a:pPr algn="just">
              <a:buNone/>
            </a:pPr>
            <a:r>
              <a:rPr lang="es-CR" sz="1800" dirty="0" smtClean="0"/>
              <a:t>	-Si es nula (igual a “cero”), no habrá relación del todo</a:t>
            </a:r>
          </a:p>
          <a:p>
            <a:pPr algn="just">
              <a:buNone/>
            </a:pPr>
            <a:endParaRPr lang="es-CR" sz="1800" dirty="0" smtClean="0"/>
          </a:p>
          <a:p>
            <a:pPr algn="just"/>
            <a:r>
              <a:rPr lang="es-CR" sz="1800" dirty="0" smtClean="0"/>
              <a:t>Lo interesante es que si la pendiente es “nula” o igual a cero estadísticamente no existe ninguna relación entra las </a:t>
            </a:r>
            <a:r>
              <a:rPr lang="es-CR" sz="1800" dirty="0"/>
              <a:t>variables(en este caso no vale la pena </a:t>
            </a:r>
            <a:r>
              <a:rPr lang="es-CR" sz="1800" dirty="0" smtClean="0"/>
              <a:t>estimar la </a:t>
            </a:r>
            <a:r>
              <a:rPr lang="es-CR" sz="1800" dirty="0"/>
              <a:t>función de regresión</a:t>
            </a:r>
            <a:r>
              <a:rPr lang="es-CR" sz="1800" dirty="0" smtClean="0"/>
              <a:t>).</a:t>
            </a:r>
          </a:p>
          <a:p>
            <a:pPr algn="just"/>
            <a:endParaRPr lang="es-CR" sz="1800" dirty="0" smtClean="0"/>
          </a:p>
          <a:p>
            <a:pPr algn="just"/>
            <a:r>
              <a:rPr lang="es-CR" sz="1800" dirty="0" smtClean="0"/>
              <a:t>Por tanto, “X” no puede utilizarse como variable explicativa de “Y”, en caso de que la relación funcional brinda una relación prácticamente nula. </a:t>
            </a:r>
          </a:p>
        </p:txBody>
      </p:sp>
      <p:sp>
        <p:nvSpPr>
          <p:cNvPr id="5" name="1 Título"/>
          <p:cNvSpPr>
            <a:spLocks noGrp="1"/>
          </p:cNvSpPr>
          <p:nvPr>
            <p:ph type="title"/>
          </p:nvPr>
        </p:nvSpPr>
        <p:spPr>
          <a:xfrm>
            <a:off x="0" y="188640"/>
            <a:ext cx="9252520" cy="668592"/>
          </a:xfrm>
        </p:spPr>
        <p:txBody>
          <a:bodyPr>
            <a:normAutofit/>
          </a:bodyPr>
          <a:lstStyle/>
          <a:p>
            <a:pPr algn="ctr"/>
            <a:r>
              <a:rPr lang="es-CR" sz="2800" dirty="0" smtClean="0"/>
              <a:t>Determinación del modelo de regresión : concepto</a:t>
            </a:r>
            <a:endParaRPr lang="es-CR" sz="2800" dirty="0"/>
          </a:p>
        </p:txBody>
      </p:sp>
      <p:pic>
        <p:nvPicPr>
          <p:cNvPr id="68610" name="Picture 2" descr="http://www2.cedarcrest.edu/academic/bio/hale/biostat/session24links/linegraph.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7587" y="1340768"/>
            <a:ext cx="2348938" cy="2376264"/>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descr="http://scikit-learn.org/0.6/_images/plot_neighbors_regression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0192" y="3861048"/>
            <a:ext cx="2664296" cy="2520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0" y="188640"/>
            <a:ext cx="9144000" cy="936104"/>
          </a:xfrm>
        </p:spPr>
        <p:txBody>
          <a:bodyPr>
            <a:normAutofit fontScale="90000"/>
          </a:bodyPr>
          <a:lstStyle/>
          <a:p>
            <a:pPr algn="ctr"/>
            <a:r>
              <a:rPr lang="es-CR" sz="2800" dirty="0" smtClean="0"/>
              <a:t>Determinación del modelo de regresión: matemática vs estadística</a:t>
            </a:r>
            <a:endParaRPr lang="es-CR" sz="2800" dirty="0"/>
          </a:p>
        </p:txBody>
      </p:sp>
      <p:pic>
        <p:nvPicPr>
          <p:cNvPr id="5"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323515" y="1700808"/>
            <a:ext cx="4670330" cy="4968552"/>
          </a:xfrm>
          <a:prstGeom prst="rect">
            <a:avLst/>
          </a:prstGeom>
          <a:noFill/>
        </p:spPr>
      </p:pic>
      <p:cxnSp>
        <p:nvCxnSpPr>
          <p:cNvPr id="6" name="5 Conector recto"/>
          <p:cNvCxnSpPr/>
          <p:nvPr/>
        </p:nvCxnSpPr>
        <p:spPr>
          <a:xfrm rot="5400000">
            <a:off x="1073602" y="4022543"/>
            <a:ext cx="785818"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 name="6 CuadroTexto"/>
          <p:cNvSpPr txBox="1"/>
          <p:nvPr/>
        </p:nvSpPr>
        <p:spPr>
          <a:xfrm>
            <a:off x="1323635" y="4344014"/>
            <a:ext cx="642942" cy="369332"/>
          </a:xfrm>
          <a:prstGeom prst="rect">
            <a:avLst/>
          </a:prstGeom>
          <a:noFill/>
        </p:spPr>
        <p:txBody>
          <a:bodyPr wrap="square" rtlCol="0">
            <a:spAutoFit/>
          </a:bodyPr>
          <a:lstStyle/>
          <a:p>
            <a:r>
              <a:rPr lang="es-CR" dirty="0" err="1" smtClean="0"/>
              <a:t>xj</a:t>
            </a:r>
            <a:endParaRPr lang="es-CR" dirty="0"/>
          </a:p>
        </p:txBody>
      </p:sp>
      <p:cxnSp>
        <p:nvCxnSpPr>
          <p:cNvPr id="8" name="7 Conector recto"/>
          <p:cNvCxnSpPr/>
          <p:nvPr/>
        </p:nvCxnSpPr>
        <p:spPr>
          <a:xfrm>
            <a:off x="2632914" y="3573016"/>
            <a:ext cx="64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5400000" flipH="1" flipV="1">
            <a:off x="3097261" y="3394421"/>
            <a:ext cx="3571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flipV="1">
            <a:off x="2632914" y="3068960"/>
            <a:ext cx="588983"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971600" y="4867572"/>
            <a:ext cx="45005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5940152" y="458112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Intercepto</a:t>
            </a:r>
            <a:endParaRPr lang="es-CR" dirty="0"/>
          </a:p>
        </p:txBody>
      </p:sp>
      <p:cxnSp>
        <p:nvCxnSpPr>
          <p:cNvPr id="13" name="12 Conector recto de flecha"/>
          <p:cNvCxnSpPr/>
          <p:nvPr/>
        </p:nvCxnSpPr>
        <p:spPr>
          <a:xfrm>
            <a:off x="3275856" y="3429000"/>
            <a:ext cx="219633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13 Rectángulo"/>
          <p:cNvSpPr/>
          <p:nvPr/>
        </p:nvSpPr>
        <p:spPr>
          <a:xfrm>
            <a:off x="5950412" y="314495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Pendiente</a:t>
            </a:r>
            <a:endParaRPr lang="es-CR" dirty="0"/>
          </a:p>
        </p:txBody>
      </p:sp>
      <p:cxnSp>
        <p:nvCxnSpPr>
          <p:cNvPr id="15" name="14 Conector recto de flecha"/>
          <p:cNvCxnSpPr/>
          <p:nvPr/>
        </p:nvCxnSpPr>
        <p:spPr>
          <a:xfrm>
            <a:off x="3656986" y="2708920"/>
            <a:ext cx="181520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Rectángulo"/>
          <p:cNvSpPr/>
          <p:nvPr/>
        </p:nvSpPr>
        <p:spPr>
          <a:xfrm>
            <a:off x="5950412" y="242487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sp>
        <p:nvSpPr>
          <p:cNvPr id="20" name="19 Cerrar llave"/>
          <p:cNvSpPr/>
          <p:nvPr/>
        </p:nvSpPr>
        <p:spPr>
          <a:xfrm>
            <a:off x="1979712" y="4151075"/>
            <a:ext cx="144016" cy="6460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cxnSp>
        <p:nvCxnSpPr>
          <p:cNvPr id="21" name="20 Conector recto de flecha"/>
          <p:cNvCxnSpPr/>
          <p:nvPr/>
        </p:nvCxnSpPr>
        <p:spPr>
          <a:xfrm flipV="1">
            <a:off x="2267744" y="4344014"/>
            <a:ext cx="3384376" cy="930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Rectángulo"/>
          <p:cNvSpPr/>
          <p:nvPr/>
        </p:nvSpPr>
        <p:spPr>
          <a:xfrm>
            <a:off x="5940152" y="3861048"/>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  ???</a:t>
            </a:r>
            <a:endParaRPr lang="es-CR" dirty="0"/>
          </a:p>
        </p:txBody>
      </p:sp>
    </p:spTree>
    <p:extLst>
      <p:ext uri="{BB962C8B-B14F-4D97-AF65-F5344CB8AC3E}">
        <p14:creationId xmlns:p14="http://schemas.microsoft.com/office/powerpoint/2010/main" val="169150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20" grpId="0" animBg="1"/>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57158" y="188640"/>
            <a:ext cx="8429684" cy="668592"/>
          </a:xfrm>
        </p:spPr>
        <p:txBody>
          <a:bodyPr>
            <a:normAutofit/>
          </a:bodyPr>
          <a:lstStyle/>
          <a:p>
            <a:pPr algn="ctr"/>
            <a:r>
              <a:rPr lang="es-CR" sz="2800" dirty="0"/>
              <a:t>M</a:t>
            </a:r>
            <a:r>
              <a:rPr lang="es-CR" sz="2800" dirty="0" smtClean="0"/>
              <a:t>odelo matemático o determinístico</a:t>
            </a:r>
            <a:endParaRPr lang="es-CR" sz="2800" dirty="0"/>
          </a:p>
        </p:txBody>
      </p:sp>
      <p:sp>
        <p:nvSpPr>
          <p:cNvPr id="3" name="2 Marcador de contenido"/>
          <p:cNvSpPr>
            <a:spLocks noGrp="1"/>
          </p:cNvSpPr>
          <p:nvPr>
            <p:ph sz="quarter" idx="1"/>
          </p:nvPr>
        </p:nvSpPr>
        <p:spPr>
          <a:xfrm>
            <a:off x="395536" y="945438"/>
            <a:ext cx="3999388" cy="5723922"/>
          </a:xfrm>
        </p:spPr>
        <p:txBody>
          <a:bodyPr>
            <a:normAutofit/>
          </a:bodyPr>
          <a:lstStyle/>
          <a:p>
            <a:r>
              <a:rPr lang="es-CR" sz="1800" dirty="0" smtClean="0"/>
              <a:t>Es importante diferencias entre un modelo determinístico (sin error), y un modelo de regresión (llamado estocástico, o con error).</a:t>
            </a:r>
          </a:p>
          <a:p>
            <a:endParaRPr lang="es-CR" sz="1800" dirty="0" smtClean="0"/>
          </a:p>
          <a:p>
            <a:r>
              <a:rPr lang="es-CR" sz="1800" dirty="0" smtClean="0"/>
              <a:t>Una relación determinística  puede expresarse mediante una fórmula matemática que siempre brindara un resultado exacto.</a:t>
            </a:r>
          </a:p>
          <a:p>
            <a:endParaRPr lang="es-CR" sz="1800" dirty="0"/>
          </a:p>
          <a:p>
            <a:r>
              <a:rPr lang="es-CR" sz="1800" dirty="0" smtClean="0"/>
              <a:t>Ejemplos : depósitos a plazo, velocidad,  precio de una canasta básica, etc.</a:t>
            </a:r>
          </a:p>
          <a:p>
            <a:endParaRPr lang="es-CR" sz="1800" dirty="0" smtClean="0"/>
          </a:p>
          <a:p>
            <a:r>
              <a:rPr lang="es-CR" sz="1800" dirty="0" smtClean="0"/>
              <a:t>Matemáticamente:</a:t>
            </a:r>
            <a:r>
              <a:rPr lang="es-CR" sz="1800" dirty="0"/>
              <a:t> </a:t>
            </a:r>
            <a:r>
              <a:rPr lang="es-CR" sz="1800" dirty="0" smtClean="0"/>
              <a:t>    Y = a*X</a:t>
            </a:r>
          </a:p>
          <a:p>
            <a:pPr>
              <a:buNone/>
            </a:pPr>
            <a:endParaRPr lang="es-CR" sz="1800" dirty="0" smtClean="0"/>
          </a:p>
          <a:p>
            <a:pPr>
              <a:buNone/>
            </a:pPr>
            <a:r>
              <a:rPr lang="es-CR" sz="1800" dirty="0" smtClean="0"/>
              <a:t>	En la relación anterior, mediante cambios constantes en X, se tendrá siempre el valor exacto de Y.</a:t>
            </a:r>
          </a:p>
        </p:txBody>
      </p:sp>
      <p:sp>
        <p:nvSpPr>
          <p:cNvPr id="5" name="4 Cerrar llave"/>
          <p:cNvSpPr/>
          <p:nvPr/>
        </p:nvSpPr>
        <p:spPr>
          <a:xfrm>
            <a:off x="4139952" y="4633460"/>
            <a:ext cx="428628" cy="189188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6" name="5 Rectángulo"/>
          <p:cNvSpPr/>
          <p:nvPr/>
        </p:nvSpPr>
        <p:spPr>
          <a:xfrm>
            <a:off x="4821084" y="4884550"/>
            <a:ext cx="4143404" cy="135276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Esta relación es determinística, la relación es exacta y no hay error</a:t>
            </a:r>
            <a:endParaRPr lang="es-CR" dirty="0"/>
          </a:p>
        </p:txBody>
      </p:sp>
      <p:pic>
        <p:nvPicPr>
          <p:cNvPr id="70660" name="Picture 4" descr="http://www.bodmincollege.co.uk/wp-content/uploads/2011/11/maths-300x21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76707" y="1556792"/>
            <a:ext cx="3432157" cy="24482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orient="vert" dir="in"/>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42984"/>
            <a:ext cx="8643998" cy="5715016"/>
          </a:xfrm>
        </p:spPr>
        <p:txBody>
          <a:bodyPr>
            <a:normAutofit/>
          </a:bodyPr>
          <a:lstStyle/>
          <a:p>
            <a:r>
              <a:rPr lang="es-CR" sz="1800" dirty="0" smtClean="0"/>
              <a:t>Relación determinística: </a:t>
            </a:r>
            <a:r>
              <a:rPr lang="es-CR" sz="1800" dirty="0"/>
              <a:t>relación perfecta todos los puntos caen sobre la curva</a:t>
            </a:r>
          </a:p>
          <a:p>
            <a:pPr marL="0" indent="0">
              <a:buNone/>
            </a:pPr>
            <a:endParaRPr lang="es-CR" sz="1800" dirty="0" smtClean="0"/>
          </a:p>
          <a:p>
            <a:r>
              <a:rPr lang="es-CR" sz="1800" dirty="0" smtClean="0"/>
              <a:t>Ejemplos: estimación de los Km/hora de un vehículo.</a:t>
            </a:r>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p:txBody>
      </p:sp>
      <p:pic>
        <p:nvPicPr>
          <p:cNvPr id="6146" name="Picture 2" descr="http://soko.com.ar/imagenes/Matematica/funcion/Image614.gif"/>
          <p:cNvPicPr>
            <a:picLocks noChangeAspect="1" noChangeArrowheads="1"/>
          </p:cNvPicPr>
          <p:nvPr/>
        </p:nvPicPr>
        <p:blipFill>
          <a:blip r:embed="rId2" cstate="print"/>
          <a:srcRect/>
          <a:stretch>
            <a:fillRect/>
          </a:stretch>
        </p:blipFill>
        <p:spPr bwMode="auto">
          <a:xfrm>
            <a:off x="452861" y="2634732"/>
            <a:ext cx="5904656" cy="3735599"/>
          </a:xfrm>
          <a:prstGeom prst="rect">
            <a:avLst/>
          </a:prstGeom>
          <a:noFill/>
        </p:spPr>
      </p:pic>
      <p:sp>
        <p:nvSpPr>
          <p:cNvPr id="2" name="1 Elipse"/>
          <p:cNvSpPr/>
          <p:nvPr/>
        </p:nvSpPr>
        <p:spPr>
          <a:xfrm>
            <a:off x="6937393" y="2601649"/>
            <a:ext cx="1474093" cy="1370332"/>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Recta pasa por todos los puntos</a:t>
            </a:r>
            <a:endParaRPr lang="es-CR" dirty="0"/>
          </a:p>
        </p:txBody>
      </p:sp>
      <p:sp>
        <p:nvSpPr>
          <p:cNvPr id="6" name="5 Elipse"/>
          <p:cNvSpPr/>
          <p:nvPr/>
        </p:nvSpPr>
        <p:spPr>
          <a:xfrm>
            <a:off x="6887755" y="4512177"/>
            <a:ext cx="1474093" cy="1370332"/>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Ajuste perfecto</a:t>
            </a:r>
            <a:endParaRPr lang="es-CR" dirty="0"/>
          </a:p>
        </p:txBody>
      </p:sp>
      <p:sp>
        <p:nvSpPr>
          <p:cNvPr id="8" name="1 Título"/>
          <p:cNvSpPr>
            <a:spLocks noGrp="1"/>
          </p:cNvSpPr>
          <p:nvPr>
            <p:ph type="title"/>
          </p:nvPr>
        </p:nvSpPr>
        <p:spPr>
          <a:xfrm>
            <a:off x="357158" y="188640"/>
            <a:ext cx="8429684" cy="668592"/>
          </a:xfrm>
        </p:spPr>
        <p:txBody>
          <a:bodyPr>
            <a:normAutofit/>
          </a:bodyPr>
          <a:lstStyle/>
          <a:p>
            <a:pPr algn="ctr"/>
            <a:r>
              <a:rPr lang="es-CR" sz="2800" dirty="0"/>
              <a:t>M</a:t>
            </a:r>
            <a:r>
              <a:rPr lang="es-CR" sz="2800" dirty="0" smtClean="0"/>
              <a:t>odelo matemático o determinístico</a:t>
            </a:r>
            <a:endParaRPr lang="es-CR" sz="2800" dirty="0"/>
          </a:p>
        </p:txBody>
      </p:sp>
    </p:spTree>
  </p:cSld>
  <p:clrMapOvr>
    <a:masterClrMapping/>
  </p:clrMapOvr>
  <p:transition>
    <p:strips/>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238932"/>
            <a:ext cx="5077798" cy="5286412"/>
          </a:xfrm>
        </p:spPr>
        <p:txBody>
          <a:bodyPr>
            <a:normAutofit/>
          </a:bodyPr>
          <a:lstStyle/>
          <a:p>
            <a:pPr algn="just"/>
            <a:r>
              <a:rPr lang="es-CR" sz="1800" dirty="0" smtClean="0"/>
              <a:t>Infortunadamente, la mayoría de los hechos fuera de la matemática y la física no son determinísticos, y contienen error.</a:t>
            </a:r>
          </a:p>
          <a:p>
            <a:pPr algn="just"/>
            <a:endParaRPr lang="es-CR" sz="1800" dirty="0" smtClean="0"/>
          </a:p>
          <a:p>
            <a:pPr algn="just"/>
            <a:r>
              <a:rPr lang="es-CR" sz="1800" dirty="0" smtClean="0"/>
              <a:t>En casi el 100% de veces se encuentra que al utilizar una variable para explicar otra  existe un cierto nivel de variabilidad en la relación establecida.</a:t>
            </a:r>
          </a:p>
          <a:p>
            <a:pPr algn="just"/>
            <a:endParaRPr lang="es-CR" sz="1800" dirty="0" smtClean="0"/>
          </a:p>
          <a:p>
            <a:pPr algn="just"/>
            <a:r>
              <a:rPr lang="es-CR" sz="1800" dirty="0" smtClean="0"/>
              <a:t>Esto se debe a que entre la variable dependiente e independiente existen relaciones con cierta aleatoriedad.</a:t>
            </a:r>
          </a:p>
          <a:p>
            <a:pPr algn="just"/>
            <a:endParaRPr lang="es-CR" sz="1800" dirty="0" smtClean="0"/>
          </a:p>
          <a:p>
            <a:pPr algn="just"/>
            <a:r>
              <a:rPr lang="es-CR" sz="1800" dirty="0" smtClean="0"/>
              <a:t>Por lo tanto, habrá una diferencia o,  mejor dicho, un grado de </a:t>
            </a:r>
            <a:r>
              <a:rPr lang="es-CR" sz="1800" b="1" dirty="0" smtClean="0"/>
              <a:t>error</a:t>
            </a:r>
            <a:r>
              <a:rPr lang="es-CR" sz="1800" dirty="0" smtClean="0"/>
              <a:t>  en el intento por explicar o predecir la variable dependiente.</a:t>
            </a:r>
            <a:endParaRPr lang="es-CR" sz="1800" dirty="0"/>
          </a:p>
        </p:txBody>
      </p:sp>
      <p:sp>
        <p:nvSpPr>
          <p:cNvPr id="4"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pic>
        <p:nvPicPr>
          <p:cNvPr id="71682" name="Picture 2" descr="https://d3njjcbhbojbot.cloudfront.net/api/utilities/v1/imageproxy/https:/d15cw65ipctsrr.cloudfront.net/b3/bbb02469fea71f12557d5258cccd5a/introstatslogocroppe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85245" y="1844824"/>
            <a:ext cx="2557813" cy="1656184"/>
          </a:xfrm>
          <a:prstGeom prst="rect">
            <a:avLst/>
          </a:prstGeom>
          <a:noFill/>
          <a:extLst>
            <a:ext uri="{909E8E84-426E-40DD-AFC4-6F175D3DCCD1}">
              <a14:hiddenFill xmlns:a14="http://schemas.microsoft.com/office/drawing/2010/main">
                <a:solidFill>
                  <a:srgbClr val="FFFFFF"/>
                </a:solidFill>
              </a14:hiddenFill>
            </a:ext>
          </a:extLst>
        </p:spPr>
      </p:pic>
      <p:pic>
        <p:nvPicPr>
          <p:cNvPr id="71684" name="Picture 4" descr="http://www.decidesoluciones.es/wp-content/uploads/2013/11/Optimizacion_Estocastica1-640x283.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4221088"/>
            <a:ext cx="3048000" cy="187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trips dir="l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32530" y="1285876"/>
            <a:ext cx="8083886" cy="4572000"/>
          </a:xfrm>
        </p:spPr>
        <p:txBody>
          <a:bodyPr/>
          <a:lstStyle/>
          <a:p>
            <a:pPr marL="0" indent="0">
              <a:buNone/>
            </a:pPr>
            <a:r>
              <a:rPr lang="es-CR" sz="1800" u="sng" dirty="0" smtClean="0"/>
              <a:t>En resumen</a:t>
            </a:r>
            <a:r>
              <a:rPr lang="es-CR" sz="1800" dirty="0" smtClean="0"/>
              <a:t>: las relaciones estocásticas contienen un componente denominado </a:t>
            </a:r>
            <a:r>
              <a:rPr lang="es-CR" sz="1800" b="1" dirty="0" smtClean="0"/>
              <a:t>error</a:t>
            </a:r>
            <a:r>
              <a:rPr lang="es-CR" sz="1800" dirty="0" smtClean="0"/>
              <a:t>, el cuál es la diferencia entre el valor de la observación y el valor predicho por la recta de regresión.</a:t>
            </a:r>
          </a:p>
          <a:p>
            <a:endParaRPr lang="es-CR" dirty="0"/>
          </a:p>
        </p:txBody>
      </p:sp>
      <p:pic>
        <p:nvPicPr>
          <p:cNvPr id="5" name="Picture 2" descr="http://www.fdi.ucm.es/profesor/jcrespo/web/imagenes/regresion_lineal_simple.png"/>
          <p:cNvPicPr>
            <a:picLocks noChangeAspect="1" noChangeArrowheads="1"/>
          </p:cNvPicPr>
          <p:nvPr/>
        </p:nvPicPr>
        <p:blipFill>
          <a:blip r:embed="rId2" cstate="print"/>
          <a:srcRect/>
          <a:stretch>
            <a:fillRect/>
          </a:stretch>
        </p:blipFill>
        <p:spPr bwMode="auto">
          <a:xfrm>
            <a:off x="251520" y="2315236"/>
            <a:ext cx="4784827" cy="4138100"/>
          </a:xfrm>
          <a:prstGeom prst="rect">
            <a:avLst/>
          </a:prstGeom>
          <a:noFill/>
        </p:spPr>
      </p:pic>
      <p:cxnSp>
        <p:nvCxnSpPr>
          <p:cNvPr id="6" name="5 Conector recto de flecha"/>
          <p:cNvCxnSpPr/>
          <p:nvPr/>
        </p:nvCxnSpPr>
        <p:spPr>
          <a:xfrm>
            <a:off x="3491880" y="3283396"/>
            <a:ext cx="264320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Rectángulo"/>
          <p:cNvSpPr/>
          <p:nvPr/>
        </p:nvSpPr>
        <p:spPr>
          <a:xfrm>
            <a:off x="6357950" y="3068960"/>
            <a:ext cx="1285884" cy="50006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Recta</a:t>
            </a:r>
            <a:endParaRPr lang="es-CR" dirty="0"/>
          </a:p>
        </p:txBody>
      </p:sp>
      <p:cxnSp>
        <p:nvCxnSpPr>
          <p:cNvPr id="11" name="10 Conector recto de flecha"/>
          <p:cNvCxnSpPr/>
          <p:nvPr/>
        </p:nvCxnSpPr>
        <p:spPr>
          <a:xfrm>
            <a:off x="2603313" y="3429000"/>
            <a:ext cx="3480855" cy="19442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6210518" y="4529973"/>
            <a:ext cx="2286016" cy="18573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Error: diferencia entre el valor estimado y la observación  </a:t>
            </a:r>
            <a:r>
              <a:rPr lang="es-CR" dirty="0" err="1" smtClean="0"/>
              <a:t>Yi</a:t>
            </a:r>
            <a:r>
              <a:rPr lang="es-CR" dirty="0" smtClean="0"/>
              <a:t> </a:t>
            </a:r>
            <a:endParaRPr lang="es-CR" dirty="0"/>
          </a:p>
        </p:txBody>
      </p:sp>
      <p:sp>
        <p:nvSpPr>
          <p:cNvPr id="10"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spTree>
  </p:cSld>
  <p:clrMapOvr>
    <a:masterClrMapping/>
  </p:clrMapOvr>
  <p:transition>
    <p:strips dir="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268760"/>
            <a:ext cx="4398946" cy="5328592"/>
          </a:xfrm>
        </p:spPr>
        <p:txBody>
          <a:bodyPr>
            <a:normAutofit/>
          </a:bodyPr>
          <a:lstStyle/>
          <a:p>
            <a:pPr algn="just"/>
            <a:r>
              <a:rPr lang="es-CR" sz="1800" dirty="0" smtClean="0"/>
              <a:t>Un modelo de regresión se constituye de dos partes.</a:t>
            </a:r>
          </a:p>
          <a:p>
            <a:pPr marL="0" indent="0" algn="just">
              <a:buNone/>
            </a:pPr>
            <a:endParaRPr lang="es-CR" sz="1800" dirty="0" smtClean="0"/>
          </a:p>
          <a:p>
            <a:pPr algn="just"/>
            <a:r>
              <a:rPr lang="es-CR" sz="1800" b="1" i="1" u="sng" dirty="0" smtClean="0"/>
              <a:t>La parte determinística</a:t>
            </a:r>
            <a:r>
              <a:rPr lang="es-CR" sz="1800" dirty="0" smtClean="0"/>
              <a:t>: es la estimación de la recta de mejor ajuste. Esta se expresa como:</a:t>
            </a:r>
          </a:p>
          <a:p>
            <a:pPr marL="0" indent="0" algn="just">
              <a:buNone/>
            </a:pPr>
            <a:endParaRPr lang="es-CR" sz="1800" dirty="0" smtClean="0"/>
          </a:p>
          <a:p>
            <a:pPr marL="0" indent="0" algn="just">
              <a:buNone/>
            </a:pPr>
            <a:endParaRPr lang="es-CR" sz="1800" dirty="0" smtClean="0"/>
          </a:p>
          <a:p>
            <a:pPr algn="just"/>
            <a:r>
              <a:rPr lang="es-CR" sz="1800" b="1" i="1" u="sng" dirty="0" smtClean="0"/>
              <a:t>La parte estocástica</a:t>
            </a:r>
            <a:r>
              <a:rPr lang="es-CR" sz="1800" dirty="0" smtClean="0"/>
              <a:t>: es la diferencia entre la recta de estimación y el valor de la observación. Esta se expresa como:</a:t>
            </a:r>
          </a:p>
          <a:p>
            <a:pPr algn="just"/>
            <a:endParaRPr lang="es-CR" sz="1800" dirty="0" smtClean="0"/>
          </a:p>
          <a:p>
            <a:pPr algn="just"/>
            <a:endParaRPr lang="es-CR" sz="1800" dirty="0"/>
          </a:p>
          <a:p>
            <a:pPr algn="just"/>
            <a:r>
              <a:rPr lang="es-CR" sz="1800" dirty="0" smtClean="0"/>
              <a:t>La unión entre estos dos elementos constituyen un modelo de regresión, el cual intenta brindar la mejor aproximación en la predicción de las observaciones. </a:t>
            </a:r>
          </a:p>
        </p:txBody>
      </p:sp>
      <p:pic>
        <p:nvPicPr>
          <p:cNvPr id="72706" name="Picture 2" descr="http://www.life.umd.edu/classroom/BSCI363/inouye/Lectures/demography/img01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4954" y="1484784"/>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72708" name="Picture 4" descr="http://herdingcats.typepad.com/.a/6a00d8341ca4d953ef014e886f0eec970d-p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0638" y="4149080"/>
            <a:ext cx="3311901" cy="2361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672" y="2996952"/>
            <a:ext cx="1584176" cy="429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pic>
        <p:nvPicPr>
          <p:cNvPr id="686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672" y="4677920"/>
            <a:ext cx="1302341" cy="335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trips dir="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428736"/>
            <a:ext cx="7772400" cy="5072098"/>
          </a:xfrm>
        </p:spPr>
        <p:txBody>
          <a:bodyPr/>
          <a:lstStyle/>
          <a:p>
            <a:r>
              <a:rPr lang="es-CR" sz="1800" dirty="0" smtClean="0"/>
              <a:t>Finalmente, </a:t>
            </a:r>
            <a:r>
              <a:rPr lang="es-CR" sz="1800" dirty="0"/>
              <a:t> </a:t>
            </a:r>
            <a:r>
              <a:rPr lang="es-CR" sz="1800" dirty="0" smtClean="0"/>
              <a:t>cuál es la diferencia entre los siguientes dos modelos:</a:t>
            </a:r>
          </a:p>
          <a:p>
            <a:endParaRPr lang="es-CR" sz="1800" dirty="0"/>
          </a:p>
          <a:p>
            <a:endParaRPr lang="es-CR" sz="1800" dirty="0" smtClean="0"/>
          </a:p>
          <a:p>
            <a:endParaRPr lang="es-CR" sz="1800" dirty="0"/>
          </a:p>
          <a:p>
            <a:endParaRPr lang="es-CR" sz="1800" dirty="0" smtClean="0"/>
          </a:p>
          <a:p>
            <a:endParaRPr lang="es-CR" sz="1800" dirty="0" smtClean="0"/>
          </a:p>
          <a:p>
            <a:endParaRPr lang="es-CR" sz="1800" dirty="0"/>
          </a:p>
          <a:p>
            <a:endParaRPr lang="es-CR" sz="1800" dirty="0" smtClean="0"/>
          </a:p>
          <a:p>
            <a:r>
              <a:rPr lang="es-CR" sz="1800" dirty="0" smtClean="0"/>
              <a:t>Y cuál es la diferencia entre los siguientes dos modelos:</a:t>
            </a:r>
          </a:p>
          <a:p>
            <a:endParaRPr lang="es-CR" sz="1800" dirty="0"/>
          </a:p>
          <a:p>
            <a:endParaRPr lang="es-CR" sz="1800" dirty="0" smtClean="0"/>
          </a:p>
          <a:p>
            <a:endParaRPr lang="es-CR" sz="1800" dirty="0"/>
          </a:p>
          <a:p>
            <a:endParaRPr lang="es-CR" sz="1800" dirty="0" smtClean="0"/>
          </a:p>
          <a:p>
            <a:endParaRPr lang="es-CR" sz="1800" dirty="0"/>
          </a:p>
          <a:p>
            <a:endParaRPr lang="es-CR" sz="1800" dirty="0" smtClean="0"/>
          </a:p>
          <a:p>
            <a:pPr marL="0" indent="0">
              <a:buNone/>
            </a:pPr>
            <a:endParaRPr lang="es-CR" dirty="0" smtClean="0"/>
          </a:p>
          <a:p>
            <a:pPr>
              <a:buNone/>
            </a:pPr>
            <a:endParaRPr lang="es-CR"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96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2132856"/>
            <a:ext cx="2376264" cy="70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148" y="2852936"/>
            <a:ext cx="2769732"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004" y="3429000"/>
            <a:ext cx="2486852"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2148" y="4941168"/>
            <a:ext cx="1689612"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8"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3568" y="5805264"/>
            <a:ext cx="1728192"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8" descr="data:image/jpeg;base64,/9j/4AAQSkZJRgABAQAAAQABAAD/2wCEAAkGBxATEBQPEhAPDw4QEBAPEBAQEA8MDxAOFBEYFhQRFBYYHCggGBolGxQVITEhJSkrLi4uFx8zODMtNygtOisBCgoKDg0OGhAQFywlHRwsLC0sLC0sLDQtLCwsLCwsLC0sLCwsLCwsLCwsLSwsLCwsLCwtLSwvLCwwLCwsLS0uLP/AABEIAPAA0gMBEQACEQEDEQH/xAAcAAEAAgMBAQEAAAAAAAAAAAAABAUBAwYCBwj/xABGEAACAQMBBAYFCAYIBwAAAAAAAQIDBBEhBRIxQQYTUXGBkSJhobHBBxQjMkJSYoIkM3Ky0eEVJUVTY5Kis0NzdIOTo9L/xAAbAQEBAAMBAQEAAAAAAAAAAAAAAQIEBgUDB//EADcRAQACAAMECAMHAwUAAAAAAAABAgMEEQUhMVESQWFxkaGx0TOBwRMiMkJS4fAGI/EkQ2KCov/aAAwDAQACEQMRAD8A+4gAAAAAA81KkYrek1GK4ttJLxDG960jpWnSI65Vdx0hoR0TlUf4I6ebwXR5WLtvK03Vmbd0fWdPJEl0ojypSffJR+DGjUt/UNPy4c+MfuzT6UQ+1Smv2ZRl78DRaf1DT82HPymJ9dE6325bz039x9k1ue3h7Ro3sHa+UxN3T0nt3efDzWKedVqiPSiYmNYZCgAAAAAAAAAAAAAAAAAAAAAHP7Q6UU4zlSopVpwbjUnn6GnNcYZX1prnFcObT0diHlbQ2pTLR0a778uXf7eihu7ypVe9OTl2LhFdy5GTksxmsXMW6WJbX0juj+SjhrgUAwBKsdoVaTzCWFzg9YPw+KDayucxstOuHbdy6vD20l1eytrwrLH1KqWXBvj64vmjGYdbkdpYeajThbl7c1kR6QAAAAAAAAAAAAAAAAAAAHCdOekdSVZbLtZuFaUd+7rwfpW1u/swfKpJNa8k0+eU4vN2jnYy+HOnFX2tvCnCNOEVCEEoxiuCRm4m1ptM2tO+W0MQAFYAAYAzCbTUk2pJ5TWjTDKtprMWrOkw7PYe1VWjuywqsV6S4KS+8jGYdnszaEZqnRt+OvHt7Y+vLwWhHqAAAAAAAAAAAAAAAAABV9J9sxs7SrdSw+qhmMXpv1W92EPGTSDC9ujWZfL+iFvPqpXVVudxeTdepN8XFt7vhq3+b1GUQ4naWPOLjTH6fXr9l8V54EEuxNvsSbfkGVazaejWNZnqhBuru4j+r2dtGutdY20qS0/5m7J+CZNXq4WxczeNZiK9/wC2rn7rpxGjNQuLK9tm+Cq01Tk1zajPdz4E6TO2xcasfijzXeyNu21yvoaqlJLLg8wqRXa4vXHrWhXnY+VxcH8dfn1eKxK1wDbaXMqc41I8YvOOGVzi+8Pvl8e2BiRiV4x584+bv6FVTjGcdYySku5owd/hYlcSkXrwmNWwMwAAAAAAAAAAAAAAAB8r+Wy+c52mzovHXVFVqJcdZdXS8MyqP8qDRz2L0Kd2/wAEyEFFKKWIxSil2JLCRm4SZmZ1l6CMAdpsPZipQTa+lksyf3V9xGMy7bZmQjLYeto+/bj2dnvzn5LMj1Ee/saNem6ValTrUpfWhUiqkX4Pn6wTGr4X8pPyfS2fJX9lKatVNZW9J1LWbeItS4uDbxl6rOHnIamPgVms7t08YWXQzpF86pNTwrilhVMaKcXwqJevDyuT70ZQ5DP5T7C+tfwzw7Ox0RWiwwOu6KVZOi4tPEZPdbTScZa6Pnrkxl12wsS05eazH4Z3d07/AF1XZHtAAAAAAAAAAAAAAAAD4n0wr9b0kjB8KEadNflt3W98xHF4e17f2790ecw6UzckATdi0d+4pxfDe3n+Vb3vSJLe2bhfa5qlZ4a6+G/1d0Yu7AAGi+tIVqU6NSKnSqwlTnF8JQksNeTA/NvQqEqG0+oby184t5vhlwTbfnTRYc7tSmuDbsmPXT6vqdKnKUlGKzKTwkZOcw8O2JaKUjWZddsrYlOmlKaVSrxy1mMf2V8TGZdfktk4WBEWvHSt5R3R9ePctmyPWa5VAMQr8n5gbwAAAAAAAAAAAAAAPhG168F0krznKMIqclvTkoLPzVRWrLDwNrxNqWiI14erp439F8K1F91SD+Jk5mcK8flnwl7VxB8JwfdKLDHoW5LvopJO40aeKc3o0+cV8STwetsOP9X/ANZ9YdkYuxAAHmc0k5N4STbb4JLiwPzr0Oj1+0q12k1BSr1lnlKtN7sX4Sn5Fq5na2L/AG9P1T6b/Z9k6M2qSdV8ZZUfVFPXza9hZfbYeViKTjzxtujuj3n0dBGZHQN0pLBBCqVCiPOoETrCtvRxzjp4ciKkgAAAAAAAAAAAAAqrvozYVZupVsbOrUm8yqVLahUnJ9rk45ZNITSEWXQrZT/s6x8LaivchpB0Yap9Atkv+z7TwpRj7hpB0YW2ytj21tDq7ehRt4PVqlTjT3n2yxxfrZVTgAADgPlX6S9VQ/o6h6d7erq9yOsqdvLKnJ9m8sxX5n9kNbNY1cOkzMue6NbGVrQVPR1JPfqyXBzxwXqS083zM4cVmsxONfpdUcH0LZ73acF+CH7qz7TF2mSp0MvSP+MeiV1obLEq4GmdUCPOqFS9izzKS/Dnyf8AMguAAAAAAAAAAAAAAAAAAAAAcd0s6adVN2dnGNztDHpf3Fqn9utJc/wrXu0yamazmHl662lyey9kqnKdepOVxeVnvVrif1pN/Zivsx0Wi7FySSyiNHH5vO3zFtZ4clkVpr6yul1cdeCSfhoYy7rZ+JGJlcOeyI8Nzd86XaG4fOQrXOuQaXVyBdbAp/Wl3RXvfwAtwAAAAAAAAAAAAAAAAAAA+a9J+mVW5qysdnT3KcPRub6Ou72woPt4+l5doeXn9o1wK6Rx/n81Q9nbPp0IdXTjhZzJvWc5c5TfNmTkcXGvi26V53pRXyAq0tNlSrW1RRm4VJqSoy5Rmub9TehjLq9h1tGXmZndM7vr5uWsJ7TUupnaXDqRe62qcnTb7VP6rXryHtuhnSVKGa9V9fJejTpNOEJclJ/afcB4t6za1IJ9rScpKKWW+AHXWlBQgorlxfa+YG4AAAAAAAAAAAAAAAAAAfMflR6UVJVY7HtZYq1cK5qJ4cISWeq04ej6Uvw4XNhoZ3MxhUnzRtmWEKFKNGmsRjxfOUucn62ZuMxcW2LabWSg+YBtt6EpyUIJyk+CXvfYgzwsK+LeKUjWZddbW7oxjTbWUs5Wibzl+1mLucngTgYNcOer/KZUqS6uW7iUsacOIbT511EqlSU5pqe8/RejjrwwEdBs3YdaaTwoQaTUpPiu1JEV1Fhs+FJaayfGT4vu7EBLAAAAAAAAAAAAAAAAAAEPa9/G3t6tzPWFGlOq1zajFvC9bxjxCWnSNXw3oPGdatcX1V71Wc3He/xJvfqNdnGKXqZYcltXGmZivPf7fV2Jk8cA2UKMpyUIrelJ4S9YZ4eHbEvFKRrMu52PsuNCGNJVJfXn2+peoxmXaZDIUytNONp4z/Oo2vXiobripyeqT4R9b/kG9Kg6P15U6k4Sbam95ZbevNLPqx5AWO17BP6SK1/eX8QJ+ybtShGL0kopLskkuPeFTyAAAAAAAAAAAAAAAAAAAOK+WG5cNk1Unh1alCn2adYpNeUWg+OYnTDlw/QWniyg/vzqyffvuPuijKHGbQnXHmOWno6ArSAOs6JWCjB12vSnlR9UE/i17EYy6nYmUiuH9vaN9uHd+8+Wi+qzws+XeR7qnuNct8eZUVNeSi881qii62bdqcF2P2Mg99WovK01T9oVaEAAAAAAAAAAAAAAAAAAAfP/AJbl/Vi/6qj+7MNfM/Dct0Kf6DR/7v8AvTMocZnvj2+XpC7K1BsJL6PY01GlCK4RhBeUUYP0HL0jDwq0jqiI8mm9q47oor6uepbQVTfa1Sk46a8EBW7RuGk/Rl/lZRE6P7alGck4ydFv6/KNTs8vLxIOitdsU53EKO+t6TyoL0pNLXOOwiupAAAAAAAAAAAAAAAAAAADhPlpj/VUn2V6D/1NfEPhmfhy47oQ/wBBp+qVX/dkZQ4zP/Ht8vSF8VpsMJPB9Ltn6Ef2Y+4wfoeFOtK90Km8u4ZlCST1aafeVm0Ru4JYjuxiuCilFLwQEevtKC4uPjj4jUQJ1IVPSi4uOeWN3PgNVSLCXpxS09KOq7yDsAAAAAAAAAAAAAAAAAAAA4j5ZI/1TV9VW3f/ALYr4h8cx8OXEdBX+hQ9U6v77MocZtD4890ejoCtFhgl9IsXmlTfbTh+6jB+g5edcKk9keiPta0hKnKTit/GFLhJcuIfZz0dmx5tvxZUYnsyH3UBF/otxbcHup6tcU2BY7HoNVYueMZ5aelyz4kV1QAAAAAAAAAAAAAAAAAAAQNubHo3dCVtXi50ZuLklKVN5jJSWq14pBLVi0aSrdndC7GjT6qnTnGCbeHVqy1fHVssTo0MXZeVxbdK9d/fP0lLXRu0/u3/AOWr/wDQ1lhGx8nH5P8A1b3e49H7Vf8ACXjOpL3sas42VlI/248/dY04JJRSwkkkuxLgiN+tYrEVjhDRf/q2u3C9ufgFVSgVGXADxuAeXEC8tKm9CL54171p8CK3AAAAAAAAAAAAAAAAAAABV7Z6R2drj5xc0qMmsxg5b1WS7YwWZPwQY2vWu+ZaLfpVZzW8qlRJ/ft7mk/KUEy6NC+1cpSdJxPCJn0hY2m0KNX9XUjJ8cZxLHc9SNjAzeBj/DvE9nX4cUoNlA2hU1x2e9lRWzq4CtTul2hGynPIGyoBZ7Lf0S75e8ipYAAAAAAAAAAAAAAAAAA4v5TumDsaChSa+eV95U20pKlTX1qrXBvVJJ6Z11w0Hwx8XoV3cZcJ0c2M4/pVdyq3lX05TqNznDK7XrvY4vw78ojRx2ezlsW01ifux5r8rz2YyaaabTTymm00+1PkFiZidYnfDtejm1+tg4zf0tPGXw34cpd/b/MxmHYbJz85mk0v+OvnHP3/AHebqrlt9rD1lHe3OHqyK1WlOrV/Vwcknhy0jFPvYFjYqUZShNYnB4a48sp+TAm1XoVFnsr9Uu+XvIqYAAAAAAAAAAAAAABhsDy6iA1yroD4Z07ru42/1ctYU5W9KK/w401VkvGUp+Yh420rzWLTyh1Rk5AAAWGwZNV445xmpfs7v8Ug9TY82jN16PKde7T30XV1Mjs3LbRcp1FCOXJtJJc2+CIrsdmWvU0o01rhZk+2b1bA0V19M396EX4ptfwKjbU4ASbOriCXe/NkVKjcAbo1QNkZAewAAAAAAAAGGwNc5gR51QNEqoGtyYHxz5RaDttsU7tp9VW6qq5cswSp1Yr1qKi/zIQ8raGDN62j9Uebq0zJxgAAtuj0PSnPsior8zy/3faJe/sDC1xL4nKIjx/wk7SnoyOoZ6M2EV+kT1k8qmuzk5fDzIq9lUQEC9+tCX7UfPX4AYrv0Sol0YPCxwwvcRUinRYEmFEDbGIHoAAAAAAAABhoDxKmBrlbAePmaAyrNAVPSvopQvrZ29RuDT36VVJOVKolpJLmuTXNdjw0YYlIvGkvndlY31n+i3VGdSlD0aN3RjKvRlDlGpurMMcMyS+LsS5jaGysSLTiYca84+seyyUl2rzMng2+7Olt09qTa2dSo/Ri2vvPSK8Q2ctk8bMTph13c+rx9t68VsqMFFat5cpcN6WnsMdXZ5LJ1yuF0I3z1zzn+cFbe1tGRuLvYNOUqEHj7y/1MC0jZyAi7Ytt2lvr7Eot9z0+KAqJXWQOj2S80ot8dV7QJuUA3kA3kA3l2gMgZAAAAAAAAAAAADzNaAVtxnP8wI7CTETxZCou016GdPrY80/4Ac5cPIHb9Hae7a01+Fy/zSb+IFiBHvIqUJQf2ouPmuIHFReNHxWj70B0Wz67VKK7/eBtdxIDz1z7QHWvtAyqz7QPcK7AkQqsDfCYGxAZAAAAAAAAAaLihvfaa9wER2M/wvxAx8xn+HzA9KwlzcfawIO27RqmlFuUnJaYxphgc1Xtp/deS6DvbSCjThHlGEY+UUiD1OvFcwI1S6iBxu1p4rSxwcm/Pj7cgXlg/oo+K9oEgD3Gm2BsjatgbY2TA2wtANsaCA2KKA9AAAAAAAAAAAABrrVVFZ8AIdS5f30vUkVjv5oFxUXFvL78sEQra9d8gqx2bczlTxxabiuL00fxIqQ6U/uy8gPLpy7H5AR42qeuktXxSePMySEynQSWOBBpwRUijBgTqUWBuAAAAAAAAAAAAAAA81JpLLAqLraEm8RD52u8UqVWfF+YY0vrL1/R9X8Pi3/APq8vZE3xnFdycv4BXuOxqf2nKfjur2a+0Cxs6EYR3YxUV2ICQBiQFApTpvXMX7H3PmVHmrdSawm2/VqFW2zaLUFvRxLXjxx8CCXgDIAAAAAAAAAAAAAAACu2jNvRBhaWq2tlxZWvadUyGgSszEtqqkfb7VlTDOt9WHJBm2RAyAAwgGACAyAAAAAAAAAAAAAAAAAQa1PMg+dm5RD5aGAmhgGjKQfSkGA+zbAD0AA0y4gbYgZAAAAAAAAAAAAAAAAAAGucAkwYD56GAaGAaM4DOsMYDJ7iBkDDA84A9IDIAAAAAAAAAAAAAAAAAAAYwE0MA0MA0ZCsYAyAAAYwBkAAAAAAAAAAAAP/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10" descr="data:image/jpeg;base64,/9j/4AAQSkZJRgABAQAAAQABAAD/2wCEAAkGBxATEBQPEhAPDw4QEBAPEBAQEA8MDxAOFBEYFhQRFBYYHCggGBolGxQVITEhJSkrLi4uFx8zODMtNygtOisBCgoKDg0OGhAQFywlHRwsLC0sLC0sLDQtLCwsLCwsLC0sLCwsLCwsLCwsLSwsLCwsLCwtLSwvLCwwLCwsLS0uLP/AABEIAPAA0gMBEQACEQEDEQH/xAAcAAEAAgMBAQEAAAAAAAAAAAAABAUBAwYCBwj/xABGEAACAQMBBAYFCAYIBwAAAAAAAQIDBBEhBRIxQQYTUXGBkSJhobHBBxQjMkJSYoIkM3Ky0eEVJUVTY5Kis0NzdIOTo9L/xAAbAQEBAAMBAQEAAAAAAAAAAAAAAQIEBgUDB//EADcRAQACAAMECAMHAwUAAAAAAAABAgMEEQUhMVESQWFxkaGx0TOBwRMiMkJS4fAGI/EkQ2KCov/aAAwDAQACEQMRAD8A+4gAAAAAA81KkYrek1GK4ttJLxDG960jpWnSI65Vdx0hoR0TlUf4I6ebwXR5WLtvK03Vmbd0fWdPJEl0ojypSffJR+DGjUt/UNPy4c+MfuzT6UQ+1Smv2ZRl78DRaf1DT82HPymJ9dE6325bz039x9k1ue3h7Ro3sHa+UxN3T0nt3efDzWKedVqiPSiYmNYZCgAAAAAAAAAAAAAAAAAAAAAHP7Q6UU4zlSopVpwbjUnn6GnNcYZX1prnFcObT0diHlbQ2pTLR0a778uXf7eihu7ypVe9OTl2LhFdy5GTksxmsXMW6WJbX0juj+SjhrgUAwBKsdoVaTzCWFzg9YPw+KDayucxstOuHbdy6vD20l1eytrwrLH1KqWXBvj64vmjGYdbkdpYeajThbl7c1kR6QAAAAAAAAAAAAAAAAAAAHCdOekdSVZbLtZuFaUd+7rwfpW1u/swfKpJNa8k0+eU4vN2jnYy+HOnFX2tvCnCNOEVCEEoxiuCRm4m1ptM2tO+W0MQAFYAAYAzCbTUk2pJ5TWjTDKtprMWrOkw7PYe1VWjuywqsV6S4KS+8jGYdnszaEZqnRt+OvHt7Y+vLwWhHqAAAAAAAAAAAAAAAAABV9J9sxs7SrdSw+qhmMXpv1W92EPGTSDC9ujWZfL+iFvPqpXVVudxeTdepN8XFt7vhq3+b1GUQ4naWPOLjTH6fXr9l8V54EEuxNvsSbfkGVazaejWNZnqhBuru4j+r2dtGutdY20qS0/5m7J+CZNXq4WxczeNZiK9/wC2rn7rpxGjNQuLK9tm+Cq01Tk1zajPdz4E6TO2xcasfijzXeyNu21yvoaqlJLLg8wqRXa4vXHrWhXnY+VxcH8dfn1eKxK1wDbaXMqc41I8YvOOGVzi+8Pvl8e2BiRiV4x584+bv6FVTjGcdYySku5owd/hYlcSkXrwmNWwMwAAAAAAAAAAAAAAAB8r+Wy+c52mzovHXVFVqJcdZdXS8MyqP8qDRz2L0Kd2/wAEyEFFKKWIxSil2JLCRm4SZmZ1l6CMAdpsPZipQTa+lksyf3V9xGMy7bZmQjLYeto+/bj2dnvzn5LMj1Ee/saNem6ValTrUpfWhUiqkX4Pn6wTGr4X8pPyfS2fJX9lKatVNZW9J1LWbeItS4uDbxl6rOHnIamPgVms7t08YWXQzpF86pNTwrilhVMaKcXwqJevDyuT70ZQ5DP5T7C+tfwzw7Ox0RWiwwOu6KVZOi4tPEZPdbTScZa6Pnrkxl12wsS05eazH4Z3d07/AF1XZHtAAAAAAAAAAAAAAAAD4n0wr9b0kjB8KEadNflt3W98xHF4e17f2790ecw6UzckATdi0d+4pxfDe3n+Vb3vSJLe2bhfa5qlZ4a6+G/1d0Yu7AAGi+tIVqU6NSKnSqwlTnF8JQksNeTA/NvQqEqG0+oby184t5vhlwTbfnTRYc7tSmuDbsmPXT6vqdKnKUlGKzKTwkZOcw8O2JaKUjWZddsrYlOmlKaVSrxy1mMf2V8TGZdfktk4WBEWvHSt5R3R9ePctmyPWa5VAMQr8n5gbwAAAAAAAAAAAAAAPhG168F0krznKMIqclvTkoLPzVRWrLDwNrxNqWiI14erp439F8K1F91SD+Jk5mcK8flnwl7VxB8JwfdKLDHoW5LvopJO40aeKc3o0+cV8STwetsOP9X/ANZ9YdkYuxAAHmc0k5N4STbb4JLiwPzr0Oj1+0q12k1BSr1lnlKtN7sX4Sn5Fq5na2L/AG9P1T6b/Z9k6M2qSdV8ZZUfVFPXza9hZfbYeViKTjzxtujuj3n0dBGZHQN0pLBBCqVCiPOoETrCtvRxzjp4ciKkgAAAAAAAAAAAAAqrvozYVZupVsbOrUm8yqVLahUnJ9rk45ZNITSEWXQrZT/s6x8LaivchpB0Yap9Atkv+z7TwpRj7hpB0YW2ytj21tDq7ehRt4PVqlTjT3n2yxxfrZVTgAADgPlX6S9VQ/o6h6d7erq9yOsqdvLKnJ9m8sxX5n9kNbNY1cOkzMue6NbGVrQVPR1JPfqyXBzxwXqS083zM4cVmsxONfpdUcH0LZ73acF+CH7qz7TF2mSp0MvSP+MeiV1obLEq4GmdUCPOqFS9izzKS/Dnyf8AMguAAAAAAAAAAAAAAAAAAAAAcd0s6adVN2dnGNztDHpf3Fqn9utJc/wrXu0yamazmHl662lyey9kqnKdepOVxeVnvVrif1pN/Zivsx0Wi7FySSyiNHH5vO3zFtZ4clkVpr6yul1cdeCSfhoYy7rZ+JGJlcOeyI8Nzd86XaG4fOQrXOuQaXVyBdbAp/Wl3RXvfwAtwAAAAAAAAAAAAAAAAAAA+a9J+mVW5qysdnT3KcPRub6Ou72woPt4+l5doeXn9o1wK6Rx/n81Q9nbPp0IdXTjhZzJvWc5c5TfNmTkcXGvi26V53pRXyAq0tNlSrW1RRm4VJqSoy5Rmub9TehjLq9h1tGXmZndM7vr5uWsJ7TUupnaXDqRe62qcnTb7VP6rXryHtuhnSVKGa9V9fJejTpNOEJclJ/afcB4t6za1IJ9rScpKKWW+AHXWlBQgorlxfa+YG4AAAAAAAAAAAAAAAAAAfMflR6UVJVY7HtZYq1cK5qJ4cISWeq04ej6Uvw4XNhoZ3MxhUnzRtmWEKFKNGmsRjxfOUucn62ZuMxcW2LabWSg+YBtt6EpyUIJyk+CXvfYgzwsK+LeKUjWZddbW7oxjTbWUs5Wibzl+1mLucngTgYNcOer/KZUqS6uW7iUsacOIbT511EqlSU5pqe8/RejjrwwEdBs3YdaaTwoQaTUpPiu1JEV1Fhs+FJaayfGT4vu7EBLAAAAAAAAAAAAAAAAAAEPa9/G3t6tzPWFGlOq1zajFvC9bxjxCWnSNXw3oPGdatcX1V71Wc3He/xJvfqNdnGKXqZYcltXGmZivPf7fV2Jk8cA2UKMpyUIrelJ4S9YZ4eHbEvFKRrMu52PsuNCGNJVJfXn2+peoxmXaZDIUytNONp4z/Oo2vXiobripyeqT4R9b/kG9Kg6P15U6k4Sbam95ZbevNLPqx5AWO17BP6SK1/eX8QJ+ybtShGL0kopLskkuPeFTyAAAAAAAAAAAAAAAAAAAOK+WG5cNk1Unh1alCn2adYpNeUWg+OYnTDlw/QWniyg/vzqyffvuPuijKHGbQnXHmOWno6ArSAOs6JWCjB12vSnlR9UE/i17EYy6nYmUiuH9vaN9uHd+8+Wi+qzws+XeR7qnuNct8eZUVNeSi881qii62bdqcF2P2Mg99WovK01T9oVaEAAAAAAAAAAAAAAAAAAAfP/AJbl/Vi/6qj+7MNfM/Dct0Kf6DR/7v8AvTMocZnvj2+XpC7K1BsJL6PY01GlCK4RhBeUUYP0HL0jDwq0jqiI8mm9q47oor6uepbQVTfa1Sk46a8EBW7RuGk/Rl/lZRE6P7alGck4ydFv6/KNTs8vLxIOitdsU53EKO+t6TyoL0pNLXOOwiupAAAAAAAAAAAAAAAAAAADhPlpj/VUn2V6D/1NfEPhmfhy47oQ/wBBp+qVX/dkZQ4zP/Ht8vSF8VpsMJPB9Ltn6Ef2Y+4wfoeFOtK90Km8u4ZlCST1aafeVm0Ru4JYjuxiuCilFLwQEevtKC4uPjj4jUQJ1IVPSi4uOeWN3PgNVSLCXpxS09KOq7yDsAAAAAAAAAAAAAAAAAAAA4j5ZI/1TV9VW3f/ALYr4h8cx8OXEdBX+hQ9U6v77MocZtD4890ejoCtFhgl9IsXmlTfbTh+6jB+g5edcKk9keiPta0hKnKTit/GFLhJcuIfZz0dmx5tvxZUYnsyH3UBF/otxbcHup6tcU2BY7HoNVYueMZ5aelyz4kV1QAAAAAAAAAAAAAAAAAAAQNubHo3dCVtXi50ZuLklKVN5jJSWq14pBLVi0aSrdndC7GjT6qnTnGCbeHVqy1fHVssTo0MXZeVxbdK9d/fP0lLXRu0/u3/AOWr/wDQ1lhGx8nH5P8A1b3e49H7Vf8ACXjOpL3sas42VlI/248/dY04JJRSwkkkuxLgiN+tYrEVjhDRf/q2u3C9ufgFVSgVGXADxuAeXEC8tKm9CL54171p8CK3AAAAAAAAAAAAAAAAAAABV7Z6R2drj5xc0qMmsxg5b1WS7YwWZPwQY2vWu+ZaLfpVZzW8qlRJ/ft7mk/KUEy6NC+1cpSdJxPCJn0hY2m0KNX9XUjJ8cZxLHc9SNjAzeBj/DvE9nX4cUoNlA2hU1x2e9lRWzq4CtTul2hGynPIGyoBZ7Lf0S75e8ipYAAAAAAAAAAAAAAAAAA4v5TumDsaChSa+eV95U20pKlTX1qrXBvVJJ6Z11w0Hwx8XoV3cZcJ0c2M4/pVdyq3lX05TqNznDK7XrvY4vw78ojRx2ezlsW01ifux5r8rz2YyaaabTTymm00+1PkFiZidYnfDtejm1+tg4zf0tPGXw34cpd/b/MxmHYbJz85mk0v+OvnHP3/AHebqrlt9rD1lHe3OHqyK1WlOrV/Vwcknhy0jFPvYFjYqUZShNYnB4a48sp+TAm1XoVFnsr9Uu+XvIqYAAAAAAAAAAAAAABhsDy6iA1yroD4Z07ru42/1ctYU5W9KK/w401VkvGUp+Yh420rzWLTyh1Rk5AAAWGwZNV445xmpfs7v8Ug9TY82jN16PKde7T30XV1Mjs3LbRcp1FCOXJtJJc2+CIrsdmWvU0o01rhZk+2b1bA0V19M396EX4ptfwKjbU4ASbOriCXe/NkVKjcAbo1QNkZAewAAAAAAAAGGwNc5gR51QNEqoGtyYHxz5RaDttsU7tp9VW6qq5cswSp1Yr1qKi/zIQ8raGDN62j9Uebq0zJxgAAtuj0PSnPsior8zy/3faJe/sDC1xL4nKIjx/wk7SnoyOoZ6M2EV+kT1k8qmuzk5fDzIq9lUQEC9+tCX7UfPX4AYrv0Sol0YPCxwwvcRUinRYEmFEDbGIHoAAAAAAAABhoDxKmBrlbAePmaAyrNAVPSvopQvrZ29RuDT36VVJOVKolpJLmuTXNdjw0YYlIvGkvndlY31n+i3VGdSlD0aN3RjKvRlDlGpurMMcMyS+LsS5jaGysSLTiYca84+seyyUl2rzMng2+7Olt09qTa2dSo/Ri2vvPSK8Q2ctk8bMTph13c+rx9t68VsqMFFat5cpcN6WnsMdXZ5LJ1yuF0I3z1zzn+cFbe1tGRuLvYNOUqEHj7y/1MC0jZyAi7Ytt2lvr7Eot9z0+KAqJXWQOj2S80ot8dV7QJuUA3kA3kA3l2gMgZAAAAAAAAAAAADzNaAVtxnP8wI7CTETxZCou016GdPrY80/4Ac5cPIHb9Hae7a01+Fy/zSb+IFiBHvIqUJQf2ouPmuIHFReNHxWj70B0Wz67VKK7/eBtdxIDz1z7QHWvtAyqz7QPcK7AkQqsDfCYGxAZAAAAAAAAAaLihvfaa9wER2M/wvxAx8xn+HzA9KwlzcfawIO27RqmlFuUnJaYxphgc1Xtp/deS6DvbSCjThHlGEY+UUiD1OvFcwI1S6iBxu1p4rSxwcm/Pj7cgXlg/oo+K9oEgD3Gm2BsjatgbY2TA2wtANsaCA2KKA9AAAAAAAAAAAABrrVVFZ8AIdS5f30vUkVjv5oFxUXFvL78sEQra9d8gqx2bczlTxxabiuL00fxIqQ6U/uy8gPLpy7H5AR42qeuktXxSePMySEynQSWOBBpwRUijBgTqUWBuAAAAAAAAAAAAAAA81JpLLAqLraEm8RD52u8UqVWfF+YY0vrL1/R9X8Pi3/APq8vZE3xnFdycv4BXuOxqf2nKfjur2a+0Cxs6EYR3YxUV2ICQBiQFApTpvXMX7H3PmVHmrdSawm2/VqFW2zaLUFvRxLXjxx8CCXgDIAAAAAAAAAAAAAAACu2jNvRBhaWq2tlxZWvadUyGgSszEtqqkfb7VlTDOt9WHJBm2RAyAAwgGACAyAAAAAAAAAAAAAAAAAQa1PMg+dm5RD5aGAmhgGjKQfSkGA+zbAD0AA0y4gbYgZAAAAAAAAAAAAAAAAAAGucAkwYD56GAaGAaM4DOsMYDJ7iBkDDA84A9IDIAAAAAAAAAAAAAAAAAAAYwE0MA0MA0ZCsYAyAAAYwBkAAAAAAAAAAAAP/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69644" name="Picture 12" descr="http://blogs.msdn.com/cfs-file.ashx/__key/communityserver-blogs-components-weblogfiles/00-00-01-18-52-metablogapi/3005.PPP_5F00_PRD_5F00_053_5F00_3D_5F00_people_2D00_Question_5F00_Mark_5F00_537F21EF.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96894" y="1579605"/>
            <a:ext cx="4081825" cy="4081825"/>
          </a:xfrm>
          <a:prstGeom prst="rect">
            <a:avLst/>
          </a:prstGeom>
          <a:noFill/>
          <a:extLst>
            <a:ext uri="{909E8E84-426E-40DD-AFC4-6F175D3DCCD1}">
              <a14:hiddenFill xmlns:a14="http://schemas.microsoft.com/office/drawing/2010/main">
                <a:solidFill>
                  <a:srgbClr val="FFFFFF"/>
                </a:solidFill>
              </a14:hiddenFill>
            </a:ext>
          </a:extLst>
        </p:spPr>
      </p:pic>
      <p:sp>
        <p:nvSpPr>
          <p:cNvPr id="14" name="1 Título"/>
          <p:cNvSpPr>
            <a:spLocks noGrp="1"/>
          </p:cNvSpPr>
          <p:nvPr>
            <p:ph type="title"/>
          </p:nvPr>
        </p:nvSpPr>
        <p:spPr>
          <a:xfrm>
            <a:off x="357158" y="312136"/>
            <a:ext cx="8429684" cy="596584"/>
          </a:xfrm>
        </p:spPr>
        <p:txBody>
          <a:bodyPr>
            <a:normAutofit/>
          </a:bodyPr>
          <a:lstStyle/>
          <a:p>
            <a:pPr algn="ctr"/>
            <a:r>
              <a:rPr lang="es-CR" sz="2800" dirty="0" smtClean="0"/>
              <a:t>Modelos estocástico o estadístico</a:t>
            </a:r>
            <a:endParaRPr lang="es-CR" sz="2800" dirty="0"/>
          </a:p>
        </p:txBody>
      </p:sp>
    </p:spTree>
  </p:cSld>
  <p:clrMapOvr>
    <a:masterClrMapping/>
  </p:clrMapOvr>
  <p:transition>
    <p:diamon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1340768"/>
            <a:ext cx="4536504" cy="5328592"/>
          </a:xfrm>
        </p:spPr>
        <p:txBody>
          <a:bodyPr>
            <a:normAutofit/>
          </a:bodyPr>
          <a:lstStyle/>
          <a:p>
            <a:pPr algn="just"/>
            <a:r>
              <a:rPr lang="es-CR" sz="1800" dirty="0" smtClean="0"/>
              <a:t>Finalmente, comprendido el concepto de la recta de mejor ajuste, modelo determinístico, modelo estocástico y error, entre otros, solo falta saber como se estima de recta de mejor ajuste.</a:t>
            </a:r>
          </a:p>
          <a:p>
            <a:pPr algn="just"/>
            <a:endParaRPr lang="es-CR" sz="1800" dirty="0"/>
          </a:p>
          <a:p>
            <a:pPr algn="just"/>
            <a:r>
              <a:rPr lang="es-CR" sz="1800" dirty="0" smtClean="0"/>
              <a:t>Se recuerda que la recta de mejor ajuste tiene por fórmula:</a:t>
            </a:r>
          </a:p>
          <a:p>
            <a:pPr algn="just"/>
            <a:endParaRPr lang="es-CR" sz="1800" dirty="0"/>
          </a:p>
          <a:p>
            <a:pPr marL="0" indent="0" algn="just">
              <a:buNone/>
            </a:pPr>
            <a:endParaRPr lang="es-CR" sz="1800" dirty="0"/>
          </a:p>
          <a:p>
            <a:pPr algn="just"/>
            <a:r>
              <a:rPr lang="es-CR" sz="1800" dirty="0" smtClean="0"/>
              <a:t>De igual forma, se debe preguntar como interactúa la parte estocástica para así determinar la recta de mejor ajuste, la cual es determinística.</a:t>
            </a:r>
          </a:p>
          <a:p>
            <a:pPr algn="just"/>
            <a:endParaRPr lang="es-CR" sz="1800" dirty="0" smtClean="0"/>
          </a:p>
          <a:p>
            <a:pPr algn="just"/>
            <a:endParaRPr lang="es-CR" sz="1800" dirty="0"/>
          </a:p>
          <a:p>
            <a:pPr algn="just"/>
            <a:r>
              <a:rPr lang="es-CR" sz="1800" dirty="0" smtClean="0"/>
              <a:t>Todo esto se explica a continuación.</a:t>
            </a:r>
          </a:p>
        </p:txBody>
      </p:sp>
      <p:sp>
        <p:nvSpPr>
          <p:cNvPr id="4" name="1 Título"/>
          <p:cNvSpPr>
            <a:spLocks noGrp="1"/>
          </p:cNvSpPr>
          <p:nvPr>
            <p:ph type="title"/>
          </p:nvPr>
        </p:nvSpPr>
        <p:spPr>
          <a:xfrm>
            <a:off x="357158" y="260648"/>
            <a:ext cx="8429684" cy="596584"/>
          </a:xfrm>
        </p:spPr>
        <p:txBody>
          <a:bodyPr>
            <a:noAutofit/>
          </a:bodyPr>
          <a:lstStyle/>
          <a:p>
            <a:pPr algn="ctr"/>
            <a:r>
              <a:rPr lang="es-CR" sz="2800" dirty="0" smtClean="0"/>
              <a:t>Determinación del modelo de regresión</a:t>
            </a:r>
            <a:endParaRPr lang="es-CR" sz="2800" dirty="0"/>
          </a:p>
        </p:txBody>
      </p:sp>
      <p:pic>
        <p:nvPicPr>
          <p:cNvPr id="73730" name="Picture 2" descr="http://www.teamusa.org/~/media/USA_Karate/Images/under_constructi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1340768"/>
            <a:ext cx="2808312" cy="2808312"/>
          </a:xfrm>
          <a:prstGeom prst="rect">
            <a:avLst/>
          </a:prstGeom>
          <a:noFill/>
          <a:extLst>
            <a:ext uri="{909E8E84-426E-40DD-AFC4-6F175D3DCCD1}">
              <a14:hiddenFill xmlns:a14="http://schemas.microsoft.com/office/drawing/2010/main">
                <a:solidFill>
                  <a:srgbClr val="FFFFFF"/>
                </a:solidFill>
              </a14:hiddenFill>
            </a:ext>
          </a:extLst>
        </p:spPr>
      </p:pic>
      <p:pic>
        <p:nvPicPr>
          <p:cNvPr id="73732" name="Picture 4" descr="http://ccnmtl.columbia.edu/projects/qmss/images/graph_p39.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6136" y="4437112"/>
            <a:ext cx="2808312" cy="20859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88425" y="3389817"/>
            <a:ext cx="2376264" cy="70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4751400"/>
      </p:ext>
    </p:extLst>
  </p:cSld>
  <p:clrMapOvr>
    <a:masterClrMapping/>
  </p:clrMapOvr>
  <p:transition spd="slow">
    <p:cove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188640"/>
            <a:ext cx="8643998" cy="792088"/>
          </a:xfrm>
        </p:spPr>
        <p:txBody>
          <a:bodyPr>
            <a:normAutofit/>
          </a:bodyPr>
          <a:lstStyle/>
          <a:p>
            <a:pPr algn="ctr"/>
            <a:r>
              <a:rPr lang="es-CR" sz="2800" dirty="0" smtClean="0"/>
              <a:t>Estimación: recta de mejor ajuste.</a:t>
            </a:r>
            <a:endParaRPr lang="es-CR" sz="2800" dirty="0"/>
          </a:p>
        </p:txBody>
      </p:sp>
      <p:sp>
        <p:nvSpPr>
          <p:cNvPr id="3" name="2 Marcador de contenido"/>
          <p:cNvSpPr>
            <a:spLocks noGrp="1"/>
          </p:cNvSpPr>
          <p:nvPr>
            <p:ph sz="quarter" idx="1"/>
          </p:nvPr>
        </p:nvSpPr>
        <p:spPr>
          <a:xfrm>
            <a:off x="228624" y="1357298"/>
            <a:ext cx="4487392" cy="5384070"/>
          </a:xfrm>
        </p:spPr>
        <p:txBody>
          <a:bodyPr>
            <a:normAutofit/>
          </a:bodyPr>
          <a:lstStyle/>
          <a:p>
            <a:pPr algn="just"/>
            <a:r>
              <a:rPr lang="es-CR" sz="1800" dirty="0" smtClean="0"/>
              <a:t>El propósito del análisis de regresión es determinar la mejor recta que se ajuste a los datos.</a:t>
            </a:r>
          </a:p>
          <a:p>
            <a:pPr algn="just"/>
            <a:endParaRPr lang="es-CR" sz="1800" dirty="0" smtClean="0"/>
          </a:p>
          <a:p>
            <a:pPr algn="just"/>
            <a:r>
              <a:rPr lang="es-CR" sz="1800" dirty="0" smtClean="0"/>
              <a:t>Esto es, para la ecuación:</a:t>
            </a:r>
          </a:p>
          <a:p>
            <a:pPr algn="just"/>
            <a:endParaRPr lang="es-CR" sz="1800" dirty="0" smtClean="0"/>
          </a:p>
          <a:p>
            <a:pPr algn="just">
              <a:buNone/>
            </a:pPr>
            <a:r>
              <a:rPr lang="es-CR" sz="1800" dirty="0" smtClean="0"/>
              <a:t>	-Se quiere estimar los valores de </a:t>
            </a:r>
            <a:r>
              <a:rPr lang="es-CR" sz="1800" b="1" dirty="0" smtClean="0"/>
              <a:t>b0</a:t>
            </a:r>
            <a:r>
              <a:rPr lang="es-CR" sz="1800" dirty="0" smtClean="0"/>
              <a:t> y </a:t>
            </a:r>
            <a:r>
              <a:rPr lang="es-CR" sz="1800" b="1" dirty="0" smtClean="0"/>
              <a:t>b1</a:t>
            </a:r>
            <a:r>
              <a:rPr lang="es-CR" sz="1800" dirty="0" smtClean="0"/>
              <a:t> que mejor se adecuen a los datos (la recta que se aproxime más a la totalidad de los datos).</a:t>
            </a:r>
          </a:p>
          <a:p>
            <a:pPr algn="just">
              <a:buNone/>
            </a:pPr>
            <a:endParaRPr lang="es-CR" sz="1800" dirty="0" smtClean="0"/>
          </a:p>
          <a:p>
            <a:pPr algn="just"/>
            <a:r>
              <a:rPr lang="es-CR" sz="1800" dirty="0" smtClean="0"/>
              <a:t>El método que se utiliza para obtenerla se denomina </a:t>
            </a:r>
            <a:r>
              <a:rPr lang="es-CR" sz="1800" b="1" dirty="0" smtClean="0"/>
              <a:t>Mínimos Cuadrados Ordinarios </a:t>
            </a:r>
            <a:r>
              <a:rPr lang="es-CR" sz="1800" i="1" dirty="0" smtClean="0"/>
              <a:t>(</a:t>
            </a:r>
            <a:r>
              <a:rPr lang="es-CR" sz="1800" dirty="0" smtClean="0"/>
              <a:t>MCO). </a:t>
            </a:r>
          </a:p>
          <a:p>
            <a:pPr algn="just"/>
            <a:endParaRPr lang="es-CR" sz="1800" dirty="0" smtClean="0"/>
          </a:p>
          <a:p>
            <a:pPr algn="just"/>
            <a:r>
              <a:rPr lang="es-CR" sz="1800" dirty="0" smtClean="0"/>
              <a:t>Los MCO producirá la mejor de todas las ecuaciones posibles para aproximar los datos en las relaciones lineales. </a:t>
            </a:r>
          </a:p>
        </p:txBody>
      </p:sp>
      <p:pic>
        <p:nvPicPr>
          <p:cNvPr id="4"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22086" y="2636912"/>
            <a:ext cx="1433890" cy="351709"/>
          </a:xfrm>
          <a:prstGeom prst="rect">
            <a:avLst/>
          </a:prstGeom>
          <a:noFill/>
        </p:spPr>
      </p:pic>
      <p:pic>
        <p:nvPicPr>
          <p:cNvPr id="74754" name="Picture 2" descr="https://d3njjcbhbojbot.cloudfront.net/api/utilities/v1/imageproxy/https:/d15cw65ipctsrr.cloudfront.net/78/ccc69069b511e389c8cb045191a2cf/RegressionModel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8" y="1556792"/>
            <a:ext cx="3405344" cy="2088232"/>
          </a:xfrm>
          <a:prstGeom prst="rect">
            <a:avLst/>
          </a:prstGeom>
          <a:noFill/>
          <a:extLst>
            <a:ext uri="{909E8E84-426E-40DD-AFC4-6F175D3DCCD1}">
              <a14:hiddenFill xmlns:a14="http://schemas.microsoft.com/office/drawing/2010/main">
                <a:solidFill>
                  <a:srgbClr val="FFFFFF"/>
                </a:solidFill>
              </a14:hiddenFill>
            </a:ext>
          </a:extLst>
        </p:spPr>
      </p:pic>
      <p:pic>
        <p:nvPicPr>
          <p:cNvPr id="74756" name="Picture 4" descr="http://aaq.auburn.edu/sites/default/files/images/regressionAnalysis_015.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47089" y="4077072"/>
            <a:ext cx="3239342" cy="2312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lus/>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5318043" cy="5213264"/>
          </a:xfrm>
        </p:spPr>
        <p:txBody>
          <a:bodyPr>
            <a:normAutofit/>
          </a:bodyPr>
          <a:lstStyle/>
          <a:p>
            <a:pPr algn="just"/>
            <a:r>
              <a:rPr lang="es-CR" sz="1800" dirty="0" smtClean="0"/>
              <a:t>El fundamento de que con los MCO se obtenga la mejor recta de estimación de cualquier otra, se debe a que los errores (o residual), se minimiza con este método:</a:t>
            </a:r>
          </a:p>
          <a:p>
            <a:pPr marL="0" indent="0" algn="just">
              <a:buNone/>
            </a:pPr>
            <a:endParaRPr lang="es-CR" sz="1800" dirty="0" smtClean="0"/>
          </a:p>
          <a:p>
            <a:pPr algn="just"/>
            <a:r>
              <a:rPr lang="es-CR" sz="1800" dirty="0" smtClean="0"/>
              <a:t>De ahí el nombre de “Mínimos Cuadrados Ordinales”: produce una recta tal que la suma de los errores al cuadrado es menor de lo que sería con cualquier otra recta.</a:t>
            </a:r>
            <a:endParaRPr lang="es-CR" sz="1800" dirty="0"/>
          </a:p>
        </p:txBody>
      </p:sp>
      <p:sp>
        <p:nvSpPr>
          <p:cNvPr id="5" name="4 Rectángulo"/>
          <p:cNvSpPr/>
          <p:nvPr/>
        </p:nvSpPr>
        <p:spPr>
          <a:xfrm>
            <a:off x="392877" y="4341629"/>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3600" dirty="0" smtClean="0"/>
              <a:t>La suma de errores al              </a:t>
            </a:r>
            <a:endParaRPr lang="es-CR" sz="3600" dirty="0" smtClean="0">
              <a:latin typeface="Calibri"/>
              <a:cs typeface="Calibri"/>
            </a:endParaRPr>
          </a:p>
          <a:p>
            <a:r>
              <a:rPr lang="es-CR" sz="3600" dirty="0" smtClean="0"/>
              <a:t> cuadrado se minimiza con</a:t>
            </a:r>
            <a:endParaRPr lang="es-CR" sz="3600" dirty="0"/>
          </a:p>
        </p:txBody>
      </p:sp>
      <p:sp>
        <p:nvSpPr>
          <p:cNvPr id="552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529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603763" y="4591207"/>
            <a:ext cx="2928958" cy="858166"/>
          </a:xfrm>
          <a:prstGeom prst="rect">
            <a:avLst/>
          </a:prstGeom>
          <a:noFill/>
        </p:spPr>
      </p:pic>
      <p:sp>
        <p:nvSpPr>
          <p:cNvPr id="8" name="1 Título"/>
          <p:cNvSpPr>
            <a:spLocks noGrp="1"/>
          </p:cNvSpPr>
          <p:nvPr>
            <p:ph type="title"/>
          </p:nvPr>
        </p:nvSpPr>
        <p:spPr>
          <a:xfrm>
            <a:off x="323528" y="188640"/>
            <a:ext cx="8643998" cy="792088"/>
          </a:xfrm>
        </p:spPr>
        <p:txBody>
          <a:bodyPr>
            <a:normAutofit/>
          </a:bodyPr>
          <a:lstStyle/>
          <a:p>
            <a:pPr algn="ctr"/>
            <a:r>
              <a:rPr lang="es-CR" sz="2800" dirty="0" smtClean="0"/>
              <a:t>Estimación: recta de mejor ajuste.</a:t>
            </a:r>
            <a:endParaRPr lang="es-CR" sz="2800" dirty="0"/>
          </a:p>
        </p:txBody>
      </p:sp>
      <p:pic>
        <p:nvPicPr>
          <p:cNvPr id="75778" name="Picture 2" descr="http://cdn2.content.compendiumblog.com/uploads/user/458939f4-fe08-4dbc-b271-efca0f5a2682/742d7708-efd3-492c-abff-6044d78e3bbd/Image/58964ccf1cb00ead2ee1735ca54886d9/residual_illustra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748" y="1556792"/>
            <a:ext cx="2774724" cy="18707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360718"/>
            <a:ext cx="6014472" cy="4948602"/>
          </a:xfrm>
        </p:spPr>
        <p:txBody>
          <a:bodyPr>
            <a:normAutofit lnSpcReduction="10000"/>
          </a:bodyPr>
          <a:lstStyle/>
          <a:p>
            <a:r>
              <a:rPr lang="es-CR" sz="1800" dirty="0" smtClean="0"/>
              <a:t>Entonces, el objetivo es calcular la recta de mejor ajuste:</a:t>
            </a:r>
          </a:p>
          <a:p>
            <a:endParaRPr lang="es-CR" sz="1800" dirty="0"/>
          </a:p>
          <a:p>
            <a:endParaRPr lang="es-CR" sz="1800" dirty="0" smtClean="0"/>
          </a:p>
          <a:p>
            <a:endParaRPr lang="es-CR" sz="1800" dirty="0" smtClean="0"/>
          </a:p>
          <a:p>
            <a:endParaRPr lang="es-CR" sz="1800" dirty="0" smtClean="0"/>
          </a:p>
          <a:p>
            <a:r>
              <a:rPr lang="es-CR" sz="1800" dirty="0" smtClean="0"/>
              <a:t>Para esto básicamente se debe llevar a cabo 2 etapas:</a:t>
            </a:r>
          </a:p>
          <a:p>
            <a:endParaRPr lang="es-CR" sz="1800" dirty="0" smtClean="0"/>
          </a:p>
          <a:p>
            <a:pPr marL="514350" indent="-514350">
              <a:buAutoNum type="arabicPeriod"/>
            </a:pPr>
            <a:r>
              <a:rPr lang="es-CR" sz="1800" dirty="0" smtClean="0"/>
              <a:t>Cálculo de la suma de cuadros y productos cruzados de las variables en cuestión, “X” y “Y”:</a:t>
            </a:r>
          </a:p>
          <a:p>
            <a:pPr marL="514350" indent="-514350">
              <a:buAutoNum type="arabicPeriod"/>
            </a:pPr>
            <a:endParaRPr lang="es-CR" sz="1800" dirty="0" smtClean="0"/>
          </a:p>
          <a:p>
            <a:pPr marL="514350" indent="-514350">
              <a:buNone/>
            </a:pPr>
            <a:r>
              <a:rPr lang="es-CR" sz="1800" dirty="0" smtClean="0"/>
              <a:t>a. Suma de cuadrados de “X” (</a:t>
            </a:r>
            <a:r>
              <a:rPr lang="es-CR" sz="1800" dirty="0" err="1" smtClean="0"/>
              <a:t>SCx</a:t>
            </a:r>
            <a:r>
              <a:rPr lang="es-CR" sz="1800" dirty="0" smtClean="0"/>
              <a:t>).</a:t>
            </a:r>
          </a:p>
          <a:p>
            <a:pPr marL="514350" indent="-514350">
              <a:buNone/>
            </a:pPr>
            <a:r>
              <a:rPr lang="es-CR" sz="1800" dirty="0" smtClean="0"/>
              <a:t>b. Suma de cuadrados de “Y” (</a:t>
            </a:r>
            <a:r>
              <a:rPr lang="es-CR" sz="1800" dirty="0" err="1" smtClean="0"/>
              <a:t>SCy</a:t>
            </a:r>
            <a:r>
              <a:rPr lang="es-CR" sz="1800" dirty="0" smtClean="0"/>
              <a:t>).</a:t>
            </a:r>
          </a:p>
          <a:p>
            <a:pPr marL="514350" indent="-514350">
              <a:buNone/>
            </a:pPr>
            <a:r>
              <a:rPr lang="es-CR" sz="1800" dirty="0" smtClean="0"/>
              <a:t>c. Suma de cuadrados cruzada de “X” y “X” (</a:t>
            </a:r>
            <a:r>
              <a:rPr lang="es-CR" sz="1800" dirty="0" err="1" smtClean="0"/>
              <a:t>SCxy</a:t>
            </a:r>
            <a:r>
              <a:rPr lang="es-CR" sz="1800" dirty="0" smtClean="0"/>
              <a:t>).</a:t>
            </a:r>
          </a:p>
          <a:p>
            <a:pPr marL="514350" indent="-514350">
              <a:buNone/>
            </a:pPr>
            <a:endParaRPr lang="es-CR" sz="1800" dirty="0" smtClean="0"/>
          </a:p>
          <a:p>
            <a:pPr marL="514350" indent="-514350">
              <a:buNone/>
            </a:pPr>
            <a:r>
              <a:rPr lang="es-CR" sz="1800" dirty="0" smtClean="0"/>
              <a:t>2. Luego, calcular la pendiente b1, y el intercepto b0. </a:t>
            </a:r>
            <a:endParaRPr lang="es-CR" sz="1800" dirty="0"/>
          </a:p>
        </p:txBody>
      </p:sp>
      <p:sp>
        <p:nvSpPr>
          <p:cNvPr id="4" name="1 Título"/>
          <p:cNvSpPr>
            <a:spLocks noGrp="1"/>
          </p:cNvSpPr>
          <p:nvPr>
            <p:ph type="title"/>
          </p:nvPr>
        </p:nvSpPr>
        <p:spPr>
          <a:xfrm>
            <a:off x="251520" y="332656"/>
            <a:ext cx="8643998" cy="641208"/>
          </a:xfrm>
        </p:spPr>
        <p:txBody>
          <a:bodyPr>
            <a:normAutofit/>
          </a:bodyPr>
          <a:lstStyle/>
          <a:p>
            <a:pPr algn="ctr"/>
            <a:r>
              <a:rPr lang="es-CR" sz="2800" dirty="0" smtClean="0"/>
              <a:t>Estimación de la recta de mejor ajuste</a:t>
            </a:r>
            <a:endParaRPr lang="es-CR" sz="2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403648" y="2152300"/>
            <a:ext cx="2428892" cy="595766"/>
          </a:xfrm>
          <a:prstGeom prst="rect">
            <a:avLst/>
          </a:prstGeom>
          <a:noFill/>
        </p:spPr>
      </p:pic>
      <p:pic>
        <p:nvPicPr>
          <p:cNvPr id="76802" name="Picture 2" descr="http://2.bp.blogspot.com/-iodGnfc7Lsk/TutuDrjg4pI/AAAAAAAAPqo/XERPI3bvHHc/s1600/fi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765" t="7691" r="8294" b="5999"/>
          <a:stretch/>
        </p:blipFill>
        <p:spPr bwMode="auto">
          <a:xfrm>
            <a:off x="6300192" y="1516685"/>
            <a:ext cx="2417155" cy="2462762"/>
          </a:xfrm>
          <a:prstGeom prst="rect">
            <a:avLst/>
          </a:prstGeom>
          <a:noFill/>
          <a:extLst>
            <a:ext uri="{909E8E84-426E-40DD-AFC4-6F175D3DCCD1}">
              <a14:hiddenFill xmlns:a14="http://schemas.microsoft.com/office/drawing/2010/main">
                <a:solidFill>
                  <a:srgbClr val="FFFFFF"/>
                </a:solidFill>
              </a14:hiddenFill>
            </a:ext>
          </a:extLst>
        </p:spPr>
      </p:pic>
      <p:pic>
        <p:nvPicPr>
          <p:cNvPr id="76804" name="Picture 4" descr="http://documentation.statsoft.com/STATISTICAHelp/Process/Images/GLtechNotesEqN.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00192" y="4437112"/>
            <a:ext cx="2417155" cy="2016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14422"/>
            <a:ext cx="7772400" cy="4572000"/>
          </a:xfrm>
        </p:spPr>
        <p:txBody>
          <a:bodyPr>
            <a:normAutofit/>
          </a:bodyPr>
          <a:lstStyle/>
          <a:p>
            <a:r>
              <a:rPr lang="es-CR" sz="1800" dirty="0" smtClean="0"/>
              <a:t>1. Obtención de las sumas de cuadrado y productos cruzados</a:t>
            </a:r>
            <a:endParaRPr lang="es-CR" sz="1800" dirty="0"/>
          </a:p>
        </p:txBody>
      </p:sp>
      <p:sp>
        <p:nvSpPr>
          <p:cNvPr id="5" name="4 Rectángulo"/>
          <p:cNvSpPr/>
          <p:nvPr/>
        </p:nvSpPr>
        <p:spPr>
          <a:xfrm>
            <a:off x="214282" y="2000240"/>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200" dirty="0" smtClean="0"/>
          </a:p>
          <a:p>
            <a:r>
              <a:rPr lang="es-CR" sz="2800" dirty="0" smtClean="0"/>
              <a:t>Suma de los cuadros de “X”</a:t>
            </a:r>
          </a:p>
          <a:p>
            <a:r>
              <a:rPr lang="es-CR" sz="3600" dirty="0" smtClean="0"/>
              <a:t> </a:t>
            </a:r>
            <a:endParaRPr lang="es-CR" sz="3600" dirty="0"/>
          </a:p>
        </p:txBody>
      </p:sp>
      <p:sp>
        <p:nvSpPr>
          <p:cNvPr id="6" name="5 Rectángulo"/>
          <p:cNvSpPr/>
          <p:nvPr/>
        </p:nvSpPr>
        <p:spPr>
          <a:xfrm>
            <a:off x="214282" y="3643314"/>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“Y”</a:t>
            </a:r>
          </a:p>
          <a:p>
            <a:r>
              <a:rPr lang="es-CR" sz="3600" dirty="0" smtClean="0"/>
              <a:t> </a:t>
            </a:r>
            <a:endParaRPr lang="es-CR" sz="3600" dirty="0"/>
          </a:p>
        </p:txBody>
      </p:sp>
      <p:sp>
        <p:nvSpPr>
          <p:cNvPr id="7" name="6 Rectángulo"/>
          <p:cNvSpPr/>
          <p:nvPr/>
        </p:nvSpPr>
        <p:spPr>
          <a:xfrm>
            <a:off x="214282" y="5357826"/>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800" dirty="0" smtClean="0"/>
              <a:t>Suma de los cuadros de “X” e “Y” </a:t>
            </a:r>
            <a:endParaRPr lang="es-CR" sz="2800" dirty="0"/>
          </a:p>
        </p:txBody>
      </p:sp>
      <p:pic>
        <p:nvPicPr>
          <p:cNvPr id="8"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000628" y="2214554"/>
            <a:ext cx="3369492" cy="785818"/>
          </a:xfrm>
          <a:prstGeom prst="rect">
            <a:avLst/>
          </a:prstGeom>
          <a:noFill/>
        </p:spPr>
      </p:pic>
      <p:pic>
        <p:nvPicPr>
          <p:cNvPr id="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000628" y="3786190"/>
            <a:ext cx="3223215" cy="785818"/>
          </a:xfrm>
          <a:prstGeom prst="rect">
            <a:avLst/>
          </a:prstGeom>
          <a:noFill/>
        </p:spPr>
      </p:pic>
      <p:pic>
        <p:nvPicPr>
          <p:cNvPr id="10"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000628" y="5589240"/>
            <a:ext cx="3658646" cy="864096"/>
          </a:xfrm>
          <a:prstGeom prst="rect">
            <a:avLst/>
          </a:prstGeom>
          <a:noFill/>
        </p:spPr>
      </p:pic>
      <p:sp>
        <p:nvSpPr>
          <p:cNvPr id="11" name="1 Título"/>
          <p:cNvSpPr>
            <a:spLocks noGrp="1"/>
          </p:cNvSpPr>
          <p:nvPr>
            <p:ph type="title"/>
          </p:nvPr>
        </p:nvSpPr>
        <p:spPr>
          <a:xfrm>
            <a:off x="251520" y="332656"/>
            <a:ext cx="8643998" cy="641208"/>
          </a:xfrm>
        </p:spPr>
        <p:txBody>
          <a:bodyPr>
            <a:normAutofit/>
          </a:bodyPr>
          <a:lstStyle/>
          <a:p>
            <a:pPr algn="ctr"/>
            <a:r>
              <a:rPr lang="es-CR" sz="2800" dirty="0" smtClean="0"/>
              <a:t>Estimación de la recta de mejor ajuste</a:t>
            </a:r>
            <a:endParaRPr lang="es-CR" sz="2800"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412776"/>
            <a:ext cx="8215370" cy="5112568"/>
          </a:xfrm>
        </p:spPr>
        <p:txBody>
          <a:bodyPr>
            <a:normAutofit/>
          </a:bodyPr>
          <a:lstStyle/>
          <a:p>
            <a:r>
              <a:rPr lang="es-CR" sz="1800" dirty="0" smtClean="0"/>
              <a:t>2. Estimación de la pendiente e intercepto en la recta de regresión: </a:t>
            </a:r>
          </a:p>
          <a:p>
            <a:pPr marL="0" indent="0">
              <a:buNone/>
            </a:pPr>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endParaRPr lang="es-CR" sz="1800" dirty="0" smtClean="0"/>
          </a:p>
          <a:p>
            <a:pPr>
              <a:buNone/>
            </a:pPr>
            <a:endParaRPr lang="es-CR" sz="1800" dirty="0" smtClean="0"/>
          </a:p>
          <a:p>
            <a:pPr>
              <a:buNone/>
            </a:pPr>
            <a:endParaRPr lang="es-CR" sz="1800" dirty="0"/>
          </a:p>
          <a:p>
            <a:pPr>
              <a:buNone/>
            </a:pPr>
            <a:endParaRPr lang="es-CR" sz="1800" dirty="0" smtClean="0"/>
          </a:p>
          <a:p>
            <a:pPr>
              <a:buNone/>
            </a:pPr>
            <a:endParaRPr lang="es-CR" sz="1800" dirty="0"/>
          </a:p>
          <a:p>
            <a:pPr>
              <a:buNone/>
            </a:pPr>
            <a:endParaRPr lang="es-CR" sz="1800" dirty="0" smtClean="0"/>
          </a:p>
          <a:p>
            <a:pPr>
              <a:buNone/>
            </a:pPr>
            <a:r>
              <a:rPr lang="es-CR" sz="1800" dirty="0" smtClean="0"/>
              <a:t>Con esta información tenemos la recta de regresión: </a:t>
            </a:r>
          </a:p>
          <a:p>
            <a:pPr marL="0" indent="0">
              <a:buNone/>
            </a:pPr>
            <a:endParaRPr lang="es-CR" sz="1800" dirty="0" smtClean="0"/>
          </a:p>
        </p:txBody>
      </p:sp>
      <p:sp>
        <p:nvSpPr>
          <p:cNvPr id="5" name="4 Rectángulo"/>
          <p:cNvSpPr/>
          <p:nvPr/>
        </p:nvSpPr>
        <p:spPr>
          <a:xfrm>
            <a:off x="214282" y="2071678"/>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       Pendiente:</a:t>
            </a:r>
          </a:p>
          <a:p>
            <a:r>
              <a:rPr lang="es-CR" sz="3600" dirty="0" smtClean="0"/>
              <a:t> </a:t>
            </a:r>
            <a:endParaRPr lang="es-CR" sz="3600" dirty="0"/>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0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357686" y="2298653"/>
            <a:ext cx="1928826" cy="986331"/>
          </a:xfrm>
          <a:prstGeom prst="rect">
            <a:avLst/>
          </a:prstGeom>
          <a:noFill/>
        </p:spPr>
      </p:pic>
      <p:sp>
        <p:nvSpPr>
          <p:cNvPr id="8" name="7 Rectángulo"/>
          <p:cNvSpPr/>
          <p:nvPr/>
        </p:nvSpPr>
        <p:spPr>
          <a:xfrm>
            <a:off x="214282" y="3857628"/>
            <a:ext cx="8358246"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       Intercepto:</a:t>
            </a:r>
          </a:p>
          <a:p>
            <a:r>
              <a:rPr lang="es-CR" sz="3600" dirty="0" smtClean="0"/>
              <a:t> </a:t>
            </a:r>
            <a:endParaRPr lang="es-CR" sz="3600" dirty="0"/>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03"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429124" y="4297656"/>
            <a:ext cx="2329978" cy="571504"/>
          </a:xfrm>
          <a:prstGeom prst="rect">
            <a:avLst/>
          </a:prstGeom>
          <a:noFill/>
        </p:spPr>
      </p:pic>
      <p:pic>
        <p:nvPicPr>
          <p:cNvPr id="11"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815516" y="5805264"/>
            <a:ext cx="2428892" cy="595766"/>
          </a:xfrm>
          <a:prstGeom prst="rect">
            <a:avLst/>
          </a:prstGeom>
          <a:noFill/>
        </p:spPr>
      </p:pic>
      <p:sp>
        <p:nvSpPr>
          <p:cNvPr id="12"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a:t>
            </a:r>
            <a:endParaRPr lang="es-CR" sz="2800" dirty="0"/>
          </a:p>
        </p:txBody>
      </p:sp>
    </p:spTree>
  </p:cSld>
  <p:clrMapOvr>
    <a:masterClrMapping/>
  </p:clrMapOvr>
  <p:transition>
    <p:push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5438408" cy="5328592"/>
          </a:xfrm>
        </p:spPr>
        <p:txBody>
          <a:bodyPr>
            <a:normAutofit/>
          </a:bodyPr>
          <a:lstStyle/>
          <a:p>
            <a:r>
              <a:rPr lang="es-CR" sz="1800" dirty="0" smtClean="0"/>
              <a:t>Ejemplo:</a:t>
            </a:r>
          </a:p>
          <a:p>
            <a:endParaRPr lang="es-CR" sz="1800" dirty="0"/>
          </a:p>
          <a:p>
            <a:pPr marL="0" indent="0" algn="just">
              <a:buNone/>
            </a:pPr>
            <a:r>
              <a:rPr lang="es-CR" sz="1800" dirty="0" smtClean="0"/>
              <a:t>La gerencia de Hop </a:t>
            </a:r>
            <a:r>
              <a:rPr lang="es-CR" sz="1800" dirty="0" err="1" smtClean="0"/>
              <a:t>Scoth</a:t>
            </a:r>
            <a:r>
              <a:rPr lang="es-CR" sz="1800" dirty="0" smtClean="0"/>
              <a:t> Airlines, la aerolínea más pequeña del mundo, considera que existe una relación directa entre los gastos publicitarios y el número de pasajeros que escogen viajar por Hop </a:t>
            </a:r>
            <a:r>
              <a:rPr lang="es-CR" sz="1800" dirty="0" err="1" smtClean="0"/>
              <a:t>Scoth</a:t>
            </a:r>
            <a:r>
              <a:rPr lang="es-CR" sz="1800" dirty="0" smtClean="0"/>
              <a:t>. Para determinar si esta relación existe, y si es así cuál podría ser la naturaleza exacta, los estadísticos empleados por Hop </a:t>
            </a:r>
            <a:r>
              <a:rPr lang="es-CR" sz="1800" dirty="0" err="1" smtClean="0"/>
              <a:t>Scotch</a:t>
            </a:r>
            <a:r>
              <a:rPr lang="es-CR" sz="1800" dirty="0" smtClean="0"/>
              <a:t> decidieron utilizar los procedimientos MCO para determinar el modelo de regresión.</a:t>
            </a:r>
          </a:p>
          <a:p>
            <a:pPr algn="just"/>
            <a:endParaRPr lang="es-CR" sz="1800" dirty="0" smtClean="0"/>
          </a:p>
          <a:p>
            <a:pPr algn="just"/>
            <a:r>
              <a:rPr lang="es-CR" sz="1800" dirty="0" smtClean="0"/>
              <a:t>Se recolectaron los valores mensuales por gastos de publicidad y número de pasajeros para los n=15 mese más recientes. Los datos se presentan a continuación (se expresan en unidades de 1=1000).</a:t>
            </a:r>
          </a:p>
          <a:p>
            <a:pPr algn="just"/>
            <a:endParaRPr lang="es-CR" sz="1800" dirty="0"/>
          </a:p>
          <a:p>
            <a:pPr algn="just"/>
            <a:r>
              <a:rPr lang="es-CR" sz="1800" dirty="0" smtClean="0"/>
              <a:t>Antes de estimar el modelo de regresión, qué se podría decir sobre el tipo de datos empleados.</a:t>
            </a:r>
          </a:p>
          <a:p>
            <a:pPr algn="just"/>
            <a:endParaRPr lang="es-CR" sz="1800" dirty="0"/>
          </a:p>
          <a:p>
            <a:pPr algn="just"/>
            <a:endParaRPr lang="es-CR" sz="1800" dirty="0"/>
          </a:p>
        </p:txBody>
      </p:sp>
      <p:sp>
        <p:nvSpPr>
          <p:cNvPr id="5"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7826" name="Picture 2" descr="http://www.taleas.com/static/images/comics/Safe2Fl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4168" y="1700808"/>
            <a:ext cx="274320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77828" name="Picture 4" descr="http://www.taleas.com/static/images/comics/PlaneCrash.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8307" y="4509120"/>
            <a:ext cx="2692930" cy="20103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p:cNvGraphicFramePr>
            <a:graphicFrameLocks noGrp="1"/>
          </p:cNvGraphicFramePr>
          <p:nvPr>
            <p:ph sz="quarter" idx="1"/>
          </p:nvPr>
        </p:nvGraphicFramePr>
        <p:xfrm>
          <a:off x="785786" y="1285860"/>
          <a:ext cx="7358114" cy="5143536"/>
        </p:xfrm>
        <a:graphic>
          <a:graphicData uri="http://schemas.openxmlformats.org/drawingml/2006/table">
            <a:tbl>
              <a:tblPr/>
              <a:tblGrid>
                <a:gridCol w="1848898"/>
                <a:gridCol w="2829563"/>
                <a:gridCol w="2679653"/>
              </a:tblGrid>
              <a:tr h="321471">
                <a:tc>
                  <a:txBody>
                    <a:bodyPr/>
                    <a:lstStyle/>
                    <a:p>
                      <a:pPr algn="ctr" fontAlgn="b"/>
                      <a:r>
                        <a:rPr lang="es-CR" sz="1600" b="0" i="0" u="none" strike="noStrike" dirty="0">
                          <a:solidFill>
                            <a:srgbClr val="000000"/>
                          </a:solidFill>
                          <a:latin typeface="Arial" pitchFamily="34" charset="0"/>
                          <a:cs typeface="Arial" pitchFamily="34" charset="0"/>
                        </a:rPr>
                        <a:t>Observaciones</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Publicidad (X) en </a:t>
                      </a:r>
                      <a:r>
                        <a:rPr lang="es-CR" sz="1600" b="0" i="0" u="none" strike="noStrike" dirty="0" smtClean="0">
                          <a:solidFill>
                            <a:srgbClr val="000000"/>
                          </a:solidFill>
                          <a:latin typeface="Arial" pitchFamily="34" charset="0"/>
                          <a:cs typeface="Arial" pitchFamily="34" charset="0"/>
                        </a:rPr>
                        <a:t>miles $</a:t>
                      </a:r>
                      <a:endParaRPr lang="es-CR" sz="1600" b="0" i="0" u="none" strike="noStrike" dirty="0">
                        <a:solidFill>
                          <a:srgbClr val="000000"/>
                        </a:solidFill>
                        <a:latin typeface="Arial" pitchFamily="34" charset="0"/>
                        <a:cs typeface="Arial"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Pasajeros (Y) en </a:t>
                      </a:r>
                      <a:r>
                        <a:rPr lang="es-CR" sz="1600" b="0" i="0" u="none" strike="noStrike" dirty="0" smtClean="0">
                          <a:solidFill>
                            <a:srgbClr val="000000"/>
                          </a:solidFill>
                          <a:latin typeface="Arial" pitchFamily="34" charset="0"/>
                          <a:cs typeface="Arial" pitchFamily="34" charset="0"/>
                        </a:rPr>
                        <a:t>miles $</a:t>
                      </a:r>
                      <a:endParaRPr lang="es-CR" sz="1600" b="0" i="0" u="none" strike="noStrike" dirty="0">
                        <a:solidFill>
                          <a:srgbClr val="000000"/>
                        </a:solidFill>
                        <a:latin typeface="Arial" pitchFamily="34" charset="0"/>
                        <a:cs typeface="Arial"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321471">
                <a:tc>
                  <a:txBody>
                    <a:bodyPr/>
                    <a:lstStyle/>
                    <a:p>
                      <a:pPr algn="ctr" fontAlgn="b"/>
                      <a:r>
                        <a:rPr lang="es-CR" sz="1600" b="0" i="0" u="none" strike="noStrike" dirty="0" smtClean="0">
                          <a:solidFill>
                            <a:srgbClr val="000000"/>
                          </a:solidFill>
                          <a:latin typeface="Arial" pitchFamily="34" charset="0"/>
                          <a:cs typeface="Arial" pitchFamily="34" charset="0"/>
                        </a:rPr>
                        <a:t>1</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dirty="0" smtClean="0">
                          <a:solidFill>
                            <a:srgbClr val="000000"/>
                          </a:solidFill>
                          <a:latin typeface="Arial" pitchFamily="34" charset="0"/>
                          <a:cs typeface="Arial" pitchFamily="34" charset="0"/>
                        </a:rPr>
                        <a:t>2</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12</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17</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dirty="0" smtClean="0">
                          <a:solidFill>
                            <a:srgbClr val="000000"/>
                          </a:solidFill>
                          <a:latin typeface="Arial" pitchFamily="34" charset="0"/>
                          <a:cs typeface="Arial" pitchFamily="34" charset="0"/>
                        </a:rPr>
                        <a:t>3</a:t>
                      </a:r>
                      <a:endParaRPr lang="es-CR" sz="1600" b="0" i="0" u="none" strike="noStrike" dirty="0">
                        <a:solidFill>
                          <a:srgbClr val="000000"/>
                        </a:solidFill>
                        <a:latin typeface="Arial" pitchFamily="34" charset="0"/>
                        <a:cs typeface="Arial"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8</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dirty="0">
                          <a:solidFill>
                            <a:srgbClr val="000000"/>
                          </a:solidFill>
                          <a:latin typeface="Arial" pitchFamily="34" charset="0"/>
                          <a:cs typeface="Arial" pitchFamily="34" charset="0"/>
                        </a:rPr>
                        <a:t>4</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17</a:t>
                      </a:r>
                    </a:p>
                  </a:txBody>
                  <a:tcPr marL="9525" marR="9525" marT="9525" marB="0" anchor="b">
                    <a:lnL>
                      <a:noFill/>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23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dirty="0">
                          <a:solidFill>
                            <a:srgbClr val="000000"/>
                          </a:solidFill>
                          <a:latin typeface="Arial" pitchFamily="34" charset="0"/>
                          <a:cs typeface="Arial" pitchFamily="34" charset="0"/>
                        </a:rPr>
                        <a:t>5</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dirty="0">
                          <a:solidFill>
                            <a:srgbClr val="000000"/>
                          </a:solidFill>
                          <a:latin typeface="Arial" pitchFamily="34" charset="0"/>
                          <a:cs typeface="Arial" pitchFamily="34" charset="0"/>
                        </a:rPr>
                        <a:t>6</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15</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21</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7</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8</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14</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19</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17</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11</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12</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18</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13</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16</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23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14</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s-CR" sz="1600" b="0" i="0" u="none" strike="noStrike">
                          <a:solidFill>
                            <a:srgbClr val="000000"/>
                          </a:solidFill>
                          <a:latin typeface="Arial" pitchFamily="34" charset="0"/>
                          <a:cs typeface="Arial" pitchFamily="34" charset="0"/>
                        </a:rPr>
                        <a:t>10</a:t>
                      </a:r>
                    </a:p>
                  </a:txBody>
                  <a:tcPr marL="9525" marR="9525" marT="9525" marB="0" anchor="b">
                    <a:lnL>
                      <a:noFill/>
                    </a:lnL>
                    <a:lnR>
                      <a:noFill/>
                    </a:lnR>
                    <a:lnT>
                      <a:noFill/>
                    </a:lnT>
                    <a:lnB>
                      <a:noFill/>
                    </a:lnB>
                  </a:tcPr>
                </a:tc>
                <a:tc>
                  <a:txBody>
                    <a:bodyPr/>
                    <a:lstStyle/>
                    <a:p>
                      <a:pPr algn="ctr" fontAlgn="b"/>
                      <a:r>
                        <a:rPr lang="es-CR" sz="1600" b="0" i="0" u="none" strike="noStrike" dirty="0">
                          <a:solidFill>
                            <a:srgbClr val="000000"/>
                          </a:solidFill>
                          <a:latin typeface="Arial" pitchFamily="34" charset="0"/>
                          <a:cs typeface="Arial" pitchFamily="34" charset="0"/>
                        </a:rPr>
                        <a:t>15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r>
              <a:tr h="321471">
                <a:tc>
                  <a:txBody>
                    <a:bodyPr/>
                    <a:lstStyle/>
                    <a:p>
                      <a:pPr algn="ctr" fontAlgn="b"/>
                      <a:r>
                        <a:rPr lang="es-CR" sz="1600" b="0" i="0" u="none" strike="noStrike">
                          <a:solidFill>
                            <a:srgbClr val="000000"/>
                          </a:solidFill>
                          <a:latin typeface="Arial" pitchFamily="34" charset="0"/>
                          <a:cs typeface="Arial" pitchFamily="34" charset="0"/>
                        </a:rPr>
                        <a:t>15</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a:solidFill>
                            <a:srgbClr val="000000"/>
                          </a:solidFill>
                          <a:latin typeface="Arial" pitchFamily="34" charset="0"/>
                          <a:cs typeface="Arial" pitchFamily="34" charset="0"/>
                        </a:rPr>
                        <a:t>12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1600" b="0" i="0" u="none" strike="noStrike" dirty="0">
                          <a:solidFill>
                            <a:srgbClr val="000000"/>
                          </a:solidFill>
                          <a:latin typeface="Arial" pitchFamily="34" charset="0"/>
                          <a:cs typeface="Arial" pitchFamily="34" charset="0"/>
                        </a:rPr>
                        <a:t>16</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6"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500034" y="1857364"/>
            <a:ext cx="8215370" cy="4714908"/>
          </a:xfrm>
        </p:spPr>
        <p:txBody>
          <a:bodyPr/>
          <a:lstStyle/>
          <a:p>
            <a:endParaRPr lang="es-CR" dirty="0"/>
          </a:p>
        </p:txBody>
      </p:sp>
      <p:pic>
        <p:nvPicPr>
          <p:cNvPr id="57347" name="Picture 3"/>
          <p:cNvPicPr>
            <a:picLocks noChangeAspect="1" noChangeArrowheads="1"/>
          </p:cNvPicPr>
          <p:nvPr/>
        </p:nvPicPr>
        <p:blipFill>
          <a:blip r:embed="rId2" cstate="print"/>
          <a:srcRect/>
          <a:stretch>
            <a:fillRect/>
          </a:stretch>
        </p:blipFill>
        <p:spPr bwMode="auto">
          <a:xfrm>
            <a:off x="428596" y="1214422"/>
            <a:ext cx="8429684" cy="5257800"/>
          </a:xfrm>
          <a:prstGeom prst="rect">
            <a:avLst/>
          </a:prstGeom>
          <a:noFill/>
          <a:ln w="9525">
            <a:noFill/>
            <a:miter lim="800000"/>
            <a:headEnd/>
            <a:tailEnd/>
          </a:ln>
        </p:spPr>
      </p:pic>
      <p:sp>
        <p:nvSpPr>
          <p:cNvPr id="6"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gráfico</a:t>
            </a:r>
            <a:endParaRPr lang="es-CR" sz="2800" dirty="0"/>
          </a:p>
        </p:txBody>
      </p:sp>
    </p:spTree>
  </p:cSld>
  <p:clrMapOvr>
    <a:masterClrMapping/>
  </p:clrMapOvr>
  <p:transition>
    <p:cover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42984"/>
            <a:ext cx="5294392" cy="5286412"/>
          </a:xfrm>
        </p:spPr>
        <p:txBody>
          <a:bodyPr>
            <a:normAutofit/>
          </a:bodyPr>
          <a:lstStyle/>
          <a:p>
            <a:r>
              <a:rPr lang="es-CR" sz="1800" dirty="0" smtClean="0"/>
              <a:t>Antes de realizar cualquier tipo de análisis, se debe preguntar:</a:t>
            </a:r>
          </a:p>
          <a:p>
            <a:endParaRPr lang="es-CR" sz="1800" dirty="0" smtClean="0"/>
          </a:p>
          <a:p>
            <a:pPr algn="ctr">
              <a:buNone/>
            </a:pPr>
            <a:r>
              <a:rPr lang="es-CR" sz="1800" b="1" i="1" dirty="0" smtClean="0"/>
              <a:t>¿Cuál es el tipo de análisis a llevar a cabo?</a:t>
            </a:r>
          </a:p>
          <a:p>
            <a:pPr algn="ctr">
              <a:buNone/>
            </a:pPr>
            <a:endParaRPr lang="es-CR" sz="1800" dirty="0" smtClean="0"/>
          </a:p>
          <a:p>
            <a:r>
              <a:rPr lang="es-CR" sz="1800" dirty="0" smtClean="0"/>
              <a:t>En este caso se trata de un análisis de regresión, ya que se considera que existe una relación directa entre los gastos publicitarios y el número de pasajeros que escogen viajar por Hop </a:t>
            </a:r>
            <a:r>
              <a:rPr lang="es-CR" sz="1800" dirty="0" err="1" smtClean="0"/>
              <a:t>Scoth</a:t>
            </a:r>
            <a:r>
              <a:rPr lang="es-CR" sz="1800" dirty="0" smtClean="0"/>
              <a:t>. </a:t>
            </a:r>
          </a:p>
          <a:p>
            <a:endParaRPr lang="es-CR" sz="1800" dirty="0" smtClean="0"/>
          </a:p>
          <a:p>
            <a:r>
              <a:rPr lang="es-CR" sz="1800" dirty="0" smtClean="0"/>
              <a:t>Se quiere conocer el grado de relación de una variable en función de otra…</a:t>
            </a:r>
          </a:p>
          <a:p>
            <a:endParaRPr lang="es-CR" sz="1800" dirty="0"/>
          </a:p>
          <a:p>
            <a:r>
              <a:rPr lang="es-CR" sz="1800" dirty="0" smtClean="0"/>
              <a:t>En términos prácticos, se desea saber si los gastos en publicidad tienen relación causal con el número de pasajeros que viajan por Hop </a:t>
            </a:r>
            <a:r>
              <a:rPr lang="es-CR" sz="1800" dirty="0" err="1" smtClean="0"/>
              <a:t>Scoth</a:t>
            </a:r>
            <a:r>
              <a:rPr lang="es-CR" sz="1800" dirty="0" smtClean="0"/>
              <a:t>.</a:t>
            </a:r>
            <a:endParaRPr lang="es-CR" sz="1800" dirty="0"/>
          </a:p>
        </p:txBody>
      </p:sp>
      <p:sp>
        <p:nvSpPr>
          <p:cNvPr id="5"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a:t>
            </a:r>
            <a:endParaRPr lang="es-CR" sz="2800" dirty="0"/>
          </a:p>
        </p:txBody>
      </p:sp>
      <p:pic>
        <p:nvPicPr>
          <p:cNvPr id="70658" name="Picture 2" descr="http://pedagogiamatematicas.uach.cl/sites/default/files/plan_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547" t="5513" r="16287" b="6512"/>
          <a:stretch/>
        </p:blipFill>
        <p:spPr bwMode="auto">
          <a:xfrm>
            <a:off x="5798186" y="1772816"/>
            <a:ext cx="2699670" cy="30243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8530" y="5730918"/>
            <a:ext cx="2058982" cy="505033"/>
          </a:xfrm>
          <a:prstGeom prst="rect">
            <a:avLst/>
          </a:prstGeom>
          <a:noFill/>
        </p:spPr>
      </p:pic>
    </p:spTree>
  </p:cSld>
  <p:clrMapOvr>
    <a:masterClrMapping/>
  </p:clrMapOvr>
  <p:transition>
    <p:wipe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214422"/>
            <a:ext cx="5472608" cy="5165102"/>
          </a:xfrm>
        </p:spPr>
        <p:txBody>
          <a:bodyPr>
            <a:normAutofit/>
          </a:bodyPr>
          <a:lstStyle/>
          <a:p>
            <a:pPr algn="just"/>
            <a:r>
              <a:rPr lang="es-CR" sz="1800" dirty="0" smtClean="0"/>
              <a:t>Formalmente, cada variable debe ser analizada con estadísticas descriptivas, a lo cual denominamos como inspección de los datos ( histogramas, valores faltantes, valores extremos, etc. en </a:t>
            </a:r>
            <a:r>
              <a:rPr lang="es-CR" sz="1800" dirty="0"/>
              <a:t>cada </a:t>
            </a:r>
            <a:r>
              <a:rPr lang="es-CR" sz="1800" dirty="0" smtClean="0"/>
              <a:t>una de las variables). </a:t>
            </a:r>
            <a:r>
              <a:rPr lang="es-CR" sz="1800" dirty="0"/>
              <a:t>E</a:t>
            </a:r>
            <a:r>
              <a:rPr lang="es-CR" sz="1800" dirty="0" smtClean="0"/>
              <a:t>sto lo omitimos por ahora.</a:t>
            </a:r>
          </a:p>
          <a:p>
            <a:pPr algn="just"/>
            <a:endParaRPr lang="es-CR" sz="1800" dirty="0" smtClean="0"/>
          </a:p>
          <a:p>
            <a:pPr algn="just"/>
            <a:r>
              <a:rPr lang="es-CR" sz="1800" dirty="0" smtClean="0"/>
              <a:t>Sabiendo que se debe estimar una regresión, y que además se cuenta con una relación de dos variables (bivariada), se debe estimar un modelo de regresión simple o bivariada.</a:t>
            </a:r>
          </a:p>
          <a:p>
            <a:pPr algn="just"/>
            <a:endParaRPr lang="es-CR" sz="1800" dirty="0" smtClean="0"/>
          </a:p>
          <a:p>
            <a:pPr algn="just"/>
            <a:r>
              <a:rPr lang="es-CR" sz="1800" dirty="0" smtClean="0"/>
              <a:t>Los siguientes son los cálculos para estimar el siguiente modelo, la recta de mejor ajuste:</a:t>
            </a:r>
            <a:endParaRPr lang="es-CR" sz="1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187624" y="5517232"/>
            <a:ext cx="3000396" cy="735946"/>
          </a:xfrm>
          <a:prstGeom prst="rect">
            <a:avLst/>
          </a:prstGeom>
          <a:noFill/>
        </p:spPr>
      </p:pic>
      <p:sp>
        <p:nvSpPr>
          <p:cNvPr id="7"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8850" name="Picture 2" descr="https://www.biomedware.com/files/documentation/spacestat/Statistics/Multivariate_Modeling/Regression/regression_line.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021" t="12673" r="5536" b="4097"/>
          <a:stretch/>
        </p:blipFill>
        <p:spPr bwMode="auto">
          <a:xfrm>
            <a:off x="6228184" y="1484784"/>
            <a:ext cx="2403775" cy="1944216"/>
          </a:xfrm>
          <a:prstGeom prst="rect">
            <a:avLst/>
          </a:prstGeom>
          <a:noFill/>
          <a:extLst>
            <a:ext uri="{909E8E84-426E-40DD-AFC4-6F175D3DCCD1}">
              <a14:hiddenFill xmlns:a14="http://schemas.microsoft.com/office/drawing/2010/main">
                <a:solidFill>
                  <a:srgbClr val="FFFFFF"/>
                </a:solidFill>
              </a14:hiddenFill>
            </a:ext>
          </a:extLst>
        </p:spPr>
      </p:pic>
      <p:pic>
        <p:nvPicPr>
          <p:cNvPr id="78852" name="Picture 4" descr="http://www.clemson.edu/ces/phoenix/tutorials/regression/plot.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4948" y="4221089"/>
            <a:ext cx="2607011" cy="20320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l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0794" y="1196752"/>
            <a:ext cx="8929718" cy="998422"/>
          </a:xfrm>
        </p:spPr>
        <p:txBody>
          <a:bodyPr/>
          <a:lstStyle/>
          <a:p>
            <a:pPr marL="514350" indent="-514350">
              <a:buAutoNum type="arabicPeriod"/>
            </a:pPr>
            <a:r>
              <a:rPr lang="es-CR" sz="1800" dirty="0" smtClean="0"/>
              <a:t>Cálculo de la suma de cuadros y productos cruzados de:</a:t>
            </a:r>
          </a:p>
          <a:p>
            <a:pPr marL="514350" indent="-514350">
              <a:buNone/>
            </a:pPr>
            <a:endParaRPr lang="es-CR" dirty="0" smtClean="0"/>
          </a:p>
          <a:p>
            <a:pPr marL="514350" indent="-514350">
              <a:buNone/>
            </a:pPr>
            <a:endParaRPr lang="es-CR" dirty="0" smtClean="0"/>
          </a:p>
          <a:p>
            <a:pPr>
              <a:buNone/>
            </a:pPr>
            <a:endParaRPr lang="es-CR" dirty="0"/>
          </a:p>
        </p:txBody>
      </p:sp>
      <p:sp>
        <p:nvSpPr>
          <p:cNvPr id="7" name="6 Rectángulo"/>
          <p:cNvSpPr/>
          <p:nvPr/>
        </p:nvSpPr>
        <p:spPr>
          <a:xfrm>
            <a:off x="214282" y="1855654"/>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“X”</a:t>
            </a:r>
          </a:p>
          <a:p>
            <a:r>
              <a:rPr lang="es-CR" sz="2800" dirty="0" smtClean="0"/>
              <a:t> </a:t>
            </a:r>
            <a:endParaRPr lang="es-CR" sz="2800" dirty="0"/>
          </a:p>
        </p:txBody>
      </p:sp>
      <p:pic>
        <p:nvPicPr>
          <p:cNvPr id="8"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179355" y="1927092"/>
            <a:ext cx="2464611" cy="642942"/>
          </a:xfrm>
          <a:prstGeom prst="rect">
            <a:avLst/>
          </a:prstGeom>
          <a:noFill/>
        </p:spPr>
      </p:pic>
      <p:sp>
        <p:nvSpPr>
          <p:cNvPr id="92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92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1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215074" y="2641472"/>
            <a:ext cx="2286016" cy="420224"/>
          </a:xfrm>
          <a:prstGeom prst="rect">
            <a:avLst/>
          </a:prstGeom>
          <a:noFill/>
        </p:spPr>
      </p:pic>
      <p:sp>
        <p:nvSpPr>
          <p:cNvPr id="13" name="12 Rectángulo"/>
          <p:cNvSpPr/>
          <p:nvPr/>
        </p:nvSpPr>
        <p:spPr>
          <a:xfrm>
            <a:off x="214282" y="3511838"/>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“Y”</a:t>
            </a:r>
          </a:p>
          <a:p>
            <a:r>
              <a:rPr lang="es-CR" sz="3600" dirty="0" smtClean="0"/>
              <a:t> </a:t>
            </a:r>
            <a:endParaRPr lang="es-CR" sz="3600" dirty="0"/>
          </a:p>
        </p:txBody>
      </p:sp>
      <p:pic>
        <p:nvPicPr>
          <p:cNvPr id="14"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072198" y="3583276"/>
            <a:ext cx="2428892" cy="649767"/>
          </a:xfrm>
          <a:prstGeom prst="rect">
            <a:avLst/>
          </a:prstGeom>
          <a:noFill/>
        </p:spPr>
      </p:pic>
      <p:sp>
        <p:nvSpPr>
          <p:cNvPr id="922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2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072198" y="4369094"/>
            <a:ext cx="2357454" cy="433356"/>
          </a:xfrm>
          <a:prstGeom prst="rect">
            <a:avLst/>
          </a:prstGeom>
          <a:noFill/>
        </p:spPr>
      </p:pic>
      <p:sp>
        <p:nvSpPr>
          <p:cNvPr id="17" name="16 Rectángulo"/>
          <p:cNvSpPr/>
          <p:nvPr/>
        </p:nvSpPr>
        <p:spPr>
          <a:xfrm>
            <a:off x="214282" y="5229200"/>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a:p>
            <a:r>
              <a:rPr lang="es-CR" sz="2800" dirty="0" smtClean="0"/>
              <a:t>Suma de los cuadros de “X” “Y”</a:t>
            </a:r>
          </a:p>
          <a:p>
            <a:r>
              <a:rPr lang="es-CR" sz="3600" dirty="0" smtClean="0"/>
              <a:t> </a:t>
            </a:r>
            <a:endParaRPr lang="es-CR" sz="3600" dirty="0"/>
          </a:p>
        </p:txBody>
      </p:sp>
      <p:pic>
        <p:nvPicPr>
          <p:cNvPr id="19" name="Picture 5"/>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5214942" y="5300638"/>
            <a:ext cx="3658646" cy="642942"/>
          </a:xfrm>
          <a:prstGeom prst="rect">
            <a:avLst/>
          </a:prstGeom>
          <a:noFill/>
        </p:spPr>
      </p:pic>
      <p:sp>
        <p:nvSpPr>
          <p:cNvPr id="922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223" name="Picture 7"/>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5080636" y="5943580"/>
            <a:ext cx="2920388" cy="500066"/>
          </a:xfrm>
          <a:prstGeom prst="rect">
            <a:avLst/>
          </a:prstGeom>
          <a:noFill/>
        </p:spPr>
      </p:pic>
      <p:sp>
        <p:nvSpPr>
          <p:cNvPr id="20" name="1 Título"/>
          <p:cNvSpPr txBox="1">
            <a:spLocks/>
          </p:cNvSpPr>
          <p:nvPr/>
        </p:nvSpPr>
        <p:spPr>
          <a:xfrm>
            <a:off x="251520" y="260648"/>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l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268760"/>
            <a:ext cx="8286808" cy="2517430"/>
          </a:xfrm>
        </p:spPr>
        <p:txBody>
          <a:bodyPr>
            <a:normAutofit/>
          </a:bodyPr>
          <a:lstStyle/>
          <a:p>
            <a:r>
              <a:rPr lang="es-CR" sz="1800" dirty="0" smtClean="0"/>
              <a:t>Cálculo de los promedios de las variables:</a:t>
            </a:r>
          </a:p>
          <a:p>
            <a:endParaRPr lang="es-CR" sz="1800" dirty="0" smtClean="0"/>
          </a:p>
          <a:p>
            <a:endParaRPr lang="es-CR" sz="1800" dirty="0" smtClean="0"/>
          </a:p>
          <a:p>
            <a:pPr marL="0" indent="0">
              <a:buNone/>
            </a:pPr>
            <a:endParaRPr lang="es-CR" sz="1800" dirty="0" smtClean="0"/>
          </a:p>
          <a:p>
            <a:pPr marL="0" indent="0">
              <a:buNone/>
            </a:pPr>
            <a:endParaRPr lang="es-CR" sz="1800" dirty="0" smtClean="0"/>
          </a:p>
          <a:p>
            <a:r>
              <a:rPr lang="es-CR" sz="1800" dirty="0" smtClean="0"/>
              <a:t>2. Estimación de la pendiente e intercepto en la recta de regresión (el resultado se debe multiplicar por 1000) : </a:t>
            </a:r>
          </a:p>
          <a:p>
            <a:pPr>
              <a:buNone/>
            </a:pPr>
            <a:endParaRPr lang="es-CR" sz="1800" dirty="0" smtClean="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214414" y="1988840"/>
            <a:ext cx="2357454" cy="671427"/>
          </a:xfrm>
          <a:prstGeom prst="rect">
            <a:avLst/>
          </a:prstGeom>
          <a:noFill/>
        </p:spPr>
      </p:pic>
      <p:sp>
        <p:nvSpPr>
          <p:cNvPr id="81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214942" y="1988840"/>
            <a:ext cx="2357454" cy="675703"/>
          </a:xfrm>
          <a:prstGeom prst="rect">
            <a:avLst/>
          </a:prstGeom>
          <a:noFill/>
        </p:spPr>
      </p:pic>
      <p:sp>
        <p:nvSpPr>
          <p:cNvPr id="9" name="8 Rectángulo"/>
          <p:cNvSpPr/>
          <p:nvPr/>
        </p:nvSpPr>
        <p:spPr>
          <a:xfrm>
            <a:off x="285720" y="3786190"/>
            <a:ext cx="8643998"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Pendiente:</a:t>
            </a:r>
          </a:p>
          <a:p>
            <a:r>
              <a:rPr lang="es-CR" sz="2800" dirty="0" smtClean="0"/>
              <a:t> </a:t>
            </a:r>
            <a:endParaRPr lang="es-CR" sz="2800" dirty="0"/>
          </a:p>
        </p:txBody>
      </p:sp>
      <p:pic>
        <p:nvPicPr>
          <p:cNvPr id="10"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699792" y="4138544"/>
            <a:ext cx="1428760" cy="730616"/>
          </a:xfrm>
          <a:prstGeom prst="rect">
            <a:avLst/>
          </a:prstGeom>
          <a:noFill/>
        </p:spPr>
      </p:pic>
      <p:sp>
        <p:nvSpPr>
          <p:cNvPr id="819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20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9"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286512" y="4226218"/>
            <a:ext cx="1980261" cy="642942"/>
          </a:xfrm>
          <a:prstGeom prst="rect">
            <a:avLst/>
          </a:prstGeom>
          <a:noFill/>
        </p:spPr>
      </p:pic>
      <p:sp>
        <p:nvSpPr>
          <p:cNvPr id="15" name="14 Rectángulo"/>
          <p:cNvSpPr/>
          <p:nvPr/>
        </p:nvSpPr>
        <p:spPr>
          <a:xfrm>
            <a:off x="285720" y="5357826"/>
            <a:ext cx="864399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2800" dirty="0" smtClean="0"/>
          </a:p>
          <a:p>
            <a:r>
              <a:rPr lang="es-CR" sz="2800" dirty="0" smtClean="0"/>
              <a:t>Intercepto:</a:t>
            </a:r>
          </a:p>
          <a:p>
            <a:r>
              <a:rPr lang="es-CR" sz="2800" dirty="0" smtClean="0"/>
              <a:t> </a:t>
            </a:r>
            <a:endParaRPr lang="es-CR" sz="2800" dirty="0"/>
          </a:p>
        </p:txBody>
      </p:sp>
      <p:pic>
        <p:nvPicPr>
          <p:cNvPr id="16" name="Picture 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714612" y="5809824"/>
            <a:ext cx="2329978" cy="571504"/>
          </a:xfrm>
          <a:prstGeom prst="rect">
            <a:avLst/>
          </a:prstGeom>
          <a:noFill/>
        </p:spPr>
      </p:pic>
      <p:sp>
        <p:nvSpPr>
          <p:cNvPr id="820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201" name="Picture 9"/>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6172706" y="5805264"/>
            <a:ext cx="2071702" cy="528495"/>
          </a:xfrm>
          <a:prstGeom prst="rect">
            <a:avLst/>
          </a:prstGeom>
          <a:noFill/>
        </p:spPr>
      </p:pic>
      <p:sp>
        <p:nvSpPr>
          <p:cNvPr id="18"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spTree>
  </p:cSld>
  <p:clrMapOvr>
    <a:masterClrMapping/>
  </p:clrMapOvr>
  <p:transition>
    <p:cover dir="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285860"/>
            <a:ext cx="5649096" cy="5072098"/>
          </a:xfrm>
        </p:spPr>
        <p:txBody>
          <a:bodyPr>
            <a:normAutofit/>
          </a:bodyPr>
          <a:lstStyle/>
          <a:p>
            <a:pPr algn="just"/>
            <a:r>
              <a:rPr lang="es-CR" sz="1800" dirty="0" smtClean="0"/>
              <a:t>Entonces, de acuerdo a los valores de b1 y b0, el modelo de regresión sería el siguiente:</a:t>
            </a:r>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endParaRPr lang="es-CR" sz="1800" dirty="0" smtClean="0"/>
          </a:p>
          <a:p>
            <a:pPr algn="just">
              <a:buNone/>
            </a:pPr>
            <a:endParaRPr lang="es-CR" sz="1800" dirty="0"/>
          </a:p>
          <a:p>
            <a:pPr algn="just"/>
            <a:r>
              <a:rPr lang="es-CR" sz="1800" dirty="0" smtClean="0"/>
              <a:t>Ahora: ¿Interpretación de este modelo?</a:t>
            </a:r>
          </a:p>
          <a:p>
            <a:pPr algn="just"/>
            <a:endParaRPr lang="es-CR" sz="1800" dirty="0" smtClean="0"/>
          </a:p>
          <a:p>
            <a:pPr algn="just">
              <a:buNone/>
            </a:pPr>
            <a:r>
              <a:rPr lang="es-CR" sz="1800" dirty="0" smtClean="0">
                <a:sym typeface="Wingdings" pitchFamily="2" charset="2"/>
              </a:rPr>
              <a:t> Pista: la interpretación se hace a partir de la estimación del valor </a:t>
            </a:r>
            <a:r>
              <a:rPr lang="es-CR" sz="1800" b="1" dirty="0" smtClean="0">
                <a:sym typeface="Wingdings" pitchFamily="2" charset="2"/>
              </a:rPr>
              <a:t>b1</a:t>
            </a:r>
            <a:r>
              <a:rPr lang="es-CR" sz="1800" dirty="0" smtClean="0">
                <a:sym typeface="Wingdings" pitchFamily="2" charset="2"/>
              </a:rPr>
              <a:t> (1.08*1000=1080). ¿Qué se podría decir en términos del problema en cuestión?</a:t>
            </a:r>
            <a:endParaRPr lang="es-CR" sz="1800" dirty="0" smtClean="0"/>
          </a:p>
          <a:p>
            <a:pPr algn="just">
              <a:buNone/>
            </a:pPr>
            <a:endParaRPr lang="es-CR"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27584" y="2276872"/>
            <a:ext cx="2500330" cy="613288"/>
          </a:xfrm>
          <a:prstGeom prst="rect">
            <a:avLst/>
          </a:prstGeom>
          <a:noFill/>
        </p:spPr>
      </p:pic>
      <p:sp>
        <p:nvSpPr>
          <p:cNvPr id="71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17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27584" y="3143248"/>
            <a:ext cx="3648832" cy="717800"/>
          </a:xfrm>
          <a:prstGeom prst="rect">
            <a:avLst/>
          </a:prstGeom>
          <a:noFill/>
        </p:spPr>
      </p:pic>
      <p:sp>
        <p:nvSpPr>
          <p:cNvPr id="9" name="1 Título"/>
          <p:cNvSpPr txBox="1">
            <a:spLocks/>
          </p:cNvSpPr>
          <p:nvPr/>
        </p:nvSpPr>
        <p:spPr>
          <a:xfrm>
            <a:off x="251520" y="332656"/>
            <a:ext cx="8643998" cy="64120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de la recta de mejor ajuste: ejemplo</a:t>
            </a:r>
            <a:endParaRPr lang="es-CR" sz="2800" dirty="0"/>
          </a:p>
        </p:txBody>
      </p:sp>
      <p:pic>
        <p:nvPicPr>
          <p:cNvPr id="79874" name="Picture 2" descr="http://www.ats.ucla.edu/stat/stata/examples/ara/_ara12_8.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0043" y="1807449"/>
            <a:ext cx="2775475" cy="2165421"/>
          </a:xfrm>
          <a:prstGeom prst="rect">
            <a:avLst/>
          </a:prstGeom>
          <a:noFill/>
          <a:extLst>
            <a:ext uri="{909E8E84-426E-40DD-AFC4-6F175D3DCCD1}">
              <a14:hiddenFill xmlns:a14="http://schemas.microsoft.com/office/drawing/2010/main">
                <a:solidFill>
                  <a:srgbClr val="FFFFFF"/>
                </a:solidFill>
              </a14:hiddenFill>
            </a:ext>
          </a:extLst>
        </p:spPr>
      </p:pic>
      <p:pic>
        <p:nvPicPr>
          <p:cNvPr id="79876" name="Picture 4" descr="http://static9.depositphotos.com/1005979/1183/i/950/depositphotos_11836183-Satisfied-Word-on-Blue-Thumb-Pleased-Thumbs-Up.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88224" y="4397365"/>
            <a:ext cx="2151776" cy="187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142876"/>
            <a:ext cx="8229600" cy="837852"/>
          </a:xfrm>
        </p:spPr>
        <p:txBody>
          <a:bodyPr>
            <a:noAutofit/>
          </a:bodyPr>
          <a:lstStyle/>
          <a:p>
            <a:pPr algn="ctr"/>
            <a:r>
              <a:rPr lang="es-CR" dirty="0" smtClean="0"/>
              <a:t>Índice</a:t>
            </a:r>
            <a:endParaRPr lang="es-CR" dirty="0"/>
          </a:p>
        </p:txBody>
      </p:sp>
      <p:sp>
        <p:nvSpPr>
          <p:cNvPr id="4" name="3 Marcador de contenido"/>
          <p:cNvSpPr>
            <a:spLocks noGrp="1"/>
          </p:cNvSpPr>
          <p:nvPr>
            <p:ph sz="quarter" idx="1"/>
          </p:nvPr>
        </p:nvSpPr>
        <p:spPr>
          <a:xfrm>
            <a:off x="214282" y="980728"/>
            <a:ext cx="5293822" cy="5688632"/>
          </a:xfrm>
        </p:spPr>
        <p:txBody>
          <a:bodyPr>
            <a:normAutofit/>
          </a:bodyPr>
          <a:lstStyle/>
          <a:p>
            <a:pPr algn="just"/>
            <a:endParaRPr lang="es-CR" sz="1800" dirty="0" smtClean="0"/>
          </a:p>
          <a:p>
            <a:pPr algn="just"/>
            <a:endParaRPr lang="es-CR" sz="1800" dirty="0"/>
          </a:p>
          <a:p>
            <a:pPr algn="just"/>
            <a:endParaRPr lang="es-CR" sz="1800" dirty="0"/>
          </a:p>
          <a:p>
            <a:pPr algn="just"/>
            <a:endParaRPr lang="es-CR" sz="1800" dirty="0" smtClean="0"/>
          </a:p>
          <a:p>
            <a:pPr marL="0" indent="0" algn="just">
              <a:buNone/>
            </a:pPr>
            <a:endParaRPr lang="es-CR" sz="1800" dirty="0" smtClean="0"/>
          </a:p>
          <a:p>
            <a:pPr marL="0" indent="0">
              <a:buNone/>
            </a:pPr>
            <a:endParaRPr lang="es-CR" sz="1800" dirty="0" smtClean="0"/>
          </a:p>
        </p:txBody>
      </p:sp>
      <p:sp>
        <p:nvSpPr>
          <p:cNvPr id="3" name="2 Elipse"/>
          <p:cNvSpPr/>
          <p:nvPr/>
        </p:nvSpPr>
        <p:spPr>
          <a:xfrm>
            <a:off x="323528"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6" name="5 Elipse"/>
          <p:cNvSpPr/>
          <p:nvPr/>
        </p:nvSpPr>
        <p:spPr>
          <a:xfrm>
            <a:off x="323528"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7" name="6 Elipse"/>
          <p:cNvSpPr/>
          <p:nvPr/>
        </p:nvSpPr>
        <p:spPr>
          <a:xfrm>
            <a:off x="323528"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8" name="7 Elipse"/>
          <p:cNvSpPr/>
          <p:nvPr/>
        </p:nvSpPr>
        <p:spPr>
          <a:xfrm>
            <a:off x="4211960" y="1340768"/>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9" name="8 Elipse"/>
          <p:cNvSpPr/>
          <p:nvPr/>
        </p:nvSpPr>
        <p:spPr>
          <a:xfrm>
            <a:off x="4211960" y="3284984"/>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0" name="9 Elipse"/>
          <p:cNvSpPr/>
          <p:nvPr/>
        </p:nvSpPr>
        <p:spPr>
          <a:xfrm>
            <a:off x="4211960" y="5229200"/>
            <a:ext cx="936104" cy="936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
        <p:nvSpPr>
          <p:cNvPr id="5" name="4 Rectángulo"/>
          <p:cNvSpPr/>
          <p:nvPr/>
        </p:nvSpPr>
        <p:spPr>
          <a:xfrm>
            <a:off x="1475656"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Tipos de relación</a:t>
            </a:r>
            <a:endParaRPr lang="es-CR" dirty="0"/>
          </a:p>
        </p:txBody>
      </p:sp>
      <p:sp>
        <p:nvSpPr>
          <p:cNvPr id="12" name="11 Rectángulo"/>
          <p:cNvSpPr/>
          <p:nvPr/>
        </p:nvSpPr>
        <p:spPr>
          <a:xfrm>
            <a:off x="1473166"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Correlación</a:t>
            </a:r>
            <a:endParaRPr lang="es-CR" dirty="0"/>
          </a:p>
        </p:txBody>
      </p:sp>
      <p:sp>
        <p:nvSpPr>
          <p:cNvPr id="13" name="12 Rectángulo"/>
          <p:cNvSpPr/>
          <p:nvPr/>
        </p:nvSpPr>
        <p:spPr>
          <a:xfrm>
            <a:off x="1475656"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a:t>
            </a:r>
            <a:endParaRPr lang="es-CR" dirty="0"/>
          </a:p>
        </p:txBody>
      </p:sp>
      <p:sp>
        <p:nvSpPr>
          <p:cNvPr id="14" name="13 Rectángulo"/>
          <p:cNvSpPr/>
          <p:nvPr/>
        </p:nvSpPr>
        <p:spPr>
          <a:xfrm>
            <a:off x="5724128" y="1340768"/>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Regresión bivariada</a:t>
            </a:r>
            <a:endParaRPr lang="es-CR" dirty="0"/>
          </a:p>
        </p:txBody>
      </p:sp>
      <p:sp>
        <p:nvSpPr>
          <p:cNvPr id="15" name="14 Rectángulo"/>
          <p:cNvSpPr/>
          <p:nvPr/>
        </p:nvSpPr>
        <p:spPr>
          <a:xfrm>
            <a:off x="5724128" y="3284984"/>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Construcción de la recta de mejo ajuste</a:t>
            </a:r>
            <a:endParaRPr lang="es-CR" dirty="0"/>
          </a:p>
        </p:txBody>
      </p:sp>
      <p:sp>
        <p:nvSpPr>
          <p:cNvPr id="17" name="16 Rectángulo"/>
          <p:cNvSpPr/>
          <p:nvPr/>
        </p:nvSpPr>
        <p:spPr>
          <a:xfrm>
            <a:off x="5724128" y="5229200"/>
            <a:ext cx="2376264" cy="93610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Inferencia Estadística</a:t>
            </a:r>
            <a:endParaRPr lang="es-CR" dirty="0"/>
          </a:p>
        </p:txBody>
      </p:sp>
    </p:spTree>
    <p:extLst>
      <p:ext uri="{BB962C8B-B14F-4D97-AF65-F5344CB8AC3E}">
        <p14:creationId xmlns:p14="http://schemas.microsoft.com/office/powerpoint/2010/main" val="2624134422"/>
      </p:ext>
    </p:extLst>
  </p:cSld>
  <p:clrMapOvr>
    <a:masterClrMapping/>
  </p:clrMapOvr>
  <p:transition>
    <p:dissolv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42844" y="836712"/>
            <a:ext cx="5509276" cy="5904656"/>
          </a:xfrm>
        </p:spPr>
        <p:txBody>
          <a:bodyPr>
            <a:normAutofit/>
          </a:bodyPr>
          <a:lstStyle/>
          <a:p>
            <a:pPr algn="just"/>
            <a:r>
              <a:rPr lang="es-CR" sz="1800" dirty="0" smtClean="0"/>
              <a:t>Para el caso de Hop </a:t>
            </a:r>
            <a:r>
              <a:rPr lang="es-CR" sz="1800" dirty="0" err="1" smtClean="0"/>
              <a:t>Scoth</a:t>
            </a:r>
            <a:r>
              <a:rPr lang="es-CR" sz="1800" dirty="0" smtClean="0"/>
              <a:t> </a:t>
            </a:r>
            <a:r>
              <a:rPr lang="es-CR" sz="1800" dirty="0" err="1" smtClean="0"/>
              <a:t>Airlines</a:t>
            </a:r>
            <a:r>
              <a:rPr lang="es-CR" sz="1800" dirty="0" smtClean="0"/>
              <a:t>, los resultados sugieren una relación entre las ventas y la publicidad. El coeficiente  de regresión b1=1.08 </a:t>
            </a:r>
            <a:r>
              <a:rPr lang="es-CR" sz="1800" dirty="0"/>
              <a:t>(pendiente</a:t>
            </a:r>
            <a:r>
              <a:rPr lang="es-CR" sz="1800" dirty="0" smtClean="0"/>
              <a:t>) y el coeficiente de determinación r=0.9683 (r</a:t>
            </a:r>
            <a:r>
              <a:rPr lang="es-CR" sz="1800" baseline="30000" dirty="0" smtClean="0"/>
              <a:t>2</a:t>
            </a:r>
            <a:r>
              <a:rPr lang="es-CR" sz="1800" dirty="0" smtClean="0"/>
              <a:t>=0.9378), indican que, a medida que hay un aumento en los gastos publicitarios, se produce un aumento en el número  de pasajeros.</a:t>
            </a:r>
          </a:p>
          <a:p>
            <a:pPr algn="just"/>
            <a:endParaRPr lang="es-CR" sz="1800" dirty="0" smtClean="0"/>
          </a:p>
          <a:p>
            <a:pPr algn="just"/>
            <a:r>
              <a:rPr lang="es-CR" sz="1800" dirty="0" smtClean="0"/>
              <a:t>Sin embargo, estos resultados se basan en una muestra de sólo n=15 observaciones. Se debe hacer la siguiente pregunta: ¿los resultados anteriores pueden ser inferidos a nivel poblacional?</a:t>
            </a:r>
          </a:p>
          <a:p>
            <a:pPr marL="0" indent="0" algn="just">
              <a:buNone/>
            </a:pPr>
            <a:endParaRPr lang="es-CR" sz="1800" dirty="0" smtClean="0"/>
          </a:p>
          <a:p>
            <a:pPr algn="just"/>
            <a:r>
              <a:rPr lang="es-CR" sz="1800" dirty="0" smtClean="0"/>
              <a:t>Existe la posibilidad que al haber error de muestreo, los parámetros poblacionales no son distintos de cero, y por ende, los resultados antes obtenidos no son predictores del crecimiento del número de pasajeros.</a:t>
            </a:r>
          </a:p>
          <a:p>
            <a:pPr algn="just"/>
            <a:endParaRPr lang="es-CR" sz="1800" dirty="0"/>
          </a:p>
          <a:p>
            <a:pPr algn="just"/>
            <a:r>
              <a:rPr lang="es-CR" sz="1800" dirty="0" smtClean="0"/>
              <a:t>Se debe verificar que los resultados de los coeficientes pueden ser inferidos a nivel población. </a:t>
            </a:r>
          </a:p>
          <a:p>
            <a:pPr algn="just"/>
            <a:endParaRPr lang="es-CR" sz="1800" dirty="0"/>
          </a:p>
          <a:p>
            <a:pPr marL="0" indent="0" algn="just">
              <a:buNone/>
            </a:pPr>
            <a:endParaRPr lang="es-CR" sz="1800" dirty="0"/>
          </a:p>
        </p:txBody>
      </p:sp>
      <p:sp>
        <p:nvSpPr>
          <p:cNvPr id="5" name="1 Título"/>
          <p:cNvSpPr>
            <a:spLocks noGrp="1"/>
          </p:cNvSpPr>
          <p:nvPr>
            <p:ph type="title"/>
          </p:nvPr>
        </p:nvSpPr>
        <p:spPr>
          <a:xfrm>
            <a:off x="323528" y="51488"/>
            <a:ext cx="8496944" cy="713216"/>
          </a:xfrm>
        </p:spPr>
        <p:txBody>
          <a:bodyPr>
            <a:normAutofit/>
          </a:bodyPr>
          <a:lstStyle/>
          <a:p>
            <a:pPr algn="ctr"/>
            <a:r>
              <a:rPr lang="es-CR" sz="2800" dirty="0" smtClean="0"/>
              <a:t>Estimación y prueba de hipótesis</a:t>
            </a:r>
            <a:endParaRPr lang="es-CR" sz="2800" dirty="0"/>
          </a:p>
        </p:txBody>
      </p:sp>
      <p:pic>
        <p:nvPicPr>
          <p:cNvPr id="86018" name="Picture 2" descr="http://bolt.mph.ufl.edu/files/2012/07/mod10-big_picture_inference.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3" y="1271654"/>
            <a:ext cx="2727349" cy="2445378"/>
          </a:xfrm>
          <a:prstGeom prst="rect">
            <a:avLst/>
          </a:prstGeom>
          <a:noFill/>
          <a:extLst>
            <a:ext uri="{909E8E84-426E-40DD-AFC4-6F175D3DCCD1}">
              <a14:hiddenFill xmlns:a14="http://schemas.microsoft.com/office/drawing/2010/main">
                <a:solidFill>
                  <a:srgbClr val="FFFFFF"/>
                </a:solidFill>
              </a14:hiddenFill>
            </a:ext>
          </a:extLst>
        </p:spPr>
      </p:pic>
      <p:pic>
        <p:nvPicPr>
          <p:cNvPr id="86020" name="Picture 4" descr="http://www.dkfz.de/de/biostatistics/images/Principle_of_statistical_inference-web.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5213" y="4221088"/>
            <a:ext cx="2880320" cy="2376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196752"/>
            <a:ext cx="5006360" cy="5544616"/>
          </a:xfrm>
        </p:spPr>
        <p:txBody>
          <a:bodyPr>
            <a:normAutofit/>
          </a:bodyPr>
          <a:lstStyle/>
          <a:p>
            <a:pPr algn="just"/>
            <a:r>
              <a:rPr lang="es-CR" sz="1800" dirty="0" smtClean="0"/>
              <a:t>Para probar lo anterior, debemos hacer prueba de hipótesis a nivel de los coeficientes. Estas pruebas se plantean como sigue:</a:t>
            </a:r>
          </a:p>
          <a:p>
            <a:pPr algn="just"/>
            <a:endParaRPr lang="es-CR" sz="1800" dirty="0" smtClean="0"/>
          </a:p>
          <a:p>
            <a:pPr algn="just">
              <a:buNone/>
            </a:pPr>
            <a:r>
              <a:rPr lang="es-CR" sz="1800" dirty="0" smtClean="0"/>
              <a:t>1.Prueba a nivel del coeficiente </a:t>
            </a:r>
            <a:r>
              <a:rPr lang="es-CR" sz="1800" i="1" dirty="0" smtClean="0"/>
              <a:t>B</a:t>
            </a:r>
            <a:r>
              <a:rPr lang="es-CR" sz="1800" i="1" baseline="-25000" dirty="0" smtClean="0"/>
              <a:t>1</a:t>
            </a:r>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endParaRPr lang="es-CR" sz="1800" i="1" baseline="-25000" dirty="0" smtClean="0"/>
          </a:p>
          <a:p>
            <a:pPr algn="just">
              <a:buNone/>
            </a:pPr>
            <a:r>
              <a:rPr lang="es-CR" sz="1800" dirty="0" smtClean="0"/>
              <a:t>2. Prueba a nivel del coeficiente </a:t>
            </a:r>
            <a:r>
              <a:rPr lang="es-CR" sz="1800" i="1" dirty="0" smtClean="0"/>
              <a:t>ρ</a:t>
            </a:r>
          </a:p>
          <a:p>
            <a:pPr algn="just">
              <a:buNone/>
            </a:pPr>
            <a:endParaRPr lang="es-CR" sz="1800" i="1" dirty="0" smtClean="0"/>
          </a:p>
          <a:p>
            <a:pPr algn="just">
              <a:buNone/>
            </a:pPr>
            <a:endParaRPr lang="es-CR" sz="1800" i="1" dirty="0" smtClean="0"/>
          </a:p>
          <a:p>
            <a:pPr algn="just">
              <a:buNone/>
            </a:pPr>
            <a:endParaRPr lang="es-CR" sz="1800" i="1" dirty="0" smtClean="0"/>
          </a:p>
          <a:p>
            <a:pPr algn="just">
              <a:buNone/>
            </a:pPr>
            <a:endParaRPr lang="es-CR" sz="1800" i="1" dirty="0"/>
          </a:p>
          <a:p>
            <a:pPr algn="just">
              <a:buNone/>
            </a:pPr>
            <a:r>
              <a:rPr lang="es-CR" sz="1800" dirty="0" smtClean="0"/>
              <a:t>Veremos primero la prueba del coeficiente Rho (</a:t>
            </a:r>
            <a:r>
              <a:rPr lang="es-CR" sz="1800" i="1" dirty="0" smtClean="0"/>
              <a:t>ρ), </a:t>
            </a:r>
            <a:r>
              <a:rPr lang="es-CR" sz="1800" dirty="0" smtClean="0"/>
              <a:t>seguido de la prueba del parámetro </a:t>
            </a:r>
            <a:r>
              <a:rPr lang="es-CR" sz="1800" i="1" dirty="0" smtClean="0"/>
              <a:t>Beta (</a:t>
            </a:r>
            <a:r>
              <a:rPr lang="el-GR" sz="1800" i="1" dirty="0" smtClean="0">
                <a:latin typeface="Times New Roman"/>
                <a:cs typeface="Times New Roman"/>
              </a:rPr>
              <a:t>β</a:t>
            </a:r>
            <a:r>
              <a:rPr lang="es-CR" sz="1800" i="1" dirty="0" smtClean="0">
                <a:latin typeface="Times New Roman"/>
                <a:cs typeface="Times New Roman"/>
              </a:rPr>
              <a:t>).</a:t>
            </a:r>
            <a:endParaRPr lang="es-CR" sz="1800" dirty="0" smtClean="0"/>
          </a:p>
          <a:p>
            <a:pPr>
              <a:buNone/>
            </a:pPr>
            <a:endParaRPr lang="es-CR" dirty="0" smtClean="0"/>
          </a:p>
          <a:p>
            <a:pPr>
              <a:buNone/>
            </a:pPr>
            <a:endParaRPr lang="es-CR" i="1" dirty="0"/>
          </a:p>
        </p:txBody>
      </p:sp>
      <p:sp>
        <p:nvSpPr>
          <p:cNvPr id="727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201304" y="2924944"/>
            <a:ext cx="1672096" cy="500066"/>
          </a:xfrm>
          <a:prstGeom prst="rect">
            <a:avLst/>
          </a:prstGeom>
          <a:noFill/>
        </p:spPr>
      </p:pic>
      <p:sp>
        <p:nvSpPr>
          <p:cNvPr id="727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129866" y="3567886"/>
            <a:ext cx="1785950" cy="529170"/>
          </a:xfrm>
          <a:prstGeom prst="rect">
            <a:avLst/>
          </a:prstGeom>
          <a:noFill/>
        </p:spPr>
      </p:pic>
      <p:sp>
        <p:nvSpPr>
          <p:cNvPr id="7271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09"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115616" y="4585688"/>
            <a:ext cx="1643074" cy="547692"/>
          </a:xfrm>
          <a:prstGeom prst="rect">
            <a:avLst/>
          </a:prstGeom>
          <a:noFill/>
        </p:spPr>
      </p:pic>
      <p:sp>
        <p:nvSpPr>
          <p:cNvPr id="7271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2711"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115616" y="5161752"/>
            <a:ext cx="1714511" cy="571504"/>
          </a:xfrm>
          <a:prstGeom prst="rect">
            <a:avLst/>
          </a:prstGeom>
          <a:noFill/>
        </p:spPr>
      </p:pic>
      <p:sp>
        <p:nvSpPr>
          <p:cNvPr id="1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a:t>
            </a:r>
            <a:endParaRPr lang="es-CR" sz="2800" dirty="0"/>
          </a:p>
        </p:txBody>
      </p:sp>
      <p:pic>
        <p:nvPicPr>
          <p:cNvPr id="87042" name="Picture 2" descr="http://sphweb.bumc.bu.edu/otlt/MPH-Modules/BS/BS704_Power/Rejection%20Region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24128" y="1437578"/>
            <a:ext cx="3073211" cy="2394893"/>
          </a:xfrm>
          <a:prstGeom prst="rect">
            <a:avLst/>
          </a:prstGeom>
          <a:noFill/>
          <a:extLst>
            <a:ext uri="{909E8E84-426E-40DD-AFC4-6F175D3DCCD1}">
              <a14:hiddenFill xmlns:a14="http://schemas.microsoft.com/office/drawing/2010/main">
                <a:solidFill>
                  <a:srgbClr val="FFFFFF"/>
                </a:solidFill>
              </a14:hiddenFill>
            </a:ext>
          </a:extLst>
        </p:spPr>
      </p:pic>
      <p:pic>
        <p:nvPicPr>
          <p:cNvPr id="87046" name="Picture 6" descr="http://d22izw7byeupn1.cloudfront.net/journals/PHYSICS/synopses/images/10.1103/PhysRevLett.108.17050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9001" r="40491"/>
          <a:stretch/>
        </p:blipFill>
        <p:spPr bwMode="auto">
          <a:xfrm>
            <a:off x="6144609" y="4180879"/>
            <a:ext cx="2232248" cy="22098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268760"/>
            <a:ext cx="8208912" cy="2304256"/>
          </a:xfrm>
        </p:spPr>
        <p:txBody>
          <a:bodyPr>
            <a:normAutofit lnSpcReduction="10000"/>
          </a:bodyPr>
          <a:lstStyle/>
          <a:p>
            <a:pPr algn="just"/>
            <a:r>
              <a:rPr lang="es-CR" sz="1800" dirty="0" smtClean="0"/>
              <a:t>Para la construcción de una prueba de hipótesis, se requiere proceder en dos etapas:</a:t>
            </a:r>
          </a:p>
          <a:p>
            <a:pPr marL="0" indent="0" algn="just">
              <a:buNone/>
            </a:pPr>
            <a:endParaRPr lang="es-CR" sz="1800" dirty="0"/>
          </a:p>
          <a:p>
            <a:pPr marL="342900" indent="-342900" algn="just">
              <a:buAutoNum type="arabicPeriod"/>
            </a:pPr>
            <a:r>
              <a:rPr lang="es-CR" sz="1800" dirty="0" smtClean="0"/>
              <a:t>Calcular el estadístico asociado a la prueba de hipótesis.</a:t>
            </a:r>
          </a:p>
          <a:p>
            <a:pPr marL="342900" indent="-342900" algn="just">
              <a:buAutoNum type="arabicPeriod"/>
            </a:pPr>
            <a:endParaRPr lang="es-CR" sz="1800" dirty="0"/>
          </a:p>
          <a:p>
            <a:pPr marL="342900" indent="-342900" algn="just">
              <a:buAutoNum type="arabicPeriod"/>
            </a:pPr>
            <a:r>
              <a:rPr lang="es-CR" sz="1800" dirty="0" smtClean="0"/>
              <a:t>Comparar el estadístico calculado o de prueba con el estadístico procedente de una función de distribución teórica (acá la Z de la normal estándar). A partir de la comparación, determinar si la hipótesis se rechaza o no se rechaza.</a:t>
            </a:r>
          </a:p>
        </p:txBody>
      </p:sp>
      <p:pic>
        <p:nvPicPr>
          <p:cNvPr id="4" name="Picture 7"/>
          <p:cNvPicPr>
            <a:picLocks noChangeAspect="1" noChangeArrowheads="1"/>
          </p:cNvPicPr>
          <p:nvPr/>
        </p:nvPicPr>
        <p:blipFill>
          <a:blip r:embed="rId2" cstate="print"/>
          <a:srcRect/>
          <a:stretch>
            <a:fillRect/>
          </a:stretch>
        </p:blipFill>
        <p:spPr bwMode="auto">
          <a:xfrm>
            <a:off x="1142976" y="4181570"/>
            <a:ext cx="7072362" cy="2249510"/>
          </a:xfrm>
          <a:prstGeom prst="rect">
            <a:avLst/>
          </a:prstGeom>
          <a:noFill/>
          <a:ln w="9525">
            <a:noFill/>
            <a:miter lim="800000"/>
            <a:headEnd/>
            <a:tailEnd/>
          </a:ln>
        </p:spPr>
      </p:pic>
      <p:cxnSp>
        <p:nvCxnSpPr>
          <p:cNvPr id="7" name="6 Conector recto"/>
          <p:cNvCxnSpPr/>
          <p:nvPr/>
        </p:nvCxnSpPr>
        <p:spPr>
          <a:xfrm rot="5400000">
            <a:off x="2928926" y="624244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5929322" y="6242442"/>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1500166" y="6313880"/>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6072198" y="6313880"/>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flipV="1">
            <a:off x="1571604" y="6242442"/>
            <a:ext cx="150019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flipV="1">
            <a:off x="1714480" y="6171004"/>
            <a:ext cx="1357322"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6072198" y="6242442"/>
            <a:ext cx="57150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6072198" y="6171004"/>
            <a:ext cx="785818"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2643174" y="6456756"/>
            <a:ext cx="714380" cy="369332"/>
          </a:xfrm>
          <a:prstGeom prst="rect">
            <a:avLst/>
          </a:prstGeom>
          <a:noFill/>
        </p:spPr>
        <p:txBody>
          <a:bodyPr wrap="square" rtlCol="0">
            <a:spAutoFit/>
          </a:bodyPr>
          <a:lstStyle/>
          <a:p>
            <a:r>
              <a:rPr lang="es-CR" dirty="0" smtClean="0"/>
              <a:t>-1,96</a:t>
            </a:r>
            <a:endParaRPr lang="es-CR" dirty="0"/>
          </a:p>
        </p:txBody>
      </p:sp>
      <p:sp>
        <p:nvSpPr>
          <p:cNvPr id="31" name="30 CuadroTexto"/>
          <p:cNvSpPr txBox="1"/>
          <p:nvPr/>
        </p:nvSpPr>
        <p:spPr>
          <a:xfrm>
            <a:off x="5786446" y="6444614"/>
            <a:ext cx="714380" cy="369332"/>
          </a:xfrm>
          <a:prstGeom prst="rect">
            <a:avLst/>
          </a:prstGeom>
          <a:noFill/>
        </p:spPr>
        <p:txBody>
          <a:bodyPr wrap="square" rtlCol="0">
            <a:spAutoFit/>
          </a:bodyPr>
          <a:lstStyle/>
          <a:p>
            <a:r>
              <a:rPr lang="es-CR" dirty="0" smtClean="0"/>
              <a:t>1,96</a:t>
            </a:r>
            <a:endParaRPr lang="es-CR" dirty="0"/>
          </a:p>
        </p:txBody>
      </p:sp>
      <p:cxnSp>
        <p:nvCxnSpPr>
          <p:cNvPr id="33" name="32 Conector recto de flecha"/>
          <p:cNvCxnSpPr/>
          <p:nvPr/>
        </p:nvCxnSpPr>
        <p:spPr>
          <a:xfrm rot="10800000">
            <a:off x="2285984" y="5670938"/>
            <a:ext cx="642942"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p:nvPr/>
        </p:nvCxnSpPr>
        <p:spPr>
          <a:xfrm rot="5400000" flipH="1" flipV="1">
            <a:off x="6286512" y="5670938"/>
            <a:ext cx="571504"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1785918" y="5170872"/>
            <a:ext cx="857256" cy="369332"/>
          </a:xfrm>
          <a:prstGeom prst="rect">
            <a:avLst/>
          </a:prstGeom>
          <a:noFill/>
        </p:spPr>
        <p:txBody>
          <a:bodyPr wrap="square" rtlCol="0">
            <a:spAutoFit/>
          </a:bodyPr>
          <a:lstStyle/>
          <a:p>
            <a:pPr algn="ctr"/>
            <a:r>
              <a:rPr lang="es-CR" dirty="0" smtClean="0"/>
              <a:t>0.025</a:t>
            </a:r>
            <a:endParaRPr lang="es-CR" dirty="0"/>
          </a:p>
        </p:txBody>
      </p:sp>
      <p:sp>
        <p:nvSpPr>
          <p:cNvPr id="37" name="36 CuadroTexto"/>
          <p:cNvSpPr txBox="1"/>
          <p:nvPr/>
        </p:nvSpPr>
        <p:spPr>
          <a:xfrm>
            <a:off x="6858016" y="5170872"/>
            <a:ext cx="857256" cy="369332"/>
          </a:xfrm>
          <a:prstGeom prst="rect">
            <a:avLst/>
          </a:prstGeom>
          <a:noFill/>
        </p:spPr>
        <p:txBody>
          <a:bodyPr wrap="square" rtlCol="0">
            <a:spAutoFit/>
          </a:bodyPr>
          <a:lstStyle/>
          <a:p>
            <a:pPr algn="ctr"/>
            <a:r>
              <a:rPr lang="es-CR" dirty="0" smtClean="0"/>
              <a:t>0.025</a:t>
            </a:r>
            <a:endParaRPr lang="es-CR" dirty="0"/>
          </a:p>
        </p:txBody>
      </p:sp>
      <p:cxnSp>
        <p:nvCxnSpPr>
          <p:cNvPr id="40" name="39 Conector recto"/>
          <p:cNvCxnSpPr/>
          <p:nvPr/>
        </p:nvCxnSpPr>
        <p:spPr>
          <a:xfrm rot="5400000">
            <a:off x="7179487" y="6349599"/>
            <a:ext cx="214314"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40 CuadroTexto"/>
          <p:cNvSpPr txBox="1"/>
          <p:nvPr/>
        </p:nvSpPr>
        <p:spPr>
          <a:xfrm>
            <a:off x="6858016" y="6516052"/>
            <a:ext cx="928694" cy="369332"/>
          </a:xfrm>
          <a:prstGeom prst="rect">
            <a:avLst/>
          </a:prstGeom>
          <a:noFill/>
        </p:spPr>
        <p:txBody>
          <a:bodyPr wrap="square" rtlCol="0">
            <a:spAutoFit/>
          </a:bodyPr>
          <a:lstStyle/>
          <a:p>
            <a:pPr algn="ctr"/>
            <a:r>
              <a:rPr lang="es-CR" dirty="0" smtClean="0"/>
              <a:t>13.995</a:t>
            </a:r>
            <a:endParaRPr lang="es-CR" dirty="0"/>
          </a:p>
        </p:txBody>
      </p:sp>
      <p:sp>
        <p:nvSpPr>
          <p:cNvPr id="42" name="41 Rectángulo"/>
          <p:cNvSpPr/>
          <p:nvPr/>
        </p:nvSpPr>
        <p:spPr>
          <a:xfrm>
            <a:off x="3857620" y="5385186"/>
            <a:ext cx="1428760" cy="78581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dirty="0" smtClean="0"/>
              <a:t>Zona de no rechazo </a:t>
            </a:r>
            <a:endParaRPr lang="es-CR" dirty="0"/>
          </a:p>
        </p:txBody>
      </p:sp>
      <p:sp>
        <p:nvSpPr>
          <p:cNvPr id="2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 : recordatorio</a:t>
            </a:r>
            <a:endParaRPr lang="es-CR" sz="2800" dirty="0"/>
          </a:p>
        </p:txBody>
      </p:sp>
    </p:spTree>
  </p:cSld>
  <p:clrMapOvr>
    <a:masterClrMapping/>
  </p:clrMapOvr>
  <p:transition>
    <p:wipe di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5760640" cy="5544616"/>
          </a:xfrm>
        </p:spPr>
        <p:txBody>
          <a:bodyPr/>
          <a:lstStyle/>
          <a:p>
            <a:pPr algn="just"/>
            <a:r>
              <a:rPr lang="es-CR" sz="1800" dirty="0" smtClean="0"/>
              <a:t>La primera prueba de hipótesis que se debe de llevar a cabo es el probar si existe o no una relación lineal entre las variables puestas en causa. Para esto, que mejor prueba de hipótesis que el probar si el coeficiente </a:t>
            </a:r>
            <a:r>
              <a:rPr lang="es-CR" sz="1800" i="1" dirty="0" smtClean="0"/>
              <a:t>ρ </a:t>
            </a:r>
            <a:r>
              <a:rPr lang="es-CR" sz="1800" dirty="0" smtClean="0"/>
              <a:t>es diferente de</a:t>
            </a:r>
            <a:r>
              <a:rPr lang="es-CR" sz="1800" i="1" dirty="0" smtClean="0"/>
              <a:t> 0</a:t>
            </a:r>
            <a:r>
              <a:rPr lang="es-CR" sz="1800" dirty="0" smtClean="0"/>
              <a:t>. </a:t>
            </a:r>
          </a:p>
          <a:p>
            <a:pPr algn="just"/>
            <a:endParaRPr lang="es-CR" sz="1800" dirty="0" smtClean="0"/>
          </a:p>
          <a:p>
            <a:pPr algn="just"/>
            <a:r>
              <a:rPr lang="es-CR" sz="1800" dirty="0" smtClean="0"/>
              <a:t>Como el análisis respecto a la correlación entre pasajeros y publicidad se basa en los datos muestrales, el error de muestreo podría llevarnos a conclusiones no apropiados. Se debe probar si la relación general entre las variables es fidedigna.</a:t>
            </a:r>
          </a:p>
          <a:p>
            <a:pPr algn="just"/>
            <a:endParaRPr lang="es-CR" sz="1800" dirty="0" smtClean="0"/>
          </a:p>
          <a:p>
            <a:pPr algn="just"/>
            <a:r>
              <a:rPr lang="es-CR" sz="1800" dirty="0" smtClean="0"/>
              <a:t>Puede ser que la correlación a nivel poblacional sea cero y que una muestra engañosa hizo que se asumiera equivocadamente una relación. Por consiguiente se debe probar la siguiente hipótesis: </a:t>
            </a:r>
          </a:p>
          <a:p>
            <a:pPr algn="just">
              <a:buNone/>
            </a:pPr>
            <a:endParaRPr lang="es-CR" dirty="0" smtClean="0"/>
          </a:p>
          <a:p>
            <a:pPr algn="just">
              <a:buNone/>
            </a:pPr>
            <a:endParaRPr lang="es-CR" dirty="0"/>
          </a:p>
        </p:txBody>
      </p:sp>
      <p:sp>
        <p:nvSpPr>
          <p:cNvPr id="890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908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426010" y="5431101"/>
            <a:ext cx="1785950" cy="595317"/>
          </a:xfrm>
          <a:prstGeom prst="rect">
            <a:avLst/>
          </a:prstGeom>
          <a:noFill/>
        </p:spPr>
      </p:pic>
      <p:sp>
        <p:nvSpPr>
          <p:cNvPr id="890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909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426010" y="6074043"/>
            <a:ext cx="1785950" cy="595317"/>
          </a:xfrm>
          <a:prstGeom prst="rect">
            <a:avLst/>
          </a:prstGeom>
          <a:noFill/>
        </p:spPr>
      </p:pic>
      <p:sp>
        <p:nvSpPr>
          <p:cNvPr id="9" name="1 Título"/>
          <p:cNvSpPr txBox="1">
            <a:spLocks/>
          </p:cNvSpPr>
          <p:nvPr/>
        </p:nvSpPr>
        <p:spPr>
          <a:xfrm>
            <a:off x="323528" y="123496"/>
            <a:ext cx="8496944" cy="71321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2800" dirty="0" smtClean="0"/>
              <a:t>Estimación y prueba de hipótesis : </a:t>
            </a:r>
            <a:r>
              <a:rPr lang="es-CR" sz="2800" i="1" dirty="0"/>
              <a:t>ρ</a:t>
            </a:r>
            <a:r>
              <a:rPr lang="es-CR" sz="2800" dirty="0" smtClean="0"/>
              <a:t> </a:t>
            </a:r>
            <a:endParaRPr lang="es-CR" sz="2800" dirty="0"/>
          </a:p>
        </p:txBody>
      </p:sp>
      <p:pic>
        <p:nvPicPr>
          <p:cNvPr id="88066" name="Picture 2" descr="http://sphweb.bumc.bu.edu/otlt/MPH-Modules/BS/BS704_Power/Rejection%20Region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64105" y="1268760"/>
            <a:ext cx="2628375" cy="2448272"/>
          </a:xfrm>
          <a:prstGeom prst="rect">
            <a:avLst/>
          </a:prstGeom>
          <a:noFill/>
          <a:extLst>
            <a:ext uri="{909E8E84-426E-40DD-AFC4-6F175D3DCCD1}">
              <a14:hiddenFill xmlns:a14="http://schemas.microsoft.com/office/drawing/2010/main">
                <a:solidFill>
                  <a:srgbClr val="FFFFFF"/>
                </a:solidFill>
              </a14:hiddenFill>
            </a:ext>
          </a:extLst>
        </p:spPr>
      </p:pic>
      <p:pic>
        <p:nvPicPr>
          <p:cNvPr id="88068" name="Picture 4" descr="http://www.psychstat.missouristate.edu/introbook/sbgraph/errors01.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6416" y="4396767"/>
            <a:ext cx="2680888" cy="2068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68760"/>
            <a:ext cx="7772400" cy="4231910"/>
          </a:xfrm>
        </p:spPr>
        <p:txBody>
          <a:bodyPr>
            <a:normAutofit/>
          </a:bodyPr>
          <a:lstStyle/>
          <a:p>
            <a:r>
              <a:rPr lang="es-CR" sz="1800" dirty="0" smtClean="0"/>
              <a:t>Se calcula el estadístico de prueba para la hipótesis de presencia de relación lineal:</a:t>
            </a:r>
          </a:p>
          <a:p>
            <a:endParaRPr lang="es-CR" sz="1800" dirty="0" smtClean="0"/>
          </a:p>
          <a:p>
            <a:endParaRPr lang="es-CR" sz="1800" dirty="0"/>
          </a:p>
          <a:p>
            <a:pPr marL="0" indent="0">
              <a:buNone/>
            </a:pPr>
            <a:endParaRPr lang="es-CR" sz="1800" dirty="0" smtClean="0"/>
          </a:p>
          <a:p>
            <a:endParaRPr lang="es-CR" sz="1800" dirty="0" smtClean="0"/>
          </a:p>
          <a:p>
            <a:endParaRPr lang="es-CR" sz="1800" dirty="0" smtClean="0"/>
          </a:p>
          <a:p>
            <a:endParaRPr lang="es-CR" sz="1800" dirty="0" smtClean="0"/>
          </a:p>
          <a:p>
            <a:r>
              <a:rPr lang="es-CR" sz="1800" dirty="0" smtClean="0"/>
              <a:t>En donde tenemos que S</a:t>
            </a:r>
            <a:r>
              <a:rPr lang="es-CR" sz="1800" baseline="-25000" dirty="0" smtClean="0"/>
              <a:t>r </a:t>
            </a:r>
            <a:r>
              <a:rPr lang="es-CR" sz="1800" dirty="0" smtClean="0"/>
              <a:t>es el error estándar del coeficiente de correlación</a:t>
            </a:r>
            <a:endParaRPr lang="es-CR" sz="1800" baseline="-25000" dirty="0" smtClean="0"/>
          </a:p>
          <a:p>
            <a:pPr marL="0" indent="0">
              <a:buNone/>
            </a:pPr>
            <a:endParaRPr lang="es-CR" sz="1800" dirty="0" smtClean="0"/>
          </a:p>
        </p:txBody>
      </p:sp>
      <p:sp>
        <p:nvSpPr>
          <p:cNvPr id="5" name="4 Rectángulo"/>
          <p:cNvSpPr/>
          <p:nvPr/>
        </p:nvSpPr>
        <p:spPr>
          <a:xfrm>
            <a:off x="428596" y="1877314"/>
            <a:ext cx="807249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Prueba Z para el </a:t>
            </a:r>
            <a:r>
              <a:rPr lang="es-CR" sz="2400" dirty="0" err="1" smtClean="0"/>
              <a:t>coef</a:t>
            </a:r>
            <a:r>
              <a:rPr lang="es-CR" sz="2400" dirty="0" smtClean="0"/>
              <a:t>. de </a:t>
            </a:r>
            <a:r>
              <a:rPr lang="es-CR" sz="2400" dirty="0" err="1" smtClean="0"/>
              <a:t>regre</a:t>
            </a:r>
            <a:r>
              <a:rPr lang="es-CR" sz="2400" dirty="0" smtClean="0"/>
              <a:t>. poblacional</a:t>
            </a:r>
            <a:endParaRPr lang="es-CR" sz="2400" dirty="0"/>
          </a:p>
        </p:txBody>
      </p:sp>
      <p:sp>
        <p:nvSpPr>
          <p:cNvPr id="6" name="5 Rectángulo"/>
          <p:cNvSpPr/>
          <p:nvPr/>
        </p:nvSpPr>
        <p:spPr>
          <a:xfrm>
            <a:off x="428596" y="4591958"/>
            <a:ext cx="807249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3600" dirty="0" smtClean="0"/>
              <a:t>Error estándar del </a:t>
            </a:r>
          </a:p>
          <a:p>
            <a:r>
              <a:rPr lang="es-CR" sz="3600" dirty="0" err="1" smtClean="0"/>
              <a:t>coef</a:t>
            </a:r>
            <a:r>
              <a:rPr lang="es-CR" sz="3600" dirty="0" smtClean="0"/>
              <a:t>. de correlación</a:t>
            </a:r>
          </a:p>
        </p:txBody>
      </p:sp>
      <p:sp>
        <p:nvSpPr>
          <p:cNvPr id="880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80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8067"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027550" y="4624239"/>
            <a:ext cx="1928826" cy="1253033"/>
          </a:xfrm>
          <a:prstGeom prst="rect">
            <a:avLst/>
          </a:prstGeom>
          <a:noFill/>
        </p:spPr>
      </p:pic>
      <p:sp>
        <p:nvSpPr>
          <p:cNvPr id="11" name="1 Título"/>
          <p:cNvSpPr>
            <a:spLocks noGrp="1"/>
          </p:cNvSpPr>
          <p:nvPr>
            <p:ph type="title"/>
          </p:nvPr>
        </p:nvSpPr>
        <p:spPr>
          <a:xfrm>
            <a:off x="323528" y="195504"/>
            <a:ext cx="8496944" cy="713216"/>
          </a:xfrm>
        </p:spPr>
        <p:txBody>
          <a:bodyPr>
            <a:normAutofit/>
          </a:bodyPr>
          <a:lstStyle/>
          <a:p>
            <a:pPr algn="ctr"/>
            <a:r>
              <a:rPr lang="es-CR" sz="2800" dirty="0" smtClean="0"/>
              <a:t>Estimación y prueba de </a:t>
            </a:r>
            <a:r>
              <a:rPr lang="es-CR" sz="2800" dirty="0"/>
              <a:t>hipótesis : </a:t>
            </a:r>
            <a:r>
              <a:rPr lang="es-CR" sz="2800" i="1" dirty="0"/>
              <a:t>ρ</a:t>
            </a:r>
            <a:r>
              <a:rPr lang="es-CR" sz="2800" dirty="0"/>
              <a:t> </a:t>
            </a:r>
          </a:p>
        </p:txBody>
      </p:sp>
      <mc:AlternateContent xmlns:mc="http://schemas.openxmlformats.org/markup-compatibility/2006" xmlns:a14="http://schemas.microsoft.com/office/drawing/2010/main">
        <mc:Choice Requires="a14">
          <p:sp>
            <p:nvSpPr>
              <p:cNvPr id="2" name="1 Rectángulo"/>
              <p:cNvSpPr/>
              <p:nvPr/>
            </p:nvSpPr>
            <p:spPr>
              <a:xfrm>
                <a:off x="6032964" y="2132856"/>
                <a:ext cx="1640794" cy="7852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a:rPr>
                          </m:ctrlPr>
                        </m:fPr>
                        <m:num>
                          <m:r>
                            <a:rPr lang="es-CR" sz="2400" i="1">
                              <a:latin typeface="Cambria Math"/>
                            </a:rPr>
                            <m:t>𝑟</m:t>
                          </m:r>
                          <m:r>
                            <a:rPr lang="es-CR" sz="2400" i="1">
                              <a:latin typeface="Cambria Math"/>
                            </a:rPr>
                            <m:t>−</m:t>
                          </m:r>
                          <m:r>
                            <a:rPr lang="es-CR" sz="2400" i="1">
                              <a:latin typeface="Cambria Math"/>
                            </a:rPr>
                            <m:t>𝜌</m:t>
                          </m:r>
                        </m:num>
                        <m:den>
                          <m:sSub>
                            <m:sSubPr>
                              <m:ctrlPr>
                                <a:rPr lang="es-CR" sz="2400" i="1">
                                  <a:latin typeface="Cambria Math"/>
                                </a:rPr>
                              </m:ctrlPr>
                            </m:sSubPr>
                            <m:e>
                              <m:r>
                                <a:rPr lang="es-CR" sz="2400" i="1">
                                  <a:latin typeface="Cambria Math"/>
                                </a:rPr>
                                <m:t>𝑆</m:t>
                              </m:r>
                            </m:e>
                            <m:sub>
                              <m:r>
                                <a:rPr lang="es-CR" sz="2400" i="1">
                                  <a:latin typeface="Cambria Math"/>
                                </a:rPr>
                                <m:t>𝑟</m:t>
                              </m:r>
                            </m:sub>
                          </m:sSub>
                        </m:den>
                      </m:f>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6032964" y="2132856"/>
                <a:ext cx="1640794" cy="785280"/>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484784"/>
            <a:ext cx="8643998" cy="5256584"/>
          </a:xfrm>
        </p:spPr>
        <p:txBody>
          <a:bodyPr>
            <a:normAutofit/>
          </a:bodyPr>
          <a:lstStyle/>
          <a:p>
            <a:r>
              <a:rPr lang="es-CR" sz="1800" dirty="0" smtClean="0"/>
              <a:t>Para el caso de Hop </a:t>
            </a:r>
            <a:r>
              <a:rPr lang="es-CR" sz="1800" dirty="0" err="1" smtClean="0"/>
              <a:t>Scotch</a:t>
            </a:r>
            <a:r>
              <a:rPr lang="es-CR" sz="1800" dirty="0" smtClean="0"/>
              <a:t> </a:t>
            </a:r>
            <a:r>
              <a:rPr lang="es-CR" sz="1800" dirty="0" err="1" smtClean="0"/>
              <a:t>Airlines</a:t>
            </a:r>
            <a:r>
              <a:rPr lang="es-CR" sz="1800" dirty="0" smtClean="0"/>
              <a:t>:</a:t>
            </a:r>
          </a:p>
          <a:p>
            <a:endParaRPr lang="es-CR" sz="1800" dirty="0" smtClean="0"/>
          </a:p>
          <a:p>
            <a:endParaRPr lang="es-CR" sz="1800" dirty="0" smtClean="0"/>
          </a:p>
          <a:p>
            <a:endParaRPr lang="es-CR" sz="1800" dirty="0" smtClean="0"/>
          </a:p>
          <a:p>
            <a:endParaRPr lang="es-CR" sz="1800" dirty="0"/>
          </a:p>
          <a:p>
            <a:endParaRPr lang="es-CR" sz="1800" dirty="0" smtClean="0"/>
          </a:p>
          <a:p>
            <a:pPr marL="0" indent="0">
              <a:buNone/>
            </a:pPr>
            <a:endParaRPr lang="es-CR" sz="1800" dirty="0" smtClean="0"/>
          </a:p>
          <a:p>
            <a:r>
              <a:rPr lang="es-CR" sz="1800" dirty="0" smtClean="0"/>
              <a:t>Si </a:t>
            </a:r>
            <a:r>
              <a:rPr lang="el-GR" sz="1800" dirty="0" smtClean="0">
                <a:latin typeface="Times New Roman"/>
                <a:cs typeface="Times New Roman"/>
              </a:rPr>
              <a:t>α</a:t>
            </a:r>
            <a:r>
              <a:rPr lang="es-CR" sz="1800" dirty="0" smtClean="0">
                <a:latin typeface="Times New Roman"/>
                <a:cs typeface="Times New Roman"/>
              </a:rPr>
              <a:t> = 0.05 y </a:t>
            </a:r>
            <a:r>
              <a:rPr lang="es-CR" sz="1800" i="1" dirty="0"/>
              <a:t>Z</a:t>
            </a:r>
            <a:r>
              <a:rPr lang="es-CR" sz="1800" dirty="0" smtClean="0"/>
              <a:t> </a:t>
            </a:r>
            <a:r>
              <a:rPr lang="es-CR" sz="1800" baseline="-25000" dirty="0" smtClean="0"/>
              <a:t>0.05 </a:t>
            </a:r>
            <a:r>
              <a:rPr lang="es-CR" sz="1800" dirty="0" smtClean="0"/>
              <a:t>= ± 1.96:</a:t>
            </a:r>
          </a:p>
          <a:p>
            <a:endParaRPr lang="es-CR" sz="1800" dirty="0" smtClean="0">
              <a:latin typeface="Times New Roman"/>
              <a:cs typeface="Times New Roman"/>
            </a:endParaRPr>
          </a:p>
          <a:p>
            <a:pPr>
              <a:buNone/>
            </a:pPr>
            <a:r>
              <a:rPr lang="es-CR" sz="1800" b="1" dirty="0" smtClean="0"/>
              <a:t>La regla de decisión es</a:t>
            </a:r>
            <a:r>
              <a:rPr lang="es-CR" sz="1800" dirty="0" smtClean="0"/>
              <a:t>: “No rechazar si t está entre ± 1,96. De otro modo rechazar”. </a:t>
            </a:r>
          </a:p>
          <a:p>
            <a:pPr>
              <a:buNone/>
            </a:pPr>
            <a:endParaRPr lang="es-CR" sz="1800" dirty="0" smtClean="0"/>
          </a:p>
          <a:p>
            <a:r>
              <a:rPr lang="es-CR" sz="1800" dirty="0" smtClean="0"/>
              <a:t>Debido a que </a:t>
            </a:r>
            <a:r>
              <a:rPr lang="es-CR" sz="1800" i="1" dirty="0" smtClean="0"/>
              <a:t>Z </a:t>
            </a:r>
            <a:r>
              <a:rPr lang="es-CR" sz="1800" dirty="0" smtClean="0"/>
              <a:t>= 13.995&gt;1.96, se rechaza la hipótesis nula. </a:t>
            </a:r>
          </a:p>
          <a:p>
            <a:endParaRPr lang="es-CR" sz="1800" dirty="0" smtClean="0"/>
          </a:p>
          <a:p>
            <a:r>
              <a:rPr lang="es-CR" sz="1800" dirty="0" smtClean="0"/>
              <a:t>Esto indica que, estadísticamente se comprueba la presencia de la relación entre los gastos en publicidad y el aumento en el número de pasajeros que viajan </a:t>
            </a:r>
            <a:r>
              <a:rPr lang="es-CR" sz="1800" dirty="0"/>
              <a:t>por Hop </a:t>
            </a:r>
            <a:r>
              <a:rPr lang="es-CR" sz="1800" dirty="0" err="1"/>
              <a:t>Scotch</a:t>
            </a:r>
            <a:r>
              <a:rPr lang="es-CR" sz="1800" dirty="0"/>
              <a:t> </a:t>
            </a:r>
            <a:r>
              <a:rPr lang="es-CR" sz="1800" dirty="0" smtClean="0"/>
              <a:t>Airlines.</a:t>
            </a:r>
          </a:p>
        </p:txBody>
      </p:sp>
      <p:sp>
        <p:nvSpPr>
          <p:cNvPr id="5" name="4 Rectángulo"/>
          <p:cNvSpPr/>
          <p:nvPr/>
        </p:nvSpPr>
        <p:spPr>
          <a:xfrm>
            <a:off x="539552" y="2215694"/>
            <a:ext cx="8136904"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endParaRPr lang="es-CR" sz="3600" dirty="0" smtClean="0"/>
          </a:p>
        </p:txBody>
      </p:sp>
      <p:sp>
        <p:nvSpPr>
          <p:cNvPr id="870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704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54944" y="2287132"/>
            <a:ext cx="3429024" cy="993435"/>
          </a:xfrm>
          <a:prstGeom prst="rect">
            <a:avLst/>
          </a:prstGeom>
          <a:noFill/>
        </p:spPr>
      </p:pic>
      <p:sp>
        <p:nvSpPr>
          <p:cNvPr id="870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s-CR" sz="2800" i="1" dirty="0"/>
              <a:t>ρ</a:t>
            </a:r>
            <a:r>
              <a:rPr lang="es-CR" sz="2800" dirty="0"/>
              <a:t> </a:t>
            </a:r>
          </a:p>
        </p:txBody>
      </p:sp>
      <mc:AlternateContent xmlns:mc="http://schemas.openxmlformats.org/markup-compatibility/2006" xmlns:a14="http://schemas.microsoft.com/office/drawing/2010/main">
        <mc:Choice Requires="a14">
          <p:sp>
            <p:nvSpPr>
              <p:cNvPr id="2" name="1 Rectángulo"/>
              <p:cNvSpPr/>
              <p:nvPr/>
            </p:nvSpPr>
            <p:spPr>
              <a:xfrm>
                <a:off x="5079574" y="2786839"/>
                <a:ext cx="3596882" cy="7861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a:rPr>
                          </m:ctrlPr>
                        </m:fPr>
                        <m:num>
                          <m:r>
                            <a:rPr lang="es-CR" sz="2400" i="1">
                              <a:latin typeface="Cambria Math"/>
                            </a:rPr>
                            <m:t>0.9683−0</m:t>
                          </m:r>
                        </m:num>
                        <m:den>
                          <m:r>
                            <a:rPr lang="es-CR" sz="2400" i="1">
                              <a:latin typeface="Cambria Math"/>
                            </a:rPr>
                            <m:t>0.069</m:t>
                          </m:r>
                        </m:den>
                      </m:f>
                      <m:r>
                        <a:rPr lang="es-CR" sz="2400" i="1">
                          <a:latin typeface="Cambria Math"/>
                        </a:rPr>
                        <m:t>=13.995</m:t>
                      </m:r>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5079574" y="2786839"/>
                <a:ext cx="3596882" cy="786177"/>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124744"/>
            <a:ext cx="5437838" cy="5472608"/>
          </a:xfrm>
        </p:spPr>
        <p:txBody>
          <a:bodyPr>
            <a:normAutofit/>
          </a:bodyPr>
          <a:lstStyle/>
          <a:p>
            <a:pPr algn="just"/>
            <a:r>
              <a:rPr lang="es-CR" sz="1800" dirty="0" smtClean="0"/>
              <a:t>Interesa también saber si la relación encontrada es positiva o negativa, y además determinar la magnitud de la relación. Para esto se plantea la hipótesis sobre el coeficiente de la pendiente para poder comprobar lo anterior.</a:t>
            </a:r>
          </a:p>
          <a:p>
            <a:pPr algn="just"/>
            <a:endParaRPr lang="es-CR" sz="1800" dirty="0"/>
          </a:p>
          <a:p>
            <a:pPr algn="just"/>
            <a:r>
              <a:rPr lang="es-CR" sz="1800" dirty="0" smtClean="0"/>
              <a:t>La prueba de hipótesis se plantea de la siguiente forma:</a:t>
            </a:r>
          </a:p>
          <a:p>
            <a:pPr algn="just">
              <a:buNone/>
            </a:pPr>
            <a:endParaRPr lang="es-CR" sz="1800" dirty="0" smtClean="0"/>
          </a:p>
          <a:p>
            <a:pPr algn="just">
              <a:buNone/>
            </a:pPr>
            <a:endParaRPr lang="es-CR" sz="1800" dirty="0" smtClean="0"/>
          </a:p>
          <a:p>
            <a:pPr algn="just">
              <a:buNone/>
            </a:pPr>
            <a:endParaRPr lang="es-CR" sz="1800" dirty="0"/>
          </a:p>
          <a:p>
            <a:pPr algn="just">
              <a:buNone/>
            </a:pPr>
            <a:endParaRPr lang="es-CR" sz="1800" dirty="0" smtClean="0"/>
          </a:p>
          <a:p>
            <a:pPr algn="just"/>
            <a:r>
              <a:rPr lang="es-CR" sz="1800" dirty="0" smtClean="0"/>
              <a:t>Dado que no conocemos el valor poblacional, debemos estimar </a:t>
            </a:r>
            <a:r>
              <a:rPr lang="el-GR" sz="1800" i="1" dirty="0" smtClean="0">
                <a:latin typeface="Times New Roman"/>
                <a:cs typeface="Times New Roman"/>
              </a:rPr>
              <a:t>β</a:t>
            </a:r>
            <a:r>
              <a:rPr lang="es-CR" sz="1800" dirty="0" smtClean="0"/>
              <a:t>1 con los datos de una muestra. El estimador vendría a ser </a:t>
            </a:r>
            <a:r>
              <a:rPr lang="es-CR" sz="1800" dirty="0"/>
              <a:t>b</a:t>
            </a:r>
            <a:r>
              <a:rPr lang="es-CR" sz="1800" dirty="0" smtClean="0"/>
              <a:t>1. </a:t>
            </a:r>
          </a:p>
          <a:p>
            <a:pPr marL="0" indent="0" algn="just">
              <a:buNone/>
            </a:pPr>
            <a:endParaRPr lang="es-CR" sz="1800" dirty="0" smtClean="0"/>
          </a:p>
          <a:p>
            <a:pPr algn="just"/>
            <a:r>
              <a:rPr lang="es-CR" sz="1800" dirty="0" smtClean="0"/>
              <a:t>Entonces, ahora tendríamos que hacer la prueba de hipótesis para demostrar la relación específica del estimador. </a:t>
            </a:r>
          </a:p>
        </p:txBody>
      </p:sp>
      <p:sp>
        <p:nvSpPr>
          <p:cNvPr id="4" name="1 Título"/>
          <p:cNvSpPr>
            <a:spLocks noGrp="1"/>
          </p:cNvSpPr>
          <p:nvPr>
            <p:ph type="title"/>
          </p:nvPr>
        </p:nvSpPr>
        <p:spPr>
          <a:xfrm>
            <a:off x="323528" y="116632"/>
            <a:ext cx="8496944" cy="713216"/>
          </a:xfrm>
        </p:spPr>
        <p:txBody>
          <a:bodyPr>
            <a:normAutofit/>
          </a:bodyPr>
          <a:lstStyle/>
          <a:p>
            <a:pPr algn="ctr"/>
            <a:r>
              <a:rPr lang="es-CR" sz="2800" dirty="0" smtClean="0"/>
              <a:t>Estimación y prueba de hipótesis : </a:t>
            </a:r>
            <a:r>
              <a:rPr lang="el-GR" sz="2800" i="1" dirty="0">
                <a:latin typeface="Times New Roman"/>
                <a:cs typeface="Times New Roman"/>
              </a:rPr>
              <a:t>β</a:t>
            </a:r>
            <a:r>
              <a:rPr lang="es-CR" sz="2800" dirty="0" smtClean="0"/>
              <a:t> </a:t>
            </a:r>
            <a:endParaRPr lang="es-CR" sz="2800"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79712" y="3140968"/>
            <a:ext cx="1672096" cy="500066"/>
          </a:xfrm>
          <a:prstGeom prst="rect">
            <a:avLst/>
          </a:prstGeom>
          <a:noFill/>
        </p:spPr>
      </p:pic>
      <p:pic>
        <p:nvPicPr>
          <p:cNvPr id="6"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08274" y="3712472"/>
            <a:ext cx="1785950" cy="529170"/>
          </a:xfrm>
          <a:prstGeom prst="rect">
            <a:avLst/>
          </a:prstGeom>
          <a:noFill/>
        </p:spPr>
      </p:pic>
      <p:pic>
        <p:nvPicPr>
          <p:cNvPr id="89090" name="Picture 2" descr="http://statwiki.ucdavis.edu/@api/deki/files/109/6ed58a35480090fa999b53b443a266a5.jpg?size=bestfit&amp;width=600&amp;height=387&amp;revision=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0669" y="1270850"/>
            <a:ext cx="3149556" cy="2459593"/>
          </a:xfrm>
          <a:prstGeom prst="rect">
            <a:avLst/>
          </a:prstGeom>
          <a:noFill/>
          <a:extLst>
            <a:ext uri="{909E8E84-426E-40DD-AFC4-6F175D3DCCD1}">
              <a14:hiddenFill xmlns:a14="http://schemas.microsoft.com/office/drawing/2010/main">
                <a:solidFill>
                  <a:srgbClr val="FFFFFF"/>
                </a:solidFill>
              </a14:hiddenFill>
            </a:ext>
          </a:extLst>
        </p:spPr>
      </p:pic>
      <p:pic>
        <p:nvPicPr>
          <p:cNvPr id="89092" name="Picture 4" descr="http://www.chinarel.com/onlinebook/DOEWeb/graphics/chapter3__16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9803" y="4437112"/>
            <a:ext cx="3291287" cy="20716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268760"/>
            <a:ext cx="7772400" cy="4374786"/>
          </a:xfrm>
        </p:spPr>
        <p:txBody>
          <a:bodyPr>
            <a:normAutofit/>
          </a:bodyPr>
          <a:lstStyle/>
          <a:p>
            <a:r>
              <a:rPr lang="es-CR" sz="1800" dirty="0"/>
              <a:t>Se calcula el estadístico de prueba para la hipótesis </a:t>
            </a:r>
            <a:r>
              <a:rPr lang="es-CR" sz="1800" dirty="0" smtClean="0"/>
              <a:t>sobre la pendiente:</a:t>
            </a:r>
            <a:endParaRPr lang="es-CR" sz="1800" dirty="0"/>
          </a:p>
          <a:p>
            <a:pPr marL="0" indent="0">
              <a:buNone/>
            </a:pPr>
            <a:endParaRPr lang="es-CR" sz="1800" dirty="0" smtClean="0"/>
          </a:p>
          <a:p>
            <a:pPr marL="0" indent="0">
              <a:buNone/>
            </a:pPr>
            <a:endParaRPr lang="es-CR" sz="1800" dirty="0"/>
          </a:p>
          <a:p>
            <a:endParaRPr lang="es-CR" sz="1800" dirty="0" smtClean="0"/>
          </a:p>
          <a:p>
            <a:pPr marL="0" indent="0">
              <a:buNone/>
            </a:pPr>
            <a:endParaRPr lang="es-CR" sz="1800" dirty="0" smtClean="0"/>
          </a:p>
          <a:p>
            <a:endParaRPr lang="es-CR" sz="1800" dirty="0" smtClean="0"/>
          </a:p>
          <a:p>
            <a:endParaRPr lang="es-CR" sz="1800" dirty="0" smtClean="0"/>
          </a:p>
          <a:p>
            <a:endParaRPr lang="es-CR" sz="1800" dirty="0" smtClean="0"/>
          </a:p>
          <a:p>
            <a:r>
              <a:rPr lang="es-CR" sz="1800" dirty="0" smtClean="0"/>
              <a:t>En donde tenemos que S</a:t>
            </a:r>
            <a:r>
              <a:rPr lang="es-CR" sz="1800" baseline="-25000" dirty="0" smtClean="0"/>
              <a:t>b1 </a:t>
            </a:r>
            <a:r>
              <a:rPr lang="es-CR" sz="1800" dirty="0" smtClean="0"/>
              <a:t>es el error estándar del coeficiente de regresión</a:t>
            </a:r>
            <a:endParaRPr lang="es-CR" sz="1800" baseline="-25000" dirty="0"/>
          </a:p>
        </p:txBody>
      </p:sp>
      <p:sp>
        <p:nvSpPr>
          <p:cNvPr id="5" name="4 Rectángulo"/>
          <p:cNvSpPr/>
          <p:nvPr/>
        </p:nvSpPr>
        <p:spPr>
          <a:xfrm>
            <a:off x="569762" y="2012557"/>
            <a:ext cx="796267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Prueba </a:t>
            </a:r>
            <a:r>
              <a:rPr lang="es-CR" sz="2400" i="1" dirty="0"/>
              <a:t>z</a:t>
            </a:r>
            <a:r>
              <a:rPr lang="es-CR" sz="2400" dirty="0" smtClean="0"/>
              <a:t> para el </a:t>
            </a:r>
            <a:r>
              <a:rPr lang="es-CR" sz="2400" dirty="0" err="1" smtClean="0"/>
              <a:t>coef</a:t>
            </a:r>
            <a:r>
              <a:rPr lang="es-CR" sz="2400" dirty="0" smtClean="0"/>
              <a:t>. de </a:t>
            </a:r>
            <a:r>
              <a:rPr lang="es-CR" sz="2400" dirty="0" err="1" smtClean="0"/>
              <a:t>regre</a:t>
            </a:r>
            <a:r>
              <a:rPr lang="es-CR" sz="2400" dirty="0" smtClean="0"/>
              <a:t>. poblacional</a:t>
            </a:r>
            <a:endParaRPr lang="es-CR" sz="2400" dirty="0"/>
          </a:p>
        </p:txBody>
      </p:sp>
      <p:sp>
        <p:nvSpPr>
          <p:cNvPr id="706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8" name="7 Rectángulo"/>
          <p:cNvSpPr/>
          <p:nvPr/>
        </p:nvSpPr>
        <p:spPr>
          <a:xfrm>
            <a:off x="569762" y="4643446"/>
            <a:ext cx="7962678"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smtClean="0"/>
              <a:t>Error estándar del </a:t>
            </a:r>
            <a:r>
              <a:rPr lang="es-CR" sz="2400" dirty="0" err="1" smtClean="0"/>
              <a:t>coef</a:t>
            </a:r>
            <a:r>
              <a:rPr lang="es-CR" sz="2400" dirty="0" smtClean="0"/>
              <a:t>. de regresión</a:t>
            </a:r>
          </a:p>
        </p:txBody>
      </p:sp>
      <p:sp>
        <p:nvSpPr>
          <p:cNvPr id="706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0659"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012160" y="4725144"/>
            <a:ext cx="2088232" cy="1143008"/>
          </a:xfrm>
          <a:prstGeom prst="rect">
            <a:avLst/>
          </a:prstGeom>
          <a:noFill/>
        </p:spPr>
      </p:pic>
      <p:sp>
        <p:nvSpPr>
          <p:cNvPr id="11"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mc:AlternateContent xmlns:mc="http://schemas.openxmlformats.org/markup-compatibility/2006" xmlns:a14="http://schemas.microsoft.com/office/drawing/2010/main">
        <mc:Choice Requires="a14">
          <p:sp>
            <p:nvSpPr>
              <p:cNvPr id="2" name="1 Rectángulo"/>
              <p:cNvSpPr/>
              <p:nvPr/>
            </p:nvSpPr>
            <p:spPr>
              <a:xfrm>
                <a:off x="6207123" y="2204864"/>
                <a:ext cx="1893269" cy="916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R" sz="2400" i="1">
                          <a:latin typeface="Cambria Math"/>
                        </a:rPr>
                        <m:t>𝑍</m:t>
                      </m:r>
                      <m:r>
                        <a:rPr lang="es-CR" sz="2400" i="1">
                          <a:latin typeface="Cambria Math"/>
                        </a:rPr>
                        <m:t>=</m:t>
                      </m:r>
                      <m:f>
                        <m:fPr>
                          <m:ctrlPr>
                            <a:rPr lang="es-CR" sz="2400" i="1">
                              <a:latin typeface="Cambria Math"/>
                            </a:rPr>
                          </m:ctrlPr>
                        </m:fPr>
                        <m:num>
                          <m:sSub>
                            <m:sSubPr>
                              <m:ctrlPr>
                                <a:rPr lang="es-CR" sz="2400" i="1">
                                  <a:latin typeface="Cambria Math"/>
                                </a:rPr>
                              </m:ctrlPr>
                            </m:sSubPr>
                            <m:e>
                              <m:r>
                                <a:rPr lang="es-CR" sz="2400" i="1">
                                  <a:latin typeface="Cambria Math"/>
                                </a:rPr>
                                <m:t>𝑏</m:t>
                              </m:r>
                            </m:e>
                            <m:sub>
                              <m:r>
                                <a:rPr lang="es-CR" sz="2400" i="1">
                                  <a:latin typeface="Cambria Math"/>
                                </a:rPr>
                                <m:t>1</m:t>
                              </m:r>
                            </m:sub>
                          </m:sSub>
                          <m:r>
                            <a:rPr lang="es-CR" sz="2400" i="1">
                              <a:latin typeface="Cambria Math"/>
                            </a:rPr>
                            <m:t>−</m:t>
                          </m:r>
                          <m:sSub>
                            <m:sSubPr>
                              <m:ctrlPr>
                                <a:rPr lang="es-CR" sz="2400" i="1">
                                  <a:latin typeface="Cambria Math"/>
                                </a:rPr>
                              </m:ctrlPr>
                            </m:sSubPr>
                            <m:e>
                              <m:r>
                                <a:rPr lang="es-CR" sz="2400" i="1">
                                  <a:latin typeface="Cambria Math"/>
                                </a:rPr>
                                <m:t>𝛽</m:t>
                              </m:r>
                            </m:e>
                            <m:sub>
                              <m:r>
                                <a:rPr lang="es-CR" sz="2400" i="1">
                                  <a:latin typeface="Cambria Math"/>
                                </a:rPr>
                                <m:t>1</m:t>
                              </m:r>
                            </m:sub>
                          </m:sSub>
                        </m:num>
                        <m:den>
                          <m:sSub>
                            <m:sSubPr>
                              <m:ctrlPr>
                                <a:rPr lang="es-CR" sz="2400" i="1">
                                  <a:latin typeface="Cambria Math"/>
                                </a:rPr>
                              </m:ctrlPr>
                            </m:sSubPr>
                            <m:e>
                              <m:r>
                                <a:rPr lang="es-CR" sz="2400" i="1">
                                  <a:latin typeface="Cambria Math"/>
                                </a:rPr>
                                <m:t>𝑆</m:t>
                              </m:r>
                            </m:e>
                            <m:sub>
                              <m:sSub>
                                <m:sSubPr>
                                  <m:ctrlPr>
                                    <a:rPr lang="es-CR" sz="2400" i="1">
                                      <a:latin typeface="Cambria Math"/>
                                    </a:rPr>
                                  </m:ctrlPr>
                                </m:sSubPr>
                                <m:e>
                                  <m:r>
                                    <a:rPr lang="es-CR" sz="2400" i="1">
                                      <a:latin typeface="Cambria Math"/>
                                    </a:rPr>
                                    <m:t>𝑏</m:t>
                                  </m:r>
                                </m:e>
                                <m:sub>
                                  <m:r>
                                    <a:rPr lang="es-CR" sz="2400" i="1">
                                      <a:latin typeface="Cambria Math"/>
                                    </a:rPr>
                                    <m:t>1</m:t>
                                  </m:r>
                                </m:sub>
                              </m:sSub>
                            </m:sub>
                          </m:sSub>
                        </m:den>
                      </m:f>
                    </m:oMath>
                  </m:oMathPara>
                </a14:m>
                <a:endParaRPr lang="es-CR" sz="2400" dirty="0"/>
              </a:p>
            </p:txBody>
          </p:sp>
        </mc:Choice>
        <mc:Fallback xmlns="">
          <p:sp>
            <p:nvSpPr>
              <p:cNvPr id="2" name="1 Rectángulo"/>
              <p:cNvSpPr>
                <a:spLocks noRot="1" noChangeAspect="1" noMove="1" noResize="1" noEditPoints="1" noAdjustHandles="1" noChangeArrowheads="1" noChangeShapeType="1" noTextEdit="1"/>
              </p:cNvSpPr>
              <p:nvPr/>
            </p:nvSpPr>
            <p:spPr>
              <a:xfrm>
                <a:off x="6207123" y="2204864"/>
                <a:ext cx="1893269" cy="916661"/>
              </a:xfrm>
              <a:prstGeom prst="rect">
                <a:avLst/>
              </a:prstGeom>
              <a:blipFill rotWithShape="1">
                <a:blip r:embed="rId3"/>
                <a:stretch>
                  <a:fillRect/>
                </a:stretch>
              </a:blipFill>
            </p:spPr>
            <p:txBody>
              <a:bodyPr/>
              <a:lstStyle/>
              <a:p>
                <a:r>
                  <a:rPr lang="es-CR">
                    <a:noFill/>
                  </a:rPr>
                  <a:t> </a:t>
                </a:r>
              </a:p>
            </p:txBody>
          </p:sp>
        </mc:Fallback>
      </mc:AlternateContent>
    </p:spTree>
  </p:cSld>
  <p:clrMapOvr>
    <a:masterClrMapping/>
  </p:clrMapOvr>
  <p:transition>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340768"/>
            <a:ext cx="8858280" cy="4968552"/>
          </a:xfrm>
        </p:spPr>
        <p:txBody>
          <a:bodyPr>
            <a:normAutofit/>
          </a:bodyPr>
          <a:lstStyle/>
          <a:p>
            <a:r>
              <a:rPr lang="es-CR" sz="1800" dirty="0" smtClean="0"/>
              <a:t>Para el caso de Hop </a:t>
            </a:r>
            <a:r>
              <a:rPr lang="es-CR" sz="1800" dirty="0" err="1" smtClean="0"/>
              <a:t>Scotch</a:t>
            </a:r>
            <a:r>
              <a:rPr lang="es-CR" sz="1800" dirty="0" smtClean="0"/>
              <a:t> Airlines:</a:t>
            </a:r>
          </a:p>
          <a:p>
            <a:endParaRPr lang="es-CR" sz="1800" dirty="0"/>
          </a:p>
          <a:p>
            <a:endParaRPr lang="es-CR" sz="1800" dirty="0" smtClean="0"/>
          </a:p>
          <a:p>
            <a:pPr algn="ctr"/>
            <a:endParaRPr lang="es-CR" sz="1800" dirty="0" smtClean="0"/>
          </a:p>
          <a:p>
            <a:pPr marL="0" indent="0">
              <a:buNone/>
            </a:pPr>
            <a:endParaRPr lang="es-CR" sz="1800" dirty="0" smtClean="0"/>
          </a:p>
          <a:p>
            <a:pPr marL="0" indent="0">
              <a:buNone/>
            </a:pPr>
            <a:endParaRPr lang="es-CR" sz="1800" dirty="0"/>
          </a:p>
          <a:p>
            <a:pPr marL="0" indent="0">
              <a:buNone/>
            </a:pPr>
            <a:endParaRPr lang="es-CR" sz="1800" dirty="0" smtClean="0"/>
          </a:p>
          <a:p>
            <a:r>
              <a:rPr lang="es-CR" sz="1800" dirty="0" smtClean="0"/>
              <a:t>Si se selecciona un valor de </a:t>
            </a:r>
            <a:r>
              <a:rPr lang="el-GR" sz="1800" dirty="0" smtClean="0"/>
              <a:t>α</a:t>
            </a:r>
            <a:r>
              <a:rPr lang="es-CR" sz="1800" dirty="0" smtClean="0"/>
              <a:t>=0.05, entonces para la comparación </a:t>
            </a:r>
            <a:r>
              <a:rPr lang="es-CR" sz="1800" dirty="0" smtClean="0">
                <a:latin typeface="Times New Roman"/>
                <a:cs typeface="Times New Roman"/>
              </a:rPr>
              <a:t>de </a:t>
            </a:r>
            <a:r>
              <a:rPr lang="es-CR" sz="1800" dirty="0" smtClean="0"/>
              <a:t>prueba de</a:t>
            </a:r>
          </a:p>
          <a:p>
            <a:pPr marL="0" indent="0">
              <a:buNone/>
            </a:pPr>
            <a:r>
              <a:rPr lang="es-CR" sz="1800" dirty="0" smtClean="0"/>
              <a:t>     hipótesis </a:t>
            </a:r>
            <a:r>
              <a:rPr lang="es-CR" sz="1800" i="1" dirty="0"/>
              <a:t>Z</a:t>
            </a:r>
            <a:r>
              <a:rPr lang="es-CR" sz="1800" dirty="0" smtClean="0"/>
              <a:t> </a:t>
            </a:r>
            <a:r>
              <a:rPr lang="es-CR" sz="1800" baseline="-25000" dirty="0" smtClean="0"/>
              <a:t>0.05 </a:t>
            </a:r>
            <a:r>
              <a:rPr lang="es-CR" sz="1800" dirty="0" smtClean="0"/>
              <a:t>= ±1,96 . La regla de decisión sería:</a:t>
            </a:r>
          </a:p>
          <a:p>
            <a:endParaRPr lang="es-CR" sz="1800" dirty="0" smtClean="0"/>
          </a:p>
          <a:p>
            <a:pPr>
              <a:buNone/>
            </a:pPr>
            <a:r>
              <a:rPr lang="es-CR" sz="1800" b="1" dirty="0" smtClean="0"/>
              <a:t>Regla de decisión</a:t>
            </a:r>
            <a:r>
              <a:rPr lang="es-CR" sz="1800" dirty="0" smtClean="0"/>
              <a:t>: “No rechazar si </a:t>
            </a:r>
            <a:r>
              <a:rPr lang="es-CR" sz="1800" i="1" dirty="0" smtClean="0"/>
              <a:t>t</a:t>
            </a:r>
            <a:r>
              <a:rPr lang="es-CR" sz="1800" dirty="0" smtClean="0"/>
              <a:t> está entre ± 1.96</a:t>
            </a:r>
            <a:r>
              <a:rPr lang="es-CR" sz="1800" dirty="0"/>
              <a:t>, </a:t>
            </a:r>
            <a:r>
              <a:rPr lang="es-CR" sz="1800" dirty="0" smtClean="0"/>
              <a:t>de lo contrario rechazar”.</a:t>
            </a:r>
          </a:p>
          <a:p>
            <a:endParaRPr lang="es-CR" sz="1800" dirty="0" smtClean="0"/>
          </a:p>
          <a:p>
            <a:r>
              <a:rPr lang="es-CR" sz="1800" dirty="0" smtClean="0"/>
              <a:t>De acuerdo, al valor del estadístico t calculado, se rechaza la hipótesis nula.</a:t>
            </a:r>
          </a:p>
        </p:txBody>
      </p:sp>
      <mc:AlternateContent xmlns:mc="http://schemas.openxmlformats.org/markup-compatibility/2006" xmlns:a14="http://schemas.microsoft.com/office/drawing/2010/main">
        <mc:Choice Requires="a14">
          <p:sp>
            <p:nvSpPr>
              <p:cNvPr id="5" name="4 Rectángulo"/>
              <p:cNvSpPr/>
              <p:nvPr/>
            </p:nvSpPr>
            <p:spPr>
              <a:xfrm>
                <a:off x="504088" y="2060848"/>
                <a:ext cx="7816382"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dirty="0" smtClean="0"/>
                  <a:t>					</a:t>
                </a:r>
                <a14:m>
                  <m:oMath xmlns:m="http://schemas.openxmlformats.org/officeDocument/2006/math">
                    <m:r>
                      <a:rPr lang="es-CR" sz="2400" i="1">
                        <a:latin typeface="Cambria Math"/>
                      </a:rPr>
                      <m:t>𝑍</m:t>
                    </m:r>
                    <m:r>
                      <a:rPr lang="es-CR" sz="2400" i="1">
                        <a:latin typeface="Cambria Math"/>
                      </a:rPr>
                      <m:t>=</m:t>
                    </m:r>
                    <m:f>
                      <m:fPr>
                        <m:ctrlPr>
                          <a:rPr lang="es-CR" sz="2400" i="1">
                            <a:latin typeface="Cambria Math"/>
                          </a:rPr>
                        </m:ctrlPr>
                      </m:fPr>
                      <m:num>
                        <m:r>
                          <a:rPr lang="es-CR" sz="2400" i="1">
                            <a:latin typeface="Cambria Math"/>
                          </a:rPr>
                          <m:t>1.0813−0</m:t>
                        </m:r>
                      </m:num>
                      <m:den>
                        <m:r>
                          <a:rPr lang="es-CR" sz="2400" i="1">
                            <a:latin typeface="Cambria Math"/>
                          </a:rPr>
                          <m:t>0.07726</m:t>
                        </m:r>
                      </m:den>
                    </m:f>
                    <m:r>
                      <a:rPr lang="es-CR" sz="2400" i="1">
                        <a:latin typeface="Cambria Math"/>
                      </a:rPr>
                      <m:t>=13.995</m:t>
                    </m:r>
                  </m:oMath>
                </a14:m>
                <a:endParaRPr lang="es-CR" dirty="0" smtClean="0"/>
              </a:p>
            </p:txBody>
          </p:sp>
        </mc:Choice>
        <mc:Fallback xmlns="">
          <p:sp>
            <p:nvSpPr>
              <p:cNvPr id="5" name="4 Rectángulo"/>
              <p:cNvSpPr>
                <a:spLocks noRot="1" noChangeAspect="1" noMove="1" noResize="1" noEditPoints="1" noAdjustHandles="1" noChangeArrowheads="1" noChangeShapeType="1" noTextEdit="1"/>
              </p:cNvSpPr>
              <p:nvPr/>
            </p:nvSpPr>
            <p:spPr>
              <a:xfrm>
                <a:off x="504088" y="2060848"/>
                <a:ext cx="7816382" cy="1357322"/>
              </a:xfrm>
              <a:prstGeom prst="rect">
                <a:avLst/>
              </a:prstGeom>
              <a:blipFill rotWithShape="1">
                <a:blip r:embed="rId2"/>
                <a:stretch>
                  <a:fillRect/>
                </a:stretch>
              </a:blipFill>
            </p:spPr>
            <p:txBody>
              <a:bodyPr/>
              <a:lstStyle/>
              <a:p>
                <a:r>
                  <a:rPr lang="es-CR">
                    <a:noFill/>
                  </a:rPr>
                  <a:t> </a:t>
                </a:r>
              </a:p>
            </p:txBody>
          </p:sp>
        </mc:Fallback>
      </mc:AlternateContent>
      <p:sp>
        <p:nvSpPr>
          <p:cNvPr id="696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69633"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14347" y="2203724"/>
            <a:ext cx="3425675" cy="785818"/>
          </a:xfrm>
          <a:prstGeom prst="rect">
            <a:avLst/>
          </a:prstGeom>
          <a:noFill/>
        </p:spPr>
      </p:pic>
      <p:sp>
        <p:nvSpPr>
          <p:cNvPr id="696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 name="1 Título"/>
          <p:cNvSpPr>
            <a:spLocks noGrp="1"/>
          </p:cNvSpPr>
          <p:nvPr>
            <p:ph type="title"/>
          </p:nvPr>
        </p:nvSpPr>
        <p:spPr>
          <a:xfrm>
            <a:off x="323528" y="260648"/>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cSld>
  <p:clrMapOvr>
    <a:masterClrMapping/>
  </p:clrMapOvr>
  <p:transition>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504" y="1340768"/>
            <a:ext cx="8715436" cy="2520280"/>
          </a:xfrm>
        </p:spPr>
        <p:txBody>
          <a:bodyPr>
            <a:normAutofit/>
          </a:bodyPr>
          <a:lstStyle/>
          <a:p>
            <a:pPr algn="just"/>
            <a:r>
              <a:rPr lang="es-CR" sz="1800" dirty="0" smtClean="0"/>
              <a:t>Debido a que el estadístico calculado es z=13.995, la hipótesis nula de </a:t>
            </a:r>
            <a:r>
              <a:rPr lang="el-GR" sz="1800" dirty="0" smtClean="0">
                <a:latin typeface="Cambria Math"/>
                <a:ea typeface="Cambria Math"/>
              </a:rPr>
              <a:t>β</a:t>
            </a:r>
            <a:r>
              <a:rPr lang="es-CR" sz="1800" baseline="-25000" dirty="0" smtClean="0">
                <a:latin typeface="Cambria Math"/>
                <a:ea typeface="Cambria Math"/>
              </a:rPr>
              <a:t>1</a:t>
            </a:r>
            <a:r>
              <a:rPr lang="es-CR" sz="1800" dirty="0" smtClean="0">
                <a:latin typeface="Cambria Math"/>
                <a:ea typeface="Cambria Math"/>
              </a:rPr>
              <a:t>=0 </a:t>
            </a:r>
            <a:r>
              <a:rPr lang="es-CR" sz="1800" dirty="0" smtClean="0"/>
              <a:t>se rechazar. Al nivel del 5%, estadísticamente existe una relación entre pasajeros y publicidad. </a:t>
            </a:r>
          </a:p>
          <a:p>
            <a:pPr algn="just"/>
            <a:endParaRPr lang="es-CR" sz="1800" dirty="0" smtClean="0"/>
          </a:p>
          <a:p>
            <a:pPr algn="just"/>
            <a:r>
              <a:rPr lang="es-CR" sz="1800" dirty="0" smtClean="0"/>
              <a:t>Si la hipótesis nula no hubiera sido rechazada, se concluiría que la publicidad y los pasajeros no están relacionados. Descartando el modelo , se utilizaría una variable explicativa diferente.</a:t>
            </a:r>
          </a:p>
          <a:p>
            <a:pPr algn="just"/>
            <a:endParaRPr lang="es-CR" sz="1800" dirty="0"/>
          </a:p>
          <a:p>
            <a:pPr algn="just"/>
            <a:r>
              <a:rPr lang="es-CR" sz="1800" dirty="0" smtClean="0"/>
              <a:t>Ahora se debe verificar cuál es la magnitud de la relación.</a:t>
            </a:r>
          </a:p>
        </p:txBody>
      </p:sp>
      <p:pic>
        <p:nvPicPr>
          <p:cNvPr id="4" name="Picture 7"/>
          <p:cNvPicPr>
            <a:picLocks noChangeAspect="1" noChangeArrowheads="1"/>
          </p:cNvPicPr>
          <p:nvPr/>
        </p:nvPicPr>
        <p:blipFill>
          <a:blip r:embed="rId2" cstate="print"/>
          <a:srcRect/>
          <a:stretch>
            <a:fillRect/>
          </a:stretch>
        </p:blipFill>
        <p:spPr bwMode="auto">
          <a:xfrm>
            <a:off x="812006" y="4034134"/>
            <a:ext cx="7072362" cy="2249510"/>
          </a:xfrm>
          <a:prstGeom prst="rect">
            <a:avLst/>
          </a:prstGeom>
          <a:noFill/>
          <a:ln w="9525">
            <a:noFill/>
            <a:miter lim="800000"/>
            <a:headEnd/>
            <a:tailEnd/>
          </a:ln>
        </p:spPr>
      </p:pic>
      <p:cxnSp>
        <p:nvCxnSpPr>
          <p:cNvPr id="7" name="6 Conector recto"/>
          <p:cNvCxnSpPr/>
          <p:nvPr/>
        </p:nvCxnSpPr>
        <p:spPr>
          <a:xfrm rot="5400000">
            <a:off x="2597956" y="609500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5598352" y="6095006"/>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1169196" y="6166444"/>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5741228" y="6166444"/>
            <a:ext cx="1571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flipV="1">
            <a:off x="1240634" y="6095006"/>
            <a:ext cx="150019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flipV="1">
            <a:off x="1383510" y="6023568"/>
            <a:ext cx="1357322" cy="142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5741228" y="6095006"/>
            <a:ext cx="57150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5741228" y="6023568"/>
            <a:ext cx="785818" cy="142876"/>
          </a:xfrm>
          <a:prstGeom prst="line">
            <a:avLst/>
          </a:prstGeom>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2312204" y="6312740"/>
            <a:ext cx="714380" cy="369332"/>
          </a:xfrm>
          <a:prstGeom prst="rect">
            <a:avLst/>
          </a:prstGeom>
          <a:noFill/>
        </p:spPr>
        <p:txBody>
          <a:bodyPr wrap="square" rtlCol="0">
            <a:spAutoFit/>
          </a:bodyPr>
          <a:lstStyle/>
          <a:p>
            <a:r>
              <a:rPr lang="es-CR" dirty="0" smtClean="0"/>
              <a:t>-1,96</a:t>
            </a:r>
            <a:endParaRPr lang="es-CR" dirty="0"/>
          </a:p>
        </p:txBody>
      </p:sp>
      <p:sp>
        <p:nvSpPr>
          <p:cNvPr id="31" name="30 CuadroTexto"/>
          <p:cNvSpPr txBox="1"/>
          <p:nvPr/>
        </p:nvSpPr>
        <p:spPr>
          <a:xfrm>
            <a:off x="5455476" y="6300598"/>
            <a:ext cx="714380" cy="369332"/>
          </a:xfrm>
          <a:prstGeom prst="rect">
            <a:avLst/>
          </a:prstGeom>
          <a:noFill/>
        </p:spPr>
        <p:txBody>
          <a:bodyPr wrap="square" rtlCol="0">
            <a:spAutoFit/>
          </a:bodyPr>
          <a:lstStyle/>
          <a:p>
            <a:r>
              <a:rPr lang="es-CR" dirty="0" smtClean="0"/>
              <a:t>1,96</a:t>
            </a:r>
            <a:endParaRPr lang="es-CR" dirty="0"/>
          </a:p>
        </p:txBody>
      </p:sp>
      <p:cxnSp>
        <p:nvCxnSpPr>
          <p:cNvPr id="33" name="32 Conector recto de flecha"/>
          <p:cNvCxnSpPr/>
          <p:nvPr/>
        </p:nvCxnSpPr>
        <p:spPr>
          <a:xfrm rot="10800000">
            <a:off x="1955014" y="5523502"/>
            <a:ext cx="642942"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p:nvPr/>
        </p:nvCxnSpPr>
        <p:spPr>
          <a:xfrm rot="5400000" flipH="1" flipV="1">
            <a:off x="5955542" y="5523502"/>
            <a:ext cx="571504"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1454948" y="5023436"/>
            <a:ext cx="857256" cy="369332"/>
          </a:xfrm>
          <a:prstGeom prst="rect">
            <a:avLst/>
          </a:prstGeom>
          <a:noFill/>
        </p:spPr>
        <p:txBody>
          <a:bodyPr wrap="square" rtlCol="0">
            <a:spAutoFit/>
          </a:bodyPr>
          <a:lstStyle/>
          <a:p>
            <a:pPr algn="ctr"/>
            <a:r>
              <a:rPr lang="es-CR" dirty="0" smtClean="0"/>
              <a:t>0.025</a:t>
            </a:r>
            <a:endParaRPr lang="es-CR" dirty="0"/>
          </a:p>
        </p:txBody>
      </p:sp>
      <p:sp>
        <p:nvSpPr>
          <p:cNvPr id="37" name="36 CuadroTexto"/>
          <p:cNvSpPr txBox="1"/>
          <p:nvPr/>
        </p:nvSpPr>
        <p:spPr>
          <a:xfrm>
            <a:off x="6527046" y="5023436"/>
            <a:ext cx="857256" cy="369332"/>
          </a:xfrm>
          <a:prstGeom prst="rect">
            <a:avLst/>
          </a:prstGeom>
          <a:noFill/>
        </p:spPr>
        <p:txBody>
          <a:bodyPr wrap="square" rtlCol="0">
            <a:spAutoFit/>
          </a:bodyPr>
          <a:lstStyle/>
          <a:p>
            <a:pPr algn="ctr"/>
            <a:r>
              <a:rPr lang="es-CR" dirty="0" smtClean="0"/>
              <a:t>0.025</a:t>
            </a:r>
            <a:endParaRPr lang="es-CR" dirty="0"/>
          </a:p>
        </p:txBody>
      </p:sp>
      <p:cxnSp>
        <p:nvCxnSpPr>
          <p:cNvPr id="40" name="39 Conector recto"/>
          <p:cNvCxnSpPr/>
          <p:nvPr/>
        </p:nvCxnSpPr>
        <p:spPr>
          <a:xfrm rot="5400000">
            <a:off x="6848517" y="6202163"/>
            <a:ext cx="214314"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40 CuadroTexto"/>
          <p:cNvSpPr txBox="1"/>
          <p:nvPr/>
        </p:nvSpPr>
        <p:spPr>
          <a:xfrm>
            <a:off x="6527046" y="6372036"/>
            <a:ext cx="928694" cy="369332"/>
          </a:xfrm>
          <a:prstGeom prst="rect">
            <a:avLst/>
          </a:prstGeom>
          <a:noFill/>
        </p:spPr>
        <p:txBody>
          <a:bodyPr wrap="square" rtlCol="0">
            <a:spAutoFit/>
          </a:bodyPr>
          <a:lstStyle/>
          <a:p>
            <a:pPr algn="ctr"/>
            <a:r>
              <a:rPr lang="es-CR" dirty="0" smtClean="0"/>
              <a:t>13.995</a:t>
            </a:r>
            <a:endParaRPr lang="es-CR" dirty="0"/>
          </a:p>
        </p:txBody>
      </p:sp>
      <p:sp>
        <p:nvSpPr>
          <p:cNvPr id="42" name="41 Rectángulo"/>
          <p:cNvSpPr/>
          <p:nvPr/>
        </p:nvSpPr>
        <p:spPr>
          <a:xfrm>
            <a:off x="3526650" y="5237750"/>
            <a:ext cx="1428760" cy="78581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dirty="0" smtClean="0"/>
              <a:t>Zona de no rechazo </a:t>
            </a:r>
            <a:endParaRPr lang="es-CR" dirty="0"/>
          </a:p>
        </p:txBody>
      </p:sp>
      <p:sp>
        <p:nvSpPr>
          <p:cNvPr id="23"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extLst>
      <p:ext uri="{BB962C8B-B14F-4D97-AF65-F5344CB8AC3E}">
        <p14:creationId xmlns:p14="http://schemas.microsoft.com/office/powerpoint/2010/main" val="3222544275"/>
      </p:ext>
    </p:extLst>
  </p:cSld>
  <p:clrMapOvr>
    <a:masterClrMapping/>
  </p:clrMapOvr>
  <p:transition>
    <p:wipe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148237"/>
            <a:ext cx="8501122" cy="5733256"/>
          </a:xfrm>
        </p:spPr>
        <p:txBody>
          <a:bodyPr>
            <a:normAutofit lnSpcReduction="10000"/>
          </a:bodyPr>
          <a:lstStyle/>
          <a:p>
            <a:r>
              <a:rPr lang="es-CR" sz="1800" dirty="0" smtClean="0"/>
              <a:t>Debido a que se ha rechazado la hipótesis nula de que </a:t>
            </a:r>
            <a:r>
              <a:rPr lang="es-CR" sz="1800" i="1" dirty="0" smtClean="0"/>
              <a:t>B</a:t>
            </a:r>
            <a:r>
              <a:rPr lang="es-CR" sz="1800" baseline="-25000" dirty="0" smtClean="0"/>
              <a:t>1</a:t>
            </a:r>
            <a:r>
              <a:rPr lang="es-CR" sz="1800" dirty="0" smtClean="0"/>
              <a:t>=0, la pregunta es, “¿Cuál es la magnitud de la relación?”. Esta pregunta puede responderse calculando un intervalo de confianza (IC) para </a:t>
            </a:r>
            <a:r>
              <a:rPr lang="es-CR" sz="1800" i="1" dirty="0" smtClean="0"/>
              <a:t>B</a:t>
            </a:r>
            <a:r>
              <a:rPr lang="es-CR" sz="1800" baseline="-25000" dirty="0" smtClean="0"/>
              <a:t>1</a:t>
            </a:r>
            <a:r>
              <a:rPr lang="es-CR" sz="1800" dirty="0" smtClean="0"/>
              <a:t>,</a:t>
            </a:r>
          </a:p>
          <a:p>
            <a:endParaRPr lang="es-CR" sz="1800" dirty="0" smtClean="0"/>
          </a:p>
          <a:p>
            <a:endParaRPr lang="es-CR" sz="1800" dirty="0"/>
          </a:p>
          <a:p>
            <a:endParaRPr lang="es-CR" sz="1800" dirty="0" smtClean="0"/>
          </a:p>
          <a:p>
            <a:endParaRPr lang="es-CR" sz="1800" dirty="0"/>
          </a:p>
          <a:p>
            <a:pPr marL="0" indent="0">
              <a:buNone/>
            </a:pPr>
            <a:endParaRPr lang="es-CR" sz="1800" dirty="0" smtClean="0"/>
          </a:p>
          <a:p>
            <a:endParaRPr lang="es-CR" sz="1800" dirty="0" smtClean="0"/>
          </a:p>
          <a:p>
            <a:r>
              <a:rPr lang="es-CR" sz="1800" dirty="0" smtClean="0"/>
              <a:t>Si se utiliza un nivel de confianza del 95%, </a:t>
            </a:r>
          </a:p>
          <a:p>
            <a:pPr>
              <a:buNone/>
            </a:pPr>
            <a:endParaRPr lang="es-CR" sz="1800" dirty="0" smtClean="0"/>
          </a:p>
          <a:p>
            <a:pPr>
              <a:buNone/>
            </a:pPr>
            <a:r>
              <a:rPr lang="es-CR" sz="1800" dirty="0" smtClean="0"/>
              <a:t>IC para </a:t>
            </a:r>
            <a:r>
              <a:rPr lang="es-CR" sz="1800" i="1" dirty="0" smtClean="0"/>
              <a:t>B</a:t>
            </a:r>
            <a:r>
              <a:rPr lang="es-CR" sz="1800" baseline="-25000" dirty="0" smtClean="0"/>
              <a:t>1</a:t>
            </a:r>
            <a:r>
              <a:rPr lang="es-CR" sz="1800" dirty="0" smtClean="0"/>
              <a:t>=1.08 ± (1,96)(0.07726)</a:t>
            </a:r>
          </a:p>
          <a:p>
            <a:pPr>
              <a:buNone/>
            </a:pPr>
            <a:r>
              <a:rPr lang="es-CR" sz="1800" dirty="0" smtClean="0"/>
              <a:t>                                  </a:t>
            </a:r>
            <a:r>
              <a:rPr lang="es-CR" sz="1800" b="1" dirty="0" smtClean="0"/>
              <a:t>0.9285 ≤ </a:t>
            </a:r>
            <a:r>
              <a:rPr lang="es-CR" sz="1800" b="1" i="1" dirty="0" smtClean="0"/>
              <a:t>B</a:t>
            </a:r>
            <a:r>
              <a:rPr lang="es-CR" sz="1800" b="1" baseline="-25000" dirty="0" smtClean="0"/>
              <a:t>1 </a:t>
            </a:r>
            <a:r>
              <a:rPr lang="es-CR" sz="1800" b="1" dirty="0" smtClean="0"/>
              <a:t>≤ 1.2314</a:t>
            </a:r>
          </a:p>
          <a:p>
            <a:pPr>
              <a:buNone/>
            </a:pPr>
            <a:endParaRPr lang="es-CR" sz="1800" dirty="0" smtClean="0"/>
          </a:p>
          <a:p>
            <a:pPr algn="just">
              <a:buNone/>
            </a:pPr>
            <a:r>
              <a:rPr lang="es-CR" sz="1800" dirty="0" smtClean="0"/>
              <a:t>Esto significa que se puede estar al 95% seguro que los </a:t>
            </a:r>
            <a:r>
              <a:rPr lang="es-CR" sz="1800" dirty="0"/>
              <a:t>intervalos </a:t>
            </a:r>
            <a:r>
              <a:rPr lang="es-CR" sz="1800" dirty="0" smtClean="0"/>
              <a:t>de 9285 y 12315 contienen el</a:t>
            </a:r>
          </a:p>
          <a:p>
            <a:pPr algn="just">
              <a:buNone/>
            </a:pPr>
            <a:r>
              <a:rPr lang="es-CR" sz="1800" dirty="0" smtClean="0"/>
              <a:t> valor poblacional de </a:t>
            </a:r>
            <a:r>
              <a:rPr lang="el-GR" sz="1800" i="1" dirty="0" smtClean="0">
                <a:latin typeface="Times New Roman"/>
                <a:cs typeface="Times New Roman"/>
              </a:rPr>
              <a:t>β</a:t>
            </a:r>
            <a:r>
              <a:rPr lang="es-CR" sz="1800" i="1" dirty="0" smtClean="0">
                <a:latin typeface="Times New Roman"/>
                <a:cs typeface="Times New Roman"/>
              </a:rPr>
              <a:t>. </a:t>
            </a:r>
            <a:r>
              <a:rPr lang="es-CR" sz="1800" dirty="0"/>
              <a:t>En términos prácticos, estadísticamente se comprueba la </a:t>
            </a:r>
            <a:r>
              <a:rPr lang="es-CR" sz="1800" dirty="0" smtClean="0"/>
              <a:t>relación positiva</a:t>
            </a:r>
          </a:p>
          <a:p>
            <a:pPr algn="just">
              <a:buNone/>
            </a:pPr>
            <a:r>
              <a:rPr lang="es-CR" sz="1800" dirty="0" smtClean="0"/>
              <a:t> entre los </a:t>
            </a:r>
            <a:r>
              <a:rPr lang="es-CR" sz="1800" dirty="0"/>
              <a:t>gastos </a:t>
            </a:r>
            <a:r>
              <a:rPr lang="es-CR" sz="1800" dirty="0" smtClean="0"/>
              <a:t>de </a:t>
            </a:r>
            <a:r>
              <a:rPr lang="es-CR" sz="1800" dirty="0"/>
              <a:t>publicidad y el aumento en el número de pasajeros que viajan por </a:t>
            </a:r>
            <a:r>
              <a:rPr lang="es-CR" sz="1800" dirty="0" smtClean="0"/>
              <a:t>Hop </a:t>
            </a:r>
            <a:r>
              <a:rPr lang="es-CR" sz="1800" dirty="0" err="1" smtClean="0"/>
              <a:t>Scotch</a:t>
            </a:r>
            <a:endParaRPr lang="es-CR" sz="1800" dirty="0" smtClean="0"/>
          </a:p>
          <a:p>
            <a:pPr algn="just">
              <a:buNone/>
            </a:pPr>
            <a:r>
              <a:rPr lang="es-CR" sz="1800" dirty="0" smtClean="0"/>
              <a:t> </a:t>
            </a:r>
            <a:r>
              <a:rPr lang="es-CR" sz="1800" dirty="0"/>
              <a:t>Airlines</a:t>
            </a:r>
            <a:endParaRPr lang="es-CR" sz="1800" dirty="0" smtClean="0"/>
          </a:p>
        </p:txBody>
      </p:sp>
      <p:sp>
        <p:nvSpPr>
          <p:cNvPr id="5" name="4 Rectángulo"/>
          <p:cNvSpPr/>
          <p:nvPr/>
        </p:nvSpPr>
        <p:spPr>
          <a:xfrm>
            <a:off x="357158" y="2348880"/>
            <a:ext cx="8358246" cy="121444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800" dirty="0" smtClean="0"/>
              <a:t>Intervalos de confianza :</a:t>
            </a:r>
          </a:p>
        </p:txBody>
      </p:sp>
      <p:sp>
        <p:nvSpPr>
          <p:cNvPr id="901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9011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355976" y="2563194"/>
            <a:ext cx="3500462" cy="733630"/>
          </a:xfrm>
          <a:prstGeom prst="rect">
            <a:avLst/>
          </a:prstGeom>
          <a:noFill/>
        </p:spPr>
      </p:pic>
      <p:sp>
        <p:nvSpPr>
          <p:cNvPr id="8"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a:t>
            </a:r>
            <a:r>
              <a:rPr lang="es-CR" sz="2800" dirty="0"/>
              <a:t>hipótesis : </a:t>
            </a:r>
            <a:r>
              <a:rPr lang="el-GR" sz="2800" i="1" dirty="0">
                <a:latin typeface="Times New Roman"/>
                <a:cs typeface="Times New Roman"/>
              </a:rPr>
              <a:t>β</a:t>
            </a:r>
            <a:endParaRPr lang="es-CR" sz="2800" dirty="0"/>
          </a:p>
        </p:txBody>
      </p:sp>
    </p:spTree>
  </p:cSld>
  <p:clrMapOvr>
    <a:masterClrMapping/>
  </p:clrMapOvr>
  <p:transition>
    <p:dissolv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196752"/>
            <a:ext cx="5654432" cy="5500726"/>
          </a:xfrm>
        </p:spPr>
        <p:txBody>
          <a:bodyPr>
            <a:noAutofit/>
          </a:bodyPr>
          <a:lstStyle/>
          <a:p>
            <a:pPr algn="just"/>
            <a:r>
              <a:rPr lang="es-CR" sz="1800" dirty="0" smtClean="0"/>
              <a:t>A un nivel de confianza del 95%, se concluye que el coeficiente de correlación poblacional es estadísticamente diferente de 0, y que por lo tanto, hay una relación entre los gasto de publicidad y el número de pasajeros. </a:t>
            </a:r>
          </a:p>
          <a:p>
            <a:pPr algn="just"/>
            <a:endParaRPr lang="es-CR" sz="1800" dirty="0" smtClean="0"/>
          </a:p>
          <a:p>
            <a:pPr algn="just"/>
            <a:r>
              <a:rPr lang="es-CR" sz="1800" dirty="0" smtClean="0"/>
              <a:t>Al igual que con la prueba para </a:t>
            </a:r>
            <a:r>
              <a:rPr lang="el-GR" sz="1800" dirty="0" smtClean="0">
                <a:latin typeface="Cambria Math"/>
                <a:ea typeface="Cambria Math"/>
              </a:rPr>
              <a:t>β</a:t>
            </a:r>
            <a:r>
              <a:rPr lang="es-CR" sz="1800" baseline="-25000" dirty="0" smtClean="0">
                <a:latin typeface="Cambria Math"/>
                <a:ea typeface="Cambria Math"/>
              </a:rPr>
              <a:t>1</a:t>
            </a:r>
            <a:r>
              <a:rPr lang="es-CR" sz="1800" dirty="0" smtClean="0"/>
              <a:t>, la hipótesis nula no se rechaza y se concluye que hay una relación positiva entre </a:t>
            </a:r>
            <a:r>
              <a:rPr lang="es-CR" sz="1800" dirty="0"/>
              <a:t>los gasto de publicidad y el número de pasajeros.</a:t>
            </a:r>
            <a:endParaRPr lang="es-CR" sz="1800" dirty="0" smtClean="0"/>
          </a:p>
          <a:p>
            <a:pPr algn="just"/>
            <a:endParaRPr lang="es-CR" sz="1800" dirty="0" smtClean="0"/>
          </a:p>
          <a:p>
            <a:pPr algn="just"/>
            <a:r>
              <a:rPr lang="es-CR" sz="1800" dirty="0" smtClean="0"/>
              <a:t>El hecho de tener el mismo estadística calculado (13.995) sea para los estimadores de </a:t>
            </a:r>
            <a:r>
              <a:rPr lang="el-GR" sz="1800" dirty="0" smtClean="0">
                <a:latin typeface="Cambria Math"/>
                <a:ea typeface="Cambria Math"/>
              </a:rPr>
              <a:t>β</a:t>
            </a:r>
            <a:r>
              <a:rPr lang="es-CR" sz="1800" baseline="-25000" dirty="0" smtClean="0">
                <a:latin typeface="Cambria Math"/>
                <a:ea typeface="Cambria Math"/>
              </a:rPr>
              <a:t>1 </a:t>
            </a:r>
            <a:r>
              <a:rPr lang="es-CR" sz="1800" dirty="0" smtClean="0"/>
              <a:t>y </a:t>
            </a:r>
            <a:r>
              <a:rPr lang="es-CR" sz="1800" i="1" dirty="0" smtClean="0"/>
              <a:t>ρ</a:t>
            </a:r>
            <a:r>
              <a:rPr lang="es-CR" sz="1800" dirty="0" smtClean="0"/>
              <a:t> no es coincidencia. Siempre se obtendrá los mismos resultados en estas 2 pruebas de hipótesis en un modelo de </a:t>
            </a:r>
            <a:r>
              <a:rPr lang="es-CR" sz="1800" dirty="0"/>
              <a:t>regresión simple. </a:t>
            </a:r>
            <a:endParaRPr lang="es-CR" sz="1800" dirty="0" smtClean="0"/>
          </a:p>
          <a:p>
            <a:pPr algn="just"/>
            <a:endParaRPr lang="es-CR" sz="1800" dirty="0" smtClean="0">
              <a:latin typeface="Arial"/>
              <a:cs typeface="Arial"/>
            </a:endParaRPr>
          </a:p>
          <a:p>
            <a:pPr algn="just"/>
            <a:r>
              <a:rPr lang="es-CR" sz="1800" dirty="0" smtClean="0"/>
              <a:t>Sin embargo se debe realizar ambas pruebas ya que esta igualdad no se mantiene en un modelo de regresión múltiple como se verá en el próximo capítulo.</a:t>
            </a:r>
          </a:p>
        </p:txBody>
      </p:sp>
      <p:sp>
        <p:nvSpPr>
          <p:cNvPr id="5" name="1 Título"/>
          <p:cNvSpPr>
            <a:spLocks noGrp="1"/>
          </p:cNvSpPr>
          <p:nvPr>
            <p:ph type="title"/>
          </p:nvPr>
        </p:nvSpPr>
        <p:spPr>
          <a:xfrm>
            <a:off x="323528" y="188640"/>
            <a:ext cx="8496944" cy="713216"/>
          </a:xfrm>
        </p:spPr>
        <p:txBody>
          <a:bodyPr>
            <a:normAutofit/>
          </a:bodyPr>
          <a:lstStyle/>
          <a:p>
            <a:pPr algn="ctr"/>
            <a:r>
              <a:rPr lang="es-CR" sz="2800" dirty="0" smtClean="0"/>
              <a:t>Estimación y prueba de hipótesis</a:t>
            </a:r>
            <a:endParaRPr lang="es-CR" sz="2800" dirty="0"/>
          </a:p>
        </p:txBody>
      </p:sp>
      <p:pic>
        <p:nvPicPr>
          <p:cNvPr id="91138" name="Picture 2" descr="http://www.gommasubito.it/storage/128/images/img_grafica/uomo-che-osserv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2628" y="1340768"/>
            <a:ext cx="2606292" cy="4824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2"/>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188640"/>
            <a:ext cx="7772400" cy="634082"/>
          </a:xfrm>
        </p:spPr>
        <p:txBody>
          <a:bodyPr>
            <a:normAutofit/>
          </a:bodyPr>
          <a:lstStyle/>
          <a:p>
            <a:pPr algn="ctr"/>
            <a:r>
              <a:rPr lang="es-CR" sz="3200" dirty="0" smtClean="0"/>
              <a:t>Ejercicio de práctica</a:t>
            </a:r>
            <a:endParaRPr lang="es-CR" sz="32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038" y="836712"/>
            <a:ext cx="7560840" cy="5616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descr="http://www.guiametabolica.org/sites/default/files/img_glut1/glut1_03_x5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6" y="1628800"/>
            <a:ext cx="4415083" cy="3064068"/>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0/0e/L-glyceraldehyde-3D-bal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9131" y="3933056"/>
            <a:ext cx="2764346" cy="238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067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6264696" cy="5616624"/>
          </a:xfrm>
        </p:spPr>
        <p:txBody>
          <a:bodyPr>
            <a:normAutofit/>
          </a:bodyPr>
          <a:lstStyle/>
          <a:p>
            <a:pPr marL="0" indent="0">
              <a:buNone/>
            </a:pPr>
            <a:r>
              <a:rPr lang="es-CR" sz="2000" dirty="0" smtClean="0"/>
              <a:t>Para el ejercicio anterior determine:</a:t>
            </a:r>
          </a:p>
          <a:p>
            <a:pPr marL="0" indent="0">
              <a:buNone/>
            </a:pPr>
            <a:endParaRPr lang="es-CR" sz="2000" dirty="0" smtClean="0"/>
          </a:p>
          <a:p>
            <a:pPr marL="457200" indent="-457200" algn="just">
              <a:buAutoNum type="arabicPeriod"/>
            </a:pPr>
            <a:r>
              <a:rPr lang="es-CR" sz="2000" dirty="0" smtClean="0"/>
              <a:t>La correlación entre el peso y la glucosa.</a:t>
            </a:r>
          </a:p>
          <a:p>
            <a:pPr marL="457200" indent="-457200" algn="just">
              <a:buAutoNum type="arabicPeriod"/>
            </a:pPr>
            <a:r>
              <a:rPr lang="es-CR" sz="2000" dirty="0" smtClean="0"/>
              <a:t>Interprete el resultado de la correlación</a:t>
            </a:r>
          </a:p>
          <a:p>
            <a:pPr marL="457200" indent="-457200" algn="just">
              <a:buAutoNum type="arabicPeriod"/>
            </a:pPr>
            <a:r>
              <a:rPr lang="es-CR" sz="2000" dirty="0" smtClean="0"/>
              <a:t>La ecuación de regresión lineal simple.</a:t>
            </a:r>
          </a:p>
          <a:p>
            <a:pPr marL="457200" indent="-457200" algn="just">
              <a:buAutoNum type="arabicPeriod"/>
            </a:pPr>
            <a:r>
              <a:rPr lang="es-CR" sz="2000" dirty="0" smtClean="0"/>
              <a:t>Interprete el valor del coeficiente B1 de peso</a:t>
            </a:r>
          </a:p>
          <a:p>
            <a:pPr marL="457200" indent="-457200" algn="just">
              <a:buAutoNum type="arabicPeriod"/>
            </a:pPr>
            <a:r>
              <a:rPr lang="es-CR" sz="2000" dirty="0" smtClean="0"/>
              <a:t>Realiza la prueba de hipótesis para el coeficiente de peso, bajo el supuesto de que el coeficiente debería ser diferente de 0.</a:t>
            </a:r>
          </a:p>
          <a:p>
            <a:pPr marL="457200" indent="-457200" algn="just">
              <a:buAutoNum type="arabicPeriod"/>
            </a:pPr>
            <a:r>
              <a:rPr lang="es-CR" sz="2000" dirty="0" smtClean="0"/>
              <a:t>Realice la prueba para el coeficiente Rho, </a:t>
            </a:r>
            <a:r>
              <a:rPr lang="es-CR" sz="2000" dirty="0"/>
              <a:t>bajo el supuesto de que el coeficiente debería ser diferente de </a:t>
            </a:r>
            <a:r>
              <a:rPr lang="es-CR" sz="2000" dirty="0" smtClean="0"/>
              <a:t>0</a:t>
            </a:r>
          </a:p>
          <a:p>
            <a:pPr marL="457200" indent="-457200" algn="just">
              <a:buAutoNum type="arabicPeriod"/>
            </a:pPr>
            <a:r>
              <a:rPr lang="es-CR" sz="2000" dirty="0" smtClean="0"/>
              <a:t>Determine el intervalo de confianza del 95% para el coeficiente de peso.</a:t>
            </a:r>
          </a:p>
          <a:p>
            <a:pPr marL="0" indent="0" algn="just">
              <a:buNone/>
            </a:pPr>
            <a:r>
              <a:rPr lang="es-CR" sz="2000" dirty="0"/>
              <a:t> </a:t>
            </a:r>
            <a:r>
              <a:rPr lang="es-CR" sz="2000" dirty="0" smtClean="0"/>
              <a:t>       Para todas las pruebas se parte de </a:t>
            </a:r>
            <a:r>
              <a:rPr lang="el-GR" sz="2000" dirty="0" smtClean="0">
                <a:latin typeface="Times New Roman"/>
                <a:cs typeface="Times New Roman"/>
              </a:rPr>
              <a:t>α</a:t>
            </a:r>
            <a:r>
              <a:rPr lang="es-CR" sz="2000" dirty="0" smtClean="0">
                <a:latin typeface="Times New Roman"/>
                <a:cs typeface="Times New Roman"/>
              </a:rPr>
              <a:t>=0.05</a:t>
            </a:r>
            <a:endParaRPr lang="es-CR" sz="2000" dirty="0" smtClean="0"/>
          </a:p>
        </p:txBody>
      </p:sp>
      <p:sp>
        <p:nvSpPr>
          <p:cNvPr id="4" name="1 Título"/>
          <p:cNvSpPr>
            <a:spLocks noGrp="1"/>
          </p:cNvSpPr>
          <p:nvPr>
            <p:ph type="title"/>
          </p:nvPr>
        </p:nvSpPr>
        <p:spPr>
          <a:xfrm>
            <a:off x="539552" y="188640"/>
            <a:ext cx="7772400" cy="634082"/>
          </a:xfrm>
        </p:spPr>
        <p:txBody>
          <a:bodyPr>
            <a:normAutofit/>
          </a:bodyPr>
          <a:lstStyle/>
          <a:p>
            <a:pPr algn="ctr"/>
            <a:r>
              <a:rPr lang="es-CR" sz="3200" dirty="0" smtClean="0"/>
              <a:t>Ejercicio de práctica</a:t>
            </a:r>
            <a:endParaRPr lang="es-CR" sz="3200" dirty="0"/>
          </a:p>
        </p:txBody>
      </p:sp>
      <p:pic>
        <p:nvPicPr>
          <p:cNvPr id="2050" name="Picture 2" descr="http://deneux.svt.free.fr/images/divers/correction.jpg"/>
          <p:cNvPicPr>
            <a:picLocks noChangeAspect="1" noChangeArrowheads="1"/>
          </p:cNvPicPr>
          <p:nvPr/>
        </p:nvPicPr>
        <p:blipFill rotWithShape="1">
          <a:blip r:embed="rId2">
            <a:extLst>
              <a:ext uri="{28A0092B-C50C-407E-A947-70E740481C1C}">
                <a14:useLocalDpi xmlns:a14="http://schemas.microsoft.com/office/drawing/2010/main" val="0"/>
              </a:ext>
            </a:extLst>
          </a:blip>
          <a:srcRect l="11120" t="11557" r="8071" b="7461"/>
          <a:stretch/>
        </p:blipFill>
        <p:spPr bwMode="auto">
          <a:xfrm>
            <a:off x="6660232" y="1268760"/>
            <a:ext cx="1817325" cy="20798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img.over-blog-kiwi.com/0/74/28/93/20141207/ob_01096f_6oozcfuzszkvvnvzgb-btoycg0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3861048"/>
            <a:ext cx="1872208" cy="2284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2012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0040" y="188640"/>
            <a:ext cx="7772400" cy="710952"/>
          </a:xfrm>
        </p:spPr>
        <p:txBody>
          <a:bodyPr/>
          <a:lstStyle/>
          <a:p>
            <a:pPr algn="ctr"/>
            <a:r>
              <a:rPr lang="es-CR" sz="2800" dirty="0" smtClean="0"/>
              <a:t>Conclusión</a:t>
            </a:r>
            <a:endParaRPr lang="es-CR" dirty="0"/>
          </a:p>
        </p:txBody>
      </p:sp>
      <p:sp>
        <p:nvSpPr>
          <p:cNvPr id="3" name="2 Marcador de contenido"/>
          <p:cNvSpPr>
            <a:spLocks noGrp="1"/>
          </p:cNvSpPr>
          <p:nvPr>
            <p:ph sz="quarter" idx="1"/>
          </p:nvPr>
        </p:nvSpPr>
        <p:spPr>
          <a:xfrm>
            <a:off x="179512" y="1196752"/>
            <a:ext cx="5688632" cy="5661248"/>
          </a:xfrm>
        </p:spPr>
        <p:txBody>
          <a:bodyPr>
            <a:normAutofit/>
          </a:bodyPr>
          <a:lstStyle/>
          <a:p>
            <a:pPr algn="just"/>
            <a:r>
              <a:rPr lang="es-CR" sz="1800" dirty="0" smtClean="0"/>
              <a:t>El presente capítulo abordó los principios de la regresión bivariada y el análisis de correlación.</a:t>
            </a:r>
          </a:p>
          <a:p>
            <a:pPr algn="just"/>
            <a:endParaRPr lang="es-CR" sz="1800" dirty="0"/>
          </a:p>
          <a:p>
            <a:pPr algn="just"/>
            <a:r>
              <a:rPr lang="es-CR" sz="1800" dirty="0" smtClean="0"/>
              <a:t>Dentro de los temas vistos en la metodología de un modelo de regresión bivariada se expusieron:</a:t>
            </a:r>
          </a:p>
          <a:p>
            <a:pPr algn="just"/>
            <a:endParaRPr lang="es-CR" sz="1800" dirty="0"/>
          </a:p>
          <a:p>
            <a:pPr marL="0" indent="0" algn="just">
              <a:buNone/>
            </a:pPr>
            <a:r>
              <a:rPr lang="es-CR" sz="1800" dirty="0" smtClean="0"/>
              <a:t>-La relación lógica entre las variables</a:t>
            </a:r>
          </a:p>
          <a:p>
            <a:pPr marL="0" indent="0" algn="just">
              <a:buNone/>
            </a:pPr>
            <a:r>
              <a:rPr lang="es-CR" sz="1800" dirty="0" smtClean="0"/>
              <a:t>-La estimación de la recta de mejor ajuste</a:t>
            </a:r>
          </a:p>
          <a:p>
            <a:pPr marL="0" indent="0" algn="just">
              <a:buNone/>
            </a:pPr>
            <a:r>
              <a:rPr lang="es-CR" sz="1800" dirty="0" smtClean="0"/>
              <a:t>-Prueba de hipótesis y la estimación de los estimadores de regresión.</a:t>
            </a:r>
          </a:p>
          <a:p>
            <a:pPr marL="0" indent="0" algn="just">
              <a:buNone/>
            </a:pPr>
            <a:endParaRPr lang="es-CR" sz="1800" dirty="0"/>
          </a:p>
          <a:p>
            <a:pPr algn="just"/>
            <a:r>
              <a:rPr lang="es-CR" sz="1800" dirty="0" smtClean="0"/>
              <a:t>El utilizar la regresión o la correlación debe de pasar ante todo sobre un marco conceptual de lo que se desea analizar: una relación simétrica o asimétrica de las variables.</a:t>
            </a:r>
          </a:p>
        </p:txBody>
      </p:sp>
      <p:pic>
        <p:nvPicPr>
          <p:cNvPr id="94210" name="Picture 2" descr="http://www.ka-net.org.uk/files/images/learning_support-log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821" b="16664"/>
          <a:stretch/>
        </p:blipFill>
        <p:spPr bwMode="auto">
          <a:xfrm>
            <a:off x="6300192" y="3573016"/>
            <a:ext cx="2448272" cy="2592288"/>
          </a:xfrm>
          <a:prstGeom prst="rect">
            <a:avLst/>
          </a:prstGeom>
          <a:noFill/>
          <a:extLst>
            <a:ext uri="{909E8E84-426E-40DD-AFC4-6F175D3DCCD1}">
              <a14:hiddenFill xmlns:a14="http://schemas.microsoft.com/office/drawing/2010/main">
                <a:solidFill>
                  <a:srgbClr val="FFFFFF"/>
                </a:solidFill>
              </a14:hiddenFill>
            </a:ext>
          </a:extLst>
        </p:spPr>
      </p:pic>
      <p:pic>
        <p:nvPicPr>
          <p:cNvPr id="94214" name="Picture 6" descr="https://encrypted-tbn1.gstatic.com/images?q=tbn:ANd9GcRa3WYAC2b95wzywWAfqRJwWF7BkQDpUtmbLlqoqvb-OWnZxva39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397" y="1268760"/>
            <a:ext cx="2705100"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873642"/>
      </p:ext>
    </p:extLst>
  </p:cSld>
  <p:clrMapOvr>
    <a:masterClrMapping/>
  </p:clrMapOvr>
  <p:transition spd="slow">
    <p:randomBar dir="ver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2.bp.blogspot.com/_l2oFLpsvMhc/RveAYgMqnQI/AAAAAAAAAII/I2Fp0nyNDhw/s400/20070326114706-fin.jpg"/>
          <p:cNvPicPr>
            <a:picLocks noChangeAspect="1" noChangeArrowheads="1"/>
          </p:cNvPicPr>
          <p:nvPr/>
        </p:nvPicPr>
        <p:blipFill>
          <a:blip r:embed="rId2" cstate="print"/>
          <a:srcRect/>
          <a:stretch>
            <a:fillRect/>
          </a:stretch>
        </p:blipFill>
        <p:spPr bwMode="auto">
          <a:xfrm>
            <a:off x="-1" y="0"/>
            <a:ext cx="9144001" cy="6929462"/>
          </a:xfrm>
          <a:prstGeom prst="rect">
            <a:avLst/>
          </a:prstGeom>
          <a:noFill/>
        </p:spPr>
      </p:pic>
    </p:spTree>
  </p:cSld>
  <p:clrMapOvr>
    <a:masterClrMapping/>
  </p:clrMapOvr>
  <p:transition>
    <p:fade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7257</TotalTime>
  <Words>5228</Words>
  <Application>Microsoft Office PowerPoint</Application>
  <PresentationFormat>Presentación en pantalla (4:3)</PresentationFormat>
  <Paragraphs>829</Paragraphs>
  <Slides>71</Slides>
  <Notes>2</Notes>
  <HiddenSlides>0</HiddenSlides>
  <MMClips>0</MMClips>
  <ScaleCrop>false</ScaleCrop>
  <HeadingPairs>
    <vt:vector size="4" baseType="variant">
      <vt:variant>
        <vt:lpstr>Tema</vt:lpstr>
      </vt:variant>
      <vt:variant>
        <vt:i4>1</vt:i4>
      </vt:variant>
      <vt:variant>
        <vt:lpstr>Títulos de diapositiva</vt:lpstr>
      </vt:variant>
      <vt:variant>
        <vt:i4>71</vt:i4>
      </vt:variant>
    </vt:vector>
  </HeadingPairs>
  <TitlesOfParts>
    <vt:vector size="72" baseType="lpstr">
      <vt:lpstr>Equidad</vt:lpstr>
      <vt:lpstr>Presentación de PowerPoint</vt:lpstr>
      <vt:lpstr>Introducción</vt:lpstr>
      <vt:lpstr>Índice</vt:lpstr>
      <vt:lpstr>Relaciones: simétrica vs asimétrica</vt:lpstr>
      <vt:lpstr>Relaciones: simétrica vs asimétrica</vt:lpstr>
      <vt:lpstr>Relaciones: simétrica vs asimétrica</vt:lpstr>
      <vt:lpstr>Relaciones: simétrica vs asimétrica</vt:lpstr>
      <vt:lpstr>Índice</vt:lpstr>
      <vt:lpstr>Análisis de correlación</vt:lpstr>
      <vt:lpstr>Análisis de correlación</vt:lpstr>
      <vt:lpstr>Análisis de correlación</vt:lpstr>
      <vt:lpstr>Análisis de correlación</vt:lpstr>
      <vt:lpstr>Análisis de correlación</vt:lpstr>
      <vt:lpstr>Análisis de correlación</vt:lpstr>
      <vt:lpstr>Análisis de correlación</vt:lpstr>
      <vt:lpstr>Análisis de correlación</vt:lpstr>
      <vt:lpstr>Índice</vt:lpstr>
      <vt:lpstr>¿De dónde surge la regresión?</vt:lpstr>
      <vt:lpstr>Regresión bivariada y regresión multivariada</vt:lpstr>
      <vt:lpstr>Índice</vt:lpstr>
      <vt:lpstr>Etapas de un modelo de regresión bivariado</vt:lpstr>
      <vt:lpstr>Relaciones entre las variables: e principio de la regresión </vt:lpstr>
      <vt:lpstr>Presentación de PowerPoint</vt:lpstr>
      <vt:lpstr>Presentación de PowerPoint</vt:lpstr>
      <vt:lpstr>El principio de la regresión : dependencia e independencia</vt:lpstr>
      <vt:lpstr>Presentación de PowerPoint</vt:lpstr>
      <vt:lpstr>Presentación de PowerPoint</vt:lpstr>
      <vt:lpstr>Presentación de PowerPoint</vt:lpstr>
      <vt:lpstr>Índice</vt:lpstr>
      <vt:lpstr>Determinación del modelo de regresión : concepto</vt:lpstr>
      <vt:lpstr>Determinación del modelo de regresión : concepto</vt:lpstr>
      <vt:lpstr>Determinación del modelo de regresión: ejemplo</vt:lpstr>
      <vt:lpstr>Determinación del modelo de regresión : concepto</vt:lpstr>
      <vt:lpstr>Determinación del modelo de regresión: matemática vs estadística</vt:lpstr>
      <vt:lpstr>Modelo matemático o determinístico</vt:lpstr>
      <vt:lpstr>Modelo matemático o determinístico</vt:lpstr>
      <vt:lpstr>Modelos estocástico o estadístico</vt:lpstr>
      <vt:lpstr>Modelos estocástico o estadístico</vt:lpstr>
      <vt:lpstr>Modelos estocástico o estadístico</vt:lpstr>
      <vt:lpstr>Modelos estocástico o estadístico</vt:lpstr>
      <vt:lpstr>Determinación del modelo de regresión</vt:lpstr>
      <vt:lpstr>Estimación: recta de mejor ajuste.</vt:lpstr>
      <vt:lpstr>Estimación: recta de mejor ajuste.</vt:lpstr>
      <vt:lpstr>Estimación de la recta de mejor ajuste</vt:lpstr>
      <vt:lpstr>Estimación de la recta de mejor ajuste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Índice</vt:lpstr>
      <vt:lpstr>Estimación y prueba de hipótesis</vt:lpstr>
      <vt:lpstr>Estimación y prueba de hipótesis</vt:lpstr>
      <vt:lpstr>Estimación y prueba de hipótesis : recordatorio</vt:lpstr>
      <vt:lpstr>Presentación de PowerPoint</vt:lpstr>
      <vt:lpstr>Estimación y prueba de hipótesis : ρ </vt:lpstr>
      <vt:lpstr>Estimación y prueba de hipótesis : ρ </vt:lpstr>
      <vt:lpstr>Estimación y prueba de hipótesis : β </vt:lpstr>
      <vt:lpstr>Estimación y prueba de hipótesis : β</vt:lpstr>
      <vt:lpstr>Estimación y prueba de hipótesis : β</vt:lpstr>
      <vt:lpstr>Estimación y prueba de hipótesis : β</vt:lpstr>
      <vt:lpstr>Estimación y prueba de hipótesis : β</vt:lpstr>
      <vt:lpstr>Estimación y prueba de hipótesis</vt:lpstr>
      <vt:lpstr>Ejercicio de práctica</vt:lpstr>
      <vt:lpstr>Ejercicio de práctica</vt:lpstr>
      <vt:lpstr>Conclusión</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Regresión Bivariada</dc:title>
  <dc:creator>Oscar</dc:creator>
  <cp:lastModifiedBy>Oscar Centeno Mora</cp:lastModifiedBy>
  <cp:revision>538</cp:revision>
  <dcterms:created xsi:type="dcterms:W3CDTF">2010-03-25T04:23:00Z</dcterms:created>
  <dcterms:modified xsi:type="dcterms:W3CDTF">2016-05-03T22:08:44Z</dcterms:modified>
</cp:coreProperties>
</file>