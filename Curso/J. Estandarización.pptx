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76" r:id="rId21"/>
    <p:sldId id="271" r:id="rId2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>
      <p:cViewPr varScale="1">
        <p:scale>
          <a:sx n="69" d="100"/>
          <a:sy n="69" d="100"/>
        </p:scale>
        <p:origin x="-13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20/10/2015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714612" y="5429264"/>
            <a:ext cx="6400800" cy="928694"/>
          </a:xfrm>
        </p:spPr>
        <p:txBody>
          <a:bodyPr>
            <a:normAutofit/>
          </a:bodyPr>
          <a:lstStyle/>
          <a:p>
            <a:pPr algn="r"/>
            <a:r>
              <a:rPr lang="es-CR" sz="5400" dirty="0" smtClean="0"/>
              <a:t>Oscar Centeno Mora</a:t>
            </a:r>
            <a:endParaRPr lang="es-CR" sz="5400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R" sz="7200" dirty="0" smtClean="0"/>
              <a:t>La estandarización</a:t>
            </a:r>
            <a:endParaRPr lang="es-CR" sz="72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Introducción</a:t>
            </a:r>
            <a:endParaRPr lang="es-C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500174"/>
            <a:ext cx="8286808" cy="5072098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Finalmente, el capítulo de “Probabilidades”, “Medidas de Tendencia”, “Variabilidad” y “La curva normal y normal estándar” se unen para llevar a cabo la estandarización.</a:t>
            </a:r>
          </a:p>
          <a:p>
            <a:endParaRPr lang="es-CR" dirty="0" smtClean="0"/>
          </a:p>
          <a:p>
            <a:r>
              <a:rPr lang="es-CR" dirty="0" smtClean="0"/>
              <a:t>Supongamos el siguiente caso: queremos averiguar, para una población determinada, cuál sería la probabilidad de encontrar a una persona con una presión diastólica superior a 120, sabiendo de ante mano  que, los datos se distribuyen normalmente, y que además los datos arrojaron el siguiente resultado: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µ = 105         </a:t>
            </a:r>
          </a:p>
          <a:p>
            <a:pPr>
              <a:buNone/>
            </a:pPr>
            <a:r>
              <a:rPr lang="es-CR" dirty="0" smtClean="0"/>
              <a:t>σ = 10                                 ¿Cómo averiguamos este hecho?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1428736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es-CR" dirty="0" smtClean="0"/>
              <a:t>Curva normal, definida por:</a:t>
            </a:r>
          </a:p>
          <a:p>
            <a:pPr>
              <a:buNone/>
            </a:pPr>
            <a:r>
              <a:rPr lang="es-CR" dirty="0" smtClean="0"/>
              <a:t>-µ</a:t>
            </a:r>
          </a:p>
          <a:p>
            <a:pPr>
              <a:buNone/>
            </a:pPr>
            <a:r>
              <a:rPr lang="es-CR" dirty="0" smtClean="0">
                <a:latin typeface="Calibri"/>
                <a:cs typeface="Calibri"/>
              </a:rPr>
              <a:t>-</a:t>
            </a:r>
            <a:r>
              <a:rPr lang="el-GR" dirty="0" smtClean="0">
                <a:latin typeface="Calibri"/>
                <a:cs typeface="Calibri"/>
              </a:rPr>
              <a:t>σ</a:t>
            </a:r>
            <a:endParaRPr lang="es-CR" dirty="0" smtClean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000240"/>
            <a:ext cx="7429552" cy="4731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Introducción</a:t>
            </a:r>
            <a:endParaRPr lang="es-CR" sz="4400" dirty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43504" y="5922836"/>
            <a:ext cx="285752" cy="649436"/>
          </a:xfrm>
          <a:prstGeom prst="rect">
            <a:avLst/>
          </a:prstGeom>
          <a:noFill/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5008" y="6072206"/>
            <a:ext cx="1005847" cy="571504"/>
          </a:xfrm>
          <a:prstGeom prst="rect">
            <a:avLst/>
          </a:prstGeom>
          <a:noFill/>
        </p:spPr>
      </p:pic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80467" y="6072206"/>
            <a:ext cx="1005847" cy="571504"/>
          </a:xfrm>
          <a:prstGeom prst="rect">
            <a:avLst/>
          </a:prstGeom>
          <a:noFill/>
        </p:spPr>
      </p:pic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43755" y="6000768"/>
            <a:ext cx="1100145" cy="500066"/>
          </a:xfrm>
          <a:prstGeom prst="rect">
            <a:avLst/>
          </a:prstGeom>
          <a:noFill/>
        </p:spPr>
      </p:pic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0298" y="6072206"/>
            <a:ext cx="1100145" cy="50006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571612"/>
            <a:ext cx="7772400" cy="4572000"/>
          </a:xfrm>
        </p:spPr>
        <p:txBody>
          <a:bodyPr/>
          <a:lstStyle/>
          <a:p>
            <a:r>
              <a:rPr lang="es-CR" dirty="0" smtClean="0"/>
              <a:t>En nuestro caso:</a:t>
            </a:r>
          </a:p>
          <a:p>
            <a:pPr>
              <a:buNone/>
            </a:pPr>
            <a:r>
              <a:rPr lang="es-CR" dirty="0" smtClean="0"/>
              <a:t>µ = 105         </a:t>
            </a:r>
          </a:p>
          <a:p>
            <a:pPr>
              <a:buNone/>
            </a:pPr>
            <a:r>
              <a:rPr lang="es-CR" dirty="0" smtClean="0"/>
              <a:t>σ = 10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Introducción</a:t>
            </a:r>
            <a:endParaRPr lang="es-CR" sz="4800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928934"/>
            <a:ext cx="6728643" cy="358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00826" y="1000108"/>
            <a:ext cx="2351056" cy="1071570"/>
          </a:xfrm>
          <a:prstGeom prst="rect">
            <a:avLst/>
          </a:prstGeom>
          <a:noFill/>
        </p:spPr>
      </p:pic>
      <p:cxnSp>
        <p:nvCxnSpPr>
          <p:cNvPr id="15" name="14 Conector recto de flecha"/>
          <p:cNvCxnSpPr/>
          <p:nvPr/>
        </p:nvCxnSpPr>
        <p:spPr>
          <a:xfrm rot="10800000" flipV="1">
            <a:off x="4143372" y="2000240"/>
            <a:ext cx="2143140" cy="18573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66130" y="6357958"/>
            <a:ext cx="620052" cy="500042"/>
          </a:xfrm>
          <a:prstGeom prst="rect">
            <a:avLst/>
          </a:prstGeom>
          <a:noFill/>
        </p:spPr>
      </p:pic>
      <p:sp>
        <p:nvSpPr>
          <p:cNvPr id="19" name="18 Cerrar llave"/>
          <p:cNvSpPr/>
          <p:nvPr/>
        </p:nvSpPr>
        <p:spPr>
          <a:xfrm rot="16200000">
            <a:off x="2786049" y="5500703"/>
            <a:ext cx="500066" cy="9286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5214950"/>
            <a:ext cx="357190" cy="42522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4" y="1357298"/>
            <a:ext cx="7772400" cy="5286412"/>
          </a:xfrm>
        </p:spPr>
        <p:txBody>
          <a:bodyPr/>
          <a:lstStyle/>
          <a:p>
            <a:pPr>
              <a:buNone/>
            </a:pPr>
            <a:r>
              <a:rPr lang="es-CR" dirty="0" smtClean="0"/>
              <a:t>De acuerdo al enunciado: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“… , cuál sería la probabilidad de encontrar a una persona con una presión diastólica superior a 120…”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-Además, recolectados todos los datos sabemos que: </a:t>
            </a:r>
          </a:p>
          <a:p>
            <a:pPr>
              <a:buNone/>
            </a:pPr>
            <a:r>
              <a:rPr lang="es-CR" dirty="0" smtClean="0"/>
              <a:t>µ = 105         </a:t>
            </a:r>
          </a:p>
          <a:p>
            <a:pPr>
              <a:buNone/>
            </a:pPr>
            <a:r>
              <a:rPr lang="es-CR" dirty="0" smtClean="0"/>
              <a:t>σ = 10</a:t>
            </a:r>
          </a:p>
          <a:p>
            <a:pPr algn="ctr">
              <a:buNone/>
            </a:pPr>
            <a:r>
              <a:rPr lang="es-CR" sz="4800" dirty="0" smtClean="0"/>
              <a:t>¿Cómo se calcula está probabilidad?</a:t>
            </a:r>
          </a:p>
          <a:p>
            <a:pPr>
              <a:buNone/>
            </a:pPr>
            <a:endParaRPr lang="es-CR" dirty="0" smtClean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Introducción</a:t>
            </a:r>
            <a:endParaRPr lang="es-CR" sz="44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12290" name="Picture 2" descr="http://www.celulais.com/wp-content/uploads/2009/06/pregunt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2307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86808" cy="1143000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La curva normal estándar </a:t>
            </a:r>
            <a:r>
              <a:rPr lang="es-CR" dirty="0" smtClean="0">
                <a:sym typeface="Wingdings" pitchFamily="2" charset="2"/>
              </a:rPr>
              <a:t> N(0,1)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357298"/>
            <a:ext cx="7929618" cy="5143536"/>
          </a:xfrm>
        </p:spPr>
        <p:txBody>
          <a:bodyPr/>
          <a:lstStyle/>
          <a:p>
            <a:r>
              <a:rPr lang="es-CR" dirty="0" smtClean="0"/>
              <a:t>Todos los ejercicios de probabilidades que realizamos anteriormente eran relativos a una curva normal con promedio de cero (</a:t>
            </a:r>
            <a:r>
              <a:rPr lang="es-ES" sz="2800" i="1" dirty="0" smtClean="0"/>
              <a:t>µ=0) </a:t>
            </a:r>
            <a:r>
              <a:rPr lang="es-CR" sz="2800" dirty="0" smtClean="0"/>
              <a:t>y desviación estándar de uno </a:t>
            </a:r>
          </a:p>
          <a:p>
            <a:pPr>
              <a:buNone/>
            </a:pPr>
            <a:r>
              <a:rPr lang="es-CR" sz="2800" dirty="0" smtClean="0"/>
              <a:t>    (</a:t>
            </a:r>
            <a:r>
              <a:rPr lang="es-CR" sz="2800" i="1" dirty="0" smtClean="0"/>
              <a:t>σ </a:t>
            </a:r>
            <a:r>
              <a:rPr lang="es-CR" sz="2800" dirty="0" smtClean="0"/>
              <a:t>=1)</a:t>
            </a:r>
          </a:p>
          <a:p>
            <a:pPr>
              <a:buNone/>
            </a:pPr>
            <a:endParaRPr lang="es-CR" sz="2800" dirty="0" smtClean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3571876"/>
            <a:ext cx="7000924" cy="282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8 CuadroTexto"/>
          <p:cNvSpPr txBox="1">
            <a:spLocks noChangeArrowheads="1"/>
          </p:cNvSpPr>
          <p:nvPr/>
        </p:nvSpPr>
        <p:spPr bwMode="auto">
          <a:xfrm>
            <a:off x="3500430" y="6429396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 smtClean="0"/>
              <a:t>3</a:t>
            </a:r>
            <a:endParaRPr lang="es-ES" i="1" dirty="0"/>
          </a:p>
        </p:txBody>
      </p:sp>
      <p:sp>
        <p:nvSpPr>
          <p:cNvPr id="6" name="19 CuadroTexto"/>
          <p:cNvSpPr txBox="1">
            <a:spLocks noChangeArrowheads="1"/>
          </p:cNvSpPr>
          <p:nvPr/>
        </p:nvSpPr>
        <p:spPr bwMode="auto">
          <a:xfrm>
            <a:off x="4500562" y="6429396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 smtClean="0"/>
              <a:t>4</a:t>
            </a:r>
            <a:endParaRPr lang="es-ES" i="1" dirty="0"/>
          </a:p>
        </p:txBody>
      </p:sp>
      <p:sp>
        <p:nvSpPr>
          <p:cNvPr id="7" name="20 CuadroTexto"/>
          <p:cNvSpPr txBox="1">
            <a:spLocks noChangeArrowheads="1"/>
          </p:cNvSpPr>
          <p:nvPr/>
        </p:nvSpPr>
        <p:spPr bwMode="auto">
          <a:xfrm>
            <a:off x="5429256" y="6429396"/>
            <a:ext cx="3571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ES" i="1" dirty="0" smtClean="0"/>
              <a:t>5</a:t>
            </a:r>
            <a:endParaRPr lang="es-ES" i="1" dirty="0"/>
          </a:p>
        </p:txBody>
      </p:sp>
      <p:sp>
        <p:nvSpPr>
          <p:cNvPr id="8" name="21 CuadroTexto"/>
          <p:cNvSpPr txBox="1">
            <a:spLocks noChangeArrowheads="1"/>
          </p:cNvSpPr>
          <p:nvPr/>
        </p:nvSpPr>
        <p:spPr bwMode="auto">
          <a:xfrm>
            <a:off x="2428860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 smtClean="0"/>
              <a:t>2</a:t>
            </a:r>
            <a:endParaRPr lang="es-ES" i="1" dirty="0"/>
          </a:p>
        </p:txBody>
      </p:sp>
      <p:sp>
        <p:nvSpPr>
          <p:cNvPr id="9" name="22 CuadroTexto"/>
          <p:cNvSpPr txBox="1">
            <a:spLocks noChangeArrowheads="1"/>
          </p:cNvSpPr>
          <p:nvPr/>
        </p:nvSpPr>
        <p:spPr bwMode="auto">
          <a:xfrm>
            <a:off x="1500166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 smtClean="0"/>
              <a:t>1</a:t>
            </a:r>
            <a:endParaRPr lang="es-ES" i="1" dirty="0"/>
          </a:p>
        </p:txBody>
      </p:sp>
      <p:sp>
        <p:nvSpPr>
          <p:cNvPr id="10" name="23 CuadroTexto"/>
          <p:cNvSpPr txBox="1">
            <a:spLocks noChangeArrowheads="1"/>
          </p:cNvSpPr>
          <p:nvPr/>
        </p:nvSpPr>
        <p:spPr bwMode="auto">
          <a:xfrm>
            <a:off x="500034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 smtClean="0"/>
              <a:t>0</a:t>
            </a:r>
            <a:endParaRPr lang="es-ES" i="1" dirty="0"/>
          </a:p>
        </p:txBody>
      </p:sp>
      <p:sp>
        <p:nvSpPr>
          <p:cNvPr id="11" name="24 CuadroTexto"/>
          <p:cNvSpPr txBox="1">
            <a:spLocks noChangeArrowheads="1"/>
          </p:cNvSpPr>
          <p:nvPr/>
        </p:nvSpPr>
        <p:spPr bwMode="auto">
          <a:xfrm>
            <a:off x="6286512" y="6429396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 smtClean="0"/>
              <a:t>6</a:t>
            </a:r>
            <a:endParaRPr lang="es-ES" i="1" dirty="0"/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17" name="16 Cerrar llave"/>
          <p:cNvSpPr/>
          <p:nvPr/>
        </p:nvSpPr>
        <p:spPr>
          <a:xfrm rot="16200000">
            <a:off x="3995936" y="5445224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17 CuadroTexto"/>
          <p:cNvSpPr txBox="1"/>
          <p:nvPr/>
        </p:nvSpPr>
        <p:spPr>
          <a:xfrm>
            <a:off x="3923928" y="53012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9" name="18 CuadroTexto"/>
          <p:cNvSpPr txBox="1"/>
          <p:nvPr/>
        </p:nvSpPr>
        <p:spPr>
          <a:xfrm>
            <a:off x="4788024" y="479715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N(3,1)</a:t>
            </a:r>
            <a:endParaRPr lang="es-CR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357298"/>
            <a:ext cx="7772400" cy="4572000"/>
          </a:xfrm>
        </p:spPr>
        <p:txBody>
          <a:bodyPr/>
          <a:lstStyle/>
          <a:p>
            <a:r>
              <a:rPr lang="es-CR" dirty="0" smtClean="0"/>
              <a:t>Entonces, si tenemos un problema de una  curva normal, según el enunciado, pero calculamos las probabilidades en una normal estándar: ¿qué tipo de transformación tenemos que hacer para calcular las probabilidades del enunciado en una normal estándar…?</a:t>
            </a:r>
            <a:endParaRPr lang="es-CR" dirty="0"/>
          </a:p>
        </p:txBody>
      </p:sp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86808" cy="1143000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La curva normal estándar </a:t>
            </a:r>
            <a:r>
              <a:rPr lang="es-CR" dirty="0" smtClean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69915" y="3286124"/>
            <a:ext cx="2211379" cy="1214446"/>
          </a:xfrm>
          <a:prstGeom prst="rect">
            <a:avLst/>
          </a:prstGeom>
          <a:noFill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5" y="3286124"/>
            <a:ext cx="2507793" cy="1143008"/>
          </a:xfrm>
          <a:prstGeom prst="rect">
            <a:avLst/>
          </a:prstGeom>
          <a:noFill/>
        </p:spPr>
      </p:pic>
      <p:cxnSp>
        <p:nvCxnSpPr>
          <p:cNvPr id="10" name="9 Conector recto de flecha"/>
          <p:cNvCxnSpPr/>
          <p:nvPr/>
        </p:nvCxnSpPr>
        <p:spPr>
          <a:xfrm>
            <a:off x="3357554" y="3857628"/>
            <a:ext cx="284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Flecha abajo"/>
          <p:cNvSpPr/>
          <p:nvPr/>
        </p:nvSpPr>
        <p:spPr>
          <a:xfrm>
            <a:off x="4357686" y="4214818"/>
            <a:ext cx="642942" cy="15001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11 Rectángulo"/>
          <p:cNvSpPr/>
          <p:nvPr/>
        </p:nvSpPr>
        <p:spPr>
          <a:xfrm>
            <a:off x="285720" y="4714884"/>
            <a:ext cx="2214578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Normal</a:t>
            </a:r>
            <a:endParaRPr lang="es-CR" sz="3600" dirty="0"/>
          </a:p>
        </p:txBody>
      </p:sp>
      <p:sp>
        <p:nvSpPr>
          <p:cNvPr id="13" name="12 Rectángulo"/>
          <p:cNvSpPr/>
          <p:nvPr/>
        </p:nvSpPr>
        <p:spPr>
          <a:xfrm>
            <a:off x="6500826" y="4714884"/>
            <a:ext cx="2357454" cy="107157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Normal Estándar</a:t>
            </a:r>
            <a:endParaRPr lang="es-CR" sz="3600" dirty="0"/>
          </a:p>
        </p:txBody>
      </p:sp>
      <p:sp>
        <p:nvSpPr>
          <p:cNvPr id="15" name="14 Rectángulo"/>
          <p:cNvSpPr/>
          <p:nvPr/>
        </p:nvSpPr>
        <p:spPr>
          <a:xfrm>
            <a:off x="3071802" y="5857892"/>
            <a:ext cx="3000396" cy="85725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Transformación</a:t>
            </a:r>
            <a:endParaRPr lang="es-CR" sz="3600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214414" y="1447800"/>
            <a:ext cx="7772400" cy="4572000"/>
          </a:xfrm>
        </p:spPr>
        <p:txBody>
          <a:bodyPr/>
          <a:lstStyle/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501122" cy="121442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La curva normal estándar </a:t>
            </a:r>
            <a:r>
              <a:rPr lang="es-CR" dirty="0" smtClean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4586262" y="3714752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5443518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6443650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2σ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3443254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2514560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7 CuadroTexto"/>
          <p:cNvSpPr txBox="1">
            <a:spLocks noChangeArrowheads="1"/>
          </p:cNvSpPr>
          <p:nvPr/>
        </p:nvSpPr>
        <p:spPr bwMode="auto">
          <a:xfrm>
            <a:off x="4286248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0</a:t>
            </a:r>
            <a:endParaRPr lang="es-CR" dirty="0"/>
          </a:p>
        </p:txBody>
      </p:sp>
      <p:sp>
        <p:nvSpPr>
          <p:cNvPr id="13" name="13 CuadroTexto"/>
          <p:cNvSpPr txBox="1">
            <a:spLocks noChangeArrowheads="1"/>
          </p:cNvSpPr>
          <p:nvPr/>
        </p:nvSpPr>
        <p:spPr bwMode="auto">
          <a:xfrm>
            <a:off x="5143504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</a:t>
            </a:r>
            <a:endParaRPr lang="es-CR" dirty="0"/>
          </a:p>
        </p:txBody>
      </p:sp>
      <p:sp>
        <p:nvSpPr>
          <p:cNvPr id="14" name="14 CuadroTexto"/>
          <p:cNvSpPr txBox="1">
            <a:spLocks noChangeArrowheads="1"/>
          </p:cNvSpPr>
          <p:nvPr/>
        </p:nvSpPr>
        <p:spPr bwMode="auto">
          <a:xfrm>
            <a:off x="6143636" y="648813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2</a:t>
            </a:r>
            <a:endParaRPr lang="es-CR" dirty="0"/>
          </a:p>
        </p:txBody>
      </p:sp>
      <p:sp>
        <p:nvSpPr>
          <p:cNvPr id="15" name="15 CuadroTexto"/>
          <p:cNvSpPr txBox="1">
            <a:spLocks noChangeArrowheads="1"/>
          </p:cNvSpPr>
          <p:nvPr/>
        </p:nvSpPr>
        <p:spPr bwMode="auto">
          <a:xfrm>
            <a:off x="3143240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-1</a:t>
            </a:r>
            <a:endParaRPr lang="es-CR" dirty="0"/>
          </a:p>
        </p:txBody>
      </p:sp>
      <p:sp>
        <p:nvSpPr>
          <p:cNvPr id="16" name="16 CuadroTexto"/>
          <p:cNvSpPr txBox="1">
            <a:spLocks noChangeArrowheads="1"/>
          </p:cNvSpPr>
          <p:nvPr/>
        </p:nvSpPr>
        <p:spPr bwMode="auto">
          <a:xfrm>
            <a:off x="2214546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-2</a:t>
            </a:r>
            <a:endParaRPr lang="es-CR" dirty="0"/>
          </a:p>
        </p:txBody>
      </p:sp>
      <p:cxnSp>
        <p:nvCxnSpPr>
          <p:cNvPr id="18" name="17 Conector recto"/>
          <p:cNvCxnSpPr/>
          <p:nvPr/>
        </p:nvCxnSpPr>
        <p:spPr>
          <a:xfrm rot="5400000">
            <a:off x="5407799" y="3250405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4050477" y="4679165"/>
            <a:ext cx="3500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5800708" y="3143248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5800708" y="3286124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5800708" y="3429000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5800708" y="350043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5800708" y="3357562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5800708" y="3214686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5800708" y="3071810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5800708" y="585789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5800708" y="5929330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5800708" y="6000768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5800708" y="6143644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5800708" y="607220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5800708" y="6215082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800708" y="6286520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5800708" y="635795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800708" y="3571876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Rectángulo"/>
          <p:cNvSpPr/>
          <p:nvPr/>
        </p:nvSpPr>
        <p:spPr>
          <a:xfrm>
            <a:off x="71406" y="1571612"/>
            <a:ext cx="1071570" cy="49292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En valor de la proba-</a:t>
            </a:r>
          </a:p>
          <a:p>
            <a:pPr algn="ctr"/>
            <a:r>
              <a:rPr lang="es-CR" sz="2800" dirty="0" err="1" smtClean="0"/>
              <a:t>bilidad</a:t>
            </a:r>
            <a:r>
              <a:rPr lang="es-CR" sz="2800" dirty="0" smtClean="0"/>
              <a:t>, es exactamente lo mismo</a:t>
            </a:r>
            <a:endParaRPr lang="es-CR" sz="28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Estandarización</a:t>
            </a:r>
            <a:endParaRPr lang="es-C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501122" cy="5214974"/>
          </a:xfrm>
        </p:spPr>
        <p:txBody>
          <a:bodyPr/>
          <a:lstStyle/>
          <a:p>
            <a:r>
              <a:rPr lang="es-CR" dirty="0" smtClean="0"/>
              <a:t>Para pasar de una “curva normal” a una “normal estándar”, y poder hacer el cálculo de probabilidades, debemos estandarizar.</a:t>
            </a:r>
          </a:p>
          <a:p>
            <a:endParaRPr lang="es-CR" dirty="0" smtClean="0"/>
          </a:p>
          <a:p>
            <a:r>
              <a:rPr lang="es-CR" dirty="0" smtClean="0"/>
              <a:t>Estandarizar una curva normal es transformarla de manera que su media sea </a:t>
            </a:r>
            <a:r>
              <a:rPr lang="es-CR" i="1" dirty="0" smtClean="0"/>
              <a:t>cero</a:t>
            </a:r>
            <a:r>
              <a:rPr lang="es-CR" dirty="0" smtClean="0"/>
              <a:t> y su desviación estándar sea </a:t>
            </a:r>
            <a:r>
              <a:rPr lang="es-CR" i="1" dirty="0" smtClean="0"/>
              <a:t>uno</a:t>
            </a:r>
            <a:r>
              <a:rPr lang="es-CR" dirty="0" smtClean="0"/>
              <a:t>. Esto se logra restando a la variable </a:t>
            </a:r>
            <a:r>
              <a:rPr lang="es-CR" i="1" dirty="0" smtClean="0"/>
              <a:t>x</a:t>
            </a:r>
            <a:r>
              <a:rPr lang="es-CR" dirty="0" smtClean="0"/>
              <a:t> su promedio (µ) y dividiendo la diferencia entre su desviación estándar (</a:t>
            </a:r>
            <a:r>
              <a:rPr lang="es-CR" sz="2400" i="1" dirty="0" smtClean="0"/>
              <a:t>σ</a:t>
            </a:r>
            <a:r>
              <a:rPr lang="es-CR" dirty="0" smtClean="0"/>
              <a:t>) .</a:t>
            </a:r>
          </a:p>
          <a:p>
            <a:endParaRPr lang="es-CR" i="1" dirty="0" smtClean="0"/>
          </a:p>
          <a:p>
            <a:r>
              <a:rPr lang="es-CR" dirty="0" smtClean="0"/>
              <a:t>La expresión numérica para la estandarización es:</a:t>
            </a:r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endParaRPr lang="es-CR" dirty="0" smtClean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500034" y="5286388"/>
            <a:ext cx="5572164" cy="12858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    Z = </a:t>
            </a:r>
            <a:r>
              <a:rPr lang="es-CR" sz="3600" u="sng" dirty="0" smtClean="0"/>
              <a:t>x-µ </a:t>
            </a:r>
            <a:r>
              <a:rPr lang="es-CR" sz="3600" dirty="0" smtClean="0"/>
              <a:t>      </a:t>
            </a:r>
            <a:r>
              <a:rPr lang="es-CR" sz="3600" u="sng" dirty="0" smtClean="0"/>
              <a:t>       </a:t>
            </a:r>
            <a:endParaRPr lang="es-CR" sz="3600" dirty="0" smtClean="0"/>
          </a:p>
          <a:p>
            <a:r>
              <a:rPr lang="es-CR" sz="3600" dirty="0" smtClean="0"/>
              <a:t>                               </a:t>
            </a:r>
            <a:r>
              <a:rPr lang="el-GR" sz="3600" dirty="0" smtClean="0">
                <a:latin typeface="Calibri"/>
                <a:cs typeface="Calibri"/>
              </a:rPr>
              <a:t>σ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286512" y="5214950"/>
            <a:ext cx="571504" cy="135732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7072330" y="5286388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 smtClean="0"/>
              <a:t>N (0,1)</a:t>
            </a:r>
            <a:endParaRPr lang="es-CR" sz="4800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4572000"/>
          </a:xfrm>
        </p:spPr>
        <p:txBody>
          <a:bodyPr/>
          <a:lstStyle/>
          <a:p>
            <a:r>
              <a:rPr lang="es-CR" dirty="0" smtClean="0"/>
              <a:t>En general, si la variable en cuestión tiene una distribución normal,  con media µ  y desviación estándar </a:t>
            </a:r>
            <a:r>
              <a:rPr lang="es-CR" sz="2400" dirty="0" smtClean="0"/>
              <a:t>σ, basta con hacer el proceso anterior con el valor de interés “a”, para obtener una probabilidad.</a:t>
            </a:r>
          </a:p>
          <a:p>
            <a:endParaRPr lang="es-CR" sz="2400" dirty="0" smtClean="0"/>
          </a:p>
          <a:p>
            <a:r>
              <a:rPr lang="es-CR" sz="2400" dirty="0" smtClean="0"/>
              <a:t>La estandarización es un proceso muy simple, pero muy importante, que permite resolver problemas  para cualquier curva normal trasladándolos, por medio de una sencilla transformación algebraica , a la normal estándar.</a:t>
            </a:r>
          </a:p>
          <a:p>
            <a:endParaRPr lang="es-CR" sz="2400" dirty="0" smtClean="0"/>
          </a:p>
          <a:p>
            <a:r>
              <a:rPr lang="es-CR" sz="2400" dirty="0" smtClean="0"/>
              <a:t>Matemáticamente se define como:</a:t>
            </a:r>
          </a:p>
          <a:p>
            <a:endParaRPr lang="es-CR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Estandarización</a:t>
            </a:r>
            <a:endParaRPr lang="es-CR" sz="4400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5786453"/>
            <a:ext cx="7500990" cy="814061"/>
          </a:xfrm>
          <a:prstGeom prst="rect">
            <a:avLst/>
          </a:prstGeom>
          <a:noFill/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214290"/>
            <a:ext cx="7772400" cy="1143000"/>
          </a:xfrm>
        </p:spPr>
        <p:txBody>
          <a:bodyPr/>
          <a:lstStyle/>
          <a:p>
            <a:r>
              <a:rPr lang="es-CR" dirty="0" smtClean="0"/>
              <a:t>Nuestro ejemplo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3714744" y="3714752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 smtClean="0"/>
              <a:t>105</a:t>
            </a:r>
            <a:endParaRPr lang="es-CR" dirty="0"/>
          </a:p>
        </p:txBody>
      </p:sp>
      <p:sp>
        <p:nvSpPr>
          <p:cNvPr id="6" name="13 CuadroTexto"/>
          <p:cNvSpPr txBox="1">
            <a:spLocks noChangeArrowheads="1"/>
          </p:cNvSpPr>
          <p:nvPr/>
        </p:nvSpPr>
        <p:spPr bwMode="auto">
          <a:xfrm>
            <a:off x="4714876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115</a:t>
            </a:r>
            <a:endParaRPr lang="es-CR" dirty="0"/>
          </a:p>
        </p:txBody>
      </p:sp>
      <p:sp>
        <p:nvSpPr>
          <p:cNvPr id="7" name="14 CuadroTexto"/>
          <p:cNvSpPr txBox="1">
            <a:spLocks noChangeArrowheads="1"/>
          </p:cNvSpPr>
          <p:nvPr/>
        </p:nvSpPr>
        <p:spPr bwMode="auto">
          <a:xfrm>
            <a:off x="5715008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125</a:t>
            </a:r>
            <a:endParaRPr lang="es-CR" dirty="0"/>
          </a:p>
        </p:txBody>
      </p:sp>
      <p:sp>
        <p:nvSpPr>
          <p:cNvPr id="8" name="15 CuadroTexto"/>
          <p:cNvSpPr txBox="1">
            <a:spLocks noChangeArrowheads="1"/>
          </p:cNvSpPr>
          <p:nvPr/>
        </p:nvSpPr>
        <p:spPr bwMode="auto">
          <a:xfrm>
            <a:off x="2714612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9" name="16 CuadroTexto"/>
          <p:cNvSpPr txBox="1">
            <a:spLocks noChangeArrowheads="1"/>
          </p:cNvSpPr>
          <p:nvPr/>
        </p:nvSpPr>
        <p:spPr bwMode="auto">
          <a:xfrm>
            <a:off x="1785918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7 CuadroTexto"/>
          <p:cNvSpPr txBox="1">
            <a:spLocks noChangeArrowheads="1"/>
          </p:cNvSpPr>
          <p:nvPr/>
        </p:nvSpPr>
        <p:spPr bwMode="auto">
          <a:xfrm>
            <a:off x="3557606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0</a:t>
            </a:r>
            <a:endParaRPr lang="es-CR" dirty="0"/>
          </a:p>
        </p:txBody>
      </p:sp>
      <p:sp>
        <p:nvSpPr>
          <p:cNvPr id="12" name="13 CuadroTexto"/>
          <p:cNvSpPr txBox="1">
            <a:spLocks noChangeArrowheads="1"/>
          </p:cNvSpPr>
          <p:nvPr/>
        </p:nvSpPr>
        <p:spPr bwMode="auto">
          <a:xfrm>
            <a:off x="4714876" y="648811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</a:t>
            </a:r>
            <a:endParaRPr lang="es-CR" dirty="0"/>
          </a:p>
        </p:txBody>
      </p:sp>
      <p:sp>
        <p:nvSpPr>
          <p:cNvPr id="13" name="15 CuadroTexto"/>
          <p:cNvSpPr txBox="1">
            <a:spLocks noChangeArrowheads="1"/>
          </p:cNvSpPr>
          <p:nvPr/>
        </p:nvSpPr>
        <p:spPr bwMode="auto">
          <a:xfrm>
            <a:off x="2414598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-1</a:t>
            </a:r>
            <a:endParaRPr lang="es-CR" dirty="0"/>
          </a:p>
        </p:txBody>
      </p:sp>
      <p:sp>
        <p:nvSpPr>
          <p:cNvPr id="14" name="16 CuadroTexto"/>
          <p:cNvSpPr txBox="1">
            <a:spLocks noChangeArrowheads="1"/>
          </p:cNvSpPr>
          <p:nvPr/>
        </p:nvSpPr>
        <p:spPr bwMode="auto">
          <a:xfrm>
            <a:off x="1485904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-2</a:t>
            </a:r>
            <a:endParaRPr lang="es-CR" dirty="0"/>
          </a:p>
        </p:txBody>
      </p:sp>
      <p:cxnSp>
        <p:nvCxnSpPr>
          <p:cNvPr id="16" name="15 Conector recto"/>
          <p:cNvCxnSpPr/>
          <p:nvPr/>
        </p:nvCxnSpPr>
        <p:spPr>
          <a:xfrm rot="5400000">
            <a:off x="3929058" y="4857760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13 CuadroTexto"/>
          <p:cNvSpPr txBox="1">
            <a:spLocks noChangeArrowheads="1"/>
          </p:cNvSpPr>
          <p:nvPr/>
        </p:nvSpPr>
        <p:spPr bwMode="auto">
          <a:xfrm>
            <a:off x="5715013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2</a:t>
            </a:r>
            <a:endParaRPr lang="es-CR" dirty="0"/>
          </a:p>
        </p:txBody>
      </p:sp>
      <p:sp>
        <p:nvSpPr>
          <p:cNvPr id="36" name="35 Rectángulo"/>
          <p:cNvSpPr/>
          <p:nvPr/>
        </p:nvSpPr>
        <p:spPr>
          <a:xfrm>
            <a:off x="5857884" y="228599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120</a:t>
            </a:r>
            <a:endParaRPr lang="es-CR" dirty="0"/>
          </a:p>
        </p:txBody>
      </p:sp>
      <p:cxnSp>
        <p:nvCxnSpPr>
          <p:cNvPr id="40" name="39 Conector recto de flecha"/>
          <p:cNvCxnSpPr/>
          <p:nvPr/>
        </p:nvCxnSpPr>
        <p:spPr>
          <a:xfrm rot="5400000">
            <a:off x="5464975" y="2893215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Rectángulo"/>
          <p:cNvSpPr/>
          <p:nvPr/>
        </p:nvSpPr>
        <p:spPr>
          <a:xfrm>
            <a:off x="5929322" y="500063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cxnSp>
        <p:nvCxnSpPr>
          <p:cNvPr id="42" name="41 Conector recto de flecha"/>
          <p:cNvCxnSpPr/>
          <p:nvPr/>
        </p:nvCxnSpPr>
        <p:spPr>
          <a:xfrm rot="5400000">
            <a:off x="5536413" y="560785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500694" y="614364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500694" y="621508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5500694" y="628652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500694" y="635795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flipV="1">
            <a:off x="5500694" y="3357562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5500694" y="3571876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5500694" y="3500438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5500694" y="350043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5500694" y="3429000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7772400" cy="5643602"/>
          </a:xfrm>
        </p:spPr>
        <p:txBody>
          <a:bodyPr/>
          <a:lstStyle/>
          <a:p>
            <a:pPr>
              <a:buNone/>
            </a:pPr>
            <a:r>
              <a:rPr lang="es-CR" sz="2400" dirty="0" smtClean="0"/>
              <a:t>“… , cuál sería la probabilidad de encontrar a una persona con una presión diastólica superior a 120…”</a:t>
            </a:r>
          </a:p>
          <a:p>
            <a:pPr>
              <a:buNone/>
            </a:pPr>
            <a:r>
              <a:rPr lang="es-CR" sz="2400" dirty="0" smtClean="0"/>
              <a:t>µ = 105         </a:t>
            </a:r>
          </a:p>
          <a:p>
            <a:pPr>
              <a:buNone/>
            </a:pPr>
            <a:r>
              <a:rPr lang="es-CR" sz="2400" dirty="0" smtClean="0"/>
              <a:t>σ = 10</a:t>
            </a:r>
          </a:p>
          <a:p>
            <a:pPr>
              <a:buNone/>
            </a:pPr>
            <a:endParaRPr lang="es-CR" sz="2400" dirty="0" smtClean="0"/>
          </a:p>
          <a:p>
            <a:pPr>
              <a:buNone/>
            </a:pPr>
            <a:r>
              <a:rPr lang="es-CR" sz="2400" dirty="0" smtClean="0"/>
              <a:t>Entonces estandarizamos: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 smtClean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214282" y="3429000"/>
            <a:ext cx="5072098" cy="10001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R" sz="3600" dirty="0" smtClean="0"/>
              <a:t>     Z = </a:t>
            </a:r>
            <a:r>
              <a:rPr lang="es-CR" sz="3600" u="sng" dirty="0" smtClean="0"/>
              <a:t>120-105</a:t>
            </a:r>
            <a:r>
              <a:rPr lang="es-CR" sz="3600" dirty="0" smtClean="0"/>
              <a:t> = </a:t>
            </a:r>
            <a:r>
              <a:rPr lang="es-CR" sz="3600" u="sng" dirty="0" smtClean="0"/>
              <a:t>15</a:t>
            </a:r>
            <a:r>
              <a:rPr lang="es-CR" sz="3600" dirty="0" smtClean="0"/>
              <a:t> = 1.5</a:t>
            </a:r>
            <a:r>
              <a:rPr lang="es-CR" sz="3600" u="sng" dirty="0" smtClean="0"/>
              <a:t> </a:t>
            </a:r>
            <a:r>
              <a:rPr lang="es-CR" sz="3600" dirty="0" smtClean="0"/>
              <a:t> </a:t>
            </a:r>
            <a:r>
              <a:rPr lang="es-CR" sz="3600" u="sng" dirty="0" smtClean="0"/>
              <a:t> </a:t>
            </a:r>
            <a:r>
              <a:rPr lang="es-CR" sz="3600" dirty="0" smtClean="0"/>
              <a:t>      </a:t>
            </a:r>
            <a:r>
              <a:rPr lang="es-CR" sz="3600" u="sng" dirty="0" smtClean="0"/>
              <a:t>       </a:t>
            </a:r>
            <a:endParaRPr lang="es-CR" sz="3600" dirty="0" smtClean="0"/>
          </a:p>
          <a:p>
            <a:r>
              <a:rPr lang="es-CR" sz="3600" dirty="0" smtClean="0"/>
              <a:t>                </a:t>
            </a:r>
            <a:r>
              <a:rPr lang="es-CR" sz="3600" dirty="0" smtClean="0">
                <a:latin typeface="Calibri"/>
                <a:cs typeface="Calibri"/>
              </a:rPr>
              <a:t>10          10  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000760" y="3286124"/>
            <a:ext cx="357190" cy="114300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6643702" y="3286124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 smtClean="0"/>
              <a:t>N (0,1)</a:t>
            </a:r>
            <a:endParaRPr lang="es-CR" sz="4800" dirty="0"/>
          </a:p>
        </p:txBody>
      </p:sp>
      <p:sp>
        <p:nvSpPr>
          <p:cNvPr id="7" name="6 Rectángulo"/>
          <p:cNvSpPr/>
          <p:nvPr/>
        </p:nvSpPr>
        <p:spPr>
          <a:xfrm>
            <a:off x="5143504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???</a:t>
            </a:r>
            <a:endParaRPr lang="es-CR" dirty="0"/>
          </a:p>
        </p:txBody>
      </p:sp>
      <p:cxnSp>
        <p:nvCxnSpPr>
          <p:cNvPr id="8" name="7 Conector recto de flecha"/>
          <p:cNvCxnSpPr/>
          <p:nvPr/>
        </p:nvCxnSpPr>
        <p:spPr>
          <a:xfrm rot="5400000">
            <a:off x="4750595" y="596504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4714876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4714876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4714876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714876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4840464"/>
            <a:ext cx="6643734" cy="1946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13 Rectángulo"/>
          <p:cNvSpPr/>
          <p:nvPr/>
        </p:nvSpPr>
        <p:spPr>
          <a:xfrm>
            <a:off x="521494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1.5</a:t>
            </a:r>
            <a:endParaRPr lang="es-CR" sz="2000" dirty="0"/>
          </a:p>
        </p:txBody>
      </p:sp>
      <p:cxnSp>
        <p:nvCxnSpPr>
          <p:cNvPr id="15" name="14 Conector recto de flecha"/>
          <p:cNvCxnSpPr/>
          <p:nvPr/>
        </p:nvCxnSpPr>
        <p:spPr>
          <a:xfrm rot="5400000">
            <a:off x="4714876" y="5929330"/>
            <a:ext cx="857256" cy="714380"/>
          </a:xfrm>
          <a:prstGeom prst="straightConnector1">
            <a:avLst/>
          </a:prstGeom>
          <a:ln>
            <a:solidFill>
              <a:srgbClr val="002060">
                <a:alpha val="98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786314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786314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786314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786314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>
            <a:off x="4643438" y="6572272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521494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557213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5929322" y="6643734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 flipV="1">
            <a:off x="5143504" y="6215082"/>
            <a:ext cx="2286016" cy="42862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7572396" y="6000768"/>
            <a:ext cx="928694" cy="35719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0.0668</a:t>
            </a:r>
            <a:endParaRPr lang="es-CR" sz="20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5000660"/>
          </a:xfrm>
        </p:spPr>
        <p:txBody>
          <a:bodyPr/>
          <a:lstStyle/>
          <a:p>
            <a:r>
              <a:rPr lang="es-CR" dirty="0" smtClean="0"/>
              <a:t>Sería encontrar entonces P(z ≥ 1.5), ya que el enunciado dice persona con presión </a:t>
            </a:r>
            <a:r>
              <a:rPr lang="es-CR" b="1" i="1" u="sng" dirty="0" smtClean="0"/>
              <a:t>superior</a:t>
            </a:r>
            <a:r>
              <a:rPr lang="es-CR" b="1" i="1" dirty="0" smtClean="0"/>
              <a:t>. </a:t>
            </a:r>
            <a:r>
              <a:rPr lang="es-CR" dirty="0" smtClean="0"/>
              <a:t>En </a:t>
            </a:r>
            <a:r>
              <a:rPr lang="es-CR" dirty="0" err="1" smtClean="0"/>
              <a:t>términnos</a:t>
            </a:r>
            <a:r>
              <a:rPr lang="es-CR" dirty="0" smtClean="0"/>
              <a:t> de probabilidades sería.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2714620"/>
            <a:ext cx="1714512" cy="460890"/>
          </a:xfrm>
          <a:prstGeom prst="rect">
            <a:avLst/>
          </a:prstGeom>
          <a:noFill/>
        </p:spPr>
      </p:pic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9730" y="3429000"/>
            <a:ext cx="3236452" cy="787708"/>
          </a:xfrm>
          <a:prstGeom prst="rect">
            <a:avLst/>
          </a:prstGeom>
          <a:noFill/>
        </p:spPr>
      </p:pic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4429131"/>
            <a:ext cx="1714512" cy="857256"/>
          </a:xfrm>
          <a:prstGeom prst="rect">
            <a:avLst/>
          </a:prstGeom>
          <a:noFill/>
        </p:spPr>
      </p:pic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4" y="5572140"/>
            <a:ext cx="1800238" cy="500066"/>
          </a:xfrm>
          <a:prstGeom prst="rect">
            <a:avLst/>
          </a:prstGeom>
          <a:noFill/>
        </p:spPr>
      </p:pic>
      <p:sp>
        <p:nvSpPr>
          <p:cNvPr id="15" name="14 Cerrar llave"/>
          <p:cNvSpPr/>
          <p:nvPr/>
        </p:nvSpPr>
        <p:spPr>
          <a:xfrm>
            <a:off x="3857620" y="2571744"/>
            <a:ext cx="500066" cy="35719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6" name="15 Rectángulo"/>
          <p:cNvSpPr/>
          <p:nvPr/>
        </p:nvSpPr>
        <p:spPr>
          <a:xfrm>
            <a:off x="5000628" y="3857628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 smtClean="0"/>
              <a:t>0.0668</a:t>
            </a:r>
            <a:endParaRPr lang="es-CR" sz="4000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214422"/>
            <a:ext cx="7772400" cy="5357850"/>
          </a:xfrm>
        </p:spPr>
        <p:txBody>
          <a:bodyPr/>
          <a:lstStyle/>
          <a:p>
            <a:r>
              <a:rPr lang="es-CR" dirty="0" smtClean="0"/>
              <a:t>Entonces la respuesta sería que se tiene una probabilidad de 0.0668 de encontrar personas con más de 120 de presión diastólica, lo cuál es un hecho muy poco probable.</a:t>
            </a:r>
          </a:p>
          <a:p>
            <a:endParaRPr lang="es-CR" dirty="0" smtClean="0"/>
          </a:p>
          <a:p>
            <a:r>
              <a:rPr lang="es-CR" dirty="0" smtClean="0"/>
              <a:t>Ahora, que pasa si en vez de encontrar la probabilidad anterior, no gustaría saber:</a:t>
            </a:r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1. La probabilidad de personas con menos de 115 de presión diastólica.</a:t>
            </a:r>
          </a:p>
          <a:p>
            <a:pPr>
              <a:buNone/>
            </a:pPr>
            <a:r>
              <a:rPr lang="es-CR" dirty="0" smtClean="0"/>
              <a:t>2. Personas con presión entre 110 y 120.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8643998" cy="521497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s-CR" dirty="0" smtClean="0"/>
              <a:t>La probabilidad de personas con menos de 115 de presión D.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71448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714744" y="4000504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 smtClean="0"/>
              <a:t>105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714876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715008" y="407194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714612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785918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50057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286116" y="4929198"/>
            <a:ext cx="3571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71744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115</a:t>
            </a:r>
            <a:endParaRPr lang="es-CR" dirty="0"/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036347" y="3178967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071538" y="4929198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??????</a:t>
            </a:r>
            <a:endParaRPr lang="es-CR" sz="2000" dirty="0"/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07785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786182" y="492919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643306" y="5072074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 flipV="1">
            <a:off x="3571868" y="5214950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 flipV="1">
            <a:off x="3428992" y="5357826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flipV="1">
            <a:off x="3357554" y="5500702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 flipV="1">
            <a:off x="3286116" y="5643578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V="1">
            <a:off x="3143240" y="5786454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3071802" y="5929330"/>
            <a:ext cx="2000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3000364" y="6072206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2857488" y="6215082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flipV="1">
            <a:off x="2643174" y="6357958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2500298" y="6472262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2143108" y="6572272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1142976" y="6643710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/>
          <p:nvPr/>
        </p:nvCxnSpPr>
        <p:spPr>
          <a:xfrm>
            <a:off x="1643042" y="5357826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Rectángulo"/>
          <p:cNvSpPr/>
          <p:nvPr/>
        </p:nvSpPr>
        <p:spPr>
          <a:xfrm>
            <a:off x="5357818" y="514351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sp>
        <p:nvSpPr>
          <p:cNvPr id="60" name="59 Rectángulo"/>
          <p:cNvSpPr/>
          <p:nvPr/>
        </p:nvSpPr>
        <p:spPr>
          <a:xfrm>
            <a:off x="1071538" y="214311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??????</a:t>
            </a:r>
            <a:endParaRPr lang="es-CR" sz="2000" dirty="0"/>
          </a:p>
        </p:txBody>
      </p:sp>
      <p:cxnSp>
        <p:nvCxnSpPr>
          <p:cNvPr id="61" name="60 Conector recto"/>
          <p:cNvCxnSpPr/>
          <p:nvPr/>
        </p:nvCxnSpPr>
        <p:spPr>
          <a:xfrm>
            <a:off x="3786182" y="214311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643306" y="2285992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flipV="1">
            <a:off x="3571868" y="2428868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V="1">
            <a:off x="3428992" y="2571744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 flipV="1">
            <a:off x="3357554" y="2714620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V="1">
            <a:off x="3286116" y="2857496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 flipV="1">
            <a:off x="3143240" y="3000372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 flipV="1">
            <a:off x="3000364" y="3286124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flipV="1">
            <a:off x="2857488" y="3429000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2643174" y="3571876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2500298" y="3686180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2143108" y="3786190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142976" y="3857628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>
            <a:off x="1643042" y="2571744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flipV="1">
            <a:off x="3000364" y="3143248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70"/>
            <a:ext cx="8358246" cy="5786454"/>
          </a:xfrm>
        </p:spPr>
        <p:txBody>
          <a:bodyPr>
            <a:normAutofit fontScale="92500"/>
          </a:bodyPr>
          <a:lstStyle/>
          <a:p>
            <a:r>
              <a:rPr lang="es-CR" dirty="0" smtClean="0"/>
              <a:t>La solución sería: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       </a:t>
            </a:r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R: se tiene una probabilidad de 0.8413 de encontrar personas con menos de 115 de presión diastólica, lo cuál es un hecho muy probable.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2071678"/>
            <a:ext cx="1594496" cy="428628"/>
          </a:xfrm>
          <a:prstGeom prst="rect">
            <a:avLst/>
          </a:prstGeom>
          <a:noFill/>
        </p:spPr>
      </p:pic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3000372"/>
            <a:ext cx="3228687" cy="785818"/>
          </a:xfrm>
          <a:prstGeom prst="rect">
            <a:avLst/>
          </a:prstGeom>
          <a:noFill/>
        </p:spPr>
      </p:pic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4143380"/>
            <a:ext cx="1571636" cy="785818"/>
          </a:xfrm>
          <a:prstGeom prst="rect">
            <a:avLst/>
          </a:prstGeom>
          <a:noFill/>
        </p:spPr>
      </p:pic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5429264"/>
            <a:ext cx="1520201" cy="500066"/>
          </a:xfrm>
          <a:prstGeom prst="rect">
            <a:avLst/>
          </a:prstGeom>
          <a:noFill/>
        </p:spPr>
      </p:pic>
      <p:sp>
        <p:nvSpPr>
          <p:cNvPr id="13" name="12 Cerrar llave"/>
          <p:cNvSpPr/>
          <p:nvPr/>
        </p:nvSpPr>
        <p:spPr>
          <a:xfrm>
            <a:off x="3714744" y="2000240"/>
            <a:ext cx="500066" cy="38576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" name="13 Rectángulo"/>
          <p:cNvSpPr/>
          <p:nvPr/>
        </p:nvSpPr>
        <p:spPr>
          <a:xfrm>
            <a:off x="4643438" y="3357562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 smtClean="0"/>
              <a:t>0.8413</a:t>
            </a:r>
            <a:endParaRPr lang="es-CR" sz="40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358246" cy="5214974"/>
          </a:xfrm>
        </p:spPr>
        <p:txBody>
          <a:bodyPr/>
          <a:lstStyle/>
          <a:p>
            <a:r>
              <a:rPr lang="es-CR" dirty="0" smtClean="0"/>
              <a:t>La probabilidad de personas entre 110 y 120 de presión D.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64305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428992" y="3929066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 smtClean="0"/>
              <a:t>105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429124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429256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428860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500166" y="392906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4429132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643306" y="5072074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0030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120</a:t>
            </a:r>
            <a:endParaRPr lang="es-CR" dirty="0"/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179223" y="310752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285852" y="550070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79223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2285984" y="5786454"/>
            <a:ext cx="1857388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"/>
          <p:cNvSpPr/>
          <p:nvPr/>
        </p:nvSpPr>
        <p:spPr>
          <a:xfrm>
            <a:off x="592932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cxnSp>
        <p:nvCxnSpPr>
          <p:cNvPr id="33" name="32 Conector recto"/>
          <p:cNvCxnSpPr/>
          <p:nvPr/>
        </p:nvCxnSpPr>
        <p:spPr>
          <a:xfrm rot="5400000">
            <a:off x="2143108" y="4500570"/>
            <a:ext cx="4286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rot="10800000">
            <a:off x="4286248" y="378619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 rot="10800000">
            <a:off x="4286249" y="371475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 rot="10800000">
            <a:off x="4286248" y="364331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 rot="10800000">
            <a:off x="4286248" y="357187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rot="10800000">
            <a:off x="4286248" y="350043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rot="10800000">
            <a:off x="4286248" y="342900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rot="10800000" flipV="1">
            <a:off x="4286248" y="335756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rot="10800000">
            <a:off x="4286248" y="328612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rot="10800000">
            <a:off x="4286248" y="321468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rot="10800000" flipV="1">
            <a:off x="4286248" y="314324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rot="10800000" flipV="1">
            <a:off x="4286248" y="307180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 rot="10800000">
            <a:off x="4286248" y="300037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rot="10800000" flipV="1">
            <a:off x="4286248" y="292893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rot="10800000" flipV="1">
            <a:off x="4286248" y="285749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 rot="10800000" flipV="1">
            <a:off x="4286248" y="278605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rot="10800000" flipV="1">
            <a:off x="4286248" y="271461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 rot="10800000" flipV="1">
            <a:off x="4286248" y="264318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 rot="10800000" flipV="1">
            <a:off x="4286248" y="257174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rot="10800000" flipV="1">
            <a:off x="4286248" y="2500305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 de flecha"/>
          <p:cNvCxnSpPr/>
          <p:nvPr/>
        </p:nvCxnSpPr>
        <p:spPr>
          <a:xfrm rot="5400000">
            <a:off x="5179224" y="589360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rot="10800000">
            <a:off x="4286249" y="657227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4286250" y="650083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rot="10800000">
            <a:off x="4286249" y="642939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rot="10800000">
            <a:off x="4286249" y="635795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"/>
          <p:cNvCxnSpPr/>
          <p:nvPr/>
        </p:nvCxnSpPr>
        <p:spPr>
          <a:xfrm rot="10800000">
            <a:off x="4286249" y="628651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 rot="10800000">
            <a:off x="4286249" y="621508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rot="10800000" flipV="1">
            <a:off x="4286249" y="614364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 rot="10800000">
            <a:off x="4286249" y="607220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rot="10800000">
            <a:off x="4286250" y="6000766"/>
            <a:ext cx="571503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 rot="10800000" flipV="1">
            <a:off x="4286249" y="592932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"/>
          <p:cNvCxnSpPr/>
          <p:nvPr/>
        </p:nvCxnSpPr>
        <p:spPr>
          <a:xfrm rot="10800000" flipV="1">
            <a:off x="4286249" y="585788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 rot="10800000">
            <a:off x="4286249" y="578645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recto"/>
          <p:cNvCxnSpPr/>
          <p:nvPr/>
        </p:nvCxnSpPr>
        <p:spPr>
          <a:xfrm rot="10800000" flipV="1">
            <a:off x="4286249" y="571501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 rot="10800000" flipV="1">
            <a:off x="4286249" y="564357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97 Conector recto"/>
          <p:cNvCxnSpPr/>
          <p:nvPr/>
        </p:nvCxnSpPr>
        <p:spPr>
          <a:xfrm rot="10800000" flipV="1">
            <a:off x="4286249" y="557213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 rot="10800000" flipV="1">
            <a:off x="4286249" y="550069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"/>
          <p:cNvCxnSpPr/>
          <p:nvPr/>
        </p:nvCxnSpPr>
        <p:spPr>
          <a:xfrm rot="10800000" flipV="1">
            <a:off x="4286249" y="542926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 rot="10800000" flipV="1">
            <a:off x="4286249" y="535782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"/>
          <p:cNvCxnSpPr/>
          <p:nvPr/>
        </p:nvCxnSpPr>
        <p:spPr>
          <a:xfrm rot="10800000">
            <a:off x="4286250" y="5286386"/>
            <a:ext cx="142875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recto de flecha"/>
          <p:cNvCxnSpPr/>
          <p:nvPr/>
        </p:nvCxnSpPr>
        <p:spPr>
          <a:xfrm rot="16200000" flipH="1">
            <a:off x="3607587" y="3178967"/>
            <a:ext cx="71438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108 Rectángulo"/>
          <p:cNvSpPr/>
          <p:nvPr/>
        </p:nvSpPr>
        <p:spPr>
          <a:xfrm>
            <a:off x="3143240" y="264318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110</a:t>
            </a:r>
            <a:endParaRPr lang="es-CR" dirty="0"/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000108"/>
            <a:ext cx="7786742" cy="5357850"/>
          </a:xfrm>
        </p:spPr>
        <p:txBody>
          <a:bodyPr/>
          <a:lstStyle/>
          <a:p>
            <a:r>
              <a:rPr lang="es-CR" dirty="0" smtClean="0"/>
              <a:t>La solución sería:</a:t>
            </a:r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1714488"/>
            <a:ext cx="2554623" cy="428628"/>
          </a:xfrm>
          <a:prstGeom prst="rect">
            <a:avLst/>
          </a:prstGeom>
          <a:noFill/>
        </p:spPr>
      </p:pic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2357430"/>
            <a:ext cx="4627940" cy="714380"/>
          </a:xfrm>
          <a:prstGeom prst="rect">
            <a:avLst/>
          </a:prstGeom>
          <a:noFill/>
        </p:spPr>
      </p:pic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3214685"/>
            <a:ext cx="2214578" cy="743581"/>
          </a:xfrm>
          <a:prstGeom prst="rect">
            <a:avLst/>
          </a:prstGeom>
          <a:noFill/>
        </p:spPr>
      </p:pic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7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4286256"/>
            <a:ext cx="2143140" cy="719594"/>
          </a:xfrm>
          <a:prstGeom prst="rect">
            <a:avLst/>
          </a:prstGeom>
          <a:noFill/>
        </p:spPr>
      </p:pic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9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19" y="5286388"/>
            <a:ext cx="2928959" cy="526791"/>
          </a:xfrm>
          <a:prstGeom prst="rect">
            <a:avLst/>
          </a:prstGeom>
          <a:noFill/>
        </p:spPr>
      </p:pic>
      <p:sp>
        <p:nvSpPr>
          <p:cNvPr id="17" name="16 Cerrar llave"/>
          <p:cNvSpPr/>
          <p:nvPr/>
        </p:nvSpPr>
        <p:spPr>
          <a:xfrm>
            <a:off x="5000628" y="1643050"/>
            <a:ext cx="571504" cy="42148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17 Rectángulo"/>
          <p:cNvSpPr/>
          <p:nvPr/>
        </p:nvSpPr>
        <p:spPr>
          <a:xfrm>
            <a:off x="5715008" y="3143248"/>
            <a:ext cx="3143272" cy="214314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=0.6915-0.9332</a:t>
            </a:r>
          </a:p>
          <a:p>
            <a:pPr algn="ctr"/>
            <a:endParaRPr lang="es-CR" sz="3600" dirty="0" smtClean="0"/>
          </a:p>
          <a:p>
            <a:pPr algn="ctr"/>
            <a:r>
              <a:rPr lang="es-CR" sz="3600" dirty="0" smtClean="0"/>
              <a:t>0.2417</a:t>
            </a:r>
            <a:endParaRPr lang="es-CR" sz="3600" dirty="0"/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1414"/>
            <a:ext cx="8358246" cy="1143008"/>
          </a:xfrm>
        </p:spPr>
        <p:txBody>
          <a:bodyPr/>
          <a:lstStyle/>
          <a:p>
            <a:pPr algn="ctr"/>
            <a:r>
              <a:rPr lang="es-CR" dirty="0" smtClean="0"/>
              <a:t>Reseñas finales 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4" y="1428736"/>
            <a:ext cx="8001056" cy="4786346"/>
          </a:xfrm>
        </p:spPr>
        <p:txBody>
          <a:bodyPr/>
          <a:lstStyle/>
          <a:p>
            <a:r>
              <a:rPr lang="es-CR" dirty="0" smtClean="0"/>
              <a:t>Se observó como la estandarización ayuda a resolver problemas prácticos en la vida normal.</a:t>
            </a:r>
          </a:p>
          <a:p>
            <a:endParaRPr lang="es-CR" dirty="0" smtClean="0"/>
          </a:p>
          <a:p>
            <a:r>
              <a:rPr lang="es-CR" dirty="0" smtClean="0"/>
              <a:t>La utilización de la estandarización se volverá a retomar en el próximo tema de prueba de hipótesis. </a:t>
            </a:r>
            <a:endParaRPr lang="es-CR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Picture 2" descr="http://2.bp.blogspot.com/_l2oFLpsvMhc/RveAYgMqnQI/AAAAAAAAAII/I2Fp0nyNDhw/s400/20070326114706-f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929462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1217</TotalTime>
  <Words>771</Words>
  <Application>Microsoft Office PowerPoint</Application>
  <PresentationFormat>Presentación en pantalla (4:3)</PresentationFormat>
  <Paragraphs>154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Equidad</vt:lpstr>
      <vt:lpstr>La estandarización</vt:lpstr>
      <vt:lpstr>Introducción</vt:lpstr>
      <vt:lpstr>Introducción</vt:lpstr>
      <vt:lpstr>Introducción</vt:lpstr>
      <vt:lpstr>Introducción</vt:lpstr>
      <vt:lpstr>Presentación de PowerPoint</vt:lpstr>
      <vt:lpstr>La curva normal estándar  N(0,1)</vt:lpstr>
      <vt:lpstr>La curva normal estándar  N(0,1)</vt:lpstr>
      <vt:lpstr>La curva normal estándar  N(0,1)</vt:lpstr>
      <vt:lpstr>Estandarización</vt:lpstr>
      <vt:lpstr>Estandarización</vt:lpstr>
      <vt:lpstr>Nuestro ejemplo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Reseñas finales 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Oscar</dc:creator>
  <cp:lastModifiedBy>Oscar</cp:lastModifiedBy>
  <cp:revision>81</cp:revision>
  <dcterms:created xsi:type="dcterms:W3CDTF">2010-03-20T02:22:14Z</dcterms:created>
  <dcterms:modified xsi:type="dcterms:W3CDTF">2015-10-21T04:54:03Z</dcterms:modified>
</cp:coreProperties>
</file>