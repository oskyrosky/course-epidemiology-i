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6" r:id="rId3"/>
    <p:sldId id="288" r:id="rId4"/>
    <p:sldId id="257" r:id="rId5"/>
    <p:sldId id="258" r:id="rId6"/>
    <p:sldId id="259" r:id="rId7"/>
    <p:sldId id="260" r:id="rId8"/>
    <p:sldId id="290" r:id="rId9"/>
    <p:sldId id="261" r:id="rId10"/>
    <p:sldId id="262" r:id="rId11"/>
    <p:sldId id="263" r:id="rId12"/>
    <p:sldId id="264" r:id="rId13"/>
    <p:sldId id="292" r:id="rId14"/>
    <p:sldId id="265" r:id="rId15"/>
    <p:sldId id="271" r:id="rId16"/>
    <p:sldId id="266" r:id="rId17"/>
    <p:sldId id="267" r:id="rId18"/>
    <p:sldId id="297" r:id="rId19"/>
    <p:sldId id="299" r:id="rId20"/>
    <p:sldId id="298" r:id="rId21"/>
    <p:sldId id="300" r:id="rId22"/>
    <p:sldId id="301" r:id="rId23"/>
    <p:sldId id="294" r:id="rId24"/>
    <p:sldId id="268" r:id="rId25"/>
    <p:sldId id="269" r:id="rId26"/>
    <p:sldId id="302" r:id="rId27"/>
    <p:sldId id="270" r:id="rId28"/>
    <p:sldId id="272" r:id="rId29"/>
    <p:sldId id="303" r:id="rId30"/>
    <p:sldId id="304" r:id="rId31"/>
    <p:sldId id="305" r:id="rId32"/>
    <p:sldId id="296" r:id="rId33"/>
    <p:sldId id="273" r:id="rId34"/>
    <p:sldId id="274" r:id="rId35"/>
    <p:sldId id="276" r:id="rId36"/>
    <p:sldId id="277" r:id="rId37"/>
    <p:sldId id="278" r:id="rId38"/>
    <p:sldId id="275" r:id="rId39"/>
    <p:sldId id="279" r:id="rId40"/>
    <p:sldId id="280" r:id="rId41"/>
    <p:sldId id="282" r:id="rId42"/>
    <p:sldId id="306" r:id="rId43"/>
    <p:sldId id="283" r:id="rId44"/>
    <p:sldId id="284" r:id="rId45"/>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scar" initials="O" lastIdx="1" clrIdx="0">
    <p:extLst>
      <p:ext uri="{19B8F6BF-5375-455C-9EA6-DF929625EA0E}">
        <p15:presenceInfo xmlns:p15="http://schemas.microsoft.com/office/powerpoint/2012/main" userId="Osca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05-11T22:43:40.141" idx="1">
    <p:pos x="10" y="10"/>
    <p:text/>
    <p:extLst>
      <p:ext uri="{C676402C-5697-4E1C-873F-D02D1690AC5C}">
        <p15:threadingInfo xmlns:p15="http://schemas.microsoft.com/office/powerpoint/2012/main" timeZoneBias="36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A847CFC-816F-41D0-AAC0-9BF4FEBC753E}" type="datetimeFigureOut">
              <a:rPr lang="es-ES" smtClean="0"/>
              <a:pPr/>
              <a:t>22/05/2016</a:t>
            </a:fld>
            <a:endParaRPr lang="es-ES"/>
          </a:p>
        </p:txBody>
      </p:sp>
      <p:sp>
        <p:nvSpPr>
          <p:cNvPr id="17" name="16 Marcador de pie de página"/>
          <p:cNvSpPr>
            <a:spLocks noGrp="1"/>
          </p:cNvSpPr>
          <p:nvPr>
            <p:ph type="ftr" sz="quarter" idx="11"/>
          </p:nvPr>
        </p:nvSpPr>
        <p:spPr/>
        <p:txBody>
          <a:bodyPr/>
          <a:lstStyle/>
          <a:p>
            <a:endParaRPr lang="es-ES"/>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132FADFE-3B8F-471C-ABF0-DBC7717ECBBC}" type="slidenum">
              <a:rPr lang="es-ES" smtClean="0"/>
              <a:pPr/>
              <a:t>‹Nº›</a:t>
            </a:fld>
            <a:endParaRPr lang="es-ES"/>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22/05/2016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22/05/2016</a:t>
            </a:fld>
            <a:endParaRPr lang="es-ES"/>
          </a:p>
        </p:txBody>
      </p:sp>
      <p:sp>
        <p:nvSpPr>
          <p:cNvPr id="5" name="4 Marcador de pie de página"/>
          <p:cNvSpPr>
            <a:spLocks noGrp="1"/>
          </p:cNvSpPr>
          <p:nvPr>
            <p:ph type="ftr" sz="quarter" idx="11"/>
          </p:nvPr>
        </p:nvSpPr>
        <p:spPr>
          <a:xfrm>
            <a:off x="800100" y="6172200"/>
            <a:ext cx="4000500" cy="457200"/>
          </a:xfrm>
        </p:spPr>
        <p:txBody>
          <a:bodyPr/>
          <a:lstStyle/>
          <a:p>
            <a:endParaRPr lang="es-ES"/>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pPr/>
              <a:t>22/05/2016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7A847CFC-816F-41D0-AAC0-9BF4FEBC753E}" type="datetimeFigureOut">
              <a:rPr lang="es-ES" smtClean="0"/>
              <a:pPr/>
              <a:t>22/05/2016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pPr/>
              <a:t>22/05/2016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22/05/2016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22/05/2016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22/05/2016</a:t>
            </a:fld>
            <a:endParaRPr lang="es-ES"/>
          </a:p>
        </p:txBody>
      </p:sp>
      <p:sp>
        <p:nvSpPr>
          <p:cNvPr id="6" name="5 Marcador de pie de página"/>
          <p:cNvSpPr>
            <a:spLocks noGrp="1"/>
          </p:cNvSpPr>
          <p:nvPr>
            <p:ph type="ftr" sz="quarter" idx="11"/>
          </p:nvPr>
        </p:nvSpPr>
        <p:spPr>
          <a:xfrm>
            <a:off x="914400" y="6172200"/>
            <a:ext cx="3886200" cy="457200"/>
          </a:xfrm>
        </p:spPr>
        <p:txBody>
          <a:bodyPr/>
          <a:lstStyle/>
          <a:p>
            <a:endParaRPr lang="es-ES"/>
          </a:p>
        </p:txBody>
      </p:sp>
      <p:sp>
        <p:nvSpPr>
          <p:cNvPr id="7" name="6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smtClean="0"/>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22/05/2016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22/05/2016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A847CFC-816F-41D0-AAC0-9BF4FEBC753E}" type="datetimeFigureOut">
              <a:rPr lang="es-ES" smtClean="0"/>
              <a:pPr/>
              <a:t>22/05/2016</a:t>
            </a:fld>
            <a:endParaRPr lang="es-ES"/>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s-ES"/>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2FADFE-3B8F-471C-ABF0-DBC7717ECBBC}"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jpe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jpe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2.gif"/><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57.jpeg"/><Relationship Id="rId4" Type="http://schemas.openxmlformats.org/officeDocument/2006/relationships/image" Target="../media/image56.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1.gif"/><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62.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1.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p:txBody>
          <a:bodyPr/>
          <a:lstStyle/>
          <a:p>
            <a:endParaRPr lang="es-CR"/>
          </a:p>
        </p:txBody>
      </p:sp>
      <p:sp>
        <p:nvSpPr>
          <p:cNvPr id="2" name="1 Título"/>
          <p:cNvSpPr>
            <a:spLocks noGrp="1"/>
          </p:cNvSpPr>
          <p:nvPr>
            <p:ph type="ctrTitle"/>
          </p:nvPr>
        </p:nvSpPr>
        <p:spPr/>
        <p:txBody>
          <a:bodyPr/>
          <a:lstStyle/>
          <a:p>
            <a:endParaRPr lang="es-CR"/>
          </a:p>
        </p:txBody>
      </p:sp>
      <p:pic>
        <p:nvPicPr>
          <p:cNvPr id="27650" name="Picture 2" descr="http://www.librow.com/content/common/images/articles/article-9/2d_distribution.gif"/>
          <p:cNvPicPr>
            <a:picLocks noChangeAspect="1" noChangeArrowheads="1"/>
          </p:cNvPicPr>
          <p:nvPr/>
        </p:nvPicPr>
        <p:blipFill>
          <a:blip r:embed="rId2" cstate="print"/>
          <a:srcRect/>
          <a:stretch>
            <a:fillRect/>
          </a:stretch>
        </p:blipFill>
        <p:spPr bwMode="auto">
          <a:xfrm>
            <a:off x="0" y="0"/>
            <a:ext cx="9144000" cy="6865357"/>
          </a:xfrm>
          <a:prstGeom prst="rect">
            <a:avLst/>
          </a:prstGeom>
          <a:noFill/>
        </p:spPr>
      </p:pic>
      <p:sp>
        <p:nvSpPr>
          <p:cNvPr id="5" name="4 CuadroTexto"/>
          <p:cNvSpPr txBox="1"/>
          <p:nvPr/>
        </p:nvSpPr>
        <p:spPr>
          <a:xfrm>
            <a:off x="0" y="188640"/>
            <a:ext cx="4139952" cy="2308324"/>
          </a:xfrm>
          <a:prstGeom prst="rect">
            <a:avLst/>
          </a:prstGeom>
          <a:noFill/>
        </p:spPr>
        <p:txBody>
          <a:bodyPr wrap="square" rtlCol="0">
            <a:spAutoFit/>
          </a:bodyPr>
          <a:lstStyle/>
          <a:p>
            <a:pPr algn="ctr"/>
            <a:r>
              <a:rPr lang="es-CR" sz="7200" dirty="0" smtClean="0"/>
              <a:t>Medidas de posición</a:t>
            </a:r>
          </a:p>
        </p:txBody>
      </p:sp>
      <p:sp>
        <p:nvSpPr>
          <p:cNvPr id="6" name="5 CuadroTexto"/>
          <p:cNvSpPr txBox="1"/>
          <p:nvPr/>
        </p:nvSpPr>
        <p:spPr>
          <a:xfrm>
            <a:off x="-36512" y="6300609"/>
            <a:ext cx="4104456" cy="584775"/>
          </a:xfrm>
          <a:prstGeom prst="rect">
            <a:avLst/>
          </a:prstGeom>
          <a:noFill/>
        </p:spPr>
        <p:txBody>
          <a:bodyPr wrap="square" rtlCol="0">
            <a:spAutoFit/>
          </a:bodyPr>
          <a:lstStyle/>
          <a:p>
            <a:r>
              <a:rPr lang="es-CR" sz="3200" dirty="0" smtClean="0"/>
              <a:t>Oscar Centeno Mora</a:t>
            </a:r>
            <a:endParaRPr lang="es-CR" sz="3200" dirty="0"/>
          </a:p>
        </p:txBody>
      </p:sp>
    </p:spTree>
  </p:cSld>
  <p:clrMapOvr>
    <a:masterClrMapping/>
  </p:clrMapOvr>
  <p:transition>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smtClean="0"/>
              <a:t>Índice </a:t>
            </a:r>
            <a:endParaRPr lang="es-CR" dirty="0"/>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
        <p:nvSpPr>
          <p:cNvPr id="11"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moda</a:t>
            </a:r>
            <a:endParaRPr lang="es-CR" dirty="0"/>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mediana</a:t>
            </a:r>
            <a:endParaRPr lang="es-CR" dirty="0"/>
          </a:p>
        </p:txBody>
      </p:sp>
      <p:sp>
        <p:nvSpPr>
          <p:cNvPr id="13" name="12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El promedio</a:t>
            </a:r>
            <a:endParaRPr lang="es-CR" dirty="0"/>
          </a:p>
        </p:txBody>
      </p:sp>
      <p:sp>
        <p:nvSpPr>
          <p:cNvPr id="14" name="13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Uso de las medidas de posición</a:t>
            </a:r>
            <a:endParaRPr lang="es-CR" dirty="0"/>
          </a:p>
        </p:txBody>
      </p:sp>
    </p:spTree>
    <p:extLst>
      <p:ext uri="{BB962C8B-B14F-4D97-AF65-F5344CB8AC3E}">
        <p14:creationId xmlns:p14="http://schemas.microsoft.com/office/powerpoint/2010/main" val="4132096586"/>
      </p:ext>
    </p:extLst>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smtClean="0"/>
              <a:t>Índice </a:t>
            </a:r>
            <a:endParaRPr lang="es-CR" dirty="0"/>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Tree>
    <p:extLst>
      <p:ext uri="{BB962C8B-B14F-4D97-AF65-F5344CB8AC3E}">
        <p14:creationId xmlns:p14="http://schemas.microsoft.com/office/powerpoint/2010/main" val="40282166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0"/>
            <a:ext cx="8352928" cy="908720"/>
          </a:xfrm>
        </p:spPr>
        <p:txBody>
          <a:bodyPr/>
          <a:lstStyle/>
          <a:p>
            <a:pPr algn="ctr"/>
            <a:r>
              <a:rPr lang="es-CR" dirty="0" smtClean="0"/>
              <a:t>Introducción</a:t>
            </a:r>
            <a:endParaRPr lang="es-CR" dirty="0"/>
          </a:p>
        </p:txBody>
      </p:sp>
      <p:sp>
        <p:nvSpPr>
          <p:cNvPr id="3" name="2 Marcador de contenido"/>
          <p:cNvSpPr>
            <a:spLocks noGrp="1"/>
          </p:cNvSpPr>
          <p:nvPr>
            <p:ph sz="quarter" idx="1"/>
          </p:nvPr>
        </p:nvSpPr>
        <p:spPr>
          <a:xfrm>
            <a:off x="35496" y="908720"/>
            <a:ext cx="5976664" cy="5688632"/>
          </a:xfrm>
        </p:spPr>
        <p:txBody>
          <a:bodyPr>
            <a:normAutofit lnSpcReduction="10000"/>
          </a:bodyPr>
          <a:lstStyle/>
          <a:p>
            <a:pPr algn="just"/>
            <a:r>
              <a:rPr lang="es-CR" sz="2400" dirty="0" smtClean="0"/>
              <a:t>En los análisis estadísticos es muy importante conocer acerca de la forma o patrón de la distribución de los datos: posición, tendencia central y la dispersión o variabilidad alrededor de los valores centrales.</a:t>
            </a:r>
          </a:p>
          <a:p>
            <a:pPr algn="just"/>
            <a:endParaRPr lang="es-CR" sz="2400" dirty="0" smtClean="0"/>
          </a:p>
          <a:p>
            <a:pPr algn="just"/>
            <a:r>
              <a:rPr lang="es-CR" sz="2400" dirty="0" smtClean="0"/>
              <a:t>Es necesario tanto para el análisis e </a:t>
            </a:r>
            <a:r>
              <a:rPr lang="es-CR" sz="2400" dirty="0" err="1" smtClean="0"/>
              <a:t>intepretación</a:t>
            </a:r>
            <a:r>
              <a:rPr lang="es-CR" sz="2400" dirty="0" smtClean="0"/>
              <a:t> del conjunto de datos, como para realizar comparaciones entre varios conjuntos de valores, el obtener medidas que resuman o condensen las características del conjunto de datos en cuanto a la posición y la variabilidad.</a:t>
            </a:r>
          </a:p>
          <a:p>
            <a:pPr algn="just"/>
            <a:endParaRPr lang="es-CR" sz="2400" dirty="0" smtClean="0"/>
          </a:p>
          <a:p>
            <a:pPr algn="just"/>
            <a:r>
              <a:rPr lang="es-CR" sz="2400" dirty="0" smtClean="0"/>
              <a:t>El presente capítulo aborda las medidas de posición, y en próximo sobre las medidas de variabilidad</a:t>
            </a:r>
            <a:endParaRPr lang="es-CR" sz="2400" dirty="0"/>
          </a:p>
        </p:txBody>
      </p:sp>
      <p:pic>
        <p:nvPicPr>
          <p:cNvPr id="15362" name="Picture 2" descr="http://www.dabax.net/files/data.jpg"/>
          <p:cNvPicPr>
            <a:picLocks noChangeAspect="1" noChangeArrowheads="1"/>
          </p:cNvPicPr>
          <p:nvPr/>
        </p:nvPicPr>
        <p:blipFill>
          <a:blip r:embed="rId2" cstate="print"/>
          <a:srcRect/>
          <a:stretch>
            <a:fillRect/>
          </a:stretch>
        </p:blipFill>
        <p:spPr bwMode="auto">
          <a:xfrm>
            <a:off x="6228184" y="1124744"/>
            <a:ext cx="2711693" cy="2448272"/>
          </a:xfrm>
          <a:prstGeom prst="rect">
            <a:avLst/>
          </a:prstGeom>
          <a:noFill/>
        </p:spPr>
      </p:pic>
      <p:pic>
        <p:nvPicPr>
          <p:cNvPr id="15364" name="Picture 4" descr="http://promkusok07.files.wordpress.com/2007/11/computer_data_180_144.jpg"/>
          <p:cNvPicPr>
            <a:picLocks noChangeAspect="1" noChangeArrowheads="1"/>
          </p:cNvPicPr>
          <p:nvPr/>
        </p:nvPicPr>
        <p:blipFill>
          <a:blip r:embed="rId3" cstate="print"/>
          <a:srcRect/>
          <a:stretch>
            <a:fillRect/>
          </a:stretch>
        </p:blipFill>
        <p:spPr bwMode="auto">
          <a:xfrm>
            <a:off x="6084168" y="3861048"/>
            <a:ext cx="2844824" cy="2520280"/>
          </a:xfrm>
          <a:prstGeom prst="rect">
            <a:avLst/>
          </a:prstGeom>
          <a:noFill/>
        </p:spPr>
      </p:pic>
    </p:spTree>
  </p:cSld>
  <p:clrMapOvr>
    <a:masterClrMapping/>
  </p:clrMapOvr>
  <p:transition>
    <p:cover dir="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124744"/>
            <a:ext cx="7772400" cy="4572000"/>
          </a:xfrm>
        </p:spPr>
        <p:txBody>
          <a:bodyPr/>
          <a:lstStyle/>
          <a:p>
            <a:r>
              <a:rPr lang="es-CR" dirty="0" smtClean="0"/>
              <a:t>El propósitos de las medidas de posición es tratar de resumir, en un solo número la posición o localización de la distribución. Caso que no contemplaba las medidas relativas</a:t>
            </a:r>
          </a:p>
          <a:p>
            <a:r>
              <a:rPr lang="es-CR" dirty="0" smtClean="0"/>
              <a:t>A las medidas de posición también se les conoce como medidas de posición central, ya que la mayoría de veces importa más la situación central, en donde se distribuyen los datos (este hecho es muy común).</a:t>
            </a:r>
          </a:p>
          <a:p>
            <a:pPr>
              <a:buNone/>
            </a:pPr>
            <a:endParaRPr lang="es-CR" dirty="0"/>
          </a:p>
        </p:txBody>
      </p:sp>
      <p:sp>
        <p:nvSpPr>
          <p:cNvPr id="4" name="1 Título"/>
          <p:cNvSpPr>
            <a:spLocks noGrp="1"/>
          </p:cNvSpPr>
          <p:nvPr>
            <p:ph type="title"/>
          </p:nvPr>
        </p:nvSpPr>
        <p:spPr>
          <a:xfrm>
            <a:off x="395536" y="0"/>
            <a:ext cx="8352928" cy="908720"/>
          </a:xfrm>
        </p:spPr>
        <p:txBody>
          <a:bodyPr/>
          <a:lstStyle/>
          <a:p>
            <a:pPr algn="ctr"/>
            <a:r>
              <a:rPr lang="es-CR" dirty="0" smtClean="0"/>
              <a:t>Introducción</a:t>
            </a:r>
            <a:endParaRPr lang="es-CR" dirty="0"/>
          </a:p>
        </p:txBody>
      </p:sp>
      <p:pic>
        <p:nvPicPr>
          <p:cNvPr id="25602" name="Picture 2" descr="http://orionwell.files.wordpress.com/2008/07/normal-distribution.gif"/>
          <p:cNvPicPr>
            <a:picLocks noChangeAspect="1" noChangeArrowheads="1"/>
          </p:cNvPicPr>
          <p:nvPr/>
        </p:nvPicPr>
        <p:blipFill>
          <a:blip r:embed="rId2" cstate="print"/>
          <a:srcRect/>
          <a:stretch>
            <a:fillRect/>
          </a:stretch>
        </p:blipFill>
        <p:spPr bwMode="auto">
          <a:xfrm>
            <a:off x="4427984" y="4221088"/>
            <a:ext cx="3888432" cy="2333060"/>
          </a:xfrm>
          <a:prstGeom prst="rect">
            <a:avLst/>
          </a:prstGeom>
          <a:noFill/>
        </p:spPr>
      </p:pic>
      <p:pic>
        <p:nvPicPr>
          <p:cNvPr id="25604" name="Picture 4" descr="http://www.etfos.hr/~akolundzic/slika-normalna-razdioba-ses.gif"/>
          <p:cNvPicPr>
            <a:picLocks noChangeAspect="1" noChangeArrowheads="1"/>
          </p:cNvPicPr>
          <p:nvPr/>
        </p:nvPicPr>
        <p:blipFill>
          <a:blip r:embed="rId3" cstate="print"/>
          <a:srcRect/>
          <a:stretch>
            <a:fillRect/>
          </a:stretch>
        </p:blipFill>
        <p:spPr bwMode="auto">
          <a:xfrm>
            <a:off x="395536" y="4293096"/>
            <a:ext cx="4176464" cy="2249521"/>
          </a:xfrm>
          <a:prstGeom prst="rect">
            <a:avLst/>
          </a:prstGeom>
          <a:noFill/>
        </p:spPr>
      </p:pic>
      <p:sp>
        <p:nvSpPr>
          <p:cNvPr id="7" name="6 CuadroTexto"/>
          <p:cNvSpPr txBox="1"/>
          <p:nvPr/>
        </p:nvSpPr>
        <p:spPr>
          <a:xfrm>
            <a:off x="179512" y="6093296"/>
            <a:ext cx="4536504" cy="707886"/>
          </a:xfrm>
          <a:prstGeom prst="rect">
            <a:avLst/>
          </a:prstGeom>
          <a:noFill/>
        </p:spPr>
        <p:txBody>
          <a:bodyPr wrap="square" rtlCol="0">
            <a:spAutoFit/>
          </a:bodyPr>
          <a:lstStyle/>
          <a:p>
            <a:r>
              <a:rPr lang="es-CR" sz="2000" dirty="0" smtClean="0"/>
              <a:t>Por diversas razones, las posiciones centrales son las más utilizadas </a:t>
            </a:r>
            <a:endParaRPr lang="es-CR" sz="2000" dirty="0"/>
          </a:p>
        </p:txBody>
      </p:sp>
    </p:spTree>
  </p:cSld>
  <p:clrMapOvr>
    <a:masterClrMapping/>
  </p:clrMapOvr>
  <p:transition>
    <p:cover dir="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980728"/>
            <a:ext cx="5904656" cy="5544616"/>
          </a:xfrm>
        </p:spPr>
        <p:txBody>
          <a:bodyPr/>
          <a:lstStyle/>
          <a:p>
            <a:pPr algn="just"/>
            <a:r>
              <a:rPr lang="es-CR" dirty="0" smtClean="0"/>
              <a:t>En resumen, la tendencia central o posición de un conjunto de datos, puede expresarse en varias formas o tomando en cuenta diferentes dimensiones, por ello la Estadística utiliza varias medidas de posición:</a:t>
            </a:r>
          </a:p>
          <a:p>
            <a:pPr>
              <a:buNone/>
            </a:pPr>
            <a:r>
              <a:rPr lang="es-CR" dirty="0" smtClean="0"/>
              <a:t>	</a:t>
            </a:r>
          </a:p>
          <a:p>
            <a:pPr>
              <a:buNone/>
            </a:pPr>
            <a:r>
              <a:rPr lang="es-CR" dirty="0" smtClean="0"/>
              <a:t>	a. Moda</a:t>
            </a:r>
          </a:p>
          <a:p>
            <a:pPr>
              <a:buNone/>
            </a:pPr>
            <a:r>
              <a:rPr lang="es-CR" dirty="0" smtClean="0"/>
              <a:t>	b. Mediana</a:t>
            </a:r>
          </a:p>
          <a:p>
            <a:pPr>
              <a:buNone/>
            </a:pPr>
            <a:r>
              <a:rPr lang="es-CR" dirty="0" smtClean="0"/>
              <a:t>	c. </a:t>
            </a:r>
            <a:r>
              <a:rPr lang="es-CR" dirty="0"/>
              <a:t>Media </a:t>
            </a:r>
            <a:r>
              <a:rPr lang="es-CR" dirty="0" smtClean="0"/>
              <a:t>aritmética o promedio</a:t>
            </a:r>
          </a:p>
          <a:p>
            <a:pPr>
              <a:buNone/>
            </a:pPr>
            <a:r>
              <a:rPr lang="es-CR" dirty="0" smtClean="0"/>
              <a:t>	d. Media geométrica</a:t>
            </a:r>
          </a:p>
          <a:p>
            <a:pPr>
              <a:buNone/>
            </a:pPr>
            <a:r>
              <a:rPr lang="es-CR" dirty="0" smtClean="0"/>
              <a:t>	e. Media armónica</a:t>
            </a:r>
          </a:p>
          <a:p>
            <a:pPr>
              <a:buNone/>
            </a:pPr>
            <a:r>
              <a:rPr lang="es-CR" dirty="0" smtClean="0"/>
              <a:t>	f. Cuantilos - percentiles</a:t>
            </a:r>
            <a:endParaRPr lang="es-CR" dirty="0"/>
          </a:p>
        </p:txBody>
      </p:sp>
      <p:sp>
        <p:nvSpPr>
          <p:cNvPr id="4" name="1 Título"/>
          <p:cNvSpPr>
            <a:spLocks noGrp="1"/>
          </p:cNvSpPr>
          <p:nvPr>
            <p:ph type="title"/>
          </p:nvPr>
        </p:nvSpPr>
        <p:spPr>
          <a:xfrm>
            <a:off x="395536" y="0"/>
            <a:ext cx="8352928" cy="908720"/>
          </a:xfrm>
        </p:spPr>
        <p:txBody>
          <a:bodyPr/>
          <a:lstStyle/>
          <a:p>
            <a:pPr algn="ctr"/>
            <a:r>
              <a:rPr lang="es-CR" dirty="0" smtClean="0"/>
              <a:t>Introducción</a:t>
            </a:r>
            <a:endParaRPr lang="es-CR" dirty="0"/>
          </a:p>
        </p:txBody>
      </p:sp>
      <p:sp>
        <p:nvSpPr>
          <p:cNvPr id="5" name="4 Cerrar llave"/>
          <p:cNvSpPr/>
          <p:nvPr/>
        </p:nvSpPr>
        <p:spPr>
          <a:xfrm>
            <a:off x="3275856" y="5085184"/>
            <a:ext cx="216024" cy="7200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6" name="5 Elipse"/>
          <p:cNvSpPr/>
          <p:nvPr/>
        </p:nvSpPr>
        <p:spPr>
          <a:xfrm>
            <a:off x="4067944" y="4869160"/>
            <a:ext cx="2088232" cy="15841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No vamos a verlas</a:t>
            </a:r>
            <a:endParaRPr lang="es-CR" dirty="0"/>
          </a:p>
        </p:txBody>
      </p:sp>
      <p:pic>
        <p:nvPicPr>
          <p:cNvPr id="13314" name="Picture 2" descr="http://deconceptos.com/wp-content/uploads/2008/11/introduccion.jpg"/>
          <p:cNvPicPr>
            <a:picLocks noChangeAspect="1" noChangeArrowheads="1"/>
          </p:cNvPicPr>
          <p:nvPr/>
        </p:nvPicPr>
        <p:blipFill>
          <a:blip r:embed="rId2" cstate="print"/>
          <a:srcRect/>
          <a:stretch>
            <a:fillRect/>
          </a:stretch>
        </p:blipFill>
        <p:spPr bwMode="auto">
          <a:xfrm>
            <a:off x="6300192" y="980728"/>
            <a:ext cx="2658008" cy="2808312"/>
          </a:xfrm>
          <a:prstGeom prst="rect">
            <a:avLst/>
          </a:prstGeom>
          <a:noFill/>
        </p:spPr>
      </p:pic>
      <p:pic>
        <p:nvPicPr>
          <p:cNvPr id="13316" name="Picture 4" descr="http://academic.uprm.edu/~morengo/fotos/Presentacionessobreintroduccinalapsicolo_12F69/downloadsicon47.jpg"/>
          <p:cNvPicPr>
            <a:picLocks noChangeAspect="1" noChangeArrowheads="1"/>
          </p:cNvPicPr>
          <p:nvPr/>
        </p:nvPicPr>
        <p:blipFill>
          <a:blip r:embed="rId3" cstate="print"/>
          <a:srcRect/>
          <a:stretch>
            <a:fillRect/>
          </a:stretch>
        </p:blipFill>
        <p:spPr bwMode="auto">
          <a:xfrm>
            <a:off x="6366950" y="4149080"/>
            <a:ext cx="2525530" cy="2520280"/>
          </a:xfrm>
          <a:prstGeom prst="rect">
            <a:avLst/>
          </a:prstGeom>
          <a:noFill/>
        </p:spPr>
      </p:pic>
    </p:spTree>
  </p:cSld>
  <p:clrMapOvr>
    <a:masterClrMapping/>
  </p:clrMapOvr>
  <p:transition>
    <p:cover dir="l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568952" cy="980728"/>
          </a:xfrm>
        </p:spPr>
        <p:txBody>
          <a:bodyPr/>
          <a:lstStyle/>
          <a:p>
            <a:pPr algn="ctr"/>
            <a:r>
              <a:rPr lang="es-CR" dirty="0" smtClean="0"/>
              <a:t>Las medidas de posición</a:t>
            </a:r>
            <a:endParaRPr lang="es-CR" dirty="0"/>
          </a:p>
        </p:txBody>
      </p:sp>
      <p:sp>
        <p:nvSpPr>
          <p:cNvPr id="4" name="3 Elipse"/>
          <p:cNvSpPr/>
          <p:nvPr/>
        </p:nvSpPr>
        <p:spPr>
          <a:xfrm>
            <a:off x="251520" y="980728"/>
            <a:ext cx="3960440" cy="252028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s-CR" sz="4400" dirty="0" smtClean="0"/>
              <a:t>Medidas de posición</a:t>
            </a:r>
            <a:endParaRPr lang="es-CR" sz="4400" dirty="0"/>
          </a:p>
        </p:txBody>
      </p:sp>
      <p:sp>
        <p:nvSpPr>
          <p:cNvPr id="5" name="4 Rectángulo redondeado"/>
          <p:cNvSpPr/>
          <p:nvPr/>
        </p:nvSpPr>
        <p:spPr>
          <a:xfrm>
            <a:off x="251520" y="4869160"/>
            <a:ext cx="2808312" cy="1512168"/>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3600" dirty="0" smtClean="0"/>
              <a:t>La moda</a:t>
            </a:r>
            <a:endParaRPr lang="es-CR" sz="3600" dirty="0"/>
          </a:p>
        </p:txBody>
      </p:sp>
      <p:sp>
        <p:nvSpPr>
          <p:cNvPr id="6" name="5 Rectángulo redondeado"/>
          <p:cNvSpPr/>
          <p:nvPr/>
        </p:nvSpPr>
        <p:spPr>
          <a:xfrm>
            <a:off x="3203848" y="4869160"/>
            <a:ext cx="2808312" cy="151216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CR" sz="3600" dirty="0" smtClean="0"/>
              <a:t>La mediana</a:t>
            </a:r>
            <a:endParaRPr lang="es-CR" sz="3600" dirty="0"/>
          </a:p>
        </p:txBody>
      </p:sp>
      <p:sp>
        <p:nvSpPr>
          <p:cNvPr id="7" name="6 Rectángulo redondeado"/>
          <p:cNvSpPr/>
          <p:nvPr/>
        </p:nvSpPr>
        <p:spPr>
          <a:xfrm>
            <a:off x="6018394" y="1484784"/>
            <a:ext cx="2808312" cy="151216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R" sz="2400" dirty="0" smtClean="0"/>
              <a:t>Media aritmética (promedio), simple o ponderada</a:t>
            </a:r>
            <a:endParaRPr lang="es-CR" sz="2400" dirty="0"/>
          </a:p>
        </p:txBody>
      </p:sp>
      <p:cxnSp>
        <p:nvCxnSpPr>
          <p:cNvPr id="9" name="8 Conector recto de flecha"/>
          <p:cNvCxnSpPr>
            <a:stCxn id="4" idx="3"/>
            <a:endCxn id="5" idx="0"/>
          </p:cNvCxnSpPr>
          <p:nvPr/>
        </p:nvCxnSpPr>
        <p:spPr>
          <a:xfrm>
            <a:off x="831513" y="3131922"/>
            <a:ext cx="824163" cy="1737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a:stCxn id="4" idx="4"/>
            <a:endCxn id="6" idx="0"/>
          </p:cNvCxnSpPr>
          <p:nvPr/>
        </p:nvCxnSpPr>
        <p:spPr>
          <a:xfrm>
            <a:off x="2231740" y="3501008"/>
            <a:ext cx="2376264" cy="13681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a:stCxn id="4" idx="6"/>
            <a:endCxn id="7" idx="1"/>
          </p:cNvCxnSpPr>
          <p:nvPr/>
        </p:nvCxnSpPr>
        <p:spPr>
          <a:xfrm>
            <a:off x="4211960" y="2240868"/>
            <a:ext cx="180643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Conector recto de flecha 23"/>
          <p:cNvCxnSpPr/>
          <p:nvPr/>
        </p:nvCxnSpPr>
        <p:spPr>
          <a:xfrm>
            <a:off x="6012160" y="5625244"/>
            <a:ext cx="4320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5 Rectángulo redondeado"/>
          <p:cNvSpPr/>
          <p:nvPr/>
        </p:nvSpPr>
        <p:spPr>
          <a:xfrm>
            <a:off x="6588224" y="4869160"/>
            <a:ext cx="2376264" cy="1512168"/>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s-CR" sz="3600" dirty="0" smtClean="0"/>
              <a:t>Percentil</a:t>
            </a:r>
            <a:endParaRPr lang="es-CR" sz="3600" dirty="0"/>
          </a:p>
        </p:txBody>
      </p:sp>
    </p:spTree>
  </p:cSld>
  <p:clrMapOvr>
    <a:masterClrMapping/>
  </p:clrMapOvr>
  <p:transition>
    <p:cover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smtClean="0"/>
              <a:t>Índice </a:t>
            </a:r>
            <a:endParaRPr lang="es-CR" dirty="0"/>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
        <p:nvSpPr>
          <p:cNvPr id="11"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moda</a:t>
            </a:r>
            <a:endParaRPr lang="es-CR" dirty="0"/>
          </a:p>
        </p:txBody>
      </p:sp>
    </p:spTree>
    <p:extLst>
      <p:ext uri="{BB962C8B-B14F-4D97-AF65-F5344CB8AC3E}">
        <p14:creationId xmlns:p14="http://schemas.microsoft.com/office/powerpoint/2010/main" val="28179687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0"/>
            <a:ext cx="8424936" cy="836712"/>
          </a:xfrm>
        </p:spPr>
        <p:txBody>
          <a:bodyPr/>
          <a:lstStyle/>
          <a:p>
            <a:pPr algn="ctr"/>
            <a:r>
              <a:rPr lang="es-CR" dirty="0" smtClean="0"/>
              <a:t>La moda (Mo)</a:t>
            </a:r>
            <a:endParaRPr lang="es-CR" dirty="0"/>
          </a:p>
        </p:txBody>
      </p:sp>
      <p:sp>
        <p:nvSpPr>
          <p:cNvPr id="3" name="2 Marcador de contenido"/>
          <p:cNvSpPr>
            <a:spLocks noGrp="1"/>
          </p:cNvSpPr>
          <p:nvPr>
            <p:ph sz="quarter" idx="1"/>
          </p:nvPr>
        </p:nvSpPr>
        <p:spPr>
          <a:xfrm>
            <a:off x="179512" y="1052736"/>
            <a:ext cx="6192688" cy="5616624"/>
          </a:xfrm>
        </p:spPr>
        <p:txBody>
          <a:bodyPr>
            <a:normAutofit/>
          </a:bodyPr>
          <a:lstStyle/>
          <a:p>
            <a:r>
              <a:rPr lang="es-CR" dirty="0" smtClean="0"/>
              <a:t>Esta medida de posición se asocia con el valor más común, más típico o que ocurre más frecuentemente en un conjunto de datos.</a:t>
            </a:r>
          </a:p>
          <a:p>
            <a:endParaRPr lang="es-CR" dirty="0" smtClean="0"/>
          </a:p>
          <a:p>
            <a:r>
              <a:rPr lang="es-CR" dirty="0" smtClean="0"/>
              <a:t>Se define como el valor al cual corresponde la mayor frecuencia.</a:t>
            </a:r>
          </a:p>
          <a:p>
            <a:endParaRPr lang="es-CR" dirty="0" smtClean="0"/>
          </a:p>
          <a:p>
            <a:r>
              <a:rPr lang="es-CR" dirty="0" smtClean="0"/>
              <a:t>Sea el siguiente conjunto de datos:</a:t>
            </a:r>
          </a:p>
          <a:p>
            <a:endParaRPr lang="es-CR" dirty="0" smtClean="0"/>
          </a:p>
          <a:p>
            <a:endParaRPr lang="es-CR" dirty="0" smtClean="0"/>
          </a:p>
          <a:p>
            <a:endParaRPr lang="es-CR" dirty="0" smtClean="0"/>
          </a:p>
          <a:p>
            <a:r>
              <a:rPr lang="es-CR" dirty="0" smtClean="0"/>
              <a:t>¿Cuál sería la moda en este caso?</a:t>
            </a:r>
            <a:endParaRPr lang="es-CR" dirty="0"/>
          </a:p>
        </p:txBody>
      </p:sp>
      <p:sp>
        <p:nvSpPr>
          <p:cNvPr id="102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02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0243"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95536" y="5013176"/>
            <a:ext cx="7423370" cy="648072"/>
          </a:xfrm>
          <a:prstGeom prst="rect">
            <a:avLst/>
          </a:prstGeom>
          <a:noFill/>
        </p:spPr>
      </p:pic>
      <p:pic>
        <p:nvPicPr>
          <p:cNvPr id="11268" name="Picture 4" descr="http://www.laguia2000.com/wp-content/uploads/2008/05/el-bien-comun.jpg"/>
          <p:cNvPicPr>
            <a:picLocks noChangeAspect="1" noChangeArrowheads="1"/>
          </p:cNvPicPr>
          <p:nvPr/>
        </p:nvPicPr>
        <p:blipFill>
          <a:blip r:embed="rId3" cstate="print"/>
          <a:srcRect/>
          <a:stretch>
            <a:fillRect/>
          </a:stretch>
        </p:blipFill>
        <p:spPr bwMode="auto">
          <a:xfrm>
            <a:off x="6084168" y="1124744"/>
            <a:ext cx="2857500" cy="3528392"/>
          </a:xfrm>
          <a:prstGeom prst="rect">
            <a:avLst/>
          </a:prstGeom>
          <a:noFill/>
        </p:spPr>
      </p:pic>
    </p:spTree>
  </p:cSld>
  <p:clrMapOvr>
    <a:masterClrMapping/>
  </p:clrMapOvr>
  <p:transition>
    <p:cover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496" y="836712"/>
            <a:ext cx="6696744" cy="5832648"/>
          </a:xfrm>
        </p:spPr>
        <p:txBody>
          <a:bodyPr/>
          <a:lstStyle/>
          <a:p>
            <a:r>
              <a:rPr lang="es-CR" dirty="0" smtClean="0"/>
              <a:t>La moda es una medida muy natural para describir un conjunto de datos, su concepto se adquiere fácilmente: es el dato más común.</a:t>
            </a:r>
          </a:p>
          <a:p>
            <a:endParaRPr lang="es-CR" dirty="0" smtClean="0"/>
          </a:p>
          <a:p>
            <a:r>
              <a:rPr lang="es-CR" dirty="0" smtClean="0"/>
              <a:t>La principal limitación está en el hecho de que requiere un número suficiente de observaciones para que se manifieste o se defina claramente. </a:t>
            </a:r>
          </a:p>
          <a:p>
            <a:endParaRPr lang="es-CR" dirty="0" smtClean="0"/>
          </a:p>
          <a:p>
            <a:r>
              <a:rPr lang="es-CR" dirty="0" smtClean="0"/>
              <a:t>La moda en ciertos casos puede no existir, no estar definida, e incluso si existe puede no ser única.</a:t>
            </a:r>
          </a:p>
          <a:p>
            <a:endParaRPr lang="es-CR" dirty="0" smtClean="0"/>
          </a:p>
          <a:p>
            <a:r>
              <a:rPr lang="es-CR" dirty="0" smtClean="0"/>
              <a:t>En éste ultimo caso, la serie de datos tiene más de un valor modal.</a:t>
            </a:r>
            <a:endParaRPr lang="es-CR" dirty="0"/>
          </a:p>
        </p:txBody>
      </p:sp>
      <p:sp>
        <p:nvSpPr>
          <p:cNvPr id="4" name="1 Título"/>
          <p:cNvSpPr>
            <a:spLocks noGrp="1"/>
          </p:cNvSpPr>
          <p:nvPr>
            <p:ph type="title"/>
          </p:nvPr>
        </p:nvSpPr>
        <p:spPr>
          <a:xfrm>
            <a:off x="395536" y="0"/>
            <a:ext cx="8424936" cy="764704"/>
          </a:xfrm>
        </p:spPr>
        <p:txBody>
          <a:bodyPr/>
          <a:lstStyle/>
          <a:p>
            <a:pPr algn="ctr"/>
            <a:r>
              <a:rPr lang="es-CR" dirty="0" smtClean="0"/>
              <a:t>La moda (Mo)</a:t>
            </a:r>
            <a:endParaRPr lang="es-CR" dirty="0"/>
          </a:p>
        </p:txBody>
      </p:sp>
      <p:pic>
        <p:nvPicPr>
          <p:cNvPr id="5" name="Picture 2" descr="http://www.tadega.net/Fotos/d/36858-1/repetir.jpg"/>
          <p:cNvPicPr>
            <a:picLocks noChangeAspect="1" noChangeArrowheads="1"/>
          </p:cNvPicPr>
          <p:nvPr/>
        </p:nvPicPr>
        <p:blipFill>
          <a:blip r:embed="rId2" cstate="print"/>
          <a:srcRect/>
          <a:stretch>
            <a:fillRect/>
          </a:stretch>
        </p:blipFill>
        <p:spPr bwMode="auto">
          <a:xfrm>
            <a:off x="6588224" y="1052736"/>
            <a:ext cx="2169241" cy="2304256"/>
          </a:xfrm>
          <a:prstGeom prst="rect">
            <a:avLst/>
          </a:prstGeom>
          <a:noFill/>
        </p:spPr>
      </p:pic>
      <p:pic>
        <p:nvPicPr>
          <p:cNvPr id="10242" name="Picture 2" descr="http://www.equalceline.it/grafic/img/equal.jpg"/>
          <p:cNvPicPr>
            <a:picLocks noChangeAspect="1" noChangeArrowheads="1"/>
          </p:cNvPicPr>
          <p:nvPr/>
        </p:nvPicPr>
        <p:blipFill>
          <a:blip r:embed="rId3" cstate="print"/>
          <a:srcRect/>
          <a:stretch>
            <a:fillRect/>
          </a:stretch>
        </p:blipFill>
        <p:spPr bwMode="auto">
          <a:xfrm>
            <a:off x="6444208" y="3501008"/>
            <a:ext cx="2486778" cy="3096344"/>
          </a:xfrm>
          <a:prstGeom prst="rect">
            <a:avLst/>
          </a:prstGeom>
          <a:noFill/>
        </p:spPr>
      </p:pic>
    </p:spTree>
  </p:cSld>
  <p:clrMapOvr>
    <a:masterClrMapping/>
  </p:clrMapOvr>
  <p:transition>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908720"/>
            <a:ext cx="6480720" cy="5949280"/>
          </a:xfrm>
        </p:spPr>
        <p:txBody>
          <a:bodyPr>
            <a:normAutofit lnSpcReduction="10000"/>
          </a:bodyPr>
          <a:lstStyle/>
          <a:p>
            <a:r>
              <a:rPr lang="es-CR" dirty="0" smtClean="0"/>
              <a:t>Por ejemplo, sea la siguiente serie de datos:</a:t>
            </a:r>
          </a:p>
          <a:p>
            <a:endParaRPr lang="es-CR" dirty="0" smtClean="0"/>
          </a:p>
          <a:p>
            <a:endParaRPr lang="es-CR" dirty="0" smtClean="0"/>
          </a:p>
          <a:p>
            <a:pPr>
              <a:buNone/>
            </a:pPr>
            <a:r>
              <a:rPr lang="es-CR" dirty="0" smtClean="0"/>
              <a:t>En este caso no hay una moda definida.</a:t>
            </a:r>
          </a:p>
          <a:p>
            <a:endParaRPr lang="es-CR" dirty="0" smtClean="0"/>
          </a:p>
          <a:p>
            <a:r>
              <a:rPr lang="es-CR" dirty="0" smtClean="0"/>
              <a:t>En este otro caso:</a:t>
            </a:r>
          </a:p>
          <a:p>
            <a:endParaRPr lang="es-CR" dirty="0" smtClean="0"/>
          </a:p>
          <a:p>
            <a:endParaRPr lang="es-CR" dirty="0" smtClean="0"/>
          </a:p>
          <a:p>
            <a:pPr>
              <a:buNone/>
            </a:pPr>
            <a:r>
              <a:rPr lang="es-CR" dirty="0" smtClean="0"/>
              <a:t>Se presentan 2 modas, ya que los valores 55 y 73 se repiten tres veces.</a:t>
            </a:r>
          </a:p>
          <a:p>
            <a:pPr>
              <a:buNone/>
            </a:pPr>
            <a:endParaRPr lang="es-CR" dirty="0" smtClean="0"/>
          </a:p>
          <a:p>
            <a:r>
              <a:rPr lang="es-CR" dirty="0" smtClean="0"/>
              <a:t>En estos 2 últimos ejemplos, la utilidad de la moda es muy reducida y difícil de interpretar por tener pocos datos.</a:t>
            </a:r>
          </a:p>
        </p:txBody>
      </p:sp>
      <p:sp>
        <p:nvSpPr>
          <p:cNvPr id="4" name="1 Título"/>
          <p:cNvSpPr>
            <a:spLocks noGrp="1"/>
          </p:cNvSpPr>
          <p:nvPr>
            <p:ph type="title"/>
          </p:nvPr>
        </p:nvSpPr>
        <p:spPr>
          <a:xfrm>
            <a:off x="395536" y="0"/>
            <a:ext cx="8424936" cy="764704"/>
          </a:xfrm>
        </p:spPr>
        <p:txBody>
          <a:bodyPr/>
          <a:lstStyle/>
          <a:p>
            <a:pPr algn="ctr"/>
            <a:r>
              <a:rPr lang="es-CR" dirty="0" smtClean="0"/>
              <a:t>La moda (Mo)</a:t>
            </a:r>
            <a:endParaRPr lang="es-CR" dirty="0"/>
          </a:p>
        </p:txBody>
      </p:sp>
      <p:sp>
        <p:nvSpPr>
          <p:cNvPr id="81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83568" y="1700808"/>
            <a:ext cx="5813009" cy="576064"/>
          </a:xfrm>
          <a:prstGeom prst="rect">
            <a:avLst/>
          </a:prstGeom>
          <a:noFill/>
        </p:spPr>
      </p:pic>
      <p:sp>
        <p:nvSpPr>
          <p:cNvPr id="819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5"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83568" y="3645024"/>
            <a:ext cx="5544616" cy="589283"/>
          </a:xfrm>
          <a:prstGeom prst="rect">
            <a:avLst/>
          </a:prstGeom>
          <a:noFill/>
        </p:spPr>
      </p:pic>
      <p:pic>
        <p:nvPicPr>
          <p:cNvPr id="9218" name="Picture 2" descr="http://www.telefonica.net/web2/fuorva/graficos/proteccion%20datos.jpg"/>
          <p:cNvPicPr>
            <a:picLocks noChangeAspect="1" noChangeArrowheads="1"/>
          </p:cNvPicPr>
          <p:nvPr/>
        </p:nvPicPr>
        <p:blipFill>
          <a:blip r:embed="rId4" cstate="print"/>
          <a:srcRect/>
          <a:stretch>
            <a:fillRect/>
          </a:stretch>
        </p:blipFill>
        <p:spPr bwMode="auto">
          <a:xfrm>
            <a:off x="6660232" y="980728"/>
            <a:ext cx="2083141" cy="2520280"/>
          </a:xfrm>
          <a:prstGeom prst="rect">
            <a:avLst/>
          </a:prstGeom>
          <a:noFill/>
        </p:spPr>
      </p:pic>
      <p:pic>
        <p:nvPicPr>
          <p:cNvPr id="9220" name="Picture 4" descr="http://www.cienladrillos.com/images/2008/02/datos.jpg"/>
          <p:cNvPicPr>
            <a:picLocks noChangeAspect="1" noChangeArrowheads="1"/>
          </p:cNvPicPr>
          <p:nvPr/>
        </p:nvPicPr>
        <p:blipFill>
          <a:blip r:embed="rId5" cstate="print"/>
          <a:srcRect/>
          <a:stretch>
            <a:fillRect/>
          </a:stretch>
        </p:blipFill>
        <p:spPr bwMode="auto">
          <a:xfrm>
            <a:off x="6804248" y="3789040"/>
            <a:ext cx="2088232" cy="2736304"/>
          </a:xfrm>
          <a:prstGeom prst="rect">
            <a:avLst/>
          </a:prstGeom>
          <a:noFill/>
        </p:spPr>
      </p:pic>
    </p:spTree>
  </p:cSld>
  <p:clrMapOvr>
    <a:masterClrMapping/>
  </p:clrMapOvr>
  <p:transition>
    <p:cover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980728"/>
            <a:ext cx="7772400" cy="5688632"/>
          </a:xfrm>
        </p:spPr>
        <p:txBody>
          <a:bodyPr>
            <a:normAutofit lnSpcReduction="10000"/>
          </a:bodyPr>
          <a:lstStyle/>
          <a:p>
            <a:r>
              <a:rPr lang="es-CR" dirty="0" smtClean="0"/>
              <a:t>Finalmente, la moda se puede aplicar para datos cuantitativos como cualitativos.</a:t>
            </a:r>
          </a:p>
          <a:p>
            <a:endParaRPr lang="es-CR" dirty="0" smtClean="0"/>
          </a:p>
          <a:p>
            <a:r>
              <a:rPr lang="es-CR" dirty="0" smtClean="0"/>
              <a:t>Ejemplo: marcas de computadoras</a:t>
            </a:r>
          </a:p>
          <a:p>
            <a:endParaRPr lang="es-CR" dirty="0" smtClean="0"/>
          </a:p>
          <a:p>
            <a:endParaRPr lang="es-CR" dirty="0" smtClean="0"/>
          </a:p>
          <a:p>
            <a:endParaRPr lang="es-CR" dirty="0" smtClean="0"/>
          </a:p>
          <a:p>
            <a:endParaRPr lang="es-CR" dirty="0" smtClean="0"/>
          </a:p>
          <a:p>
            <a:endParaRPr lang="es-CR" dirty="0" smtClean="0"/>
          </a:p>
          <a:p>
            <a:endParaRPr lang="es-CR" dirty="0" smtClean="0"/>
          </a:p>
          <a:p>
            <a:pPr algn="ctr">
              <a:buNone/>
            </a:pPr>
            <a:endParaRPr lang="es-CR" dirty="0" smtClean="0"/>
          </a:p>
          <a:p>
            <a:pPr algn="ctr">
              <a:buNone/>
            </a:pPr>
            <a:r>
              <a:rPr lang="es-CR" sz="4800" dirty="0" smtClean="0"/>
              <a:t>¿Cuál es la moda?</a:t>
            </a:r>
          </a:p>
        </p:txBody>
      </p:sp>
      <p:sp>
        <p:nvSpPr>
          <p:cNvPr id="4" name="1 Título"/>
          <p:cNvSpPr>
            <a:spLocks noGrp="1"/>
          </p:cNvSpPr>
          <p:nvPr>
            <p:ph type="title"/>
          </p:nvPr>
        </p:nvSpPr>
        <p:spPr>
          <a:xfrm>
            <a:off x="395536" y="0"/>
            <a:ext cx="8424936" cy="764704"/>
          </a:xfrm>
        </p:spPr>
        <p:txBody>
          <a:bodyPr/>
          <a:lstStyle/>
          <a:p>
            <a:pPr algn="ctr"/>
            <a:r>
              <a:rPr lang="es-CR" dirty="0" smtClean="0"/>
              <a:t>La moda (Mo)</a:t>
            </a:r>
            <a:endParaRPr lang="es-CR" dirty="0"/>
          </a:p>
        </p:txBody>
      </p:sp>
      <p:graphicFrame>
        <p:nvGraphicFramePr>
          <p:cNvPr id="5" name="4 Tabla"/>
          <p:cNvGraphicFramePr>
            <a:graphicFrameLocks noGrp="1"/>
          </p:cNvGraphicFramePr>
          <p:nvPr/>
        </p:nvGraphicFramePr>
        <p:xfrm>
          <a:off x="755576" y="2996952"/>
          <a:ext cx="7920882" cy="2520282"/>
        </p:xfrm>
        <a:graphic>
          <a:graphicData uri="http://schemas.openxmlformats.org/drawingml/2006/table">
            <a:tbl>
              <a:tblPr/>
              <a:tblGrid>
                <a:gridCol w="1319853"/>
                <a:gridCol w="1319853"/>
                <a:gridCol w="1319853"/>
                <a:gridCol w="1319853"/>
                <a:gridCol w="1320735"/>
                <a:gridCol w="1320735"/>
              </a:tblGrid>
              <a:tr h="420047">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Dell</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Acer</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Acer</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HP</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HP</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Dell</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Dell</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Dell</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HP</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Dell</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Acer</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Dell</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smtClean="0"/>
              <a:t>Índice </a:t>
            </a:r>
            <a:endParaRPr lang="es-CR" dirty="0"/>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
        <p:nvSpPr>
          <p:cNvPr id="11"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moda</a:t>
            </a:r>
            <a:endParaRPr lang="es-CR" dirty="0"/>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mediana</a:t>
            </a:r>
            <a:endParaRPr lang="es-CR" dirty="0"/>
          </a:p>
        </p:txBody>
      </p:sp>
    </p:spTree>
    <p:extLst>
      <p:ext uri="{BB962C8B-B14F-4D97-AF65-F5344CB8AC3E}">
        <p14:creationId xmlns:p14="http://schemas.microsoft.com/office/powerpoint/2010/main" val="27925964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568952" cy="836712"/>
          </a:xfrm>
        </p:spPr>
        <p:txBody>
          <a:bodyPr/>
          <a:lstStyle/>
          <a:p>
            <a:pPr algn="ctr"/>
            <a:r>
              <a:rPr lang="es-CR" dirty="0" smtClean="0"/>
              <a:t>La mediana</a:t>
            </a:r>
            <a:endParaRPr lang="es-CR" dirty="0"/>
          </a:p>
        </p:txBody>
      </p:sp>
      <p:sp>
        <p:nvSpPr>
          <p:cNvPr id="3" name="2 Marcador de contenido"/>
          <p:cNvSpPr>
            <a:spLocks noGrp="1"/>
          </p:cNvSpPr>
          <p:nvPr>
            <p:ph sz="quarter" idx="1"/>
          </p:nvPr>
        </p:nvSpPr>
        <p:spPr>
          <a:xfrm>
            <a:off x="35496" y="980728"/>
            <a:ext cx="6336704" cy="5616624"/>
          </a:xfrm>
        </p:spPr>
        <p:txBody>
          <a:bodyPr/>
          <a:lstStyle/>
          <a:p>
            <a:r>
              <a:rPr lang="es-CR" dirty="0" smtClean="0"/>
              <a:t>La mediana se define como el valor central de una serie de datos ordenados de tal forma que no más de la mitad de las observaciones son menores que ese valor, y no más de la mitad son mayores a este valor.</a:t>
            </a:r>
          </a:p>
          <a:p>
            <a:endParaRPr lang="es-CR" dirty="0" smtClean="0"/>
          </a:p>
          <a:p>
            <a:r>
              <a:rPr lang="es-CR" dirty="0" smtClean="0"/>
              <a:t>Para calcular la mediana es necesario, en primero lugar, ordenar los datos de acuerdo a su magnitud. Luego se determina el valor central de la serie, y esa es la mediana.</a:t>
            </a:r>
          </a:p>
          <a:p>
            <a:endParaRPr lang="es-CR" dirty="0" smtClean="0"/>
          </a:p>
          <a:p>
            <a:r>
              <a:rPr lang="es-CR" dirty="0" smtClean="0"/>
              <a:t>La mediana tiene 2 formas de calcularse: si se tiene un conjunto total de datos sea par o impar.</a:t>
            </a:r>
            <a:endParaRPr lang="es-CR" dirty="0"/>
          </a:p>
        </p:txBody>
      </p:sp>
      <p:pic>
        <p:nvPicPr>
          <p:cNvPr id="7170" name="Picture 2" descr="http://img81.imageshack.us/img81/1535/0040039tatuajetribalxr6.jpg"/>
          <p:cNvPicPr>
            <a:picLocks noChangeAspect="1" noChangeArrowheads="1"/>
          </p:cNvPicPr>
          <p:nvPr/>
        </p:nvPicPr>
        <p:blipFill>
          <a:blip r:embed="rId2" cstate="print"/>
          <a:srcRect/>
          <a:stretch>
            <a:fillRect/>
          </a:stretch>
        </p:blipFill>
        <p:spPr bwMode="auto">
          <a:xfrm>
            <a:off x="6372200" y="836712"/>
            <a:ext cx="2592288" cy="2592288"/>
          </a:xfrm>
          <a:prstGeom prst="rect">
            <a:avLst/>
          </a:prstGeom>
          <a:noFill/>
        </p:spPr>
      </p:pic>
      <p:pic>
        <p:nvPicPr>
          <p:cNvPr id="7172" name="Picture 4" descr="http://claritavasco.files.wordpress.com/2010/02/ley-de-simetria.jpg"/>
          <p:cNvPicPr>
            <a:picLocks noChangeAspect="1" noChangeArrowheads="1"/>
          </p:cNvPicPr>
          <p:nvPr/>
        </p:nvPicPr>
        <p:blipFill>
          <a:blip r:embed="rId3" cstate="print"/>
          <a:srcRect/>
          <a:stretch>
            <a:fillRect/>
          </a:stretch>
        </p:blipFill>
        <p:spPr bwMode="auto">
          <a:xfrm>
            <a:off x="6372200" y="3933055"/>
            <a:ext cx="2448272" cy="2479263"/>
          </a:xfrm>
          <a:prstGeom prst="rect">
            <a:avLst/>
          </a:prstGeom>
          <a:noFill/>
        </p:spPr>
      </p:pic>
    </p:spTree>
  </p:cSld>
  <p:clrMapOvr>
    <a:masterClrMapping/>
  </p:clrMapOvr>
  <p:transition>
    <p:wheel spokes="3"/>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a:xfrm>
            <a:off x="323528" y="4509120"/>
            <a:ext cx="8424936" cy="2016224"/>
          </a:xfrm>
        </p:spPr>
        <p:txBody>
          <a:bodyPr/>
          <a:lstStyle/>
          <a:p>
            <a:endParaRPr lang="es-CR" dirty="0" smtClean="0"/>
          </a:p>
          <a:p>
            <a:pPr algn="ctr">
              <a:buNone/>
            </a:pPr>
            <a:r>
              <a:rPr lang="es-CR" dirty="0" smtClean="0"/>
              <a:t>¡</a:t>
            </a:r>
            <a:r>
              <a:rPr lang="es-CR" sz="2800" dirty="0" smtClean="0"/>
              <a:t>NO CONFUNDIR EL TÉRMINO EN DONDE SE ENCUENTRA LA MEDIANA CON RESPECTO AL VALOR DE ESTA!</a:t>
            </a:r>
            <a:endParaRPr lang="es-CR" sz="2800" dirty="0"/>
          </a:p>
        </p:txBody>
      </p:sp>
      <p:pic>
        <p:nvPicPr>
          <p:cNvPr id="4" name="Picture 2" descr="http://cms7.blogia.com/blogs/m/mi/mic/micarrusel/upload/20070226090436-atencion-.gif"/>
          <p:cNvPicPr>
            <a:picLocks noChangeAspect="1" noChangeArrowheads="1"/>
          </p:cNvPicPr>
          <p:nvPr/>
        </p:nvPicPr>
        <p:blipFill>
          <a:blip r:embed="rId2" cstate="print"/>
          <a:srcRect/>
          <a:stretch>
            <a:fillRect/>
          </a:stretch>
        </p:blipFill>
        <p:spPr bwMode="auto">
          <a:xfrm>
            <a:off x="0" y="0"/>
            <a:ext cx="5220072" cy="3693202"/>
          </a:xfrm>
          <a:prstGeom prst="rect">
            <a:avLst/>
          </a:prstGeom>
          <a:noFill/>
        </p:spPr>
      </p:pic>
      <p:pic>
        <p:nvPicPr>
          <p:cNvPr id="28674" name="Picture 2" descr="http://www.eprinsa.net/campus/file.php/1/Imagenes/Mascotas/ATENCION.gif"/>
          <p:cNvPicPr>
            <a:picLocks noChangeAspect="1" noChangeArrowheads="1"/>
          </p:cNvPicPr>
          <p:nvPr/>
        </p:nvPicPr>
        <p:blipFill>
          <a:blip r:embed="rId3" cstate="print"/>
          <a:srcRect/>
          <a:stretch>
            <a:fillRect/>
          </a:stretch>
        </p:blipFill>
        <p:spPr bwMode="auto">
          <a:xfrm>
            <a:off x="5131670" y="0"/>
            <a:ext cx="3976834" cy="3789040"/>
          </a:xfrm>
          <a:prstGeom prst="rect">
            <a:avLst/>
          </a:prstGeom>
          <a:noFill/>
        </p:spPr>
      </p:pic>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052736"/>
            <a:ext cx="7848872" cy="5112568"/>
          </a:xfrm>
        </p:spPr>
        <p:txBody>
          <a:bodyPr/>
          <a:lstStyle/>
          <a:p>
            <a:pPr>
              <a:buNone/>
            </a:pPr>
            <a:r>
              <a:rPr lang="es-CR" u="sng" dirty="0" smtClean="0"/>
              <a:t>Datos impar</a:t>
            </a:r>
          </a:p>
          <a:p>
            <a:pPr>
              <a:buNone/>
            </a:pPr>
            <a:endParaRPr lang="es-CR" u="sng" dirty="0" smtClean="0"/>
          </a:p>
          <a:p>
            <a:pPr>
              <a:buNone/>
            </a:pPr>
            <a:endParaRPr lang="es-CR" u="sng" dirty="0" smtClean="0"/>
          </a:p>
          <a:p>
            <a:pPr>
              <a:buNone/>
            </a:pPr>
            <a:r>
              <a:rPr lang="es-CR" dirty="0" smtClean="0"/>
              <a:t>La mediana se encuentra en el siguiente término:</a:t>
            </a:r>
          </a:p>
          <a:p>
            <a:pPr>
              <a:buNone/>
            </a:pPr>
            <a:endParaRPr lang="es-CR" dirty="0" smtClean="0"/>
          </a:p>
          <a:p>
            <a:pPr>
              <a:buNone/>
            </a:pPr>
            <a:endParaRPr lang="es-CR" dirty="0" smtClean="0"/>
          </a:p>
          <a:p>
            <a:pPr>
              <a:buNone/>
            </a:pPr>
            <a:endParaRPr lang="es-CR" dirty="0" smtClean="0"/>
          </a:p>
          <a:p>
            <a:pPr>
              <a:buNone/>
            </a:pPr>
            <a:r>
              <a:rPr lang="es-CR" dirty="0" smtClean="0"/>
              <a:t>Ahora, la media sería el valor del 4</a:t>
            </a:r>
            <a:r>
              <a:rPr lang="es-CR" baseline="30000" dirty="0" smtClean="0"/>
              <a:t>to</a:t>
            </a:r>
            <a:r>
              <a:rPr lang="es-CR" dirty="0" smtClean="0"/>
              <a:t> término, lo que ahora si daría valor de la mediana:</a:t>
            </a:r>
          </a:p>
          <a:p>
            <a:pPr>
              <a:buNone/>
            </a:pPr>
            <a:endParaRPr lang="es-CR" dirty="0" smtClean="0"/>
          </a:p>
          <a:p>
            <a:pPr>
              <a:buNone/>
            </a:pPr>
            <a:endParaRPr lang="es-CR" dirty="0" smtClean="0"/>
          </a:p>
          <a:p>
            <a:pPr>
              <a:buNone/>
            </a:pPr>
            <a:endParaRPr lang="es-CR" dirty="0" smtClean="0"/>
          </a:p>
          <a:p>
            <a:pPr>
              <a:buNone/>
            </a:pPr>
            <a:endParaRPr lang="es-CR" dirty="0" smtClean="0"/>
          </a:p>
          <a:p>
            <a:pPr>
              <a:buNone/>
            </a:pPr>
            <a:endParaRPr lang="es-CR" dirty="0" smtClean="0"/>
          </a:p>
          <a:p>
            <a:pPr>
              <a:buNone/>
            </a:pPr>
            <a:endParaRPr lang="es-CR" dirty="0" smtClean="0"/>
          </a:p>
          <a:p>
            <a:pPr>
              <a:buNone/>
            </a:pPr>
            <a:endParaRPr lang="es-CR" dirty="0"/>
          </a:p>
        </p:txBody>
      </p:sp>
      <p:sp>
        <p:nvSpPr>
          <p:cNvPr id="4" name="1 Título"/>
          <p:cNvSpPr>
            <a:spLocks noGrp="1"/>
          </p:cNvSpPr>
          <p:nvPr>
            <p:ph type="title"/>
          </p:nvPr>
        </p:nvSpPr>
        <p:spPr>
          <a:xfrm>
            <a:off x="251520" y="0"/>
            <a:ext cx="8568952" cy="836712"/>
          </a:xfrm>
        </p:spPr>
        <p:txBody>
          <a:bodyPr/>
          <a:lstStyle/>
          <a:p>
            <a:pPr algn="ctr"/>
            <a:r>
              <a:rPr lang="es-CR" dirty="0" smtClean="0"/>
              <a:t>La mediana: conjunto impar</a:t>
            </a:r>
            <a:endParaRPr lang="es-CR" dirty="0"/>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55576" y="1645560"/>
            <a:ext cx="6657467" cy="631312"/>
          </a:xfrm>
          <a:prstGeom prst="rect">
            <a:avLst/>
          </a:prstGeom>
          <a:noFill/>
        </p:spPr>
      </p:pic>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5" name="Picture 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11560" y="3212976"/>
            <a:ext cx="5040560" cy="744628"/>
          </a:xfrm>
          <a:prstGeom prst="rect">
            <a:avLst/>
          </a:prstGeom>
          <a:noFill/>
        </p:spPr>
      </p:pic>
      <p:sp>
        <p:nvSpPr>
          <p:cNvPr id="512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7" name="Picture 7"/>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771800" y="5661248"/>
            <a:ext cx="2448272" cy="528058"/>
          </a:xfrm>
          <a:prstGeom prst="rect">
            <a:avLst/>
          </a:prstGeom>
          <a:noFill/>
        </p:spPr>
      </p:pic>
    </p:spTree>
  </p:cSld>
  <p:clrMapOvr>
    <a:masterClrMapping/>
  </p:clrMapOvr>
  <p:transition>
    <p:newsfla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052736"/>
            <a:ext cx="8568952" cy="5040560"/>
          </a:xfrm>
        </p:spPr>
        <p:txBody>
          <a:bodyPr/>
          <a:lstStyle/>
          <a:p>
            <a:pPr>
              <a:buNone/>
            </a:pPr>
            <a:r>
              <a:rPr lang="es-CR" dirty="0" smtClean="0"/>
              <a:t>	</a:t>
            </a:r>
            <a:r>
              <a:rPr lang="es-CR" u="sng" dirty="0" smtClean="0"/>
              <a:t>Datos par</a:t>
            </a:r>
          </a:p>
          <a:p>
            <a:pPr>
              <a:buNone/>
            </a:pPr>
            <a:endParaRPr lang="es-CR" u="sng" dirty="0" smtClean="0"/>
          </a:p>
          <a:p>
            <a:pPr>
              <a:buNone/>
            </a:pPr>
            <a:endParaRPr lang="es-CR" u="sng" dirty="0" smtClean="0"/>
          </a:p>
          <a:p>
            <a:pPr>
              <a:buNone/>
            </a:pPr>
            <a:r>
              <a:rPr lang="es-CR" dirty="0" smtClean="0"/>
              <a:t>	La mediana se encuentra en el siguiente término:</a:t>
            </a:r>
          </a:p>
          <a:p>
            <a:pPr>
              <a:buNone/>
            </a:pPr>
            <a:endParaRPr lang="es-CR" dirty="0" smtClean="0"/>
          </a:p>
          <a:p>
            <a:pPr>
              <a:buNone/>
            </a:pPr>
            <a:endParaRPr lang="es-CR" dirty="0" smtClean="0"/>
          </a:p>
          <a:p>
            <a:pPr>
              <a:buNone/>
            </a:pPr>
            <a:endParaRPr lang="es-CR" dirty="0" smtClean="0"/>
          </a:p>
          <a:p>
            <a:pPr>
              <a:buNone/>
            </a:pPr>
            <a:r>
              <a:rPr lang="es-CR" dirty="0" smtClean="0"/>
              <a:t>	En este caso la mediana se encuentra entre el 4° y 5° término, es decir entre los valores 5 y 16.  En este caso el valor de la mediana sería un promedio de estos valores.</a:t>
            </a:r>
          </a:p>
          <a:p>
            <a:pPr>
              <a:buNone/>
            </a:pPr>
            <a:endParaRPr lang="es-CR" u="sng" dirty="0" smtClean="0"/>
          </a:p>
        </p:txBody>
      </p:sp>
      <p:sp>
        <p:nvSpPr>
          <p:cNvPr id="4" name="1 Título"/>
          <p:cNvSpPr>
            <a:spLocks noGrp="1"/>
          </p:cNvSpPr>
          <p:nvPr>
            <p:ph type="title"/>
          </p:nvPr>
        </p:nvSpPr>
        <p:spPr>
          <a:xfrm>
            <a:off x="251520" y="0"/>
            <a:ext cx="8568952" cy="836712"/>
          </a:xfrm>
        </p:spPr>
        <p:txBody>
          <a:bodyPr/>
          <a:lstStyle/>
          <a:p>
            <a:pPr algn="ctr"/>
            <a:r>
              <a:rPr lang="es-CR" dirty="0" smtClean="0"/>
              <a:t>La mediana: conjunto par</a:t>
            </a:r>
            <a:endParaRPr lang="es-CR" dirty="0"/>
          </a:p>
        </p:txBody>
      </p:sp>
      <p:sp>
        <p:nvSpPr>
          <p:cNvPr id="40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097"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67544" y="1700808"/>
            <a:ext cx="6834214" cy="576064"/>
          </a:xfrm>
          <a:prstGeom prst="rect">
            <a:avLst/>
          </a:prstGeom>
          <a:noFill/>
        </p:spPr>
      </p:pic>
      <p:sp>
        <p:nvSpPr>
          <p:cNvPr id="410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09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547664" y="3212976"/>
            <a:ext cx="4968552" cy="692048"/>
          </a:xfrm>
          <a:prstGeom prst="rect">
            <a:avLst/>
          </a:prstGeom>
          <a:noFill/>
        </p:spPr>
      </p:pic>
      <p:sp>
        <p:nvSpPr>
          <p:cNvPr id="410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101"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195736" y="5805264"/>
            <a:ext cx="3312368" cy="717680"/>
          </a:xfrm>
          <a:prstGeom prst="rect">
            <a:avLst/>
          </a:prstGeom>
          <a:noFill/>
        </p:spPr>
      </p:pic>
    </p:spTree>
  </p:cSld>
  <p:clrMapOvr>
    <a:masterClrMapping/>
  </p:clrMapOvr>
  <p:transition>
    <p:plus/>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3568" y="188640"/>
            <a:ext cx="7772400" cy="936104"/>
          </a:xfrm>
        </p:spPr>
        <p:txBody>
          <a:bodyPr/>
          <a:lstStyle/>
          <a:p>
            <a:pPr algn="ctr"/>
            <a:r>
              <a:rPr lang="es-CR" dirty="0" smtClean="0"/>
              <a:t>El percentil</a:t>
            </a:r>
            <a:endParaRPr lang="es-ES" dirty="0"/>
          </a:p>
        </p:txBody>
      </p:sp>
      <p:sp>
        <p:nvSpPr>
          <p:cNvPr id="3" name="Marcador de contenido 2"/>
          <p:cNvSpPr>
            <a:spLocks noGrp="1"/>
          </p:cNvSpPr>
          <p:nvPr>
            <p:ph sz="quarter" idx="1"/>
          </p:nvPr>
        </p:nvSpPr>
        <p:spPr>
          <a:xfrm>
            <a:off x="179512" y="1131712"/>
            <a:ext cx="5976664" cy="5328592"/>
          </a:xfrm>
        </p:spPr>
        <p:txBody>
          <a:bodyPr/>
          <a:lstStyle/>
          <a:p>
            <a:pPr algn="just"/>
            <a:r>
              <a:rPr lang="es-CR" dirty="0" smtClean="0"/>
              <a:t>La mediana también es conocida como el percentil 50.</a:t>
            </a:r>
          </a:p>
          <a:p>
            <a:pPr algn="just"/>
            <a:endParaRPr lang="es-CR" dirty="0"/>
          </a:p>
          <a:p>
            <a:pPr algn="just"/>
            <a:r>
              <a:rPr lang="es-CR" dirty="0" smtClean="0"/>
              <a:t>Puede que nos interesa no solo dividir los datos en dos partes, sino en 4, o tener los grupos de 10, etc.</a:t>
            </a:r>
          </a:p>
          <a:p>
            <a:pPr algn="just"/>
            <a:endParaRPr lang="es-CR" dirty="0"/>
          </a:p>
          <a:p>
            <a:pPr algn="just"/>
            <a:r>
              <a:rPr lang="es-CR" dirty="0" smtClean="0"/>
              <a:t>Puede que nos interese también conocer el punto 17°, o el 67°, etc. Por lo que interesa conocer una formula general para partir los datos como lo hace la mediana</a:t>
            </a:r>
            <a:endParaRPr lang="es-ES" dirty="0"/>
          </a:p>
        </p:txBody>
      </p:sp>
      <p:pic>
        <p:nvPicPr>
          <p:cNvPr id="1026" name="Picture 2" descr="https://curiosoando.com/wp-content/uploads/2013/09/ejemplo_gr%C3%A1fico_percenti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24" y="1412776"/>
            <a:ext cx="2272056" cy="273630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www.mathsisfun.com/data/images/percentile-80.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9768" y="5361591"/>
            <a:ext cx="4162425" cy="1362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505292"/>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251519" y="1412776"/>
            <a:ext cx="6264697" cy="5112568"/>
          </a:xfrm>
        </p:spPr>
        <p:txBody>
          <a:bodyPr>
            <a:normAutofit/>
          </a:bodyPr>
          <a:lstStyle/>
          <a:p>
            <a:pPr algn="just"/>
            <a:r>
              <a:rPr lang="es-CR" sz="2400" b="1" dirty="0"/>
              <a:t>El percentil</a:t>
            </a:r>
            <a:r>
              <a:rPr lang="es-CR" sz="2400" dirty="0"/>
              <a:t> es una medida de tendencia central </a:t>
            </a:r>
            <a:r>
              <a:rPr lang="es-CR" sz="2400" dirty="0" smtClean="0"/>
              <a:t>que </a:t>
            </a:r>
            <a:r>
              <a:rPr lang="es-CR" sz="2400" dirty="0"/>
              <a:t>indica, </a:t>
            </a:r>
            <a:r>
              <a:rPr lang="es-CR" sz="2400" dirty="0" smtClean="0"/>
              <a:t>ordenados </a:t>
            </a:r>
            <a:r>
              <a:rPr lang="es-CR" sz="2400" dirty="0"/>
              <a:t>los datos de menor a mayor, el valor de la variable por debajo del cual se encuentra </a:t>
            </a:r>
            <a:r>
              <a:rPr lang="es-CR" sz="2400" dirty="0" smtClean="0"/>
              <a:t>un porcentaje</a:t>
            </a:r>
            <a:r>
              <a:rPr lang="es-CR" sz="2400" dirty="0"/>
              <a:t> </a:t>
            </a:r>
            <a:r>
              <a:rPr lang="es-CR" sz="2400" dirty="0" smtClean="0"/>
              <a:t>dado </a:t>
            </a:r>
            <a:r>
              <a:rPr lang="es-CR" sz="2400" dirty="0"/>
              <a:t>de observaciones en un grupo de </a:t>
            </a:r>
            <a:r>
              <a:rPr lang="es-CR" sz="2400" dirty="0" smtClean="0"/>
              <a:t>observaciones. Una definición más formal:</a:t>
            </a:r>
            <a:endParaRPr lang="es-ES" sz="2400" dirty="0"/>
          </a:p>
          <a:p>
            <a:pPr marL="0" indent="0" algn="just">
              <a:buNone/>
            </a:pPr>
            <a:endParaRPr lang="es-CR" sz="2400" dirty="0" smtClean="0"/>
          </a:p>
          <a:p>
            <a:pPr marL="0" indent="0" algn="just">
              <a:buNone/>
            </a:pPr>
            <a:r>
              <a:rPr lang="es-CR" sz="2400" dirty="0" smtClean="0"/>
              <a:t>“Dado un conjunto de n observaciones </a:t>
            </a:r>
            <a:r>
              <a:rPr lang="es-CR" sz="2400" i="1" dirty="0" smtClean="0"/>
              <a:t>x1, x2,…, </a:t>
            </a:r>
            <a:r>
              <a:rPr lang="es-CR" sz="2400" i="1" dirty="0" err="1" smtClean="0"/>
              <a:t>xn</a:t>
            </a:r>
            <a:r>
              <a:rPr lang="es-CR" sz="2400" dirty="0" smtClean="0"/>
              <a:t>, el </a:t>
            </a:r>
            <a:r>
              <a:rPr lang="es-CR" sz="2400" i="1" dirty="0" smtClean="0"/>
              <a:t>p-</a:t>
            </a:r>
            <a:r>
              <a:rPr lang="es-CR" sz="2400" i="1" dirty="0" err="1" smtClean="0"/>
              <a:t>ésimo</a:t>
            </a:r>
            <a:r>
              <a:rPr lang="es-CR" sz="2400" dirty="0" smtClean="0"/>
              <a:t> percentil </a:t>
            </a:r>
            <a:r>
              <a:rPr lang="es-CR" sz="2400" b="1" dirty="0" smtClean="0"/>
              <a:t>P</a:t>
            </a:r>
            <a:r>
              <a:rPr lang="es-CR" sz="2400" dirty="0" smtClean="0"/>
              <a:t> es el valor de </a:t>
            </a:r>
            <a:r>
              <a:rPr lang="es-CR" sz="2400" b="1" i="1" dirty="0" smtClean="0"/>
              <a:t>X</a:t>
            </a:r>
            <a:r>
              <a:rPr lang="es-CR" sz="2400" dirty="0" smtClean="0"/>
              <a:t>, tal que p por ciento o menos de las observaciones son menores que </a:t>
            </a:r>
            <a:r>
              <a:rPr lang="es-CR" sz="2400" i="1" dirty="0" smtClean="0"/>
              <a:t>P</a:t>
            </a:r>
            <a:r>
              <a:rPr lang="es-CR" sz="2400" dirty="0" smtClean="0"/>
              <a:t>, y (</a:t>
            </a:r>
            <a:r>
              <a:rPr lang="es-CR" sz="2400" i="1" dirty="0" smtClean="0"/>
              <a:t>100-P</a:t>
            </a:r>
            <a:r>
              <a:rPr lang="es-CR" sz="2400" dirty="0" smtClean="0"/>
              <a:t>) por ciento  o menos de las observaciones son mayores que </a:t>
            </a:r>
            <a:r>
              <a:rPr lang="es-CR" sz="2400" i="1" dirty="0" smtClean="0"/>
              <a:t>P</a:t>
            </a:r>
            <a:r>
              <a:rPr lang="es-CR" sz="2400" dirty="0" smtClean="0"/>
              <a:t>.”</a:t>
            </a:r>
            <a:endParaRPr lang="es-ES" sz="2400" dirty="0"/>
          </a:p>
        </p:txBody>
      </p:sp>
      <p:sp>
        <p:nvSpPr>
          <p:cNvPr id="4" name="Título 1"/>
          <p:cNvSpPr txBox="1">
            <a:spLocks/>
          </p:cNvSpPr>
          <p:nvPr/>
        </p:nvSpPr>
        <p:spPr>
          <a:xfrm>
            <a:off x="835968" y="341040"/>
            <a:ext cx="7772400" cy="864096"/>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dirty="0" smtClean="0"/>
              <a:t>El percentil</a:t>
            </a:r>
            <a:endParaRPr lang="es-ES" dirty="0"/>
          </a:p>
        </p:txBody>
      </p:sp>
      <p:pic>
        <p:nvPicPr>
          <p:cNvPr id="2050" name="Picture 2" descr="https://i.ytimg.com/vi/aYtvEIxMu2Y/maxresdefault.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6578" t="12327" r="29126"/>
          <a:stretch/>
        </p:blipFill>
        <p:spPr bwMode="auto">
          <a:xfrm>
            <a:off x="6732240" y="3969060"/>
            <a:ext cx="1932416" cy="215142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http://www.marketingdirecto.com/wp-content/uploads/2011/05/facebook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6730" y="1412776"/>
            <a:ext cx="2151856" cy="2151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79853"/>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323528" y="764704"/>
            <a:ext cx="6984776" cy="5904656"/>
          </a:xfrm>
        </p:spPr>
        <p:txBody>
          <a:bodyPr/>
          <a:lstStyle/>
          <a:p>
            <a:r>
              <a:rPr lang="es-CR" dirty="0" smtClean="0"/>
              <a:t>Supongamos que queremos obtener el percentil 15 en un conjunto de datos, la fórmula general sería:</a:t>
            </a:r>
          </a:p>
          <a:p>
            <a:endParaRPr lang="es-CR" dirty="0"/>
          </a:p>
          <a:p>
            <a:pPr marL="0" indent="0">
              <a:buNone/>
            </a:pPr>
            <a:endParaRPr lang="es-CR" dirty="0"/>
          </a:p>
          <a:p>
            <a:r>
              <a:rPr lang="es-CR" dirty="0" smtClean="0"/>
              <a:t>Si suponemos que tenemos un muestra de tamaño 50, la posición del percentil estaría dada por lo siguiente:</a:t>
            </a:r>
          </a:p>
          <a:p>
            <a:endParaRPr lang="es-CR" dirty="0" smtClean="0"/>
          </a:p>
          <a:p>
            <a:pPr marL="0" indent="0">
              <a:buNone/>
            </a:pPr>
            <a:endParaRPr lang="es-CR" dirty="0" smtClean="0"/>
          </a:p>
          <a:p>
            <a:endParaRPr lang="es-CR" dirty="0" smtClean="0"/>
          </a:p>
          <a:p>
            <a:r>
              <a:rPr lang="es-CR" dirty="0" smtClean="0"/>
              <a:t>El valor exacto se obtiene mediante la fórmula: </a:t>
            </a:r>
          </a:p>
          <a:p>
            <a:endParaRPr lang="es-CR" dirty="0" smtClean="0"/>
          </a:p>
        </p:txBody>
      </p:sp>
      <p:sp>
        <p:nvSpPr>
          <p:cNvPr id="5" name="Título 1"/>
          <p:cNvSpPr txBox="1">
            <a:spLocks/>
          </p:cNvSpPr>
          <p:nvPr/>
        </p:nvSpPr>
        <p:spPr>
          <a:xfrm>
            <a:off x="683568" y="0"/>
            <a:ext cx="7772400" cy="764704"/>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dirty="0" smtClean="0"/>
              <a:t>El percentil</a:t>
            </a:r>
            <a:endParaRPr lang="es-ES" dirty="0"/>
          </a:p>
        </p:txBody>
      </p:sp>
      <mc:AlternateContent xmlns:mc="http://schemas.openxmlformats.org/markup-compatibility/2006" xmlns:a14="http://schemas.microsoft.com/office/drawing/2010/main">
        <mc:Choice Requires="a14">
          <p:sp>
            <p:nvSpPr>
              <p:cNvPr id="10" name="Rectángulo 9"/>
              <p:cNvSpPr/>
              <p:nvPr/>
            </p:nvSpPr>
            <p:spPr>
              <a:xfrm>
                <a:off x="1520875" y="1844824"/>
                <a:ext cx="4544321" cy="714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s-ES" i="1" smtClean="0">
                              <a:latin typeface="Cambria Math" panose="02040503050406030204" pitchFamily="18" charset="0"/>
                            </a:rPr>
                          </m:ctrlPr>
                        </m:dPr>
                        <m:e>
                          <m:r>
                            <a:rPr lang="es-CR" b="0" i="1" smtClean="0">
                              <a:latin typeface="Cambria Math" panose="02040503050406030204" pitchFamily="18" charset="0"/>
                            </a:rPr>
                            <m:t>𝑃𝑜𝑠𝑖𝑐𝑖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𝑃𝑒𝑟𝑐𝑒𝑛𝑡𝑖𝑙</m:t>
                          </m:r>
                          <m:r>
                            <a:rPr lang="es-ES" i="0">
                              <a:latin typeface="Cambria Math" panose="02040503050406030204" pitchFamily="18" charset="0"/>
                            </a:rPr>
                            <m:t> °= </m:t>
                          </m:r>
                          <m:f>
                            <m:fPr>
                              <m:ctrlPr>
                                <a:rPr lang="es-ES" i="1">
                                  <a:latin typeface="Cambria Math" panose="02040503050406030204" pitchFamily="18" charset="0"/>
                                </a:rPr>
                              </m:ctrlPr>
                            </m:fPr>
                            <m:num>
                              <m:r>
                                <a:rPr lang="es-ES" i="1">
                                  <a:latin typeface="Cambria Math" panose="02040503050406030204" pitchFamily="18" charset="0"/>
                                </a:rPr>
                                <m:t>𝑃𝑒𝑟𝑐𝑒𝑛𝑡𝑖𝑙</m:t>
                              </m:r>
                            </m:num>
                            <m:den>
                              <m:r>
                                <a:rPr lang="es-ES" i="0">
                                  <a:latin typeface="Cambria Math" panose="02040503050406030204" pitchFamily="18" charset="0"/>
                                </a:rPr>
                                <m:t>100</m:t>
                              </m:r>
                            </m:den>
                          </m:f>
                          <m:r>
                            <a:rPr lang="es-ES" i="0">
                              <a:latin typeface="Cambria Math" panose="02040503050406030204" pitchFamily="18" charset="0"/>
                            </a:rPr>
                            <m:t> (</m:t>
                          </m:r>
                          <m:r>
                            <a:rPr lang="es-ES" i="1">
                              <a:latin typeface="Cambria Math" panose="02040503050406030204" pitchFamily="18" charset="0"/>
                            </a:rPr>
                            <m:t>𝑛</m:t>
                          </m:r>
                          <m:r>
                            <a:rPr lang="es-ES" i="0">
                              <a:latin typeface="Cambria Math" panose="02040503050406030204" pitchFamily="18" charset="0"/>
                            </a:rPr>
                            <m:t>+1</m:t>
                          </m:r>
                          <m:r>
                            <a:rPr lang="es-CR" b="0" i="1" smtClean="0">
                              <a:latin typeface="Cambria Math" panose="02040503050406030204" pitchFamily="18" charset="0"/>
                            </a:rPr>
                            <m:t>)</m:t>
                          </m:r>
                        </m:e>
                      </m:d>
                    </m:oMath>
                  </m:oMathPara>
                </a14:m>
                <a:endParaRPr lang="es-ES" dirty="0"/>
              </a:p>
            </p:txBody>
          </p:sp>
        </mc:Choice>
        <mc:Fallback xmlns="">
          <p:sp>
            <p:nvSpPr>
              <p:cNvPr id="10" name="Rectángulo 9"/>
              <p:cNvSpPr>
                <a:spLocks noRot="1" noChangeAspect="1" noMove="1" noResize="1" noEditPoints="1" noAdjustHandles="1" noChangeArrowheads="1" noChangeShapeType="1" noTextEdit="1"/>
              </p:cNvSpPr>
              <p:nvPr/>
            </p:nvSpPr>
            <p:spPr>
              <a:xfrm>
                <a:off x="1520875" y="1844824"/>
                <a:ext cx="4544321" cy="714683"/>
              </a:xfrm>
              <a:prstGeom prst="rect">
                <a:avLst/>
              </a:prstGeom>
              <a:blipFill rotWithShape="0">
                <a:blip r:embed="rId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1767739" y="3833974"/>
                <a:ext cx="4483215" cy="489686"/>
              </a:xfrm>
              <a:prstGeom prst="rect">
                <a:avLst/>
              </a:prstGeom>
            </p:spPr>
            <p:txBody>
              <a:bodyPr wrap="none">
                <a:spAutoFit/>
              </a:bodyPr>
              <a:lstStyle/>
              <a:p>
                <a14:m>
                  <m:oMath xmlns:m="http://schemas.openxmlformats.org/officeDocument/2006/math">
                    <m:r>
                      <a:rPr lang="es-CR" b="0" i="1" smtClean="0">
                        <a:latin typeface="Cambria Math" panose="02040503050406030204" pitchFamily="18" charset="0"/>
                      </a:rPr>
                      <m:t>𝑃𝑜𝑠𝑖𝑐𝑖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CR" b="0" i="1" smtClean="0">
                        <a:latin typeface="Cambria Math" panose="02040503050406030204" pitchFamily="18" charset="0"/>
                      </a:rPr>
                      <m:t> </m:t>
                    </m:r>
                    <m:r>
                      <a:rPr lang="es-ES" i="1">
                        <a:latin typeface="Cambria Math" panose="02040503050406030204" pitchFamily="18" charset="0"/>
                      </a:rPr>
                      <m:t>𝑃𝑒𝑟𝑐𝑒𝑛𝑡𝑖𝑙</m:t>
                    </m:r>
                    <m:r>
                      <a:rPr lang="es-ES" i="0">
                        <a:latin typeface="Cambria Math" panose="02040503050406030204" pitchFamily="18" charset="0"/>
                      </a:rPr>
                      <m:t> °= </m:t>
                    </m:r>
                    <m:f>
                      <m:fPr>
                        <m:ctrlPr>
                          <a:rPr lang="es-ES" i="1">
                            <a:latin typeface="Cambria Math" panose="02040503050406030204" pitchFamily="18" charset="0"/>
                          </a:rPr>
                        </m:ctrlPr>
                      </m:fPr>
                      <m:num>
                        <m:r>
                          <a:rPr lang="es-ES" i="0">
                            <a:latin typeface="Cambria Math" panose="02040503050406030204" pitchFamily="18" charset="0"/>
                          </a:rPr>
                          <m:t>15</m:t>
                        </m:r>
                      </m:num>
                      <m:den>
                        <m:r>
                          <a:rPr lang="es-ES" i="0">
                            <a:latin typeface="Cambria Math" panose="02040503050406030204" pitchFamily="18" charset="0"/>
                          </a:rPr>
                          <m:t>100</m:t>
                        </m:r>
                      </m:den>
                    </m:f>
                    <m:r>
                      <a:rPr lang="es-ES" i="0">
                        <a:latin typeface="Cambria Math" panose="02040503050406030204" pitchFamily="18" charset="0"/>
                      </a:rPr>
                      <m:t> </m:t>
                    </m:r>
                    <m:d>
                      <m:dPr>
                        <m:ctrlPr>
                          <a:rPr lang="es-ES" i="1">
                            <a:latin typeface="Cambria Math" panose="02040503050406030204" pitchFamily="18" charset="0"/>
                          </a:rPr>
                        </m:ctrlPr>
                      </m:dPr>
                      <m:e>
                        <m:r>
                          <a:rPr lang="es-ES" i="0">
                            <a:latin typeface="Cambria Math" panose="02040503050406030204" pitchFamily="18" charset="0"/>
                          </a:rPr>
                          <m:t>50+1</m:t>
                        </m:r>
                      </m:e>
                    </m:d>
                    <m:r>
                      <a:rPr lang="es-ES" i="0">
                        <a:latin typeface="Cambria Math" panose="02040503050406030204" pitchFamily="18" charset="0"/>
                      </a:rPr>
                      <m:t>=</m:t>
                    </m:r>
                  </m:oMath>
                </a14:m>
                <a:r>
                  <a:rPr lang="es-ES" dirty="0" smtClean="0"/>
                  <a:t> 7.65</a:t>
                </a:r>
                <a:endParaRPr lang="es-ES" dirty="0"/>
              </a:p>
            </p:txBody>
          </p:sp>
        </mc:Choice>
        <mc:Fallback xmlns="">
          <p:sp>
            <p:nvSpPr>
              <p:cNvPr id="11" name="Rectángulo 10"/>
              <p:cNvSpPr>
                <a:spLocks noRot="1" noChangeAspect="1" noMove="1" noResize="1" noEditPoints="1" noAdjustHandles="1" noChangeArrowheads="1" noChangeShapeType="1" noTextEdit="1"/>
              </p:cNvSpPr>
              <p:nvPr/>
            </p:nvSpPr>
            <p:spPr>
              <a:xfrm>
                <a:off x="1767739" y="3833974"/>
                <a:ext cx="4483215" cy="489686"/>
              </a:xfrm>
              <a:prstGeom prst="rect">
                <a:avLst/>
              </a:prstGeom>
              <a:blipFill rotWithShape="0">
                <a:blip r:embed="rId3"/>
                <a:stretch>
                  <a:fillRect b="-11250"/>
                </a:stretch>
              </a:blipFill>
            </p:spPr>
            <p:txBody>
              <a:bodyPr/>
              <a:lstStyle/>
              <a:p>
                <a:r>
                  <a:rPr lang="es-ES">
                    <a:noFill/>
                  </a:rPr>
                  <a:t> </a:t>
                </a:r>
              </a:p>
            </p:txBody>
          </p:sp>
        </mc:Fallback>
      </mc:AlternateContent>
      <p:pic>
        <p:nvPicPr>
          <p:cNvPr id="3074" name="Picture 2" descr="http://www.korpisworld.com/index%20HOME%20PAGE%20IMAGES/keep-calm-and-do-more-calculus-2.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5190" b="10291"/>
          <a:stretch/>
        </p:blipFill>
        <p:spPr bwMode="auto">
          <a:xfrm>
            <a:off x="6444208" y="4323660"/>
            <a:ext cx="2420631" cy="210446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www.fluesupplies.com/images/Calculator.jpg"/>
          <p:cNvPicPr>
            <a:picLocks noChangeAspect="1" noChangeArrowheads="1"/>
          </p:cNvPicPr>
          <p:nvPr/>
        </p:nvPicPr>
        <p:blipFill rotWithShape="1">
          <a:blip r:embed="rId5">
            <a:extLst>
              <a:ext uri="{28A0092B-C50C-407E-A947-70E740481C1C}">
                <a14:useLocalDpi xmlns:a14="http://schemas.microsoft.com/office/drawing/2010/main" val="0"/>
              </a:ext>
            </a:extLst>
          </a:blip>
          <a:srcRect l="15479" t="12423" r="9029" b="10903"/>
          <a:stretch/>
        </p:blipFill>
        <p:spPr bwMode="auto">
          <a:xfrm>
            <a:off x="7308304" y="1240851"/>
            <a:ext cx="1505655" cy="165078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2" name="Rectángulo 11"/>
              <p:cNvSpPr/>
              <p:nvPr/>
            </p:nvSpPr>
            <p:spPr>
              <a:xfrm>
                <a:off x="683568" y="5605259"/>
                <a:ext cx="4442113" cy="8479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i="1">
                          <a:latin typeface="Cambria Math" panose="02040503050406030204" pitchFamily="18" charset="0"/>
                        </a:rPr>
                        <m:t>𝑉𝑎𝑙𝑜𝑟</m:t>
                      </m:r>
                      <m:r>
                        <a:rPr lang="es-ES" i="0">
                          <a:latin typeface="Cambria Math" panose="02040503050406030204" pitchFamily="18" charset="0"/>
                        </a:rPr>
                        <m:t> </m:t>
                      </m:r>
                      <m:r>
                        <a:rPr lang="es-ES" i="1">
                          <a:latin typeface="Cambria Math" panose="02040503050406030204" pitchFamily="18" charset="0"/>
                        </a:rPr>
                        <m:t>𝑃𝑒𝑟𝑐𝑒𝑛𝑡𝑖𝑙</m:t>
                      </m:r>
                      <m:r>
                        <a:rPr lang="es-ES" i="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𝑖</m:t>
                          </m:r>
                        </m:sub>
                      </m:sSub>
                      <m:r>
                        <a:rPr lang="es-ES" i="0">
                          <a:latin typeface="Cambria Math" panose="02040503050406030204" pitchFamily="18" charset="0"/>
                        </a:rPr>
                        <m:t>+</m:t>
                      </m:r>
                      <m:f>
                        <m:fPr>
                          <m:ctrlPr>
                            <a:rPr lang="es-ES" i="1">
                              <a:latin typeface="Cambria Math" panose="02040503050406030204" pitchFamily="18" charset="0"/>
                            </a:rPr>
                          </m:ctrlPr>
                        </m:fPr>
                        <m:num>
                          <m:f>
                            <m:fPr>
                              <m:ctrlPr>
                                <a:rPr lang="es-ES" i="1">
                                  <a:latin typeface="Cambria Math" panose="02040503050406030204" pitchFamily="18" charset="0"/>
                                </a:rPr>
                              </m:ctrlPr>
                            </m:fPr>
                            <m:num>
                              <m:r>
                                <a:rPr lang="es-ES" i="1">
                                  <a:latin typeface="Cambria Math" panose="02040503050406030204" pitchFamily="18" charset="0"/>
                                </a:rPr>
                                <m:t>𝑘</m:t>
                              </m:r>
                              <m:r>
                                <a:rPr lang="es-ES" i="0">
                                  <a:latin typeface="Cambria Math" panose="02040503050406030204" pitchFamily="18" charset="0"/>
                                </a:rPr>
                                <m:t>∗</m:t>
                              </m:r>
                              <m:r>
                                <a:rPr lang="es-ES" i="1">
                                  <a:latin typeface="Cambria Math" panose="02040503050406030204" pitchFamily="18" charset="0"/>
                                </a:rPr>
                                <m:t>𝑛</m:t>
                              </m:r>
                            </m:num>
                            <m:den>
                              <m:r>
                                <a:rPr lang="es-ES" i="0">
                                  <a:latin typeface="Cambria Math" panose="02040503050406030204" pitchFamily="18" charset="0"/>
                                </a:rPr>
                                <m:t>100</m:t>
                              </m:r>
                            </m:den>
                          </m:f>
                          <m:r>
                            <a:rPr lang="es-ES" i="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𝑓</m:t>
                              </m:r>
                            </m:e>
                            <m:sub>
                              <m:r>
                                <a:rPr lang="es-ES" i="1">
                                  <a:latin typeface="Cambria Math" panose="02040503050406030204" pitchFamily="18" charset="0"/>
                                </a:rPr>
                                <m:t>𝑎</m:t>
                              </m:r>
                            </m:sub>
                          </m:sSub>
                          <m:r>
                            <a:rPr lang="es-ES" i="0">
                              <a:latin typeface="Cambria Math" panose="02040503050406030204" pitchFamily="18" charset="0"/>
                            </a:rPr>
                            <m:t>−1</m:t>
                          </m:r>
                        </m:num>
                        <m:den>
                          <m:r>
                            <a:rPr lang="es-ES" i="1">
                              <a:latin typeface="Cambria Math" panose="02040503050406030204" pitchFamily="18" charset="0"/>
                            </a:rPr>
                            <m:t>𝑓</m:t>
                          </m:r>
                        </m:den>
                      </m:f>
                      <m:r>
                        <a:rPr lang="es-ES" i="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𝑎</m:t>
                          </m:r>
                        </m:e>
                        <m:sub>
                          <m:r>
                            <a:rPr lang="es-ES" i="1">
                              <a:latin typeface="Cambria Math" panose="02040503050406030204" pitchFamily="18" charset="0"/>
                            </a:rPr>
                            <m:t>𝑖</m:t>
                          </m:r>
                        </m:sub>
                      </m:sSub>
                      <m:r>
                        <a:rPr lang="es-ES" i="0">
                          <a:latin typeface="Cambria Math" panose="02040503050406030204" pitchFamily="18" charset="0"/>
                        </a:rPr>
                        <m:t> </m:t>
                      </m:r>
                    </m:oMath>
                  </m:oMathPara>
                </a14:m>
                <a:endParaRPr lang="es-ES" dirty="0"/>
              </a:p>
            </p:txBody>
          </p:sp>
        </mc:Choice>
        <mc:Fallback xmlns="">
          <p:sp>
            <p:nvSpPr>
              <p:cNvPr id="12" name="Rectángulo 11"/>
              <p:cNvSpPr>
                <a:spLocks noRot="1" noChangeAspect="1" noMove="1" noResize="1" noEditPoints="1" noAdjustHandles="1" noChangeArrowheads="1" noChangeShapeType="1" noTextEdit="1"/>
              </p:cNvSpPr>
              <p:nvPr/>
            </p:nvSpPr>
            <p:spPr>
              <a:xfrm>
                <a:off x="683568" y="5605259"/>
                <a:ext cx="4442113" cy="847989"/>
              </a:xfrm>
              <a:prstGeom prst="rect">
                <a:avLst/>
              </a:prstGeom>
              <a:blipFill rotWithShape="0">
                <a:blip r:embed="rId6"/>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562722714"/>
      </p:ext>
    </p:extLst>
  </p:cSld>
  <p:clrMapOvr>
    <a:masterClrMapping/>
  </p:clrMapOvr>
  <p:transition spd="slow">
    <p:cove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22791"/>
            <a:ext cx="7772400" cy="773891"/>
          </a:xfrm>
        </p:spPr>
        <p:txBody>
          <a:bodyPr/>
          <a:lstStyle/>
          <a:p>
            <a:pPr algn="ctr"/>
            <a:r>
              <a:rPr lang="es-CR" dirty="0" smtClean="0"/>
              <a:t>Los cuartiles</a:t>
            </a:r>
            <a:endParaRPr lang="es-ES" dirty="0"/>
          </a:p>
        </p:txBody>
      </p:sp>
      <p:sp>
        <p:nvSpPr>
          <p:cNvPr id="3" name="Marcador de contenido 2"/>
          <p:cNvSpPr>
            <a:spLocks noGrp="1"/>
          </p:cNvSpPr>
          <p:nvPr>
            <p:ph sz="quarter" idx="1"/>
          </p:nvPr>
        </p:nvSpPr>
        <p:spPr>
          <a:xfrm>
            <a:off x="179512" y="873224"/>
            <a:ext cx="6552728" cy="4572000"/>
          </a:xfrm>
        </p:spPr>
        <p:txBody>
          <a:bodyPr/>
          <a:lstStyle/>
          <a:p>
            <a:pPr algn="just"/>
            <a:r>
              <a:rPr lang="es-CR" dirty="0" smtClean="0"/>
              <a:t>En la práctica, los percentiles no son tan utilizados como los cuartiles.</a:t>
            </a:r>
          </a:p>
          <a:p>
            <a:pPr algn="just"/>
            <a:endParaRPr lang="es-CR" dirty="0"/>
          </a:p>
          <a:p>
            <a:pPr algn="just"/>
            <a:r>
              <a:rPr lang="es-CR" dirty="0" smtClean="0"/>
              <a:t>Los cuartiles parten la distribución de datos en 4 partes.  Su representación matemática es la siguiente:</a:t>
            </a:r>
            <a:endParaRPr lang="es-ES" dirty="0"/>
          </a:p>
        </p:txBody>
      </p:sp>
      <p:pic>
        <p:nvPicPr>
          <p:cNvPr id="4098" name="Picture 2" descr="http://imagenes.mailxmail.com/cursos/imagenes/9/4/cuartiles-q_6449_2_1.JPG"/>
          <p:cNvPicPr>
            <a:picLocks noChangeAspect="1" noChangeArrowheads="1"/>
          </p:cNvPicPr>
          <p:nvPr/>
        </p:nvPicPr>
        <p:blipFill rotWithShape="1">
          <a:blip r:embed="rId2">
            <a:extLst>
              <a:ext uri="{28A0092B-C50C-407E-A947-70E740481C1C}">
                <a14:useLocalDpi xmlns:a14="http://schemas.microsoft.com/office/drawing/2010/main" val="0"/>
              </a:ext>
            </a:extLst>
          </a:blip>
          <a:srcRect l="5323" t="12644" r="2554"/>
          <a:stretch/>
        </p:blipFill>
        <p:spPr bwMode="auto">
          <a:xfrm>
            <a:off x="6084168" y="4372803"/>
            <a:ext cx="2860821" cy="229792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Rectángulo 4"/>
              <p:cNvSpPr/>
              <p:nvPr/>
            </p:nvSpPr>
            <p:spPr>
              <a:xfrm>
                <a:off x="107504" y="3789040"/>
                <a:ext cx="4942007" cy="6280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rPr>
                            <m:t>𝑄</m:t>
                          </m:r>
                        </m:e>
                        <m:sub>
                          <m:r>
                            <a:rPr lang="es-ES" i="0">
                              <a:latin typeface="Cambria Math" panose="02040503050406030204" pitchFamily="18" charset="0"/>
                            </a:rPr>
                            <m:t>1</m:t>
                          </m:r>
                        </m:sub>
                      </m:sSub>
                      <m:r>
                        <a:rPr lang="es-ES" i="0">
                          <a:latin typeface="Cambria Math" panose="02040503050406030204" pitchFamily="18" charset="0"/>
                        </a:rPr>
                        <m:t>= </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0">
                                  <a:latin typeface="Cambria Math" panose="02040503050406030204" pitchFamily="18" charset="0"/>
                                </a:rPr>
                                <m:t>+1</m:t>
                              </m:r>
                            </m:e>
                          </m:d>
                        </m:num>
                        <m:den>
                          <m:r>
                            <a:rPr lang="es-ES" i="0">
                              <a:latin typeface="Cambria Math" panose="02040503050406030204" pitchFamily="18" charset="0"/>
                            </a:rPr>
                            <m:t>4</m:t>
                          </m:r>
                        </m:den>
                      </m:f>
                      <m:r>
                        <a:rPr lang="es-ES" i="0">
                          <a:latin typeface="Cambria Math" panose="02040503050406030204" pitchFamily="18" charset="0"/>
                        </a:rPr>
                        <m:t>, é</m:t>
                      </m:r>
                      <m:r>
                        <a:rPr lang="es-ES" i="1">
                          <a:latin typeface="Cambria Math" panose="02040503050406030204" pitchFamily="18" charset="0"/>
                        </a:rPr>
                        <m:t>𝑠𝑖𝑚𝑎</m:t>
                      </m:r>
                      <m:r>
                        <a:rPr lang="es-ES" i="0">
                          <a:latin typeface="Cambria Math" panose="02040503050406030204" pitchFamily="18" charset="0"/>
                        </a:rPr>
                        <m:t> </m:t>
                      </m:r>
                      <m:r>
                        <a:rPr lang="es-ES" i="1">
                          <a:latin typeface="Cambria Math" panose="02040503050406030204" pitchFamily="18" charset="0"/>
                        </a:rPr>
                        <m:t>𝑜𝑏𝑠𝑒𝑟𝑣𝑎𝑐𝑖</m:t>
                      </m:r>
                      <m:r>
                        <a:rPr lang="es-ES" i="0">
                          <a:latin typeface="Cambria Math" panose="02040503050406030204" pitchFamily="18" charset="0"/>
                        </a:rPr>
                        <m:t>ó</m:t>
                      </m:r>
                      <m:r>
                        <a:rPr lang="es-ES" i="1">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𝑜𝑟𝑑𝑒𝑛𝑎𝑑𝑎</m:t>
                      </m:r>
                    </m:oMath>
                  </m:oMathPara>
                </a14:m>
                <a:endParaRPr lang="es-ES" dirty="0"/>
              </a:p>
            </p:txBody>
          </p:sp>
        </mc:Choice>
        <mc:Fallback xmlns="">
          <p:sp>
            <p:nvSpPr>
              <p:cNvPr id="5" name="Rectángulo 4"/>
              <p:cNvSpPr>
                <a:spLocks noRot="1" noChangeAspect="1" noMove="1" noResize="1" noEditPoints="1" noAdjustHandles="1" noChangeArrowheads="1" noChangeShapeType="1" noTextEdit="1"/>
              </p:cNvSpPr>
              <p:nvPr/>
            </p:nvSpPr>
            <p:spPr>
              <a:xfrm>
                <a:off x="107504" y="3789040"/>
                <a:ext cx="4942007" cy="628057"/>
              </a:xfrm>
              <a:prstGeom prst="rect">
                <a:avLst/>
              </a:prstGeom>
              <a:blipFill rotWithShape="0">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0" y="4817167"/>
                <a:ext cx="6336704" cy="6280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𝑄</m:t>
                          </m:r>
                        </m:e>
                        <m:sub>
                          <m:r>
                            <a:rPr lang="es-ES" i="0">
                              <a:latin typeface="Cambria Math" panose="02040503050406030204" pitchFamily="18" charset="0"/>
                            </a:rPr>
                            <m:t>2</m:t>
                          </m:r>
                        </m:sub>
                      </m:sSub>
                      <m:r>
                        <a:rPr lang="es-ES" i="0">
                          <a:latin typeface="Cambria Math" panose="02040503050406030204" pitchFamily="18" charset="0"/>
                        </a:rPr>
                        <m:t>= </m:t>
                      </m:r>
                      <m:f>
                        <m:fPr>
                          <m:ctrlPr>
                            <a:rPr lang="es-ES" i="1">
                              <a:latin typeface="Cambria Math" panose="02040503050406030204" pitchFamily="18" charset="0"/>
                            </a:rPr>
                          </m:ctrlPr>
                        </m:fPr>
                        <m:num>
                          <m:d>
                            <m:dPr>
                              <m:begChr m:val=""/>
                              <m:ctrlPr>
                                <a:rPr lang="es-ES" i="1">
                                  <a:latin typeface="Cambria Math" panose="02040503050406030204" pitchFamily="18" charset="0"/>
                                </a:rPr>
                              </m:ctrlPr>
                            </m:dPr>
                            <m:e>
                              <m:r>
                                <a:rPr lang="es-ES" i="0">
                                  <a:latin typeface="Cambria Math" panose="02040503050406030204" pitchFamily="18" charset="0"/>
                                </a:rPr>
                                <m:t>2(</m:t>
                              </m:r>
                              <m:r>
                                <a:rPr lang="es-ES" i="1">
                                  <a:latin typeface="Cambria Math" panose="02040503050406030204" pitchFamily="18" charset="0"/>
                                </a:rPr>
                                <m:t>𝑛</m:t>
                              </m:r>
                              <m:r>
                                <a:rPr lang="es-ES" i="0">
                                  <a:latin typeface="Cambria Math" panose="02040503050406030204" pitchFamily="18" charset="0"/>
                                </a:rPr>
                                <m:t>+1</m:t>
                              </m:r>
                            </m:e>
                          </m:d>
                        </m:num>
                        <m:den>
                          <m:r>
                            <a:rPr lang="es-ES" i="0">
                              <a:latin typeface="Cambria Math" panose="02040503050406030204" pitchFamily="18" charset="0"/>
                            </a:rPr>
                            <m:t>4</m:t>
                          </m:r>
                        </m:den>
                      </m:f>
                      <m:r>
                        <a:rPr lang="es-ES" i="0">
                          <a:latin typeface="Cambria Math" panose="02040503050406030204" pitchFamily="18" charset="0"/>
                        </a:rPr>
                        <m:t>= </m:t>
                      </m:r>
                      <m:f>
                        <m:fPr>
                          <m:ctrlPr>
                            <a:rPr lang="es-ES" i="1">
                              <a:latin typeface="Cambria Math" panose="02040503050406030204" pitchFamily="18" charset="0"/>
                            </a:rPr>
                          </m:ctrlPr>
                        </m:fPr>
                        <m:num>
                          <m:r>
                            <a:rPr lang="es-ES" i="1">
                              <a:latin typeface="Cambria Math" panose="02040503050406030204" pitchFamily="18" charset="0"/>
                            </a:rPr>
                            <m:t>𝑛</m:t>
                          </m:r>
                          <m:r>
                            <a:rPr lang="es-ES" i="0">
                              <a:latin typeface="Cambria Math" panose="02040503050406030204" pitchFamily="18" charset="0"/>
                            </a:rPr>
                            <m:t>+1</m:t>
                          </m:r>
                        </m:num>
                        <m:den>
                          <m:r>
                            <a:rPr lang="es-ES" i="0">
                              <a:latin typeface="Cambria Math" panose="02040503050406030204" pitchFamily="18" charset="0"/>
                            </a:rPr>
                            <m:t>2</m:t>
                          </m:r>
                        </m:den>
                      </m:f>
                      <m:r>
                        <a:rPr lang="es-ES" i="0">
                          <a:latin typeface="Cambria Math" panose="02040503050406030204" pitchFamily="18" charset="0"/>
                        </a:rPr>
                        <m:t>, é</m:t>
                      </m:r>
                      <m:r>
                        <a:rPr lang="es-ES" i="1">
                          <a:latin typeface="Cambria Math" panose="02040503050406030204" pitchFamily="18" charset="0"/>
                        </a:rPr>
                        <m:t>𝑠𝑖𝑚𝑎</m:t>
                      </m:r>
                      <m:r>
                        <a:rPr lang="es-ES" i="0">
                          <a:latin typeface="Cambria Math" panose="02040503050406030204" pitchFamily="18" charset="0"/>
                        </a:rPr>
                        <m:t> </m:t>
                      </m:r>
                      <m:r>
                        <a:rPr lang="es-ES" i="1">
                          <a:latin typeface="Cambria Math" panose="02040503050406030204" pitchFamily="18" charset="0"/>
                        </a:rPr>
                        <m:t>𝑜𝑏𝑠𝑒𝑟𝑣𝑎𝑐𝑖</m:t>
                      </m:r>
                      <m:r>
                        <a:rPr lang="es-ES" i="0">
                          <a:latin typeface="Cambria Math" panose="02040503050406030204" pitchFamily="18" charset="0"/>
                        </a:rPr>
                        <m:t>ó</m:t>
                      </m:r>
                      <m:r>
                        <a:rPr lang="es-ES" i="1">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𝑜𝑟𝑑𝑒𝑛𝑎𝑑𝑎</m:t>
                      </m:r>
                    </m:oMath>
                  </m:oMathPara>
                </a14:m>
                <a:endParaRPr lang="es-ES" dirty="0"/>
              </a:p>
            </p:txBody>
          </p:sp>
        </mc:Choice>
        <mc:Fallback xmlns="">
          <p:sp>
            <p:nvSpPr>
              <p:cNvPr id="6" name="Rectángulo 5"/>
              <p:cNvSpPr>
                <a:spLocks noRot="1" noChangeAspect="1" noMove="1" noResize="1" noEditPoints="1" noAdjustHandles="1" noChangeArrowheads="1" noChangeShapeType="1" noTextEdit="1"/>
              </p:cNvSpPr>
              <p:nvPr/>
            </p:nvSpPr>
            <p:spPr>
              <a:xfrm>
                <a:off x="0" y="4817167"/>
                <a:ext cx="6336704" cy="628057"/>
              </a:xfrm>
              <a:prstGeom prst="rect">
                <a:avLst/>
              </a:prstGeom>
              <a:blipFill rotWithShape="0">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107504" y="5651999"/>
                <a:ext cx="5287605" cy="6280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𝑄</m:t>
                          </m:r>
                        </m:e>
                        <m:sub>
                          <m:r>
                            <a:rPr lang="es-ES" i="0">
                              <a:latin typeface="Cambria Math" panose="02040503050406030204" pitchFamily="18" charset="0"/>
                            </a:rPr>
                            <m:t>3</m:t>
                          </m:r>
                        </m:sub>
                      </m:sSub>
                      <m:r>
                        <a:rPr lang="es-ES" i="0">
                          <a:latin typeface="Cambria Math" panose="02040503050406030204" pitchFamily="18" charset="0"/>
                        </a:rPr>
                        <m:t>= </m:t>
                      </m:r>
                      <m:f>
                        <m:fPr>
                          <m:ctrlPr>
                            <a:rPr lang="es-ES" i="1">
                              <a:latin typeface="Cambria Math" panose="02040503050406030204" pitchFamily="18" charset="0"/>
                            </a:rPr>
                          </m:ctrlPr>
                        </m:fPr>
                        <m:num>
                          <m:d>
                            <m:dPr>
                              <m:begChr m:val=""/>
                              <m:ctrlPr>
                                <a:rPr lang="es-ES" i="1">
                                  <a:latin typeface="Cambria Math" panose="02040503050406030204" pitchFamily="18" charset="0"/>
                                </a:rPr>
                              </m:ctrlPr>
                            </m:dPr>
                            <m:e>
                              <m:r>
                                <a:rPr lang="es-ES" i="0">
                                  <a:latin typeface="Cambria Math" panose="02040503050406030204" pitchFamily="18" charset="0"/>
                                </a:rPr>
                                <m:t>3(</m:t>
                              </m:r>
                              <m:r>
                                <a:rPr lang="es-ES" i="1">
                                  <a:latin typeface="Cambria Math" panose="02040503050406030204" pitchFamily="18" charset="0"/>
                                </a:rPr>
                                <m:t>𝑛</m:t>
                              </m:r>
                              <m:r>
                                <a:rPr lang="es-ES" i="0">
                                  <a:latin typeface="Cambria Math" panose="02040503050406030204" pitchFamily="18" charset="0"/>
                                </a:rPr>
                                <m:t>+1</m:t>
                              </m:r>
                            </m:e>
                          </m:d>
                        </m:num>
                        <m:den>
                          <m:r>
                            <a:rPr lang="es-ES" i="0">
                              <a:latin typeface="Cambria Math" panose="02040503050406030204" pitchFamily="18" charset="0"/>
                            </a:rPr>
                            <m:t>4</m:t>
                          </m:r>
                        </m:den>
                      </m:f>
                      <m:r>
                        <a:rPr lang="es-ES" i="0">
                          <a:latin typeface="Cambria Math" panose="02040503050406030204" pitchFamily="18" charset="0"/>
                        </a:rPr>
                        <m:t>, é</m:t>
                      </m:r>
                      <m:r>
                        <a:rPr lang="es-ES" i="1">
                          <a:latin typeface="Cambria Math" panose="02040503050406030204" pitchFamily="18" charset="0"/>
                        </a:rPr>
                        <m:t>𝑠𝑖𝑚𝑎</m:t>
                      </m:r>
                      <m:r>
                        <a:rPr lang="es-ES" i="0">
                          <a:latin typeface="Cambria Math" panose="02040503050406030204" pitchFamily="18" charset="0"/>
                        </a:rPr>
                        <m:t> </m:t>
                      </m:r>
                      <m:r>
                        <a:rPr lang="es-ES" i="1">
                          <a:latin typeface="Cambria Math" panose="02040503050406030204" pitchFamily="18" charset="0"/>
                        </a:rPr>
                        <m:t>𝑜𝑏𝑠𝑒𝑟𝑣𝑎𝑐𝑖</m:t>
                      </m:r>
                      <m:r>
                        <a:rPr lang="es-ES" i="0">
                          <a:latin typeface="Cambria Math" panose="02040503050406030204" pitchFamily="18" charset="0"/>
                        </a:rPr>
                        <m:t>ó</m:t>
                      </m:r>
                      <m:r>
                        <a:rPr lang="es-ES" i="1">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𝑜𝑟𝑑𝑒𝑛𝑎𝑑𝑎</m:t>
                      </m:r>
                    </m:oMath>
                  </m:oMathPara>
                </a14:m>
                <a:endParaRPr lang="es-ES" dirty="0"/>
              </a:p>
            </p:txBody>
          </p:sp>
        </mc:Choice>
        <mc:Fallback xmlns="">
          <p:sp>
            <p:nvSpPr>
              <p:cNvPr id="7" name="Rectángulo 6"/>
              <p:cNvSpPr>
                <a:spLocks noRot="1" noChangeAspect="1" noMove="1" noResize="1" noEditPoints="1" noAdjustHandles="1" noChangeArrowheads="1" noChangeShapeType="1" noTextEdit="1"/>
              </p:cNvSpPr>
              <p:nvPr/>
            </p:nvSpPr>
            <p:spPr>
              <a:xfrm>
                <a:off x="107504" y="5651999"/>
                <a:ext cx="5287605" cy="628057"/>
              </a:xfrm>
              <a:prstGeom prst="rect">
                <a:avLst/>
              </a:prstGeom>
              <a:blipFill rotWithShape="0">
                <a:blip r:embed="rId5"/>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0271998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11560" y="188640"/>
            <a:ext cx="7772400" cy="936104"/>
          </a:xfrm>
        </p:spPr>
        <p:txBody>
          <a:bodyPr/>
          <a:lstStyle/>
          <a:p>
            <a:pPr algn="ctr"/>
            <a:r>
              <a:rPr lang="es-CR" dirty="0" smtClean="0"/>
              <a:t>Para los </a:t>
            </a:r>
            <a:r>
              <a:rPr lang="es-CR" dirty="0" err="1" smtClean="0"/>
              <a:t>deciles</a:t>
            </a:r>
            <a:r>
              <a:rPr lang="es-CR" dirty="0" smtClean="0"/>
              <a:t>…. cómo sería?</a:t>
            </a:r>
            <a:endParaRPr lang="es-ES" dirty="0"/>
          </a:p>
        </p:txBody>
      </p:sp>
      <p:pic>
        <p:nvPicPr>
          <p:cNvPr id="5122" name="Picture 2" descr="http://img.gustfront.com.ar/rep/1011/decil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356992"/>
            <a:ext cx="6984776" cy="331302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dieumsnh.qfb.umich.mx/estadistica/deciles_archivos/image00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68" y="1484784"/>
            <a:ext cx="6696743" cy="1742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1632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smtClean="0"/>
              <a:t>Índice </a:t>
            </a:r>
            <a:endParaRPr lang="es-CR" dirty="0"/>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
        <p:nvSpPr>
          <p:cNvPr id="11"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moda</a:t>
            </a:r>
            <a:endParaRPr lang="es-CR" dirty="0"/>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mediana</a:t>
            </a:r>
            <a:endParaRPr lang="es-CR" dirty="0"/>
          </a:p>
        </p:txBody>
      </p:sp>
      <p:sp>
        <p:nvSpPr>
          <p:cNvPr id="13" name="12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El promedio</a:t>
            </a:r>
            <a:endParaRPr lang="es-CR" dirty="0"/>
          </a:p>
        </p:txBody>
      </p:sp>
    </p:spTree>
    <p:extLst>
      <p:ext uri="{BB962C8B-B14F-4D97-AF65-F5344CB8AC3E}">
        <p14:creationId xmlns:p14="http://schemas.microsoft.com/office/powerpoint/2010/main" val="14923119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568952" cy="1143000"/>
          </a:xfrm>
        </p:spPr>
        <p:txBody>
          <a:bodyPr/>
          <a:lstStyle/>
          <a:p>
            <a:pPr algn="ctr"/>
            <a:r>
              <a:rPr lang="es-CR" dirty="0" smtClean="0"/>
              <a:t>La media aritmética (  ) o promedio</a:t>
            </a:r>
            <a:endParaRPr lang="es-CR" dirty="0"/>
          </a:p>
        </p:txBody>
      </p:sp>
      <p:sp>
        <p:nvSpPr>
          <p:cNvPr id="3" name="2 Marcador de contenido"/>
          <p:cNvSpPr>
            <a:spLocks noGrp="1"/>
          </p:cNvSpPr>
          <p:nvPr>
            <p:ph sz="quarter" idx="1"/>
          </p:nvPr>
        </p:nvSpPr>
        <p:spPr>
          <a:xfrm>
            <a:off x="323528" y="1268760"/>
            <a:ext cx="7772400" cy="4572000"/>
          </a:xfrm>
        </p:spPr>
        <p:txBody>
          <a:bodyPr/>
          <a:lstStyle/>
          <a:p>
            <a:r>
              <a:rPr lang="es-CR" dirty="0" smtClean="0"/>
              <a:t>Es la medida de posición más usada y conocida. </a:t>
            </a:r>
          </a:p>
          <a:p>
            <a:endParaRPr lang="es-CR" dirty="0" smtClean="0"/>
          </a:p>
          <a:p>
            <a:r>
              <a:rPr lang="es-CR" dirty="0" smtClean="0"/>
              <a:t>Existen 2 formas alternativas para su cálculo</a:t>
            </a:r>
            <a:endParaRPr lang="es-CR" dirty="0"/>
          </a:p>
        </p:txBody>
      </p:sp>
      <p:sp>
        <p:nvSpPr>
          <p:cNvPr id="307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077"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364088" y="548680"/>
            <a:ext cx="216024" cy="528059"/>
          </a:xfrm>
          <a:prstGeom prst="rect">
            <a:avLst/>
          </a:prstGeom>
          <a:noFill/>
        </p:spPr>
      </p:pic>
      <p:sp>
        <p:nvSpPr>
          <p:cNvPr id="9" name="8 Elipse"/>
          <p:cNvSpPr/>
          <p:nvPr/>
        </p:nvSpPr>
        <p:spPr>
          <a:xfrm>
            <a:off x="2267744" y="2721315"/>
            <a:ext cx="2448272" cy="21602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R" sz="3200" dirty="0" smtClean="0"/>
              <a:t>Promedio</a:t>
            </a:r>
            <a:endParaRPr lang="es-CR" sz="3200" dirty="0"/>
          </a:p>
        </p:txBody>
      </p:sp>
      <p:cxnSp>
        <p:nvCxnSpPr>
          <p:cNvPr id="11" name="10 Conector recto de flecha"/>
          <p:cNvCxnSpPr>
            <a:stCxn id="9" idx="3"/>
            <a:endCxn id="16" idx="0"/>
          </p:cNvCxnSpPr>
          <p:nvPr/>
        </p:nvCxnSpPr>
        <p:spPr>
          <a:xfrm flipH="1">
            <a:off x="1583668" y="4565195"/>
            <a:ext cx="1042617" cy="6640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a:stCxn id="9" idx="5"/>
            <a:endCxn id="17" idx="0"/>
          </p:cNvCxnSpPr>
          <p:nvPr/>
        </p:nvCxnSpPr>
        <p:spPr>
          <a:xfrm>
            <a:off x="4357475" y="4565195"/>
            <a:ext cx="1510669" cy="7131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Rectángulo redondeado"/>
          <p:cNvSpPr/>
          <p:nvPr/>
        </p:nvSpPr>
        <p:spPr>
          <a:xfrm>
            <a:off x="251520" y="5229200"/>
            <a:ext cx="2664296" cy="1340768"/>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s-CR" sz="4000" dirty="0" smtClean="0"/>
              <a:t>Promedio simple</a:t>
            </a:r>
            <a:endParaRPr lang="es-CR" sz="4000" dirty="0"/>
          </a:p>
        </p:txBody>
      </p:sp>
      <p:sp>
        <p:nvSpPr>
          <p:cNvPr id="17" name="16 Rectángulo redondeado"/>
          <p:cNvSpPr/>
          <p:nvPr/>
        </p:nvSpPr>
        <p:spPr>
          <a:xfrm>
            <a:off x="4535996" y="5278389"/>
            <a:ext cx="2664296" cy="1340768"/>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4000" dirty="0" smtClean="0"/>
              <a:t>Promedio ponderado</a:t>
            </a:r>
            <a:endParaRPr lang="es-CR" sz="4000" dirty="0"/>
          </a:p>
        </p:txBody>
      </p:sp>
      <p:sp>
        <p:nvSpPr>
          <p:cNvPr id="8" name="Rectángulo redondeado 7"/>
          <p:cNvSpPr/>
          <p:nvPr/>
        </p:nvSpPr>
        <p:spPr>
          <a:xfrm>
            <a:off x="7483860" y="5337213"/>
            <a:ext cx="1336612" cy="56237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Absolutos</a:t>
            </a:r>
            <a:endParaRPr lang="es-ES" dirty="0"/>
          </a:p>
        </p:txBody>
      </p:sp>
      <p:sp>
        <p:nvSpPr>
          <p:cNvPr id="18" name="Rectángulo redondeado 17"/>
          <p:cNvSpPr/>
          <p:nvPr/>
        </p:nvSpPr>
        <p:spPr>
          <a:xfrm>
            <a:off x="7483860" y="6069952"/>
            <a:ext cx="1336612" cy="56237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Relativos</a:t>
            </a:r>
            <a:endParaRPr lang="es-E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arn(inVertical)">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07504" y="836712"/>
            <a:ext cx="6658015" cy="5949280"/>
          </a:xfrm>
        </p:spPr>
        <p:txBody>
          <a:bodyPr>
            <a:normAutofit fontScale="92500" lnSpcReduction="10000"/>
          </a:bodyPr>
          <a:lstStyle/>
          <a:p>
            <a:r>
              <a:rPr lang="es-CR" sz="2400" dirty="0" smtClean="0"/>
              <a:t>Es un conjunto de valores, es el resultado que se obtiene al dividir la suma de esos valores entre el número de ellos.</a:t>
            </a:r>
          </a:p>
          <a:p>
            <a:endParaRPr lang="es-CR" sz="2400" dirty="0" smtClean="0"/>
          </a:p>
          <a:p>
            <a:endParaRPr lang="es-CR" sz="2400" dirty="0" smtClean="0"/>
          </a:p>
          <a:p>
            <a:pPr>
              <a:buNone/>
            </a:pPr>
            <a:endParaRPr lang="es-CR" sz="2400" dirty="0" smtClean="0"/>
          </a:p>
          <a:p>
            <a:r>
              <a:rPr lang="es-CR" sz="2400" dirty="0" smtClean="0"/>
              <a:t>Por ejemplo, si en una clase hay 12 personas cuyas edades son:</a:t>
            </a:r>
          </a:p>
          <a:p>
            <a:endParaRPr lang="es-CR" sz="2400" dirty="0" smtClean="0"/>
          </a:p>
          <a:p>
            <a:endParaRPr lang="es-CR" sz="2400" dirty="0" smtClean="0"/>
          </a:p>
          <a:p>
            <a:r>
              <a:rPr lang="es-CR" sz="2400" dirty="0" smtClean="0"/>
              <a:t>La edad promedio de esas personas sería:</a:t>
            </a:r>
          </a:p>
          <a:p>
            <a:endParaRPr lang="es-CR" sz="2400" dirty="0" smtClean="0"/>
          </a:p>
          <a:p>
            <a:pPr>
              <a:buNone/>
            </a:pPr>
            <a:endParaRPr lang="es-CR" sz="2400" dirty="0" smtClean="0"/>
          </a:p>
          <a:p>
            <a:pPr>
              <a:buNone/>
            </a:pPr>
            <a:endParaRPr lang="es-CR" sz="2400" dirty="0" smtClean="0"/>
          </a:p>
          <a:p>
            <a:r>
              <a:rPr lang="es-CR" sz="2400" dirty="0" smtClean="0"/>
              <a:t>La importancia del promedio es que para un conjunto de datos, esta medida es por mucho la que la gente prefiere saber (</a:t>
            </a:r>
            <a:r>
              <a:rPr lang="es-CR" sz="2400" smtClean="0"/>
              <a:t>propiedades matemáticas).</a:t>
            </a:r>
            <a:endParaRPr lang="es-CR" sz="2400" dirty="0" smtClean="0"/>
          </a:p>
        </p:txBody>
      </p:sp>
      <p:sp>
        <p:nvSpPr>
          <p:cNvPr id="4" name="1 Título"/>
          <p:cNvSpPr>
            <a:spLocks noGrp="1"/>
          </p:cNvSpPr>
          <p:nvPr>
            <p:ph type="title"/>
          </p:nvPr>
        </p:nvSpPr>
        <p:spPr>
          <a:xfrm>
            <a:off x="287524" y="-53846"/>
            <a:ext cx="8568952" cy="908720"/>
          </a:xfrm>
        </p:spPr>
        <p:txBody>
          <a:bodyPr>
            <a:normAutofit/>
          </a:bodyPr>
          <a:lstStyle/>
          <a:p>
            <a:pPr algn="ctr"/>
            <a:r>
              <a:rPr lang="es-CR" sz="4400" dirty="0" smtClean="0"/>
              <a:t>Promedio simple</a:t>
            </a:r>
            <a:endParaRPr lang="es-CR" sz="4400" dirty="0"/>
          </a:p>
        </p:txBody>
      </p:sp>
      <p:sp>
        <p:nvSpPr>
          <p:cNvPr id="5" name="4 Rectángulo"/>
          <p:cNvSpPr/>
          <p:nvPr/>
        </p:nvSpPr>
        <p:spPr>
          <a:xfrm>
            <a:off x="3021103" y="1598260"/>
            <a:ext cx="3744416" cy="79208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C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4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292496" y="1665297"/>
            <a:ext cx="2780104" cy="658014"/>
          </a:xfrm>
          <a:prstGeom prst="rect">
            <a:avLst/>
          </a:prstGeom>
          <a:noFill/>
        </p:spPr>
      </p:pic>
      <p:sp>
        <p:nvSpPr>
          <p:cNvPr id="205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51"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808218" y="3455550"/>
            <a:ext cx="5256585" cy="507165"/>
          </a:xfrm>
          <a:prstGeom prst="rect">
            <a:avLst/>
          </a:prstGeom>
          <a:noFill/>
        </p:spPr>
      </p:pic>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53"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92194" y="4799426"/>
            <a:ext cx="5688632" cy="708807"/>
          </a:xfrm>
          <a:prstGeom prst="rect">
            <a:avLst/>
          </a:prstGeom>
          <a:noFill/>
        </p:spPr>
      </p:pic>
      <p:pic>
        <p:nvPicPr>
          <p:cNvPr id="6146" name="Picture 2" descr="http://img.bhs4.com/5a/7/5a76559a8042f3f55e7c90fad3034694b6ece658_large.jpg"/>
          <p:cNvPicPr>
            <a:picLocks noChangeAspect="1" noChangeArrowheads="1"/>
          </p:cNvPicPr>
          <p:nvPr/>
        </p:nvPicPr>
        <p:blipFill rotWithShape="1">
          <a:blip r:embed="rId5">
            <a:extLst>
              <a:ext uri="{28A0092B-C50C-407E-A947-70E740481C1C}">
                <a14:useLocalDpi xmlns:a14="http://schemas.microsoft.com/office/drawing/2010/main" val="0"/>
              </a:ext>
            </a:extLst>
          </a:blip>
          <a:srcRect l="23098" t="34921" r="23982" b="33579"/>
          <a:stretch/>
        </p:blipFill>
        <p:spPr bwMode="auto">
          <a:xfrm>
            <a:off x="725167" y="1604351"/>
            <a:ext cx="1440160" cy="857238"/>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www.pxsglobal.net/wp-content/uploads/2014/08/Promedio-05.jpg"/>
          <p:cNvPicPr>
            <a:picLocks noChangeAspect="1" noChangeArrowheads="1"/>
          </p:cNvPicPr>
          <p:nvPr/>
        </p:nvPicPr>
        <p:blipFill rotWithShape="1">
          <a:blip r:embed="rId6">
            <a:extLst>
              <a:ext uri="{28A0092B-C50C-407E-A947-70E740481C1C}">
                <a14:useLocalDpi xmlns:a14="http://schemas.microsoft.com/office/drawing/2010/main" val="0"/>
              </a:ext>
            </a:extLst>
          </a:blip>
          <a:srcRect l="4630" t="10402" r="4344" b="6750"/>
          <a:stretch/>
        </p:blipFill>
        <p:spPr bwMode="auto">
          <a:xfrm>
            <a:off x="6588224" y="4680141"/>
            <a:ext cx="1991471" cy="1656184"/>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ttp://www.facilcontabilidad.com/wp-content/uploads/2012/04/31-Metodo-promedio-ponderado-y-la-contabilidad-con-NIIF.png"/>
          <p:cNvPicPr>
            <a:picLocks noChangeAspect="1" noChangeArrowheads="1"/>
          </p:cNvPicPr>
          <p:nvPr/>
        </p:nvPicPr>
        <p:blipFill rotWithShape="1">
          <a:blip r:embed="rId7">
            <a:extLst>
              <a:ext uri="{28A0092B-C50C-407E-A947-70E740481C1C}">
                <a14:useLocalDpi xmlns:a14="http://schemas.microsoft.com/office/drawing/2010/main" val="0"/>
              </a:ext>
            </a:extLst>
          </a:blip>
          <a:srcRect l="27655" r="25726"/>
          <a:stretch/>
        </p:blipFill>
        <p:spPr bwMode="auto">
          <a:xfrm>
            <a:off x="7055791" y="1642711"/>
            <a:ext cx="1696692" cy="21825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8"/>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778098"/>
          </a:xfrm>
        </p:spPr>
        <p:txBody>
          <a:bodyPr/>
          <a:lstStyle/>
          <a:p>
            <a:pPr algn="ctr"/>
            <a:r>
              <a:rPr lang="es-CR" dirty="0" smtClean="0"/>
              <a:t>Ejemplos de promedios </a:t>
            </a:r>
            <a:endParaRPr lang="es-ES" dirty="0"/>
          </a:p>
        </p:txBody>
      </p:sp>
      <p:pic>
        <p:nvPicPr>
          <p:cNvPr id="7170" name="Picture 2" descr="http://queesunensayo.org/wp-content/uploads/2016/01/crowdsourcing-carto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3356992"/>
            <a:ext cx="4191000" cy="301942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www.eoi.es/blogs/20hibridacion/files/2012/02/dreamstime_72615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484784"/>
            <a:ext cx="3360372" cy="2520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5816812"/>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124744"/>
            <a:ext cx="7772400" cy="5472608"/>
          </a:xfrm>
        </p:spPr>
        <p:txBody>
          <a:bodyPr>
            <a:normAutofit/>
          </a:bodyPr>
          <a:lstStyle/>
          <a:p>
            <a:r>
              <a:rPr lang="es-CR" sz="2400" dirty="0" smtClean="0"/>
              <a:t>Muchas veces los valores de interés no tienen la misma ponderación, o no tienen el mismo “valor”  con respecto a otros casos. </a:t>
            </a:r>
          </a:p>
          <a:p>
            <a:r>
              <a:rPr lang="es-CR" sz="2400" dirty="0" smtClean="0"/>
              <a:t>En este caso para determinar el promedio es necesario ponderar los resultados, por lo cual realizamos un promedio ponderado.</a:t>
            </a:r>
          </a:p>
          <a:p>
            <a:pPr>
              <a:buNone/>
            </a:pPr>
            <a:endParaRPr lang="es-CR" sz="2000" dirty="0" smtClean="0"/>
          </a:p>
          <a:p>
            <a:pPr>
              <a:buNone/>
            </a:pPr>
            <a:r>
              <a:rPr lang="es-CR" sz="2000" u="sng" dirty="0" smtClean="0"/>
              <a:t>Ejemplo</a:t>
            </a:r>
            <a:r>
              <a:rPr lang="es-CR" sz="2000" dirty="0" smtClean="0"/>
              <a:t>: notas de curso</a:t>
            </a:r>
            <a:endParaRPr lang="es-CR" sz="2000" dirty="0"/>
          </a:p>
        </p:txBody>
      </p:sp>
      <p:sp>
        <p:nvSpPr>
          <p:cNvPr id="4" name="1 Título"/>
          <p:cNvSpPr>
            <a:spLocks noGrp="1"/>
          </p:cNvSpPr>
          <p:nvPr>
            <p:ph type="title"/>
          </p:nvPr>
        </p:nvSpPr>
        <p:spPr>
          <a:xfrm>
            <a:off x="251520" y="0"/>
            <a:ext cx="8568952" cy="908720"/>
          </a:xfrm>
        </p:spPr>
        <p:txBody>
          <a:bodyPr>
            <a:normAutofit/>
          </a:bodyPr>
          <a:lstStyle/>
          <a:p>
            <a:pPr algn="ctr"/>
            <a:r>
              <a:rPr lang="es-CR" sz="4400" dirty="0" smtClean="0"/>
              <a:t>Promedio ponderado: absoluto</a:t>
            </a:r>
            <a:endParaRPr lang="es-CR" sz="4400" dirty="0"/>
          </a:p>
        </p:txBody>
      </p:sp>
      <p:graphicFrame>
        <p:nvGraphicFramePr>
          <p:cNvPr id="5" name="4 Tabla"/>
          <p:cNvGraphicFramePr>
            <a:graphicFrameLocks noGrp="1"/>
          </p:cNvGraphicFramePr>
          <p:nvPr/>
        </p:nvGraphicFramePr>
        <p:xfrm>
          <a:off x="611560" y="3933056"/>
          <a:ext cx="7200800" cy="2664298"/>
        </p:xfrm>
        <a:graphic>
          <a:graphicData uri="http://schemas.openxmlformats.org/drawingml/2006/table">
            <a:tbl>
              <a:tblPr/>
              <a:tblGrid>
                <a:gridCol w="2528180"/>
                <a:gridCol w="2257305"/>
                <a:gridCol w="2415315"/>
              </a:tblGrid>
              <a:tr h="380614">
                <a:tc>
                  <a:txBody>
                    <a:bodyPr/>
                    <a:lstStyle/>
                    <a:p>
                      <a:pPr algn="ctr" fontAlgn="b"/>
                      <a:r>
                        <a:rPr lang="es-CR" sz="2400" b="0" i="0" u="none" strike="noStrike" dirty="0">
                          <a:solidFill>
                            <a:srgbClr val="000000"/>
                          </a:solidFill>
                          <a:latin typeface="Arial" pitchFamily="34" charset="0"/>
                          <a:cs typeface="Arial" pitchFamily="34" charset="0"/>
                        </a:rPr>
                        <a:t>Nota curso</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dirty="0">
                          <a:solidFill>
                            <a:srgbClr val="000000"/>
                          </a:solidFill>
                          <a:latin typeface="Arial" pitchFamily="34" charset="0"/>
                          <a:cs typeface="Arial" pitchFamily="34" charset="0"/>
                        </a:rPr>
                        <a:t>Créditos</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a:solidFill>
                            <a:srgbClr val="000000"/>
                          </a:solidFill>
                          <a:latin typeface="Arial" pitchFamily="34" charset="0"/>
                          <a:cs typeface="Arial" pitchFamily="34" charset="0"/>
                        </a:rPr>
                        <a:t>N*Curso</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0614">
                <a:tc>
                  <a:txBody>
                    <a:bodyPr/>
                    <a:lstStyle/>
                    <a:p>
                      <a:pPr algn="ctr" fontAlgn="b"/>
                      <a:r>
                        <a:rPr lang="es-CR" sz="2400" b="0" i="0" u="none" strike="noStrike" dirty="0">
                          <a:solidFill>
                            <a:srgbClr val="000000"/>
                          </a:solidFill>
                          <a:latin typeface="Arial" pitchFamily="34" charset="0"/>
                          <a:cs typeface="Arial" pitchFamily="34" charset="0"/>
                        </a:rPr>
                        <a:t>85</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1</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smtClean="0">
                          <a:solidFill>
                            <a:srgbClr val="000000"/>
                          </a:solidFill>
                          <a:latin typeface="Arial" pitchFamily="34" charset="0"/>
                          <a:cs typeface="Arial" pitchFamily="34" charset="0"/>
                        </a:rPr>
                        <a:t>85</a:t>
                      </a:r>
                      <a:endParaRPr lang="es-CR" sz="2400" b="0" i="0" u="none" strike="noStrike" dirty="0">
                        <a:solidFill>
                          <a:srgbClr val="000000"/>
                        </a:solidFill>
                        <a:latin typeface="Arial" pitchFamily="34" charset="0"/>
                        <a:cs typeface="Arial"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r>
              <a:tr h="380614">
                <a:tc>
                  <a:txBody>
                    <a:bodyPr/>
                    <a:lstStyle/>
                    <a:p>
                      <a:pPr algn="ctr" fontAlgn="b"/>
                      <a:r>
                        <a:rPr lang="es-CR" sz="2400" b="0" i="0" u="none" strike="noStrike">
                          <a:solidFill>
                            <a:srgbClr val="000000"/>
                          </a:solidFill>
                          <a:latin typeface="Arial" pitchFamily="34" charset="0"/>
                          <a:cs typeface="Arial" pitchFamily="34" charset="0"/>
                        </a:rPr>
                        <a:t>90</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1</a:t>
                      </a:r>
                    </a:p>
                  </a:txBody>
                  <a:tcPr marL="9525" marR="9525" marT="9525" marB="0" anchor="b">
                    <a:lnL>
                      <a:noFill/>
                    </a:lnL>
                    <a:lnR>
                      <a:noFill/>
                    </a:lnR>
                    <a:lnT>
                      <a:noFill/>
                    </a:lnT>
                    <a:lnB>
                      <a:noFill/>
                    </a:lnB>
                  </a:tcPr>
                </a:tc>
                <a:tc>
                  <a:txBody>
                    <a:bodyPr/>
                    <a:lstStyle/>
                    <a:p>
                      <a:pPr algn="ctr" fontAlgn="b"/>
                      <a:r>
                        <a:rPr lang="es-CR" sz="2400" b="0" i="0" u="none" strike="noStrike" dirty="0" smtClean="0">
                          <a:solidFill>
                            <a:srgbClr val="000000"/>
                          </a:solidFill>
                          <a:latin typeface="Arial" pitchFamily="34" charset="0"/>
                          <a:cs typeface="Arial" pitchFamily="34" charset="0"/>
                        </a:rPr>
                        <a:t>90</a:t>
                      </a:r>
                      <a:endParaRPr lang="es-CR" sz="2400" b="0" i="0" u="none" strike="noStrike" dirty="0">
                        <a:solidFill>
                          <a:srgbClr val="000000"/>
                        </a:solidFill>
                        <a:latin typeface="Arial" pitchFamily="34" charset="0"/>
                        <a:cs typeface="Arial" pitchFamily="34" charset="0"/>
                      </a:endParaRPr>
                    </a:p>
                  </a:txBody>
                  <a:tcPr marL="9525" marR="9525" marT="9525" marB="0" anchor="b">
                    <a:lnL>
                      <a:noFill/>
                    </a:lnL>
                    <a:lnR>
                      <a:noFill/>
                    </a:lnR>
                    <a:lnT>
                      <a:noFill/>
                    </a:lnT>
                    <a:lnB>
                      <a:noFill/>
                    </a:lnB>
                  </a:tcPr>
                </a:tc>
              </a:tr>
              <a:tr h="380614">
                <a:tc>
                  <a:txBody>
                    <a:bodyPr/>
                    <a:lstStyle/>
                    <a:p>
                      <a:pPr algn="ctr" fontAlgn="b"/>
                      <a:r>
                        <a:rPr lang="es-CR" sz="2400" b="0" i="0" u="none" strike="noStrike">
                          <a:solidFill>
                            <a:srgbClr val="000000"/>
                          </a:solidFill>
                          <a:latin typeface="Arial" pitchFamily="34" charset="0"/>
                          <a:cs typeface="Arial" pitchFamily="34" charset="0"/>
                        </a:rPr>
                        <a:t>95</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3</a:t>
                      </a:r>
                    </a:p>
                  </a:txBody>
                  <a:tcPr marL="9525" marR="9525" marT="9525" marB="0" anchor="b">
                    <a:lnL>
                      <a:noFill/>
                    </a:lnL>
                    <a:lnR>
                      <a:noFill/>
                    </a:lnR>
                    <a:lnT>
                      <a:noFill/>
                    </a:lnT>
                    <a:lnB>
                      <a:noFill/>
                    </a:lnB>
                  </a:tcPr>
                </a:tc>
                <a:tc>
                  <a:txBody>
                    <a:bodyPr/>
                    <a:lstStyle/>
                    <a:p>
                      <a:pPr algn="ctr" fontAlgn="b"/>
                      <a:r>
                        <a:rPr lang="es-CR" sz="2400" b="0" i="0" u="none" strike="noStrike" dirty="0" smtClean="0">
                          <a:solidFill>
                            <a:srgbClr val="000000"/>
                          </a:solidFill>
                          <a:latin typeface="Arial" pitchFamily="34" charset="0"/>
                          <a:cs typeface="Arial" pitchFamily="34" charset="0"/>
                        </a:rPr>
                        <a:t>285</a:t>
                      </a:r>
                      <a:endParaRPr lang="es-CR" sz="2400" b="0" i="0" u="none" strike="noStrike" dirty="0">
                        <a:solidFill>
                          <a:srgbClr val="000000"/>
                        </a:solidFill>
                        <a:latin typeface="Arial" pitchFamily="34" charset="0"/>
                        <a:cs typeface="Arial" pitchFamily="34" charset="0"/>
                      </a:endParaRPr>
                    </a:p>
                  </a:txBody>
                  <a:tcPr marL="9525" marR="9525" marT="9525" marB="0" anchor="b">
                    <a:lnL>
                      <a:noFill/>
                    </a:lnL>
                    <a:lnR>
                      <a:noFill/>
                    </a:lnR>
                    <a:lnT>
                      <a:noFill/>
                    </a:lnT>
                    <a:lnB>
                      <a:noFill/>
                    </a:lnB>
                  </a:tcPr>
                </a:tc>
              </a:tr>
              <a:tr h="380614">
                <a:tc>
                  <a:txBody>
                    <a:bodyPr/>
                    <a:lstStyle/>
                    <a:p>
                      <a:pPr algn="ctr" fontAlgn="b"/>
                      <a:r>
                        <a:rPr lang="es-CR" sz="2400" b="0" i="0" u="none" strike="noStrike">
                          <a:solidFill>
                            <a:srgbClr val="000000"/>
                          </a:solidFill>
                          <a:latin typeface="Arial" pitchFamily="34" charset="0"/>
                          <a:cs typeface="Arial" pitchFamily="34" charset="0"/>
                        </a:rPr>
                        <a:t>95</a:t>
                      </a:r>
                    </a:p>
                  </a:txBody>
                  <a:tcPr marL="9525" marR="9525" marT="9525" marB="0" anchor="b">
                    <a:lnL>
                      <a:noFill/>
                    </a:lnL>
                    <a:lnR>
                      <a:noFill/>
                    </a:lnR>
                    <a:lnT>
                      <a:noFill/>
                    </a:lnT>
                    <a:lnB>
                      <a:noFill/>
                    </a:lnB>
                  </a:tcPr>
                </a:tc>
                <a:tc>
                  <a:txBody>
                    <a:bodyPr/>
                    <a:lstStyle/>
                    <a:p>
                      <a:pPr algn="ctr" fontAlgn="b"/>
                      <a:r>
                        <a:rPr lang="es-CR" sz="2400" b="0" i="0" u="none" strike="noStrike">
                          <a:solidFill>
                            <a:srgbClr val="000000"/>
                          </a:solidFill>
                          <a:latin typeface="Arial" pitchFamily="34" charset="0"/>
                          <a:cs typeface="Arial" pitchFamily="34" charset="0"/>
                        </a:rPr>
                        <a:t>4</a:t>
                      </a:r>
                    </a:p>
                  </a:txBody>
                  <a:tcPr marL="9525" marR="9525" marT="9525" marB="0" anchor="b">
                    <a:lnL>
                      <a:noFill/>
                    </a:lnL>
                    <a:lnR>
                      <a:noFill/>
                    </a:lnR>
                    <a:lnT>
                      <a:noFill/>
                    </a:lnT>
                    <a:lnB>
                      <a:noFill/>
                    </a:lnB>
                  </a:tcPr>
                </a:tc>
                <a:tc>
                  <a:txBody>
                    <a:bodyPr/>
                    <a:lstStyle/>
                    <a:p>
                      <a:pPr algn="ctr" fontAlgn="b"/>
                      <a:r>
                        <a:rPr lang="es-CR" sz="2400" b="0" i="0" u="none" strike="noStrike" dirty="0" smtClean="0">
                          <a:solidFill>
                            <a:srgbClr val="000000"/>
                          </a:solidFill>
                          <a:latin typeface="Arial" pitchFamily="34" charset="0"/>
                          <a:cs typeface="Arial" pitchFamily="34" charset="0"/>
                        </a:rPr>
                        <a:t>380</a:t>
                      </a:r>
                      <a:endParaRPr lang="es-CR" sz="2400" b="0" i="0" u="none" strike="noStrike" dirty="0">
                        <a:solidFill>
                          <a:srgbClr val="000000"/>
                        </a:solidFill>
                        <a:latin typeface="Arial" pitchFamily="34" charset="0"/>
                        <a:cs typeface="Arial" pitchFamily="34" charset="0"/>
                      </a:endParaRPr>
                    </a:p>
                  </a:txBody>
                  <a:tcPr marL="9525" marR="9525" marT="9525" marB="0" anchor="b">
                    <a:lnL>
                      <a:noFill/>
                    </a:lnL>
                    <a:lnR>
                      <a:noFill/>
                    </a:lnR>
                    <a:lnT>
                      <a:noFill/>
                    </a:lnT>
                    <a:lnB>
                      <a:noFill/>
                    </a:lnB>
                  </a:tcPr>
                </a:tc>
              </a:tr>
              <a:tr h="380614">
                <a:tc>
                  <a:txBody>
                    <a:bodyPr/>
                    <a:lstStyle/>
                    <a:p>
                      <a:pPr algn="ctr" fontAlgn="b"/>
                      <a:r>
                        <a:rPr lang="es-CR" sz="2400" b="0" i="0" u="none" strike="noStrike">
                          <a:solidFill>
                            <a:srgbClr val="000000"/>
                          </a:solidFill>
                          <a:latin typeface="Arial" pitchFamily="34" charset="0"/>
                          <a:cs typeface="Arial" pitchFamily="34" charset="0"/>
                        </a:rPr>
                        <a:t>100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dirty="0">
                          <a:solidFill>
                            <a:srgbClr val="000000"/>
                          </a:solidFill>
                          <a:latin typeface="Arial" pitchFamily="34" charset="0"/>
                          <a:cs typeface="Arial" pitchFamily="34" charset="0"/>
                        </a:rPr>
                        <a:t>7</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dirty="0" smtClean="0">
                          <a:solidFill>
                            <a:srgbClr val="000000"/>
                          </a:solidFill>
                          <a:latin typeface="Arial" pitchFamily="34" charset="0"/>
                          <a:cs typeface="Arial" pitchFamily="34" charset="0"/>
                        </a:rPr>
                        <a:t>700</a:t>
                      </a:r>
                      <a:endParaRPr lang="es-CR" sz="2400" b="0" i="0" u="none" strike="noStrike" dirty="0">
                        <a:solidFill>
                          <a:srgbClr val="000000"/>
                        </a:solidFill>
                        <a:latin typeface="Arial" pitchFamily="34" charset="0"/>
                        <a:cs typeface="Arial"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r>
              <a:tr h="380614">
                <a:tc>
                  <a:txBody>
                    <a:bodyPr/>
                    <a:lstStyle/>
                    <a:p>
                      <a:pPr algn="ctr" fontAlgn="b"/>
                      <a:r>
                        <a:rPr lang="es-CR" sz="2400" b="0" i="0" u="none" strike="noStrike">
                          <a:solidFill>
                            <a:srgbClr val="000000"/>
                          </a:solidFill>
                          <a:latin typeface="Arial" pitchFamily="34" charset="0"/>
                          <a:cs typeface="Arial" pitchFamily="34" charset="0"/>
                        </a:rPr>
                        <a:t>Total</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smtClean="0">
                          <a:solidFill>
                            <a:srgbClr val="000000"/>
                          </a:solidFill>
                          <a:latin typeface="Arial" pitchFamily="34" charset="0"/>
                          <a:cs typeface="Arial" pitchFamily="34" charset="0"/>
                        </a:rPr>
                        <a:t>16</a:t>
                      </a:r>
                      <a:endParaRPr lang="es-CR" sz="2400" b="0" i="0" u="none" strike="noStrike" dirty="0">
                        <a:solidFill>
                          <a:srgbClr val="000000"/>
                        </a:solidFill>
                        <a:latin typeface="Arial" pitchFamily="34" charset="0"/>
                        <a:cs typeface="Arial"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smtClean="0">
                          <a:solidFill>
                            <a:srgbClr val="000000"/>
                          </a:solidFill>
                          <a:latin typeface="Arial" pitchFamily="34" charset="0"/>
                          <a:cs typeface="Arial" pitchFamily="34" charset="0"/>
                        </a:rPr>
                        <a:t>1540</a:t>
                      </a:r>
                      <a:endParaRPr lang="es-CR" sz="2400" b="0" i="0" u="none" strike="noStrike" dirty="0">
                        <a:solidFill>
                          <a:srgbClr val="000000"/>
                        </a:solidFill>
                        <a:latin typeface="Arial" pitchFamily="34" charset="0"/>
                        <a:cs typeface="Arial"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r>
            </a:tbl>
          </a:graphicData>
        </a:graphic>
      </p:graphicFrame>
    </p:spTree>
  </p:cSld>
  <p:clrMapOvr>
    <a:masterClrMapping/>
  </p:clrMapOvr>
  <p:transition>
    <p:newsfla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980728"/>
            <a:ext cx="6840760" cy="5688632"/>
          </a:xfrm>
        </p:spPr>
        <p:txBody>
          <a:bodyPr/>
          <a:lstStyle/>
          <a:p>
            <a:pPr algn="just"/>
            <a:r>
              <a:rPr lang="es-CR" dirty="0" smtClean="0"/>
              <a:t>El promedio ponderado sería las multiplicaciones entre las observaciones de la característica y el ponderador (curso y créditos respectivamente):</a:t>
            </a:r>
          </a:p>
          <a:p>
            <a:endParaRPr lang="es-CR" dirty="0" smtClean="0"/>
          </a:p>
          <a:p>
            <a:endParaRPr lang="es-CR" dirty="0" smtClean="0"/>
          </a:p>
          <a:p>
            <a:r>
              <a:rPr lang="es-CR" dirty="0" smtClean="0"/>
              <a:t>El promedio ponderado sería:</a:t>
            </a:r>
            <a:endParaRPr lang="es-CR" dirty="0"/>
          </a:p>
        </p:txBody>
      </p:sp>
      <p:sp>
        <p:nvSpPr>
          <p:cNvPr id="4" name="1 Título"/>
          <p:cNvSpPr>
            <a:spLocks noGrp="1"/>
          </p:cNvSpPr>
          <p:nvPr>
            <p:ph type="title"/>
          </p:nvPr>
        </p:nvSpPr>
        <p:spPr>
          <a:xfrm>
            <a:off x="251520" y="0"/>
            <a:ext cx="8568952" cy="908720"/>
          </a:xfrm>
        </p:spPr>
        <p:txBody>
          <a:bodyPr>
            <a:normAutofit/>
          </a:bodyPr>
          <a:lstStyle/>
          <a:p>
            <a:pPr algn="ctr"/>
            <a:r>
              <a:rPr lang="es-CR" sz="4400" dirty="0" smtClean="0"/>
              <a:t>Promedio ponderado: </a:t>
            </a:r>
            <a:r>
              <a:rPr lang="es-CR" sz="4400" dirty="0"/>
              <a:t>absoluto</a:t>
            </a:r>
          </a:p>
        </p:txBody>
      </p:sp>
      <p:sp>
        <p:nvSpPr>
          <p:cNvPr id="327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327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2771"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01125" y="3861048"/>
            <a:ext cx="4248472" cy="857865"/>
          </a:xfrm>
          <a:prstGeom prst="rect">
            <a:avLst/>
          </a:prstGeom>
          <a:noFill/>
        </p:spPr>
      </p:pic>
      <p:sp>
        <p:nvSpPr>
          <p:cNvPr id="3277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1" name="10 Flecha a la derecha con muesca"/>
          <p:cNvSpPr/>
          <p:nvPr/>
        </p:nvSpPr>
        <p:spPr>
          <a:xfrm>
            <a:off x="2973422" y="5935607"/>
            <a:ext cx="2664296" cy="720080"/>
          </a:xfrm>
          <a:prstGeom prst="notched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s-CR"/>
          </a:p>
        </p:txBody>
      </p:sp>
      <p:sp>
        <p:nvSpPr>
          <p:cNvPr id="3277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2289"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01125" y="4859208"/>
            <a:ext cx="4994553" cy="792088"/>
          </a:xfrm>
          <a:prstGeom prst="rect">
            <a:avLst/>
          </a:prstGeom>
          <a:noFill/>
        </p:spPr>
      </p:pic>
      <p:sp>
        <p:nvSpPr>
          <p:cNvPr id="122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2291"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885190" y="5863599"/>
            <a:ext cx="1540171" cy="792088"/>
          </a:xfrm>
          <a:prstGeom prst="rect">
            <a:avLst/>
          </a:prstGeom>
          <a:noFill/>
        </p:spPr>
      </p:pic>
      <p:sp>
        <p:nvSpPr>
          <p:cNvPr id="1229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229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2295" name="Picture 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853742" y="6151631"/>
            <a:ext cx="2102634" cy="576064"/>
          </a:xfrm>
          <a:prstGeom prst="rect">
            <a:avLst/>
          </a:prstGeom>
          <a:noFill/>
        </p:spPr>
      </p:pic>
      <mc:AlternateContent xmlns:mc="http://schemas.openxmlformats.org/markup-compatibility/2006" xmlns:a14="http://schemas.microsoft.com/office/drawing/2010/main">
        <mc:Choice Requires="a14">
          <p:sp>
            <p:nvSpPr>
              <p:cNvPr id="2" name="Rectángulo 1"/>
              <p:cNvSpPr/>
              <p:nvPr/>
            </p:nvSpPr>
            <p:spPr>
              <a:xfrm>
                <a:off x="2339752" y="2301796"/>
                <a:ext cx="3253583" cy="8688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acc>
                            <m:accPr>
                              <m:chr m:val="̅"/>
                              <m:ctrlPr>
                                <a:rPr lang="es-ES" sz="2400" i="1">
                                  <a:latin typeface="Cambria Math" panose="02040503050406030204" pitchFamily="18" charset="0"/>
                                </a:rPr>
                              </m:ctrlPr>
                            </m:accPr>
                            <m:e>
                              <m:r>
                                <a:rPr lang="es-ES" sz="2400" i="1">
                                  <a:latin typeface="Cambria Math" panose="02040503050406030204" pitchFamily="18" charset="0"/>
                                </a:rPr>
                                <m:t>𝑥</m:t>
                              </m:r>
                            </m:e>
                          </m:acc>
                        </m:e>
                        <m:sub>
                          <m:r>
                            <a:rPr lang="es-ES" sz="2400" i="1">
                              <a:latin typeface="Cambria Math" panose="02040503050406030204" pitchFamily="18" charset="0"/>
                            </a:rPr>
                            <m:t>𝑝𝑜𝑛𝑑𝑒𝑟𝑎𝑑𝑜</m:t>
                          </m:r>
                        </m:sub>
                      </m:sSub>
                      <m:r>
                        <a:rPr lang="es-ES" sz="2400" i="0">
                          <a:latin typeface="Cambria Math" panose="02040503050406030204" pitchFamily="18" charset="0"/>
                        </a:rPr>
                        <m:t>= </m:t>
                      </m:r>
                      <m:f>
                        <m:fPr>
                          <m:ctrlPr>
                            <a:rPr lang="es-ES" sz="2400" i="1">
                              <a:latin typeface="Cambria Math" panose="02040503050406030204" pitchFamily="18" charset="0"/>
                            </a:rPr>
                          </m:ctrlPr>
                        </m:fPr>
                        <m:num>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r>
                                <a:rPr lang="es-ES" sz="2400" i="0">
                                  <a:latin typeface="Cambria Math" panose="02040503050406030204" pitchFamily="18" charset="0"/>
                                </a:rPr>
                                <m:t>∗</m:t>
                              </m:r>
                              <m:sSub>
                                <m:sSubPr>
                                  <m:ctrlPr>
                                    <a:rPr lang="es-ES" sz="2400" i="1">
                                      <a:latin typeface="Cambria Math" panose="02040503050406030204" pitchFamily="18" charset="0"/>
                                    </a:rPr>
                                  </m:ctrlPr>
                                </m:sSubPr>
                                <m:e>
                                  <m:r>
                                    <a:rPr lang="es-CR" sz="2400" b="0" i="1" smtClean="0">
                                      <a:latin typeface="Cambria Math" panose="02040503050406030204" pitchFamily="18" charset="0"/>
                                    </a:rPr>
                                    <m:t>𝑤</m:t>
                                  </m:r>
                                </m:e>
                                <m:sub>
                                  <m:r>
                                    <a:rPr lang="es-ES" sz="2400" i="1">
                                      <a:latin typeface="Cambria Math" panose="02040503050406030204" pitchFamily="18" charset="0"/>
                                    </a:rPr>
                                    <m:t>𝑖</m:t>
                                  </m:r>
                                </m:sub>
                              </m:sSub>
                            </m:e>
                          </m:nary>
                        </m:num>
                        <m:den>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CR" sz="2400" b="0" i="1" smtClean="0">
                                      <a:latin typeface="Cambria Math" panose="02040503050406030204" pitchFamily="18" charset="0"/>
                                    </a:rPr>
                                    <m:t>𝑤</m:t>
                                  </m:r>
                                </m:e>
                                <m:sub>
                                  <m:r>
                                    <a:rPr lang="es-ES" sz="2400" i="1">
                                      <a:latin typeface="Cambria Math" panose="02040503050406030204" pitchFamily="18" charset="0"/>
                                    </a:rPr>
                                    <m:t>𝑖</m:t>
                                  </m:r>
                                </m:sub>
                              </m:sSub>
                            </m:e>
                          </m:nary>
                        </m:den>
                      </m:f>
                    </m:oMath>
                  </m:oMathPara>
                </a14:m>
                <a:endParaRPr lang="es-ES" dirty="0"/>
              </a:p>
            </p:txBody>
          </p:sp>
        </mc:Choice>
        <mc:Fallback xmlns="">
          <p:sp>
            <p:nvSpPr>
              <p:cNvPr id="2" name="Rectángulo 1"/>
              <p:cNvSpPr>
                <a:spLocks noRot="1" noChangeAspect="1" noMove="1" noResize="1" noEditPoints="1" noAdjustHandles="1" noChangeArrowheads="1" noChangeShapeType="1" noTextEdit="1"/>
              </p:cNvSpPr>
              <p:nvPr/>
            </p:nvSpPr>
            <p:spPr>
              <a:xfrm>
                <a:off x="2339752" y="2301796"/>
                <a:ext cx="3253583" cy="868828"/>
              </a:xfrm>
              <a:prstGeom prst="rect">
                <a:avLst/>
              </a:prstGeom>
              <a:blipFill rotWithShape="0">
                <a:blip r:embed="rId6"/>
                <a:stretch>
                  <a:fillRect/>
                </a:stretch>
              </a:blipFill>
            </p:spPr>
            <p:txBody>
              <a:bodyPr/>
              <a:lstStyle/>
              <a:p>
                <a:r>
                  <a:rPr lang="es-ES">
                    <a:noFill/>
                  </a:rPr>
                  <a:t> </a:t>
                </a:r>
              </a:p>
            </p:txBody>
          </p:sp>
        </mc:Fallback>
      </mc:AlternateContent>
      <p:pic>
        <p:nvPicPr>
          <p:cNvPr id="6146" name="Picture 2" descr="http://jorgetorresculla.com/wp-content/uploads/2015/09/calificaciones.gif"/>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46096" y="2854535"/>
            <a:ext cx="1729403" cy="20130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l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79512" y="1196752"/>
            <a:ext cx="6552728" cy="5328592"/>
          </a:xfrm>
        </p:spPr>
        <p:txBody>
          <a:bodyPr>
            <a:normAutofit fontScale="92500"/>
          </a:bodyPr>
          <a:lstStyle/>
          <a:p>
            <a:pPr algn="just"/>
            <a:r>
              <a:rPr lang="es-CR" dirty="0" smtClean="0"/>
              <a:t>El promedio ponderado también se puede utilizar con números relativos.</a:t>
            </a:r>
          </a:p>
          <a:p>
            <a:pPr algn="just"/>
            <a:endParaRPr lang="es-CR" dirty="0"/>
          </a:p>
          <a:p>
            <a:pPr algn="just"/>
            <a:r>
              <a:rPr lang="es-CR" dirty="0" smtClean="0"/>
              <a:t>Por ejemplo, si se quisiera un promedio, en donde en términos porcentuales se le de más énfasis a cierta característica u otro, es un caso de promedio ponderado para números relativos. </a:t>
            </a:r>
          </a:p>
          <a:p>
            <a:pPr algn="just"/>
            <a:endParaRPr lang="es-CR" dirty="0"/>
          </a:p>
          <a:p>
            <a:pPr algn="just"/>
            <a:r>
              <a:rPr lang="es-CR" dirty="0" smtClean="0"/>
              <a:t>Este tipo de promedio se utilizan mucho en estimaciones con poblaciones desbalanceadas, calificaciones son variables con diferentes pesos, etc.</a:t>
            </a:r>
          </a:p>
          <a:p>
            <a:pPr algn="just"/>
            <a:endParaRPr lang="es-CR" dirty="0"/>
          </a:p>
          <a:p>
            <a:pPr algn="just"/>
            <a:r>
              <a:rPr lang="es-CR" dirty="0" smtClean="0"/>
              <a:t>El es promedio con mayor aplicación….</a:t>
            </a:r>
            <a:endParaRPr lang="es-ES" dirty="0"/>
          </a:p>
        </p:txBody>
      </p:sp>
      <p:sp>
        <p:nvSpPr>
          <p:cNvPr id="4" name="1 Título"/>
          <p:cNvSpPr>
            <a:spLocks noGrp="1"/>
          </p:cNvSpPr>
          <p:nvPr>
            <p:ph type="title"/>
          </p:nvPr>
        </p:nvSpPr>
        <p:spPr>
          <a:xfrm>
            <a:off x="251520" y="10086"/>
            <a:ext cx="8568952" cy="908720"/>
          </a:xfrm>
        </p:spPr>
        <p:txBody>
          <a:bodyPr>
            <a:normAutofit/>
          </a:bodyPr>
          <a:lstStyle/>
          <a:p>
            <a:pPr algn="ctr"/>
            <a:r>
              <a:rPr lang="es-CR" sz="4400" dirty="0" smtClean="0"/>
              <a:t>Promedio ponderado: relativo</a:t>
            </a:r>
            <a:endParaRPr lang="es-CR" sz="4400" dirty="0"/>
          </a:p>
        </p:txBody>
      </p:sp>
      <p:pic>
        <p:nvPicPr>
          <p:cNvPr id="2050" name="Picture 2" descr="http://www.deepocean.com/images/weigh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92280" y="1556792"/>
            <a:ext cx="1872208" cy="187220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image.freepik.com/free-icon/weight_318-4685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920" y="4293096"/>
            <a:ext cx="1894012" cy="1894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24310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83604" y="836712"/>
            <a:ext cx="7848872" cy="5616624"/>
          </a:xfrm>
        </p:spPr>
        <p:txBody>
          <a:bodyPr/>
          <a:lstStyle/>
          <a:p>
            <a:pPr algn="just"/>
            <a:r>
              <a:rPr lang="es-CR" dirty="0" smtClean="0"/>
              <a:t>Supóngase que una encuesta de satisfacción quiere conocer el grado de satisfacción de las carretas según la provincia de residencia. </a:t>
            </a:r>
          </a:p>
          <a:p>
            <a:pPr algn="just"/>
            <a:endParaRPr lang="es-CR" dirty="0"/>
          </a:p>
          <a:p>
            <a:pPr algn="just"/>
            <a:r>
              <a:rPr lang="es-CR" dirty="0" smtClean="0"/>
              <a:t>Participaron personas de 4 provincia, y los valores promediados de satisfacción y el porcentaje de participación por zona se presenta a continuación:</a:t>
            </a:r>
          </a:p>
        </p:txBody>
      </p:sp>
      <p:sp>
        <p:nvSpPr>
          <p:cNvPr id="6" name="1 Título"/>
          <p:cNvSpPr txBox="1">
            <a:spLocks/>
          </p:cNvSpPr>
          <p:nvPr/>
        </p:nvSpPr>
        <p:spPr>
          <a:xfrm>
            <a:off x="251520" y="0"/>
            <a:ext cx="8568952" cy="836712"/>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4400" dirty="0" smtClean="0"/>
              <a:t>Promedio ponderado</a:t>
            </a:r>
            <a:r>
              <a:rPr lang="es-CR" sz="4400" dirty="0"/>
              <a:t> : relativo</a:t>
            </a:r>
          </a:p>
        </p:txBody>
      </p:sp>
      <p:graphicFrame>
        <p:nvGraphicFramePr>
          <p:cNvPr id="7" name="Tabla 6"/>
          <p:cNvGraphicFramePr>
            <a:graphicFrameLocks noGrp="1"/>
          </p:cNvGraphicFramePr>
          <p:nvPr>
            <p:extLst>
              <p:ext uri="{D42A27DB-BD31-4B8C-83A1-F6EECF244321}">
                <p14:modId xmlns:p14="http://schemas.microsoft.com/office/powerpoint/2010/main" val="3211797082"/>
              </p:ext>
            </p:extLst>
          </p:nvPr>
        </p:nvGraphicFramePr>
        <p:xfrm>
          <a:off x="467544" y="4005064"/>
          <a:ext cx="3816425" cy="2664295"/>
        </p:xfrm>
        <a:graphic>
          <a:graphicData uri="http://schemas.openxmlformats.org/drawingml/2006/table">
            <a:tbl>
              <a:tblPr>
                <a:tableStyleId>{D27102A9-8310-4765-A935-A1911B00CA55}</a:tableStyleId>
              </a:tblPr>
              <a:tblGrid>
                <a:gridCol w="1197310"/>
                <a:gridCol w="1421805"/>
                <a:gridCol w="1197310"/>
              </a:tblGrid>
              <a:tr h="532859">
                <a:tc>
                  <a:txBody>
                    <a:bodyPr/>
                    <a:lstStyle/>
                    <a:p>
                      <a:pPr algn="l" fontAlgn="b"/>
                      <a:r>
                        <a:rPr lang="es-ES" sz="1800" b="1" u="none" strike="noStrike" dirty="0">
                          <a:effectLst/>
                        </a:rPr>
                        <a:t>Provincia</a:t>
                      </a:r>
                      <a:endParaRPr lang="es-ES" sz="1800" b="1" i="0" u="none" strike="noStrike" dirty="0">
                        <a:solidFill>
                          <a:srgbClr val="000000"/>
                        </a:solidFill>
                        <a:effectLst/>
                        <a:latin typeface="Calibri" panose="020F0502020204030204" pitchFamily="34" charset="0"/>
                      </a:endParaRPr>
                    </a:p>
                  </a:txBody>
                  <a:tcPr marL="9525" marR="9525" marT="9525" marB="0" anchor="b">
                    <a:solidFill>
                      <a:srgbClr val="0070C0"/>
                    </a:solidFill>
                  </a:tcPr>
                </a:tc>
                <a:tc>
                  <a:txBody>
                    <a:bodyPr/>
                    <a:lstStyle/>
                    <a:p>
                      <a:pPr algn="ctr" fontAlgn="b"/>
                      <a:r>
                        <a:rPr lang="es-ES" sz="1800" b="1" u="none" strike="noStrike" dirty="0">
                          <a:effectLst/>
                        </a:rPr>
                        <a:t>Ponderación</a:t>
                      </a:r>
                      <a:endParaRPr lang="es-ES" sz="1800" b="1" i="0" u="none" strike="noStrike" dirty="0">
                        <a:solidFill>
                          <a:srgbClr val="000000"/>
                        </a:solidFill>
                        <a:effectLst/>
                        <a:latin typeface="Calibri" panose="020F0502020204030204" pitchFamily="34" charset="0"/>
                      </a:endParaRPr>
                    </a:p>
                  </a:txBody>
                  <a:tcPr marL="9525" marR="9525" marT="9525" marB="0" anchor="b">
                    <a:solidFill>
                      <a:srgbClr val="0070C0"/>
                    </a:solidFill>
                  </a:tcPr>
                </a:tc>
                <a:tc>
                  <a:txBody>
                    <a:bodyPr/>
                    <a:lstStyle/>
                    <a:p>
                      <a:pPr algn="ctr" fontAlgn="b"/>
                      <a:r>
                        <a:rPr lang="es-ES" sz="1800" b="1" u="none" strike="noStrike" dirty="0">
                          <a:effectLst/>
                        </a:rPr>
                        <a:t>Promedio</a:t>
                      </a:r>
                      <a:endParaRPr lang="es-ES" sz="1800" b="1" i="0" u="none" strike="noStrike" dirty="0">
                        <a:solidFill>
                          <a:srgbClr val="000000"/>
                        </a:solidFill>
                        <a:effectLst/>
                        <a:latin typeface="Calibri" panose="020F0502020204030204" pitchFamily="34" charset="0"/>
                      </a:endParaRPr>
                    </a:p>
                  </a:txBody>
                  <a:tcPr marL="9525" marR="9525" marT="9525" marB="0" anchor="b">
                    <a:solidFill>
                      <a:srgbClr val="0070C0"/>
                    </a:solidFill>
                  </a:tcPr>
                </a:tc>
              </a:tr>
              <a:tr h="532859">
                <a:tc>
                  <a:txBody>
                    <a:bodyPr/>
                    <a:lstStyle/>
                    <a:p>
                      <a:pPr algn="l" fontAlgn="b"/>
                      <a:r>
                        <a:rPr lang="es-ES" sz="1800" b="1" u="none" strike="noStrike" dirty="0">
                          <a:effectLst/>
                        </a:rPr>
                        <a:t>San José</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0,6</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a:effectLst/>
                        </a:rPr>
                        <a:t>78</a:t>
                      </a:r>
                      <a:endParaRPr lang="es-ES" sz="1800" b="0" i="0" u="none" strike="noStrike">
                        <a:solidFill>
                          <a:srgbClr val="000000"/>
                        </a:solidFill>
                        <a:effectLst/>
                        <a:latin typeface="Calibri" panose="020F0502020204030204" pitchFamily="34" charset="0"/>
                      </a:endParaRPr>
                    </a:p>
                  </a:txBody>
                  <a:tcPr marL="9525" marR="9525" marT="9525" marB="0" anchor="ctr"/>
                </a:tc>
              </a:tr>
              <a:tr h="532859">
                <a:tc>
                  <a:txBody>
                    <a:bodyPr/>
                    <a:lstStyle/>
                    <a:p>
                      <a:pPr algn="l" fontAlgn="b"/>
                      <a:r>
                        <a:rPr lang="es-ES" sz="1800" b="1" u="none" strike="noStrike" dirty="0">
                          <a:effectLst/>
                        </a:rPr>
                        <a:t>Alajuela</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0,2</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a:effectLst/>
                        </a:rPr>
                        <a:t>79</a:t>
                      </a:r>
                      <a:endParaRPr lang="es-ES" sz="1800" b="0" i="0" u="none" strike="noStrike">
                        <a:solidFill>
                          <a:srgbClr val="000000"/>
                        </a:solidFill>
                        <a:effectLst/>
                        <a:latin typeface="Calibri" panose="020F0502020204030204" pitchFamily="34" charset="0"/>
                      </a:endParaRPr>
                    </a:p>
                  </a:txBody>
                  <a:tcPr marL="9525" marR="9525" marT="9525" marB="0" anchor="ctr"/>
                </a:tc>
              </a:tr>
              <a:tr h="532859">
                <a:tc>
                  <a:txBody>
                    <a:bodyPr/>
                    <a:lstStyle/>
                    <a:p>
                      <a:pPr algn="l" fontAlgn="b"/>
                      <a:r>
                        <a:rPr lang="es-ES" sz="1800" b="1" u="none" strike="noStrike" dirty="0">
                          <a:effectLst/>
                        </a:rPr>
                        <a:t>Cartago</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0,1</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dirty="0">
                          <a:effectLst/>
                        </a:rPr>
                        <a:t>92</a:t>
                      </a:r>
                      <a:endParaRPr lang="es-ES" sz="1800" b="0" i="0" u="none" strike="noStrike" dirty="0">
                        <a:solidFill>
                          <a:srgbClr val="000000"/>
                        </a:solidFill>
                        <a:effectLst/>
                        <a:latin typeface="Calibri" panose="020F0502020204030204" pitchFamily="34" charset="0"/>
                      </a:endParaRPr>
                    </a:p>
                  </a:txBody>
                  <a:tcPr marL="9525" marR="9525" marT="9525" marB="0" anchor="ctr"/>
                </a:tc>
              </a:tr>
              <a:tr h="532859">
                <a:tc>
                  <a:txBody>
                    <a:bodyPr/>
                    <a:lstStyle/>
                    <a:p>
                      <a:pPr algn="l" fontAlgn="b"/>
                      <a:r>
                        <a:rPr lang="es-ES" sz="1800" b="1" u="none" strike="noStrike" dirty="0">
                          <a:effectLst/>
                        </a:rPr>
                        <a:t>Heredia</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0,1</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dirty="0">
                          <a:effectLst/>
                        </a:rPr>
                        <a:t>94</a:t>
                      </a:r>
                      <a:endParaRPr lang="es-ES" sz="1800" b="0" i="0" u="none" strike="noStrike" dirty="0">
                        <a:solidFill>
                          <a:srgbClr val="000000"/>
                        </a:solidFill>
                        <a:effectLst/>
                        <a:latin typeface="Calibri" panose="020F0502020204030204" pitchFamily="34" charset="0"/>
                      </a:endParaRPr>
                    </a:p>
                  </a:txBody>
                  <a:tcPr marL="9525" marR="9525" marT="9525" marB="0" anchor="ctr"/>
                </a:tc>
              </a:tr>
            </a:tbl>
          </a:graphicData>
        </a:graphic>
      </p:graphicFrame>
      <p:sp>
        <p:nvSpPr>
          <p:cNvPr id="8" name="CuadroTexto 7"/>
          <p:cNvSpPr txBox="1"/>
          <p:nvPr/>
        </p:nvSpPr>
        <p:spPr>
          <a:xfrm>
            <a:off x="4730345" y="3797491"/>
            <a:ext cx="3605728" cy="954107"/>
          </a:xfrm>
          <a:prstGeom prst="rect">
            <a:avLst/>
          </a:prstGeom>
          <a:noFill/>
        </p:spPr>
        <p:txBody>
          <a:bodyPr wrap="square" rtlCol="0">
            <a:spAutoFit/>
          </a:bodyPr>
          <a:lstStyle/>
          <a:p>
            <a:pPr algn="ctr"/>
            <a:r>
              <a:rPr lang="es-CR" sz="2800" dirty="0" smtClean="0"/>
              <a:t>…..cuál sería el nivel medio de satisfacción?</a:t>
            </a:r>
            <a:endParaRPr lang="es-ES" sz="2800" dirty="0"/>
          </a:p>
        </p:txBody>
      </p:sp>
      <p:pic>
        <p:nvPicPr>
          <p:cNvPr id="1026" name="Picture 2" descr="http://www.empresasdeocio.com/wp-content/uploads/satisfaccion-clien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7646" y="4751598"/>
            <a:ext cx="2283186"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796862"/>
      </p:ext>
    </p:extLst>
  </p:cSld>
  <p:clrMapOvr>
    <a:masterClrMapping/>
  </p:clrMapOvr>
  <p:transition spd="slow">
    <p:randomBar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sz="quarter" idx="1"/>
              </p:nvPr>
            </p:nvSpPr>
            <p:spPr>
              <a:xfrm>
                <a:off x="251520" y="1196752"/>
                <a:ext cx="6480720" cy="5130106"/>
              </a:xfrm>
            </p:spPr>
            <p:txBody>
              <a:bodyPr>
                <a:normAutofit fontScale="92500"/>
              </a:bodyPr>
              <a:lstStyle/>
              <a:p>
                <a:r>
                  <a:rPr lang="es-CR" dirty="0" smtClean="0"/>
                  <a:t>La fórmula del promedio ponderado sería:</a:t>
                </a:r>
              </a:p>
              <a:p>
                <a:endParaRPr lang="es-CR" dirty="0"/>
              </a:p>
              <a:p>
                <a:endParaRPr lang="es-CR" dirty="0" smtClean="0"/>
              </a:p>
              <a:p>
                <a:endParaRPr lang="es-CR" dirty="0" smtClean="0"/>
              </a:p>
              <a:p>
                <a:r>
                  <a:rPr lang="es-CR" dirty="0" smtClean="0"/>
                  <a:t>Para el presente caso, la satisfacción media sería:</a:t>
                </a:r>
              </a:p>
              <a:p>
                <a:pPr marL="0" indent="0">
                  <a:buNone/>
                </a:pPr>
                <a:endParaRPr lang="es-CR" dirty="0" smtClean="0"/>
              </a:p>
              <a:p>
                <a:pPr marL="0" indent="0">
                  <a:buNone/>
                </a:pPr>
                <a14:m>
                  <m:oMathPara xmlns:m="http://schemas.openxmlformats.org/officeDocument/2006/math">
                    <m:oMathParaPr>
                      <m:jc m:val="centerGroup"/>
                    </m:oMathParaPr>
                    <m:oMath xmlns:m="http://schemas.openxmlformats.org/officeDocument/2006/math">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𝑥</m:t>
                              </m:r>
                            </m:e>
                          </m:acc>
                        </m:e>
                        <m:sub>
                          <m:r>
                            <a:rPr lang="es-ES" i="1">
                              <a:latin typeface="Cambria Math" panose="02040503050406030204" pitchFamily="18" charset="0"/>
                            </a:rPr>
                            <m:t>𝑝𝑜𝑛𝑑𝑒𝑟𝑎𝑑𝑜</m:t>
                          </m:r>
                        </m:sub>
                      </m:sSub>
                      <m:r>
                        <a:rPr lang="es-ES">
                          <a:latin typeface="Cambria Math" panose="02040503050406030204" pitchFamily="18" charset="0"/>
                        </a:rPr>
                        <m:t>=</m:t>
                      </m:r>
                      <m:r>
                        <a:rPr lang="es-ES" i="1">
                          <a:latin typeface="Cambria Math" panose="02040503050406030204" pitchFamily="18" charset="0"/>
                        </a:rPr>
                        <m:t> </m:t>
                      </m:r>
                      <m:f>
                        <m:fPr>
                          <m:ctrlPr>
                            <a:rPr lang="es-ES" i="1">
                              <a:latin typeface="Cambria Math" panose="02040503050406030204" pitchFamily="18" charset="0"/>
                            </a:rPr>
                          </m:ctrlPr>
                        </m:fPr>
                        <m:num>
                          <m:r>
                            <a:rPr lang="es-ES" i="1">
                              <a:latin typeface="Cambria Math" panose="02040503050406030204" pitchFamily="18" charset="0"/>
                            </a:rPr>
                            <m:t>0,6∗78+…+0,1∗94</m:t>
                          </m:r>
                        </m:num>
                        <m:den>
                          <m:r>
                            <a:rPr lang="es-ES" i="1">
                              <a:latin typeface="Cambria Math" panose="02040503050406030204" pitchFamily="18" charset="0"/>
                            </a:rPr>
                            <m:t>0,6+…+0,1</m:t>
                          </m:r>
                        </m:den>
                      </m:f>
                      <m:r>
                        <a:rPr lang="es-ES" i="1">
                          <a:latin typeface="Cambria Math" panose="02040503050406030204" pitchFamily="18" charset="0"/>
                        </a:rPr>
                        <m:t>=81,2</m:t>
                      </m:r>
                    </m:oMath>
                  </m:oMathPara>
                </a14:m>
                <a:endParaRPr lang="es-CR" dirty="0" smtClean="0"/>
              </a:p>
              <a:p>
                <a:pPr marL="0" indent="0">
                  <a:buNone/>
                </a:pPr>
                <a:endParaRPr lang="es-CR" dirty="0"/>
              </a:p>
              <a:p>
                <a:r>
                  <a:rPr lang="es-CR" dirty="0" smtClean="0"/>
                  <a:t>Nótese que en ambos casos, la sumatoria del denominador sería la suma de la variable de ponderación </a:t>
                </a:r>
                <a:endParaRPr lang="es-CR" dirty="0"/>
              </a:p>
              <a:p>
                <a:pPr marL="0" indent="0">
                  <a:buNone/>
                </a:pPr>
                <a:endParaRPr lang="es-CR" dirty="0"/>
              </a:p>
            </p:txBody>
          </p:sp>
        </mc:Choice>
        <mc:Fallback xmlns="">
          <p:sp>
            <p:nvSpPr>
              <p:cNvPr id="3" name="Marcador de contenido 2"/>
              <p:cNvSpPr>
                <a:spLocks noGrp="1" noRot="1" noChangeAspect="1" noMove="1" noResize="1" noEditPoints="1" noAdjustHandles="1" noChangeArrowheads="1" noChangeShapeType="1" noTextEdit="1"/>
              </p:cNvSpPr>
              <p:nvPr>
                <p:ph sz="quarter" idx="1"/>
              </p:nvPr>
            </p:nvSpPr>
            <p:spPr>
              <a:xfrm>
                <a:off x="251520" y="1196752"/>
                <a:ext cx="6480720" cy="5130106"/>
              </a:xfrm>
              <a:blipFill rotWithShape="0">
                <a:blip r:embed="rId2"/>
                <a:stretch>
                  <a:fillRect l="-659" t="-950" b="-23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2627784" y="1988840"/>
                <a:ext cx="2743187" cy="7393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rPr>
                          </m:ctrlPr>
                        </m:sSubPr>
                        <m:e>
                          <m:acc>
                            <m:accPr>
                              <m:chr m:val="̅"/>
                              <m:ctrlPr>
                                <a:rPr lang="es-ES" sz="2000" i="1">
                                  <a:latin typeface="Cambria Math" panose="02040503050406030204" pitchFamily="18" charset="0"/>
                                </a:rPr>
                              </m:ctrlPr>
                            </m:accPr>
                            <m:e>
                              <m:r>
                                <a:rPr lang="es-ES" sz="2000" i="1">
                                  <a:latin typeface="Cambria Math" panose="02040503050406030204" pitchFamily="18" charset="0"/>
                                </a:rPr>
                                <m:t>𝑥</m:t>
                              </m:r>
                            </m:e>
                          </m:acc>
                        </m:e>
                        <m:sub>
                          <m:r>
                            <a:rPr lang="es-ES" sz="2000" i="1">
                              <a:latin typeface="Cambria Math" panose="02040503050406030204" pitchFamily="18" charset="0"/>
                            </a:rPr>
                            <m:t>𝑝𝑜𝑛𝑑𝑒𝑟𝑎𝑑𝑜</m:t>
                          </m:r>
                        </m:sub>
                      </m:sSub>
                      <m:r>
                        <a:rPr lang="es-ES" sz="2000" i="0">
                          <a:latin typeface="Cambria Math" panose="02040503050406030204" pitchFamily="18" charset="0"/>
                        </a:rPr>
                        <m:t>= </m:t>
                      </m:r>
                      <m:f>
                        <m:fPr>
                          <m:ctrlPr>
                            <a:rPr lang="es-ES" sz="2000" i="1">
                              <a:latin typeface="Cambria Math" panose="02040503050406030204" pitchFamily="18" charset="0"/>
                            </a:rPr>
                          </m:ctrlPr>
                        </m:fPr>
                        <m:num>
                          <m:nary>
                            <m:naryPr>
                              <m:chr m:val="∑"/>
                              <m:subHide m:val="on"/>
                              <m:supHide m:val="on"/>
                              <m:ctrlPr>
                                <a:rPr lang="es-ES" sz="2000" i="1">
                                  <a:latin typeface="Cambria Math" panose="02040503050406030204" pitchFamily="18" charset="0"/>
                                </a:rPr>
                              </m:ctrlPr>
                            </m:naryPr>
                            <m:sub/>
                            <m:sup/>
                            <m:e>
                              <m:sSub>
                                <m:sSubPr>
                                  <m:ctrlPr>
                                    <a:rPr lang="es-ES" sz="2000" i="1">
                                      <a:latin typeface="Cambria Math" panose="02040503050406030204" pitchFamily="18" charset="0"/>
                                    </a:rPr>
                                  </m:ctrlPr>
                                </m:sSubPr>
                                <m:e>
                                  <m:r>
                                    <a:rPr lang="es-ES" sz="2000" i="1">
                                      <a:latin typeface="Cambria Math" panose="02040503050406030204" pitchFamily="18" charset="0"/>
                                    </a:rPr>
                                    <m:t>𝑥</m:t>
                                  </m:r>
                                </m:e>
                                <m:sub>
                                  <m:r>
                                    <a:rPr lang="es-ES" sz="2000" i="1">
                                      <a:latin typeface="Cambria Math" panose="02040503050406030204" pitchFamily="18" charset="0"/>
                                    </a:rPr>
                                    <m:t>𝑖</m:t>
                                  </m:r>
                                </m:sub>
                              </m:sSub>
                              <m:r>
                                <a:rPr lang="es-ES" sz="2000" i="0">
                                  <a:latin typeface="Cambria Math" panose="02040503050406030204" pitchFamily="18" charset="0"/>
                                </a:rPr>
                                <m:t>∗</m:t>
                              </m:r>
                              <m:sSub>
                                <m:sSubPr>
                                  <m:ctrlPr>
                                    <a:rPr lang="es-ES" sz="2000" i="1">
                                      <a:latin typeface="Cambria Math" panose="02040503050406030204" pitchFamily="18" charset="0"/>
                                    </a:rPr>
                                  </m:ctrlPr>
                                </m:sSubPr>
                                <m:e>
                                  <m:r>
                                    <a:rPr lang="es-CR" sz="2000" b="0" i="1" smtClean="0">
                                      <a:latin typeface="Cambria Math" panose="02040503050406030204" pitchFamily="18" charset="0"/>
                                    </a:rPr>
                                    <m:t>𝑤</m:t>
                                  </m:r>
                                </m:e>
                                <m:sub>
                                  <m:r>
                                    <a:rPr lang="es-ES" sz="2000" i="1">
                                      <a:latin typeface="Cambria Math" panose="02040503050406030204" pitchFamily="18" charset="0"/>
                                    </a:rPr>
                                    <m:t>𝑖</m:t>
                                  </m:r>
                                </m:sub>
                              </m:sSub>
                            </m:e>
                          </m:nary>
                        </m:num>
                        <m:den>
                          <m:nary>
                            <m:naryPr>
                              <m:chr m:val="∑"/>
                              <m:subHide m:val="on"/>
                              <m:supHide m:val="on"/>
                              <m:ctrlPr>
                                <a:rPr lang="es-ES" sz="2000" i="1">
                                  <a:latin typeface="Cambria Math" panose="02040503050406030204" pitchFamily="18" charset="0"/>
                                </a:rPr>
                              </m:ctrlPr>
                            </m:naryPr>
                            <m:sub/>
                            <m:sup/>
                            <m:e>
                              <m:sSub>
                                <m:sSubPr>
                                  <m:ctrlPr>
                                    <a:rPr lang="es-ES" sz="2000" i="1">
                                      <a:latin typeface="Cambria Math" panose="02040503050406030204" pitchFamily="18" charset="0"/>
                                    </a:rPr>
                                  </m:ctrlPr>
                                </m:sSubPr>
                                <m:e>
                                  <m:r>
                                    <a:rPr lang="es-CR" sz="2000" b="0" i="1" smtClean="0">
                                      <a:latin typeface="Cambria Math" panose="02040503050406030204" pitchFamily="18" charset="0"/>
                                    </a:rPr>
                                    <m:t>𝑤</m:t>
                                  </m:r>
                                </m:e>
                                <m:sub>
                                  <m:r>
                                    <a:rPr lang="es-ES" sz="2000" i="1">
                                      <a:latin typeface="Cambria Math" panose="02040503050406030204" pitchFamily="18" charset="0"/>
                                    </a:rPr>
                                    <m:t>𝑖</m:t>
                                  </m:r>
                                </m:sub>
                              </m:sSub>
                            </m:e>
                          </m:nary>
                        </m:den>
                      </m:f>
                    </m:oMath>
                  </m:oMathPara>
                </a14:m>
                <a:endParaRPr lang="es-ES" dirty="0"/>
              </a:p>
            </p:txBody>
          </p:sp>
        </mc:Choice>
        <mc:Fallback xmlns="">
          <p:sp>
            <p:nvSpPr>
              <p:cNvPr id="4" name="Rectángulo 3"/>
              <p:cNvSpPr>
                <a:spLocks noRot="1" noChangeAspect="1" noMove="1" noResize="1" noEditPoints="1" noAdjustHandles="1" noChangeArrowheads="1" noChangeShapeType="1" noTextEdit="1"/>
              </p:cNvSpPr>
              <p:nvPr/>
            </p:nvSpPr>
            <p:spPr>
              <a:xfrm>
                <a:off x="2627784" y="1988840"/>
                <a:ext cx="2743187" cy="739370"/>
              </a:xfrm>
              <a:prstGeom prst="rect">
                <a:avLst/>
              </a:prstGeom>
              <a:blipFill rotWithShape="0">
                <a:blip r:embed="rId3"/>
                <a:stretch>
                  <a:fillRect/>
                </a:stretch>
              </a:blipFill>
            </p:spPr>
            <p:txBody>
              <a:bodyPr/>
              <a:lstStyle/>
              <a:p>
                <a:r>
                  <a:rPr lang="es-ES">
                    <a:noFill/>
                  </a:rPr>
                  <a:t> </a:t>
                </a:r>
              </a:p>
            </p:txBody>
          </p:sp>
        </mc:Fallback>
      </mc:AlternateContent>
      <p:sp>
        <p:nvSpPr>
          <p:cNvPr id="5" name="1 Título"/>
          <p:cNvSpPr txBox="1">
            <a:spLocks/>
          </p:cNvSpPr>
          <p:nvPr/>
        </p:nvSpPr>
        <p:spPr>
          <a:xfrm>
            <a:off x="251520" y="116632"/>
            <a:ext cx="8568952" cy="836712"/>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4400" dirty="0" smtClean="0"/>
              <a:t>Promedio ponderado</a:t>
            </a:r>
            <a:r>
              <a:rPr lang="es-CR" sz="4400" dirty="0"/>
              <a:t> : relativo</a:t>
            </a:r>
          </a:p>
        </p:txBody>
      </p:sp>
      <p:pic>
        <p:nvPicPr>
          <p:cNvPr id="4098" name="Picture 2" descr="http://www.bet-octogone.com/documents/photos/Presentation/enquete%20de%20satisfacti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3490" y="1484784"/>
            <a:ext cx="2738736" cy="136936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www.therealratingsgroup.com/wp-content/uploads/2013/12/Thumbs-Up-Thumbs-Down-300x168.jpg"/>
          <p:cNvPicPr>
            <a:picLocks noChangeAspect="1" noChangeArrowheads="1"/>
          </p:cNvPicPr>
          <p:nvPr/>
        </p:nvPicPr>
        <p:blipFill rotWithShape="1">
          <a:blip r:embed="rId5">
            <a:extLst>
              <a:ext uri="{28A0092B-C50C-407E-A947-70E740481C1C}">
                <a14:useLocalDpi xmlns:a14="http://schemas.microsoft.com/office/drawing/2010/main" val="0"/>
              </a:ext>
            </a:extLst>
          </a:blip>
          <a:srcRect l="7347" t="13629" r="4896" b="10719"/>
          <a:stretch/>
        </p:blipFill>
        <p:spPr bwMode="auto">
          <a:xfrm>
            <a:off x="6282805" y="5085184"/>
            <a:ext cx="2572037" cy="1241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4133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smtClean="0"/>
              <a:t>Índice </a:t>
            </a:r>
            <a:endParaRPr lang="es-CR" dirty="0"/>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
        <p:nvSpPr>
          <p:cNvPr id="11"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moda</a:t>
            </a:r>
            <a:endParaRPr lang="es-CR" dirty="0"/>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mediana</a:t>
            </a:r>
            <a:endParaRPr lang="es-CR" dirty="0"/>
          </a:p>
        </p:txBody>
      </p:sp>
      <p:sp>
        <p:nvSpPr>
          <p:cNvPr id="13" name="12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El promedio</a:t>
            </a:r>
            <a:endParaRPr lang="es-CR" dirty="0"/>
          </a:p>
        </p:txBody>
      </p:sp>
      <p:sp>
        <p:nvSpPr>
          <p:cNvPr id="14" name="13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Uso de las medidas de posición</a:t>
            </a:r>
            <a:endParaRPr lang="es-CR" dirty="0"/>
          </a:p>
        </p:txBody>
      </p:sp>
    </p:spTree>
    <p:extLst>
      <p:ext uri="{BB962C8B-B14F-4D97-AF65-F5344CB8AC3E}">
        <p14:creationId xmlns:p14="http://schemas.microsoft.com/office/powerpoint/2010/main" val="4200116281"/>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0"/>
            <a:ext cx="8280920" cy="980728"/>
          </a:xfrm>
        </p:spPr>
        <p:txBody>
          <a:bodyPr/>
          <a:lstStyle/>
          <a:p>
            <a:pPr algn="ctr"/>
            <a:r>
              <a:rPr lang="es-CR" dirty="0" smtClean="0"/>
              <a:t>Usos de las medidas de posición</a:t>
            </a:r>
            <a:endParaRPr lang="es-CR" dirty="0"/>
          </a:p>
        </p:txBody>
      </p:sp>
      <p:sp>
        <p:nvSpPr>
          <p:cNvPr id="3" name="2 Marcador de contenido"/>
          <p:cNvSpPr>
            <a:spLocks noGrp="1"/>
          </p:cNvSpPr>
          <p:nvPr>
            <p:ph sz="quarter" idx="1"/>
          </p:nvPr>
        </p:nvSpPr>
        <p:spPr>
          <a:xfrm>
            <a:off x="179512" y="1052736"/>
            <a:ext cx="6336704" cy="5472608"/>
          </a:xfrm>
        </p:spPr>
        <p:txBody>
          <a:bodyPr>
            <a:normAutofit lnSpcReduction="10000"/>
          </a:bodyPr>
          <a:lstStyle/>
          <a:p>
            <a:pPr algn="just"/>
            <a:r>
              <a:rPr lang="es-CR" dirty="0" smtClean="0"/>
              <a:t>El propósito de las </a:t>
            </a:r>
            <a:r>
              <a:rPr lang="es-CR" dirty="0" err="1" smtClean="0"/>
              <a:t>M.d.P.</a:t>
            </a:r>
            <a:r>
              <a:rPr lang="es-CR" dirty="0" smtClean="0"/>
              <a:t> es caracterizar y presentar un conjunto de datos; y cada una de las diferentes medias propuestas lo hacen de alguna manera.</a:t>
            </a:r>
          </a:p>
          <a:p>
            <a:pPr algn="just"/>
            <a:endParaRPr lang="es-CR" dirty="0" smtClean="0"/>
          </a:p>
          <a:p>
            <a:pPr algn="just"/>
            <a:r>
              <a:rPr lang="es-CR" dirty="0" smtClean="0"/>
              <a:t>Dependiendo del propósito que se tenga, una medida es mejor que otra, sin embargo estas no compiten, sino que se complementan.</a:t>
            </a:r>
          </a:p>
          <a:p>
            <a:pPr algn="just"/>
            <a:endParaRPr lang="es-CR" dirty="0" smtClean="0"/>
          </a:p>
          <a:p>
            <a:pPr algn="just"/>
            <a:r>
              <a:rPr lang="es-CR" dirty="0" smtClean="0"/>
              <a:t>Una parte del problema acerca de qué medida usar, desaparece si se tiene una idea clara de cuál es el aspecto del conjunto de datos que se quiere conocer, y si el conjunto de datos posee o no valores extremos bajos o altos</a:t>
            </a:r>
            <a:endParaRPr lang="es-CR" dirty="0"/>
          </a:p>
        </p:txBody>
      </p:sp>
      <p:pic>
        <p:nvPicPr>
          <p:cNvPr id="31746" name="Picture 2" descr="http://www.logismarket.es/ip/manucar-carretillas-para-usos-especiales-carretilla-para-neumaticos-8105705-369370-FGR.jpg"/>
          <p:cNvPicPr>
            <a:picLocks noChangeAspect="1" noChangeArrowheads="1"/>
          </p:cNvPicPr>
          <p:nvPr/>
        </p:nvPicPr>
        <p:blipFill>
          <a:blip r:embed="rId2" cstate="print"/>
          <a:srcRect/>
          <a:stretch>
            <a:fillRect/>
          </a:stretch>
        </p:blipFill>
        <p:spPr bwMode="auto">
          <a:xfrm>
            <a:off x="6516216" y="1124744"/>
            <a:ext cx="2316857" cy="2808312"/>
          </a:xfrm>
          <a:prstGeom prst="rect">
            <a:avLst/>
          </a:prstGeom>
          <a:noFill/>
        </p:spPr>
      </p:pic>
      <p:pic>
        <p:nvPicPr>
          <p:cNvPr id="31748" name="Picture 4" descr="http://4.bp.blogspot.com/_22L82Ix2kqI/RjmAm9gl8MI/AAAAAAAAAHI/FfXb_EvrtRo/s320/work-in-progress.gif"/>
          <p:cNvPicPr>
            <a:picLocks noChangeAspect="1" noChangeArrowheads="1"/>
          </p:cNvPicPr>
          <p:nvPr/>
        </p:nvPicPr>
        <p:blipFill>
          <a:blip r:embed="rId3" cstate="print"/>
          <a:srcRect/>
          <a:stretch>
            <a:fillRect/>
          </a:stretch>
        </p:blipFill>
        <p:spPr bwMode="auto">
          <a:xfrm>
            <a:off x="6588224" y="4149080"/>
            <a:ext cx="2542964" cy="2448272"/>
          </a:xfrm>
          <a:prstGeom prst="rect">
            <a:avLst/>
          </a:prstGeom>
          <a:noFill/>
        </p:spPr>
      </p:pic>
    </p:spTree>
  </p:cSld>
  <p:clrMapOvr>
    <a:masterClrMapping/>
  </p:clrMapOvr>
  <p:transition>
    <p:pull dir="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124744"/>
            <a:ext cx="7772400" cy="4572000"/>
          </a:xfrm>
        </p:spPr>
        <p:txBody>
          <a:bodyPr/>
          <a:lstStyle/>
          <a:p>
            <a:r>
              <a:rPr lang="es-CR" dirty="0" smtClean="0"/>
              <a:t>Sea la siguiente distribución de datos:</a:t>
            </a:r>
            <a:endParaRPr lang="es-CR" dirty="0"/>
          </a:p>
        </p:txBody>
      </p:sp>
      <p:sp>
        <p:nvSpPr>
          <p:cNvPr id="4" name="1 Título"/>
          <p:cNvSpPr>
            <a:spLocks noGrp="1"/>
          </p:cNvSpPr>
          <p:nvPr>
            <p:ph type="title"/>
          </p:nvPr>
        </p:nvSpPr>
        <p:spPr>
          <a:xfrm>
            <a:off x="395536" y="0"/>
            <a:ext cx="8280920" cy="980728"/>
          </a:xfrm>
        </p:spPr>
        <p:txBody>
          <a:bodyPr/>
          <a:lstStyle/>
          <a:p>
            <a:pPr algn="ctr"/>
            <a:r>
              <a:rPr lang="es-CR" dirty="0" smtClean="0"/>
              <a:t>Usos de las medidas de posición</a:t>
            </a:r>
            <a:endParaRPr lang="es-CR" dirty="0"/>
          </a:p>
        </p:txBody>
      </p:sp>
      <p:pic>
        <p:nvPicPr>
          <p:cNvPr id="6" name="Picture 7"/>
          <p:cNvPicPr>
            <a:picLocks noChangeAspect="1" noChangeArrowheads="1"/>
          </p:cNvPicPr>
          <p:nvPr/>
        </p:nvPicPr>
        <p:blipFill>
          <a:blip r:embed="rId2" cstate="print"/>
          <a:srcRect/>
          <a:stretch>
            <a:fillRect/>
          </a:stretch>
        </p:blipFill>
        <p:spPr bwMode="auto">
          <a:xfrm>
            <a:off x="539552" y="1916832"/>
            <a:ext cx="7358062" cy="3798887"/>
          </a:xfrm>
          <a:prstGeom prst="rect">
            <a:avLst/>
          </a:prstGeom>
          <a:noFill/>
          <a:ln w="9525">
            <a:noFill/>
            <a:miter lim="800000"/>
            <a:headEnd/>
            <a:tailEnd/>
          </a:ln>
        </p:spPr>
      </p:pic>
      <p:sp>
        <p:nvSpPr>
          <p:cNvPr id="7" name="6 Rectángulo"/>
          <p:cNvSpPr/>
          <p:nvPr/>
        </p:nvSpPr>
        <p:spPr>
          <a:xfrm>
            <a:off x="3754234" y="3212976"/>
            <a:ext cx="785818" cy="928694"/>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s-CR" dirty="0"/>
              <a:t>Mo</a:t>
            </a:r>
            <a:br>
              <a:rPr lang="es-CR" dirty="0"/>
            </a:br>
            <a:r>
              <a:rPr lang="es-CR" dirty="0"/>
              <a:t>Me</a:t>
            </a:r>
            <a:br>
              <a:rPr lang="es-CR" dirty="0"/>
            </a:br>
            <a:r>
              <a:rPr lang="es-CR" dirty="0"/>
              <a:t>X</a:t>
            </a:r>
          </a:p>
        </p:txBody>
      </p:sp>
      <p:sp>
        <p:nvSpPr>
          <p:cNvPr id="8" name="7 Rectángulo redondeado"/>
          <p:cNvSpPr/>
          <p:nvPr/>
        </p:nvSpPr>
        <p:spPr>
          <a:xfrm>
            <a:off x="2123728" y="5805264"/>
            <a:ext cx="3960440" cy="86409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3200" dirty="0" smtClean="0"/>
              <a:t>Distribución simétrica</a:t>
            </a:r>
            <a:endParaRPr lang="es-CR" sz="3200" dirty="0"/>
          </a:p>
        </p:txBody>
      </p:sp>
    </p:spTree>
  </p:cSld>
  <p:clrMapOvr>
    <a:masterClrMapping/>
  </p:clrMapOvr>
  <p:transition>
    <p:pull dir="l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6512" y="1196752"/>
            <a:ext cx="6552728" cy="5328592"/>
          </a:xfrm>
        </p:spPr>
        <p:txBody>
          <a:bodyPr/>
          <a:lstStyle/>
          <a:p>
            <a:pPr algn="just"/>
            <a:r>
              <a:rPr lang="es-CR" dirty="0" smtClean="0"/>
              <a:t>Cuando los datos se distribuyen normalmente, la Mo, Me, y   coinciden (valen lo mismo). En este caso, cualquier es bueno para caracterizar el grupo de datos, pero igual se prefiere al   . </a:t>
            </a:r>
          </a:p>
          <a:p>
            <a:pPr algn="just"/>
            <a:endParaRPr lang="es-CR" dirty="0" smtClean="0"/>
          </a:p>
          <a:p>
            <a:pPr algn="just"/>
            <a:r>
              <a:rPr lang="es-CR" dirty="0" smtClean="0"/>
              <a:t>De igual forma, si las 3 medidas no coinciden mucho, pero no hay un alejamiento extremo, se escoge el    por tener mejores propiedades estadísticas.</a:t>
            </a:r>
          </a:p>
          <a:p>
            <a:pPr algn="just"/>
            <a:endParaRPr lang="es-CR" dirty="0" smtClean="0"/>
          </a:p>
          <a:p>
            <a:pPr algn="just"/>
            <a:r>
              <a:rPr lang="es-CR" dirty="0" smtClean="0"/>
              <a:t>Casi siempre, el    es la medida de preferencia para caracterizar un conjunto de datos.</a:t>
            </a:r>
            <a:endParaRPr lang="es-CR" dirty="0"/>
          </a:p>
        </p:txBody>
      </p:sp>
      <p:sp>
        <p:nvSpPr>
          <p:cNvPr id="4" name="1 Título"/>
          <p:cNvSpPr>
            <a:spLocks noGrp="1"/>
          </p:cNvSpPr>
          <p:nvPr>
            <p:ph type="title"/>
          </p:nvPr>
        </p:nvSpPr>
        <p:spPr>
          <a:xfrm>
            <a:off x="395536" y="0"/>
            <a:ext cx="8280920" cy="980728"/>
          </a:xfrm>
        </p:spPr>
        <p:txBody>
          <a:bodyPr/>
          <a:lstStyle/>
          <a:p>
            <a:pPr algn="ctr"/>
            <a:r>
              <a:rPr lang="es-CR" dirty="0" smtClean="0"/>
              <a:t>Usos de las medidas de posición</a:t>
            </a:r>
            <a:endParaRPr lang="es-CR" dirty="0"/>
          </a:p>
        </p:txBody>
      </p:sp>
      <p:pic>
        <p:nvPicPr>
          <p:cNvPr id="5"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763688" y="1700808"/>
            <a:ext cx="147289" cy="360040"/>
          </a:xfrm>
          <a:prstGeom prst="rect">
            <a:avLst/>
          </a:prstGeom>
          <a:noFill/>
        </p:spPr>
      </p:pic>
      <p:pic>
        <p:nvPicPr>
          <p:cNvPr id="6"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280695" y="2492896"/>
            <a:ext cx="147289" cy="360040"/>
          </a:xfrm>
          <a:prstGeom prst="rect">
            <a:avLst/>
          </a:prstGeom>
          <a:noFill/>
        </p:spPr>
      </p:pic>
      <p:pic>
        <p:nvPicPr>
          <p:cNvPr id="7"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907704" y="4221088"/>
            <a:ext cx="147289" cy="360040"/>
          </a:xfrm>
          <a:prstGeom prst="rect">
            <a:avLst/>
          </a:prstGeom>
          <a:noFill/>
        </p:spPr>
      </p:pic>
      <p:pic>
        <p:nvPicPr>
          <p:cNvPr id="8"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336479" y="5517232"/>
            <a:ext cx="147289" cy="360040"/>
          </a:xfrm>
          <a:prstGeom prst="rect">
            <a:avLst/>
          </a:prstGeom>
          <a:noFill/>
        </p:spPr>
      </p:pic>
      <p:pic>
        <p:nvPicPr>
          <p:cNvPr id="38914" name="Picture 2" descr="http://ecosdelaeconomia.files.wordpress.com/2010/03/distri-normal-con-varianzas.gif"/>
          <p:cNvPicPr>
            <a:picLocks noChangeAspect="1" noChangeArrowheads="1"/>
          </p:cNvPicPr>
          <p:nvPr/>
        </p:nvPicPr>
        <p:blipFill>
          <a:blip r:embed="rId3" cstate="print"/>
          <a:srcRect/>
          <a:stretch>
            <a:fillRect/>
          </a:stretch>
        </p:blipFill>
        <p:spPr bwMode="auto">
          <a:xfrm>
            <a:off x="6588224" y="1412776"/>
            <a:ext cx="2376264" cy="2232248"/>
          </a:xfrm>
          <a:prstGeom prst="rect">
            <a:avLst/>
          </a:prstGeom>
          <a:noFill/>
        </p:spPr>
      </p:pic>
      <p:pic>
        <p:nvPicPr>
          <p:cNvPr id="38916" name="Picture 4" descr="http://www.scielo.cl/fbpe/img/rchnat/v77n4/FIG5pag690.jpg"/>
          <p:cNvPicPr>
            <a:picLocks noChangeAspect="1" noChangeArrowheads="1"/>
          </p:cNvPicPr>
          <p:nvPr/>
        </p:nvPicPr>
        <p:blipFill>
          <a:blip r:embed="rId4" cstate="print"/>
          <a:srcRect/>
          <a:stretch>
            <a:fillRect/>
          </a:stretch>
        </p:blipFill>
        <p:spPr bwMode="auto">
          <a:xfrm>
            <a:off x="6660232" y="3573016"/>
            <a:ext cx="2198767" cy="2952328"/>
          </a:xfrm>
          <a:prstGeom prst="rect">
            <a:avLst/>
          </a:prstGeom>
          <a:noFill/>
        </p:spPr>
      </p:pic>
    </p:spTree>
  </p:cSld>
  <p:clrMapOvr>
    <a:masterClrMapping/>
  </p:clrMapOvr>
  <p:transition>
    <p:pull dir="l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836712"/>
            <a:ext cx="8496944" cy="4572000"/>
          </a:xfrm>
        </p:spPr>
        <p:txBody>
          <a:bodyPr/>
          <a:lstStyle/>
          <a:p>
            <a:r>
              <a:rPr lang="es-CR" dirty="0" smtClean="0"/>
              <a:t>Si la distribución de datos es asimétrica (una cola más extendida que la otra) entonces se prefiere una medida que otra, dependiendo además de lo que se quiere.</a:t>
            </a:r>
          </a:p>
          <a:p>
            <a:endParaRPr lang="es-CR" dirty="0" smtClean="0"/>
          </a:p>
          <a:p>
            <a:r>
              <a:rPr lang="es-CR" dirty="0" smtClean="0"/>
              <a:t>Dos casos de distribuciones asimétricas:</a:t>
            </a:r>
            <a:endParaRPr lang="es-CR" dirty="0"/>
          </a:p>
        </p:txBody>
      </p:sp>
      <p:sp>
        <p:nvSpPr>
          <p:cNvPr id="4" name="1 Título"/>
          <p:cNvSpPr>
            <a:spLocks noGrp="1"/>
          </p:cNvSpPr>
          <p:nvPr>
            <p:ph type="title"/>
          </p:nvPr>
        </p:nvSpPr>
        <p:spPr>
          <a:xfrm>
            <a:off x="395536" y="0"/>
            <a:ext cx="8280920" cy="836712"/>
          </a:xfrm>
        </p:spPr>
        <p:txBody>
          <a:bodyPr/>
          <a:lstStyle/>
          <a:p>
            <a:pPr algn="ctr"/>
            <a:r>
              <a:rPr lang="es-CR" dirty="0" smtClean="0"/>
              <a:t>Usos de las medidas de posición</a:t>
            </a:r>
            <a:endParaRPr lang="es-CR" dirty="0"/>
          </a:p>
        </p:txBody>
      </p:sp>
      <p:sp>
        <p:nvSpPr>
          <p:cNvPr id="6" name="5 Elipse"/>
          <p:cNvSpPr/>
          <p:nvPr/>
        </p:nvSpPr>
        <p:spPr>
          <a:xfrm>
            <a:off x="3131840" y="2996952"/>
            <a:ext cx="2448272" cy="21602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R" sz="3200" dirty="0" smtClean="0"/>
              <a:t>Asimetría</a:t>
            </a:r>
            <a:endParaRPr lang="es-CR" sz="3200" dirty="0"/>
          </a:p>
        </p:txBody>
      </p:sp>
      <p:cxnSp>
        <p:nvCxnSpPr>
          <p:cNvPr id="7" name="6 Conector recto de flecha"/>
          <p:cNvCxnSpPr>
            <a:stCxn id="6" idx="3"/>
          </p:cNvCxnSpPr>
          <p:nvPr/>
        </p:nvCxnSpPr>
        <p:spPr>
          <a:xfrm rot="5400000">
            <a:off x="2540863" y="4423698"/>
            <a:ext cx="532384" cy="13666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7 Conector recto de flecha"/>
          <p:cNvCxnSpPr>
            <a:stCxn id="6" idx="5"/>
          </p:cNvCxnSpPr>
          <p:nvPr/>
        </p:nvCxnSpPr>
        <p:spPr>
          <a:xfrm rot="16200000" flipH="1">
            <a:off x="5746717" y="4315685"/>
            <a:ext cx="460378" cy="1510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8 Rectángulo redondeado"/>
          <p:cNvSpPr/>
          <p:nvPr/>
        </p:nvSpPr>
        <p:spPr>
          <a:xfrm>
            <a:off x="827584" y="5472608"/>
            <a:ext cx="2664296" cy="1340768"/>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s-CR" sz="4000" dirty="0" smtClean="0"/>
              <a:t>Asimetría positiva</a:t>
            </a:r>
            <a:endParaRPr lang="es-CR" sz="4000" dirty="0"/>
          </a:p>
        </p:txBody>
      </p:sp>
      <p:sp>
        <p:nvSpPr>
          <p:cNvPr id="10" name="9 Rectángulo redondeado"/>
          <p:cNvSpPr/>
          <p:nvPr/>
        </p:nvSpPr>
        <p:spPr>
          <a:xfrm>
            <a:off x="5436096" y="5445224"/>
            <a:ext cx="2664296" cy="1340768"/>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4000" dirty="0" smtClean="0"/>
              <a:t>Asimetría negativa</a:t>
            </a:r>
            <a:endParaRPr lang="es-CR" sz="4000" dirty="0"/>
          </a:p>
        </p:txBody>
      </p:sp>
    </p:spTree>
  </p:cSld>
  <p:clrMapOvr>
    <a:masterClrMapping/>
  </p:clrMapOvr>
  <p:transition>
    <p:pull dir="l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052736"/>
            <a:ext cx="7772400" cy="4572000"/>
          </a:xfrm>
        </p:spPr>
        <p:txBody>
          <a:bodyPr/>
          <a:lstStyle/>
          <a:p>
            <a:pPr>
              <a:buNone/>
            </a:pPr>
            <a:r>
              <a:rPr lang="es-CR" u="sng" dirty="0" smtClean="0"/>
              <a:t>Asimetría positiva</a:t>
            </a:r>
            <a:endParaRPr lang="es-CR" u="sng" dirty="0"/>
          </a:p>
        </p:txBody>
      </p:sp>
      <p:sp>
        <p:nvSpPr>
          <p:cNvPr id="4" name="1 Título"/>
          <p:cNvSpPr>
            <a:spLocks noGrp="1"/>
          </p:cNvSpPr>
          <p:nvPr>
            <p:ph type="title"/>
          </p:nvPr>
        </p:nvSpPr>
        <p:spPr>
          <a:xfrm>
            <a:off x="395536" y="0"/>
            <a:ext cx="8280920" cy="836712"/>
          </a:xfrm>
        </p:spPr>
        <p:txBody>
          <a:bodyPr/>
          <a:lstStyle/>
          <a:p>
            <a:pPr algn="ctr"/>
            <a:r>
              <a:rPr lang="es-CR" dirty="0" smtClean="0"/>
              <a:t>Usos de las medidas de posición</a:t>
            </a:r>
            <a:endParaRPr lang="es-CR" dirty="0"/>
          </a:p>
        </p:txBody>
      </p:sp>
      <p:pic>
        <p:nvPicPr>
          <p:cNvPr id="33794" name="Picture 2"/>
          <p:cNvPicPr>
            <a:picLocks noChangeAspect="1" noChangeArrowheads="1"/>
          </p:cNvPicPr>
          <p:nvPr/>
        </p:nvPicPr>
        <p:blipFill>
          <a:blip r:embed="rId2" cstate="print"/>
          <a:srcRect/>
          <a:stretch>
            <a:fillRect/>
          </a:stretch>
        </p:blipFill>
        <p:spPr bwMode="auto">
          <a:xfrm>
            <a:off x="1259632" y="1700808"/>
            <a:ext cx="6120680" cy="4550172"/>
          </a:xfrm>
          <a:prstGeom prst="rect">
            <a:avLst/>
          </a:prstGeom>
          <a:noFill/>
          <a:ln w="9525">
            <a:noFill/>
            <a:miter lim="800000"/>
            <a:headEnd/>
            <a:tailEnd/>
          </a:ln>
        </p:spPr>
      </p:pic>
    </p:spTree>
  </p:cSld>
  <p:clrMapOvr>
    <a:masterClrMapping/>
  </p:clrMapOvr>
  <p:transition>
    <p:pull dir="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sz="quarter" idx="1"/>
          </p:nvPr>
        </p:nvSpPr>
        <p:spPr>
          <a:xfrm>
            <a:off x="323528" y="1052736"/>
            <a:ext cx="7772400" cy="4572000"/>
          </a:xfrm>
        </p:spPr>
        <p:txBody>
          <a:bodyPr/>
          <a:lstStyle/>
          <a:p>
            <a:pPr>
              <a:buNone/>
            </a:pPr>
            <a:r>
              <a:rPr lang="es-CR" u="sng" dirty="0" smtClean="0"/>
              <a:t>Asimetría negativa</a:t>
            </a:r>
            <a:endParaRPr lang="es-CR" u="sng" dirty="0"/>
          </a:p>
        </p:txBody>
      </p:sp>
      <p:sp>
        <p:nvSpPr>
          <p:cNvPr id="5" name="1 Título"/>
          <p:cNvSpPr>
            <a:spLocks noGrp="1"/>
          </p:cNvSpPr>
          <p:nvPr>
            <p:ph type="title"/>
          </p:nvPr>
        </p:nvSpPr>
        <p:spPr>
          <a:xfrm>
            <a:off x="395536" y="0"/>
            <a:ext cx="8280920" cy="980728"/>
          </a:xfrm>
        </p:spPr>
        <p:txBody>
          <a:bodyPr/>
          <a:lstStyle/>
          <a:p>
            <a:pPr algn="ctr"/>
            <a:r>
              <a:rPr lang="es-CR" dirty="0" smtClean="0"/>
              <a:t>Usos de las medidas de posición</a:t>
            </a:r>
            <a:endParaRPr lang="es-CR" dirty="0"/>
          </a:p>
        </p:txBody>
      </p:sp>
      <p:pic>
        <p:nvPicPr>
          <p:cNvPr id="29697" name="Picture 1"/>
          <p:cNvPicPr>
            <a:picLocks noChangeAspect="1" noChangeArrowheads="1"/>
          </p:cNvPicPr>
          <p:nvPr/>
        </p:nvPicPr>
        <p:blipFill>
          <a:blip r:embed="rId2" cstate="print"/>
          <a:srcRect/>
          <a:stretch>
            <a:fillRect/>
          </a:stretch>
        </p:blipFill>
        <p:spPr bwMode="auto">
          <a:xfrm>
            <a:off x="1331640" y="1772816"/>
            <a:ext cx="5616624" cy="4626410"/>
          </a:xfrm>
          <a:prstGeom prst="rect">
            <a:avLst/>
          </a:prstGeom>
          <a:noFill/>
          <a:ln w="9525">
            <a:noFill/>
            <a:miter lim="800000"/>
            <a:headEnd/>
            <a:tailEnd/>
          </a:ln>
        </p:spPr>
      </p:pic>
    </p:spTree>
  </p:cSld>
  <p:clrMapOvr>
    <a:masterClrMapping/>
  </p:clrMapOvr>
  <p:transition>
    <p:zoom dir="in"/>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1412776"/>
            <a:ext cx="5976664" cy="5040560"/>
          </a:xfrm>
        </p:spPr>
        <p:txBody>
          <a:bodyPr/>
          <a:lstStyle/>
          <a:p>
            <a:r>
              <a:rPr lang="es-CR" dirty="0" smtClean="0"/>
              <a:t>Este comportamiento de las medidas de posición, en el caso de distribuciones asimétricas caracterizado por un alejamiento de las 3 medidas, se deben a los valores extremos.</a:t>
            </a:r>
          </a:p>
          <a:p>
            <a:endParaRPr lang="es-CR" dirty="0" smtClean="0"/>
          </a:p>
          <a:p>
            <a:r>
              <a:rPr lang="es-CR" dirty="0" smtClean="0"/>
              <a:t>En tales caso se prefiere a la Me y no a las otras dos.</a:t>
            </a:r>
          </a:p>
          <a:p>
            <a:endParaRPr lang="es-CR" dirty="0" smtClean="0"/>
          </a:p>
          <a:p>
            <a:r>
              <a:rPr lang="es-CR" dirty="0" smtClean="0"/>
              <a:t>Veamos unos ejemplos con datos verdaderos.</a:t>
            </a:r>
            <a:endParaRPr lang="es-CR" dirty="0"/>
          </a:p>
        </p:txBody>
      </p:sp>
      <p:sp>
        <p:nvSpPr>
          <p:cNvPr id="4" name="1 Título"/>
          <p:cNvSpPr>
            <a:spLocks noGrp="1"/>
          </p:cNvSpPr>
          <p:nvPr>
            <p:ph type="title"/>
          </p:nvPr>
        </p:nvSpPr>
        <p:spPr>
          <a:xfrm>
            <a:off x="395536" y="0"/>
            <a:ext cx="8280920" cy="980728"/>
          </a:xfrm>
        </p:spPr>
        <p:txBody>
          <a:bodyPr/>
          <a:lstStyle/>
          <a:p>
            <a:pPr algn="ctr"/>
            <a:r>
              <a:rPr lang="es-CR" dirty="0" smtClean="0"/>
              <a:t>Usos de las medidas de posición</a:t>
            </a:r>
            <a:endParaRPr lang="es-CR" dirty="0"/>
          </a:p>
        </p:txBody>
      </p:sp>
      <p:pic>
        <p:nvPicPr>
          <p:cNvPr id="36866" name="Picture 2" descr="http://img.directindustry.es/images_di/photo-g/sistema-de-marcado-data-matrix-347911.jpg"/>
          <p:cNvPicPr>
            <a:picLocks noChangeAspect="1" noChangeArrowheads="1"/>
          </p:cNvPicPr>
          <p:nvPr/>
        </p:nvPicPr>
        <p:blipFill>
          <a:blip r:embed="rId2" cstate="print"/>
          <a:srcRect/>
          <a:stretch>
            <a:fillRect/>
          </a:stretch>
        </p:blipFill>
        <p:spPr bwMode="auto">
          <a:xfrm>
            <a:off x="5940151" y="1196752"/>
            <a:ext cx="3053671" cy="2880320"/>
          </a:xfrm>
          <a:prstGeom prst="rect">
            <a:avLst/>
          </a:prstGeom>
          <a:noFill/>
        </p:spPr>
      </p:pic>
      <p:pic>
        <p:nvPicPr>
          <p:cNvPr id="36868" name="Picture 4" descr="http://static.open.salon.com/files/blue_data1244382833.gif"/>
          <p:cNvPicPr>
            <a:picLocks noChangeAspect="1" noChangeArrowheads="1"/>
          </p:cNvPicPr>
          <p:nvPr/>
        </p:nvPicPr>
        <p:blipFill>
          <a:blip r:embed="rId3" cstate="print"/>
          <a:srcRect/>
          <a:stretch>
            <a:fillRect/>
          </a:stretch>
        </p:blipFill>
        <p:spPr bwMode="auto">
          <a:xfrm>
            <a:off x="6012160" y="4221088"/>
            <a:ext cx="2880320" cy="2249699"/>
          </a:xfrm>
          <a:prstGeom prst="rect">
            <a:avLst/>
          </a:prstGeom>
          <a:noFill/>
        </p:spPr>
      </p:pic>
    </p:spTree>
  </p:cSld>
  <p:clrMapOvr>
    <a:masterClrMapping/>
  </p:clrMapOvr>
  <p:transition>
    <p:spli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95536" y="1268760"/>
            <a:ext cx="7772400" cy="5589240"/>
          </a:xfrm>
        </p:spPr>
        <p:txBody>
          <a:bodyPr>
            <a:normAutofit lnSpcReduction="10000"/>
          </a:bodyPr>
          <a:lstStyle/>
          <a:p>
            <a:pPr>
              <a:buNone/>
            </a:pPr>
            <a:r>
              <a:rPr lang="es-CR" u="sng" dirty="0" smtClean="0"/>
              <a:t>Ejemplo 1</a:t>
            </a:r>
          </a:p>
          <a:p>
            <a:pPr>
              <a:buNone/>
            </a:pPr>
            <a:endParaRPr lang="es-CR" u="sng" dirty="0" smtClean="0"/>
          </a:p>
          <a:p>
            <a:pPr>
              <a:buNone/>
            </a:pPr>
            <a:endParaRPr lang="es-CR" u="sng" dirty="0" smtClean="0"/>
          </a:p>
          <a:p>
            <a:pPr>
              <a:buNone/>
            </a:pPr>
            <a:endParaRPr lang="es-CR" u="sng" dirty="0" smtClean="0"/>
          </a:p>
          <a:p>
            <a:pPr>
              <a:buNone/>
            </a:pPr>
            <a:endParaRPr lang="es-CR" u="sng" dirty="0" smtClean="0"/>
          </a:p>
          <a:p>
            <a:pPr>
              <a:buNone/>
            </a:pPr>
            <a:endParaRPr lang="es-CR" u="sng" dirty="0" smtClean="0"/>
          </a:p>
          <a:p>
            <a:pPr>
              <a:buNone/>
            </a:pPr>
            <a:endParaRPr lang="es-CR" u="sng" dirty="0" smtClean="0"/>
          </a:p>
          <a:p>
            <a:pPr>
              <a:buNone/>
            </a:pPr>
            <a:endParaRPr lang="es-CR" u="sng" dirty="0" smtClean="0"/>
          </a:p>
          <a:p>
            <a:pPr>
              <a:buNone/>
            </a:pPr>
            <a:endParaRPr lang="es-CR" u="sng" dirty="0" smtClean="0"/>
          </a:p>
          <a:p>
            <a:pPr>
              <a:buNone/>
            </a:pPr>
            <a:endParaRPr lang="es-CR" u="sng" dirty="0" smtClean="0"/>
          </a:p>
          <a:p>
            <a:pPr>
              <a:buNone/>
            </a:pPr>
            <a:r>
              <a:rPr lang="es-CR" dirty="0" smtClean="0"/>
              <a:t>	</a:t>
            </a:r>
          </a:p>
          <a:p>
            <a:pPr>
              <a:buNone/>
            </a:pPr>
            <a:r>
              <a:rPr lang="es-CR" dirty="0" smtClean="0"/>
              <a:t>	En este caso, cualquier medida es buena para representar el conjunto de datos.</a:t>
            </a:r>
            <a:endParaRPr lang="es-CR" u="sng" dirty="0" smtClean="0"/>
          </a:p>
        </p:txBody>
      </p:sp>
      <p:sp>
        <p:nvSpPr>
          <p:cNvPr id="4" name="1 Título"/>
          <p:cNvSpPr>
            <a:spLocks noGrp="1"/>
          </p:cNvSpPr>
          <p:nvPr>
            <p:ph type="title"/>
          </p:nvPr>
        </p:nvSpPr>
        <p:spPr>
          <a:xfrm>
            <a:off x="395536" y="0"/>
            <a:ext cx="8280920" cy="980728"/>
          </a:xfrm>
        </p:spPr>
        <p:txBody>
          <a:bodyPr/>
          <a:lstStyle/>
          <a:p>
            <a:pPr algn="ctr"/>
            <a:r>
              <a:rPr lang="es-CR" dirty="0" smtClean="0"/>
              <a:t>Usos de las medidas de posición</a:t>
            </a:r>
            <a:endParaRPr lang="es-CR" dirty="0"/>
          </a:p>
        </p:txBody>
      </p:sp>
      <p:pic>
        <p:nvPicPr>
          <p:cNvPr id="5" name="Picture 2"/>
          <p:cNvPicPr>
            <a:picLocks noChangeAspect="1" noChangeArrowheads="1"/>
          </p:cNvPicPr>
          <p:nvPr/>
        </p:nvPicPr>
        <p:blipFill>
          <a:blip r:embed="rId2" cstate="print"/>
          <a:srcRect/>
          <a:stretch>
            <a:fillRect/>
          </a:stretch>
        </p:blipFill>
        <p:spPr bwMode="auto">
          <a:xfrm>
            <a:off x="539552" y="1793139"/>
            <a:ext cx="7416825" cy="4084133"/>
          </a:xfrm>
          <a:prstGeom prst="rect">
            <a:avLst/>
          </a:prstGeom>
          <a:noFill/>
          <a:ln w="9525">
            <a:noFill/>
            <a:miter lim="800000"/>
            <a:headEnd/>
            <a:tailEnd/>
          </a:ln>
        </p:spPr>
      </p:pic>
      <p:sp>
        <p:nvSpPr>
          <p:cNvPr id="358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5841"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267744" y="1268760"/>
            <a:ext cx="4176464" cy="507637"/>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052736"/>
            <a:ext cx="8280920" cy="5805264"/>
          </a:xfrm>
        </p:spPr>
        <p:txBody>
          <a:bodyPr/>
          <a:lstStyle/>
          <a:p>
            <a:pPr>
              <a:buNone/>
            </a:pPr>
            <a:r>
              <a:rPr lang="es-CR" u="sng" dirty="0" smtClean="0"/>
              <a:t>Ejemplo 2</a:t>
            </a:r>
          </a:p>
          <a:p>
            <a:pPr>
              <a:buNone/>
            </a:pPr>
            <a:endParaRPr lang="es-CR" u="sng" dirty="0" smtClean="0"/>
          </a:p>
          <a:p>
            <a:pPr>
              <a:buNone/>
            </a:pPr>
            <a:endParaRPr lang="es-CR" u="sng" dirty="0" smtClean="0"/>
          </a:p>
          <a:p>
            <a:pPr>
              <a:buNone/>
            </a:pPr>
            <a:endParaRPr lang="es-CR" u="sng" dirty="0" smtClean="0"/>
          </a:p>
          <a:p>
            <a:pPr>
              <a:buNone/>
            </a:pPr>
            <a:endParaRPr lang="es-CR" u="sng" dirty="0" smtClean="0"/>
          </a:p>
          <a:p>
            <a:pPr>
              <a:buNone/>
            </a:pPr>
            <a:endParaRPr lang="es-CR" u="sng" dirty="0" smtClean="0"/>
          </a:p>
          <a:p>
            <a:pPr>
              <a:buNone/>
            </a:pPr>
            <a:endParaRPr lang="es-CR" u="sng" dirty="0" smtClean="0"/>
          </a:p>
          <a:p>
            <a:pPr>
              <a:buNone/>
            </a:pPr>
            <a:endParaRPr lang="es-CR" u="sng" dirty="0" smtClean="0"/>
          </a:p>
          <a:p>
            <a:pPr>
              <a:buNone/>
            </a:pPr>
            <a:endParaRPr lang="es-CR" u="sng" dirty="0" smtClean="0"/>
          </a:p>
          <a:p>
            <a:pPr>
              <a:buNone/>
            </a:pPr>
            <a:r>
              <a:rPr lang="es-CR" dirty="0" smtClean="0"/>
              <a:t>	</a:t>
            </a:r>
          </a:p>
          <a:p>
            <a:pPr>
              <a:buNone/>
            </a:pPr>
            <a:r>
              <a:rPr lang="es-CR" dirty="0" smtClean="0"/>
              <a:t>	En este caso se prefiere la Mo y la Me para describir el conjunto que el </a:t>
            </a:r>
          </a:p>
          <a:p>
            <a:pPr algn="ctr">
              <a:buNone/>
            </a:pPr>
            <a:endParaRPr lang="es-CR" u="sng" dirty="0" smtClean="0"/>
          </a:p>
        </p:txBody>
      </p:sp>
      <p:pic>
        <p:nvPicPr>
          <p:cNvPr id="34819" name="Picture 3"/>
          <p:cNvPicPr>
            <a:picLocks noChangeAspect="1" noChangeArrowheads="1"/>
          </p:cNvPicPr>
          <p:nvPr/>
        </p:nvPicPr>
        <p:blipFill>
          <a:blip r:embed="rId2" cstate="print"/>
          <a:srcRect/>
          <a:stretch>
            <a:fillRect/>
          </a:stretch>
        </p:blipFill>
        <p:spPr bwMode="auto">
          <a:xfrm>
            <a:off x="827584" y="1628800"/>
            <a:ext cx="6336704" cy="3526514"/>
          </a:xfrm>
          <a:prstGeom prst="rect">
            <a:avLst/>
          </a:prstGeom>
          <a:noFill/>
          <a:ln w="9525">
            <a:noFill/>
            <a:miter lim="800000"/>
            <a:headEnd/>
            <a:tailEnd/>
          </a:ln>
        </p:spPr>
      </p:pic>
      <p:sp>
        <p:nvSpPr>
          <p:cNvPr id="348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4820"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979712" y="1052736"/>
            <a:ext cx="4536504" cy="501523"/>
          </a:xfrm>
          <a:prstGeom prst="rect">
            <a:avLst/>
          </a:prstGeom>
          <a:noFill/>
        </p:spPr>
      </p:pic>
      <p:sp>
        <p:nvSpPr>
          <p:cNvPr id="15" name="1 Título"/>
          <p:cNvSpPr txBox="1">
            <a:spLocks/>
          </p:cNvSpPr>
          <p:nvPr/>
        </p:nvSpPr>
        <p:spPr>
          <a:xfrm>
            <a:off x="395536" y="0"/>
            <a:ext cx="8280920" cy="836712"/>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4000" b="0" i="0" u="none" strike="noStrike" kern="1200" cap="none" spc="0" normalizeH="0" baseline="0" noProof="0" dirty="0" smtClean="0">
                <a:ln>
                  <a:noFill/>
                </a:ln>
                <a:solidFill>
                  <a:schemeClr val="tx2"/>
                </a:solidFill>
                <a:effectLst/>
                <a:uLnTx/>
                <a:uFillTx/>
                <a:latin typeface="+mj-lt"/>
                <a:ea typeface="+mj-ea"/>
                <a:cs typeface="+mj-cs"/>
              </a:rPr>
              <a:t>Usos de las medidas de posición</a:t>
            </a:r>
            <a:endParaRPr kumimoji="0" lang="es-CR" sz="4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p:circl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95536" y="0"/>
            <a:ext cx="8280920" cy="836712"/>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4000" b="0" i="0" u="none" strike="noStrike" kern="1200" cap="none" spc="0" normalizeH="0" baseline="0" noProof="0" dirty="0" smtClean="0">
                <a:ln>
                  <a:noFill/>
                </a:ln>
                <a:solidFill>
                  <a:schemeClr val="tx2"/>
                </a:solidFill>
                <a:effectLst/>
                <a:uLnTx/>
                <a:uFillTx/>
                <a:latin typeface="+mj-lt"/>
                <a:ea typeface="+mj-ea"/>
                <a:cs typeface="+mj-cs"/>
              </a:rPr>
              <a:t>Usos de las medidas de posición</a:t>
            </a:r>
            <a:endParaRPr kumimoji="0" lang="es-CR" sz="4000" b="0" i="0" u="none" strike="noStrike" kern="1200" cap="none" spc="0" normalizeH="0" baseline="0" noProof="0" dirty="0">
              <a:ln>
                <a:noFill/>
              </a:ln>
              <a:solidFill>
                <a:schemeClr val="tx2"/>
              </a:solidFill>
              <a:effectLst/>
              <a:uLnTx/>
              <a:uFillTx/>
              <a:latin typeface="+mj-lt"/>
              <a:ea typeface="+mj-ea"/>
              <a:cs typeface="+mj-cs"/>
            </a:endParaRPr>
          </a:p>
        </p:txBody>
      </p:sp>
      <p:pic>
        <p:nvPicPr>
          <p:cNvPr id="3074" name="Picture 2" descr="http://ejemplosde.info/wp-content/uploads/2013/08/Ejemplos-de-oraciones-interrogativas-clasificaci%C3%B3n.gif"/>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691680" y="1124744"/>
            <a:ext cx="5400600" cy="54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5133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7992" y="-27384"/>
            <a:ext cx="8060432" cy="936104"/>
          </a:xfrm>
        </p:spPr>
        <p:txBody>
          <a:bodyPr/>
          <a:lstStyle/>
          <a:p>
            <a:pPr algn="ctr"/>
            <a:r>
              <a:rPr lang="es-CR" dirty="0" smtClean="0"/>
              <a:t>Ultimas reseñas</a:t>
            </a:r>
            <a:endParaRPr lang="es-CR" dirty="0"/>
          </a:p>
        </p:txBody>
      </p:sp>
      <p:sp>
        <p:nvSpPr>
          <p:cNvPr id="3" name="2 Marcador de contenido"/>
          <p:cNvSpPr>
            <a:spLocks noGrp="1"/>
          </p:cNvSpPr>
          <p:nvPr>
            <p:ph sz="quarter" idx="1"/>
          </p:nvPr>
        </p:nvSpPr>
        <p:spPr>
          <a:xfrm>
            <a:off x="35496" y="980728"/>
            <a:ext cx="6336704" cy="5688632"/>
          </a:xfrm>
        </p:spPr>
        <p:txBody>
          <a:bodyPr/>
          <a:lstStyle/>
          <a:p>
            <a:pPr algn="just"/>
            <a:r>
              <a:rPr lang="es-CR" dirty="0" smtClean="0"/>
              <a:t>Las medidas de posición son muy importantes para cualquier análisis estadístico.</a:t>
            </a:r>
          </a:p>
          <a:p>
            <a:pPr algn="just"/>
            <a:endParaRPr lang="es-CR" dirty="0" smtClean="0"/>
          </a:p>
          <a:p>
            <a:pPr algn="just"/>
            <a:r>
              <a:rPr lang="es-CR" dirty="0" smtClean="0"/>
              <a:t>La diferencia de este con respecto a las medidas relativas es que este resume en conjunto pero enfocándose en la posición.</a:t>
            </a:r>
          </a:p>
          <a:p>
            <a:pPr algn="just"/>
            <a:endParaRPr lang="es-CR" dirty="0" smtClean="0"/>
          </a:p>
          <a:p>
            <a:pPr algn="just"/>
            <a:r>
              <a:rPr lang="es-CR" dirty="0" smtClean="0"/>
              <a:t>Los tres más utilizados son la Moda (Mo), Mediana (Me), y Promedio.</a:t>
            </a:r>
          </a:p>
          <a:p>
            <a:pPr algn="just"/>
            <a:endParaRPr lang="es-CR" dirty="0" smtClean="0"/>
          </a:p>
          <a:p>
            <a:pPr algn="just"/>
            <a:r>
              <a:rPr lang="es-CR" dirty="0" smtClean="0"/>
              <a:t>Estas medidas se deben realizar conjuntamente con las medidas de variabilidad (próxima clase). </a:t>
            </a:r>
            <a:endParaRPr lang="es-CR" dirty="0"/>
          </a:p>
        </p:txBody>
      </p:sp>
      <p:pic>
        <p:nvPicPr>
          <p:cNvPr id="40962" name="Picture 2" descr="http://img166.imageshack.us/img166/3005/ultimaspalabrasjz2.jpg"/>
          <p:cNvPicPr>
            <a:picLocks noChangeAspect="1" noChangeArrowheads="1"/>
          </p:cNvPicPr>
          <p:nvPr/>
        </p:nvPicPr>
        <p:blipFill>
          <a:blip r:embed="rId2" cstate="print"/>
          <a:srcRect/>
          <a:stretch>
            <a:fillRect/>
          </a:stretch>
        </p:blipFill>
        <p:spPr bwMode="auto">
          <a:xfrm>
            <a:off x="6588224" y="1124744"/>
            <a:ext cx="2376264" cy="1978982"/>
          </a:xfrm>
          <a:prstGeom prst="rect">
            <a:avLst/>
          </a:prstGeom>
          <a:noFill/>
        </p:spPr>
      </p:pic>
      <p:pic>
        <p:nvPicPr>
          <p:cNvPr id="40964" name="Picture 4" descr="http://www.urbecom.com/blog/wp-content/uploads/2009/06/variabilidad-web-300x225.jpg"/>
          <p:cNvPicPr>
            <a:picLocks noChangeAspect="1" noChangeArrowheads="1"/>
          </p:cNvPicPr>
          <p:nvPr/>
        </p:nvPicPr>
        <p:blipFill>
          <a:blip r:embed="rId3" cstate="print"/>
          <a:srcRect/>
          <a:stretch>
            <a:fillRect/>
          </a:stretch>
        </p:blipFill>
        <p:spPr bwMode="auto">
          <a:xfrm>
            <a:off x="6444208" y="3645024"/>
            <a:ext cx="2592288" cy="2736304"/>
          </a:xfrm>
          <a:prstGeom prst="rect">
            <a:avLst/>
          </a:prstGeom>
          <a:noFill/>
        </p:spPr>
      </p:pic>
    </p:spTree>
  </p:cSld>
  <p:clrMapOvr>
    <a:masterClrMapping/>
  </p:clrMapOvr>
  <p:transition>
    <p:wheel spokes="8"/>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p:txBody>
          <a:bodyPr/>
          <a:lstStyle/>
          <a:p>
            <a:endParaRPr lang="es-CR"/>
          </a:p>
        </p:txBody>
      </p:sp>
      <p:pic>
        <p:nvPicPr>
          <p:cNvPr id="4" name="Picture 2" descr="http://www.ultimonivel.net/wp-content/uploads/2009/01/el-final-de-un-videojuego.jpg"/>
          <p:cNvPicPr>
            <a:picLocks noChangeAspect="1" noChangeArrowheads="1"/>
          </p:cNvPicPr>
          <p:nvPr/>
        </p:nvPicPr>
        <p:blipFill>
          <a:blip r:embed="rId2" cstate="print"/>
          <a:srcRect/>
          <a:stretch>
            <a:fillRect/>
          </a:stretch>
        </p:blipFill>
        <p:spPr bwMode="auto">
          <a:xfrm>
            <a:off x="-1" y="0"/>
            <a:ext cx="9157849" cy="6858000"/>
          </a:xfrm>
          <a:prstGeom prst="rect">
            <a:avLst/>
          </a:prstGeom>
          <a:noFill/>
        </p:spPr>
      </p:pic>
    </p:spTree>
  </p:cSld>
  <p:clrMapOvr>
    <a:masterClrMapping/>
  </p:clrMapOvr>
  <p:transition>
    <p:fade thruBlk="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1005</TotalTime>
  <Words>1754</Words>
  <Application>Microsoft Office PowerPoint</Application>
  <PresentationFormat>Presentación en pantalla (4:3)</PresentationFormat>
  <Paragraphs>374</Paragraphs>
  <Slides>44</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44</vt:i4>
      </vt:variant>
    </vt:vector>
  </HeadingPairs>
  <TitlesOfParts>
    <vt:vector size="52" baseType="lpstr">
      <vt:lpstr>Arial</vt:lpstr>
      <vt:lpstr>Calibri</vt:lpstr>
      <vt:lpstr>Cambria Math</vt:lpstr>
      <vt:lpstr>Franklin Gothic Book</vt:lpstr>
      <vt:lpstr>Perpetua</vt:lpstr>
      <vt:lpstr>Times New Roman</vt:lpstr>
      <vt:lpstr>Wingdings 2</vt:lpstr>
      <vt:lpstr>Equidad</vt:lpstr>
      <vt:lpstr>Presentación de PowerPoint</vt:lpstr>
      <vt:lpstr>Índice </vt:lpstr>
      <vt:lpstr>Índice </vt:lpstr>
      <vt:lpstr>Introducción</vt:lpstr>
      <vt:lpstr>Introducción</vt:lpstr>
      <vt:lpstr>Introducción</vt:lpstr>
      <vt:lpstr>Las medidas de posición</vt:lpstr>
      <vt:lpstr>Índice </vt:lpstr>
      <vt:lpstr>La moda (Mo)</vt:lpstr>
      <vt:lpstr>La moda (Mo)</vt:lpstr>
      <vt:lpstr>La moda (Mo)</vt:lpstr>
      <vt:lpstr>La moda (Mo)</vt:lpstr>
      <vt:lpstr>Índice </vt:lpstr>
      <vt:lpstr>La mediana</vt:lpstr>
      <vt:lpstr>Presentación de PowerPoint</vt:lpstr>
      <vt:lpstr>La mediana: conjunto impar</vt:lpstr>
      <vt:lpstr>La mediana: conjunto par</vt:lpstr>
      <vt:lpstr>El percentil</vt:lpstr>
      <vt:lpstr>Presentación de PowerPoint</vt:lpstr>
      <vt:lpstr>Presentación de PowerPoint</vt:lpstr>
      <vt:lpstr>Los cuartiles</vt:lpstr>
      <vt:lpstr>Para los deciles…. cómo sería?</vt:lpstr>
      <vt:lpstr>Índice </vt:lpstr>
      <vt:lpstr>La media aritmética (  ) o promedio</vt:lpstr>
      <vt:lpstr>Promedio simple</vt:lpstr>
      <vt:lpstr>Ejemplos de promedios </vt:lpstr>
      <vt:lpstr>Promedio ponderado: absoluto</vt:lpstr>
      <vt:lpstr>Promedio ponderado: absoluto</vt:lpstr>
      <vt:lpstr>Promedio ponderado: relativo</vt:lpstr>
      <vt:lpstr>Presentación de PowerPoint</vt:lpstr>
      <vt:lpstr>Presentación de PowerPoint</vt:lpstr>
      <vt:lpstr>Índice </vt:lpstr>
      <vt:lpstr>Usos de las medidas de posición</vt:lpstr>
      <vt:lpstr>Usos de las medidas de posición</vt:lpstr>
      <vt:lpstr>Usos de las medidas de posición</vt:lpstr>
      <vt:lpstr>Usos de las medidas de posición</vt:lpstr>
      <vt:lpstr>Usos de las medidas de posición</vt:lpstr>
      <vt:lpstr>Usos de las medidas de posición</vt:lpstr>
      <vt:lpstr>Usos de las medidas de posición</vt:lpstr>
      <vt:lpstr>Usos de las medidas de posición</vt:lpstr>
      <vt:lpstr>Presentación de PowerPoint</vt:lpstr>
      <vt:lpstr>Presentación de PowerPoint</vt:lpstr>
      <vt:lpstr>Ultimas reseñas</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Oscar</dc:creator>
  <cp:lastModifiedBy>Oscar</cp:lastModifiedBy>
  <cp:revision>86</cp:revision>
  <dcterms:created xsi:type="dcterms:W3CDTF">2010-06-18T04:32:19Z</dcterms:created>
  <dcterms:modified xsi:type="dcterms:W3CDTF">2016-05-23T04:39:09Z</dcterms:modified>
</cp:coreProperties>
</file>