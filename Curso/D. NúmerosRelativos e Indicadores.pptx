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287" r:id="rId3"/>
    <p:sldId id="294" r:id="rId4"/>
    <p:sldId id="295" r:id="rId5"/>
    <p:sldId id="257" r:id="rId6"/>
    <p:sldId id="304" r:id="rId7"/>
    <p:sldId id="258" r:id="rId8"/>
    <p:sldId id="259" r:id="rId9"/>
    <p:sldId id="260" r:id="rId10"/>
    <p:sldId id="261" r:id="rId11"/>
    <p:sldId id="297" r:id="rId12"/>
    <p:sldId id="262" r:id="rId13"/>
    <p:sldId id="263" r:id="rId14"/>
    <p:sldId id="264" r:id="rId15"/>
    <p:sldId id="265" r:id="rId16"/>
    <p:sldId id="267" r:id="rId17"/>
    <p:sldId id="266" r:id="rId18"/>
    <p:sldId id="268" r:id="rId19"/>
    <p:sldId id="269" r:id="rId20"/>
    <p:sldId id="270" r:id="rId21"/>
    <p:sldId id="271" r:id="rId22"/>
    <p:sldId id="293" r:id="rId23"/>
    <p:sldId id="274" r:id="rId24"/>
    <p:sldId id="275" r:id="rId25"/>
    <p:sldId id="276" r:id="rId26"/>
    <p:sldId id="278" r:id="rId27"/>
    <p:sldId id="279" r:id="rId28"/>
    <p:sldId id="280" r:id="rId29"/>
    <p:sldId id="298" r:id="rId30"/>
    <p:sldId id="283" r:id="rId31"/>
    <p:sldId id="284" r:id="rId32"/>
    <p:sldId id="285" r:id="rId33"/>
    <p:sldId id="300" r:id="rId34"/>
    <p:sldId id="272" r:id="rId35"/>
    <p:sldId id="301" r:id="rId36"/>
    <p:sldId id="273" r:id="rId37"/>
    <p:sldId id="302" r:id="rId38"/>
    <p:sldId id="303" r:id="rId39"/>
    <p:sldId id="281" r:id="rId40"/>
    <p:sldId id="299" r:id="rId41"/>
    <p:sldId id="282" r:id="rId42"/>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12" autoAdjust="0"/>
    <p:restoredTop sz="93783" autoAdjust="0"/>
  </p:normalViewPr>
  <p:slideViewPr>
    <p:cSldViewPr>
      <p:cViewPr varScale="1">
        <p:scale>
          <a:sx n="70" d="100"/>
          <a:sy n="70" d="100"/>
        </p:scale>
        <p:origin x="1332"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Oscar\Desktop\New%20Microsoft%20Office%20Excel%202007%20Workbook.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s-CR"/>
              <a:t>Distribución de</a:t>
            </a:r>
            <a:r>
              <a:rPr lang="es-CR" baseline="0"/>
              <a:t> frecuencia</a:t>
            </a:r>
            <a:endParaRPr lang="es-CR"/>
          </a:p>
        </c:rich>
      </c:tx>
      <c:layout/>
      <c:overlay val="0"/>
    </c:title>
    <c:autoTitleDeleted val="0"/>
    <c:plotArea>
      <c:layout>
        <c:manualLayout>
          <c:layoutTarget val="inner"/>
          <c:xMode val="edge"/>
          <c:yMode val="edge"/>
          <c:x val="9.0419072615923024E-2"/>
          <c:y val="0.10047302327521342"/>
          <c:w val="0.89013648293963232"/>
          <c:h val="0.72042547526583645"/>
        </c:manualLayout>
      </c:layout>
      <c:barChart>
        <c:barDir val="col"/>
        <c:grouping val="clustered"/>
        <c:varyColors val="0"/>
        <c:ser>
          <c:idx val="0"/>
          <c:order val="0"/>
          <c:spPr>
            <a:solidFill>
              <a:srgbClr val="0070C0"/>
            </a:solidFill>
          </c:spPr>
          <c:invertIfNegative val="0"/>
          <c:val>
            <c:numRef>
              <c:f>Hoja1!$C$30:$C$37</c:f>
              <c:numCache>
                <c:formatCode>General</c:formatCode>
                <c:ptCount val="8"/>
                <c:pt idx="0">
                  <c:v>2</c:v>
                </c:pt>
                <c:pt idx="1">
                  <c:v>3</c:v>
                </c:pt>
                <c:pt idx="2">
                  <c:v>4</c:v>
                </c:pt>
                <c:pt idx="3">
                  <c:v>8</c:v>
                </c:pt>
                <c:pt idx="4">
                  <c:v>3</c:v>
                </c:pt>
                <c:pt idx="5">
                  <c:v>1</c:v>
                </c:pt>
                <c:pt idx="6">
                  <c:v>2</c:v>
                </c:pt>
                <c:pt idx="7">
                  <c:v>2</c:v>
                </c:pt>
              </c:numCache>
            </c:numRef>
          </c:val>
        </c:ser>
        <c:dLbls>
          <c:showLegendKey val="0"/>
          <c:showVal val="0"/>
          <c:showCatName val="0"/>
          <c:showSerName val="0"/>
          <c:showPercent val="0"/>
          <c:showBubbleSize val="0"/>
        </c:dLbls>
        <c:gapWidth val="150"/>
        <c:axId val="265360192"/>
        <c:axId val="265359408"/>
      </c:barChart>
      <c:catAx>
        <c:axId val="265360192"/>
        <c:scaling>
          <c:orientation val="minMax"/>
        </c:scaling>
        <c:delete val="0"/>
        <c:axPos val="b"/>
        <c:title>
          <c:tx>
            <c:rich>
              <a:bodyPr/>
              <a:lstStyle/>
              <a:p>
                <a:pPr>
                  <a:defRPr/>
                </a:pPr>
                <a:r>
                  <a:rPr lang="es-CR" sz="1800" dirty="0" smtClean="0"/>
                  <a:t>GYM</a:t>
                </a:r>
                <a:r>
                  <a:rPr lang="es-CR" sz="1800" baseline="0" dirty="0" smtClean="0"/>
                  <a:t> por semana</a:t>
                </a:r>
                <a:endParaRPr lang="es-CR" sz="1800" dirty="0"/>
              </a:p>
            </c:rich>
          </c:tx>
          <c:layout>
            <c:manualLayout>
              <c:xMode val="edge"/>
              <c:yMode val="edge"/>
              <c:x val="0.40390539037082401"/>
              <c:y val="0.90733804269911855"/>
            </c:manualLayout>
          </c:layout>
          <c:overlay val="0"/>
        </c:title>
        <c:majorTickMark val="none"/>
        <c:minorTickMark val="none"/>
        <c:tickLblPos val="nextTo"/>
        <c:txPr>
          <a:bodyPr/>
          <a:lstStyle/>
          <a:p>
            <a:pPr>
              <a:defRPr sz="1600"/>
            </a:pPr>
            <a:endParaRPr lang="es-ES"/>
          </a:p>
        </c:txPr>
        <c:crossAx val="265359408"/>
        <c:crosses val="autoZero"/>
        <c:auto val="1"/>
        <c:lblAlgn val="ctr"/>
        <c:lblOffset val="100"/>
        <c:noMultiLvlLbl val="0"/>
      </c:catAx>
      <c:valAx>
        <c:axId val="265359408"/>
        <c:scaling>
          <c:orientation val="minMax"/>
        </c:scaling>
        <c:delete val="0"/>
        <c:axPos val="l"/>
        <c:majorGridlines/>
        <c:title>
          <c:tx>
            <c:rich>
              <a:bodyPr/>
              <a:lstStyle/>
              <a:p>
                <a:pPr>
                  <a:defRPr/>
                </a:pPr>
                <a:r>
                  <a:rPr lang="es-CR" sz="1800" dirty="0" smtClean="0"/>
                  <a:t>Frecuencia</a:t>
                </a:r>
                <a:endParaRPr lang="es-CR" sz="1800" dirty="0"/>
              </a:p>
            </c:rich>
          </c:tx>
          <c:layout>
            <c:manualLayout>
              <c:xMode val="edge"/>
              <c:yMode val="edge"/>
              <c:x val="5.5555555555555558E-3"/>
              <c:y val="0.3190777194517353"/>
            </c:manualLayout>
          </c:layout>
          <c:overlay val="0"/>
        </c:title>
        <c:numFmt formatCode="General" sourceLinked="1"/>
        <c:majorTickMark val="out"/>
        <c:minorTickMark val="none"/>
        <c:tickLblPos val="nextTo"/>
        <c:txPr>
          <a:bodyPr/>
          <a:lstStyle/>
          <a:p>
            <a:pPr>
              <a:defRPr sz="1400"/>
            </a:pPr>
            <a:endParaRPr lang="es-ES"/>
          </a:p>
        </c:txPr>
        <c:crossAx val="265360192"/>
        <c:crosses val="autoZero"/>
        <c:crossBetween val="between"/>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F8D0BF-E28E-4AEE-9B4B-C2EBBBBC8934}" type="datetimeFigureOut">
              <a:rPr lang="es-CR" smtClean="0"/>
              <a:t>11/5/2016</a:t>
            </a:fld>
            <a:endParaRPr lang="es-C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9142C2-C265-463A-899F-05AED3F47DB4}" type="slidenum">
              <a:rPr lang="es-CR" smtClean="0"/>
              <a:t>‹Nº›</a:t>
            </a:fld>
            <a:endParaRPr lang="es-CR"/>
          </a:p>
        </p:txBody>
      </p:sp>
    </p:spTree>
    <p:extLst>
      <p:ext uri="{BB962C8B-B14F-4D97-AF65-F5344CB8AC3E}">
        <p14:creationId xmlns:p14="http://schemas.microsoft.com/office/powerpoint/2010/main" val="2846655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CR" dirty="0"/>
          </a:p>
        </p:txBody>
      </p:sp>
      <p:sp>
        <p:nvSpPr>
          <p:cNvPr id="4" name="3 Marcador de número de diapositiva"/>
          <p:cNvSpPr>
            <a:spLocks noGrp="1"/>
          </p:cNvSpPr>
          <p:nvPr>
            <p:ph type="sldNum" sz="quarter" idx="10"/>
          </p:nvPr>
        </p:nvSpPr>
        <p:spPr/>
        <p:txBody>
          <a:bodyPr/>
          <a:lstStyle/>
          <a:p>
            <a:fld id="{1B9142C2-C265-463A-899F-05AED3F47DB4}" type="slidenum">
              <a:rPr lang="es-CR" smtClean="0"/>
              <a:t>18</a:t>
            </a:fld>
            <a:endParaRPr lang="es-CR"/>
          </a:p>
        </p:txBody>
      </p:sp>
    </p:spTree>
    <p:extLst>
      <p:ext uri="{BB962C8B-B14F-4D97-AF65-F5344CB8AC3E}">
        <p14:creationId xmlns:p14="http://schemas.microsoft.com/office/powerpoint/2010/main" val="2811323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17" name="16 Marcador de pie de página"/>
          <p:cNvSpPr>
            <a:spLocks noGrp="1"/>
          </p:cNvSpPr>
          <p:nvPr>
            <p:ph type="ftr" sz="quarter" idx="11"/>
          </p:nvPr>
        </p:nvSpPr>
        <p:spPr/>
        <p:txBody>
          <a:bodyPr/>
          <a:lstStyle/>
          <a:p>
            <a:endParaRPr lang="es-ES" dirty="0"/>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pPr/>
              <a:t>‹Nº›</a:t>
            </a:fld>
            <a:endParaRPr lang="es-ES" dirty="0"/>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5" name="4 Marcador de pie de página"/>
          <p:cNvSpPr>
            <a:spLocks noGrp="1"/>
          </p:cNvSpPr>
          <p:nvPr>
            <p:ph type="ftr" sz="quarter" idx="11"/>
          </p:nvPr>
        </p:nvSpPr>
        <p:spPr>
          <a:xfrm>
            <a:off x="800100" y="6172200"/>
            <a:ext cx="4000500" cy="457200"/>
          </a:xfrm>
        </p:spPr>
        <p:txBody>
          <a:bodyPr/>
          <a:lstStyle/>
          <a:p>
            <a:endParaRPr lang="es-ES" dirty="0"/>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8" name="7 Marcador de pie de página"/>
          <p:cNvSpPr>
            <a:spLocks noGrp="1"/>
          </p:cNvSpPr>
          <p:nvPr>
            <p:ph type="ftr" sz="quarter" idx="11"/>
          </p:nvPr>
        </p:nvSpPr>
        <p:spPr/>
        <p:txBody>
          <a:bodyPr/>
          <a:lstStyle/>
          <a:p>
            <a:endParaRPr lang="es-ES" dirty="0"/>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4" name="3 Marcador de pie de página"/>
          <p:cNvSpPr>
            <a:spLocks noGrp="1"/>
          </p:cNvSpPr>
          <p:nvPr>
            <p:ph type="ftr" sz="quarter" idx="11"/>
          </p:nvPr>
        </p:nvSpPr>
        <p:spPr/>
        <p:txBody>
          <a:bodyPr/>
          <a:lstStyle/>
          <a:p>
            <a:endParaRPr lang="es-ES" dirty="0"/>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3" name="2 Marcador de pie de página"/>
          <p:cNvSpPr>
            <a:spLocks noGrp="1"/>
          </p:cNvSpPr>
          <p:nvPr>
            <p:ph type="ftr" sz="quarter" idx="11"/>
          </p:nvPr>
        </p:nvSpPr>
        <p:spPr/>
        <p:txBody>
          <a:bodyPr/>
          <a:lstStyle/>
          <a:p>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6" name="5 Marcador de pie de página"/>
          <p:cNvSpPr>
            <a:spLocks noGrp="1"/>
          </p:cNvSpPr>
          <p:nvPr>
            <p:ph type="ftr" sz="quarter" idx="11"/>
          </p:nvPr>
        </p:nvSpPr>
        <p:spPr>
          <a:xfrm>
            <a:off x="914400" y="6172200"/>
            <a:ext cx="3886200" cy="457200"/>
          </a:xfrm>
        </p:spPr>
        <p:txBody>
          <a:bodyPr/>
          <a:lstStyle/>
          <a:p>
            <a:endParaRPr lang="es-ES" dirty="0"/>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dirty="0"/>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dirty="0" smtClean="0"/>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11/05/2016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pPr/>
              <a:t>11/05/2016</a:t>
            </a:fld>
            <a:endParaRPr lang="es-ES" dirty="0"/>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dirty="0"/>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pPr/>
              <a:t>‹Nº›</a:t>
            </a:fld>
            <a:endParaRPr lang="es-E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gif"/></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jpeg"/></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2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2743200" y="5757866"/>
            <a:ext cx="6400800" cy="1100158"/>
          </a:xfrm>
        </p:spPr>
        <p:txBody>
          <a:bodyPr>
            <a:normAutofit/>
          </a:bodyPr>
          <a:lstStyle/>
          <a:p>
            <a:pPr algn="r"/>
            <a:r>
              <a:rPr lang="es-CR" sz="6000" dirty="0" smtClean="0"/>
              <a:t>Oscar Centeno Mora</a:t>
            </a:r>
            <a:endParaRPr lang="es-CR" sz="6000" dirty="0"/>
          </a:p>
        </p:txBody>
      </p:sp>
      <p:sp>
        <p:nvSpPr>
          <p:cNvPr id="2" name="1 Título"/>
          <p:cNvSpPr>
            <a:spLocks noGrp="1"/>
          </p:cNvSpPr>
          <p:nvPr>
            <p:ph type="ctrTitle"/>
          </p:nvPr>
        </p:nvSpPr>
        <p:spPr>
          <a:xfrm>
            <a:off x="142844" y="1505930"/>
            <a:ext cx="8715436" cy="1470025"/>
          </a:xfrm>
        </p:spPr>
        <p:txBody>
          <a:bodyPr>
            <a:normAutofit fontScale="90000"/>
          </a:bodyPr>
          <a:lstStyle/>
          <a:p>
            <a:r>
              <a:rPr lang="es-CR" sz="4800" dirty="0" smtClean="0"/>
              <a:t>Números relativos y  la distribución de frecuencias.</a:t>
            </a:r>
            <a:endParaRPr lang="es-CR" sz="4800"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260648"/>
            <a:ext cx="7772400" cy="778098"/>
          </a:xfrm>
        </p:spPr>
        <p:txBody>
          <a:bodyPr>
            <a:normAutofit/>
          </a:bodyPr>
          <a:lstStyle/>
          <a:p>
            <a:pPr algn="ctr"/>
            <a:r>
              <a:rPr lang="es-CR" sz="3600" dirty="0" smtClean="0"/>
              <a:t>Introducción</a:t>
            </a:r>
            <a:endParaRPr lang="es-CR" sz="3600" dirty="0"/>
          </a:p>
        </p:txBody>
      </p:sp>
      <p:sp>
        <p:nvSpPr>
          <p:cNvPr id="3" name="2 Marcador de contenido"/>
          <p:cNvSpPr>
            <a:spLocks noGrp="1"/>
          </p:cNvSpPr>
          <p:nvPr>
            <p:ph sz="quarter" idx="1"/>
          </p:nvPr>
        </p:nvSpPr>
        <p:spPr>
          <a:xfrm>
            <a:off x="323528" y="1268760"/>
            <a:ext cx="5976664" cy="5256584"/>
          </a:xfrm>
        </p:spPr>
        <p:txBody>
          <a:bodyPr>
            <a:normAutofit lnSpcReduction="10000"/>
          </a:bodyPr>
          <a:lstStyle/>
          <a:p>
            <a:pPr algn="just"/>
            <a:r>
              <a:rPr lang="es-CR" sz="2400" dirty="0" smtClean="0"/>
              <a:t>En el análisis de datos, es importante resumir de forma efectiva y rápida la gran cantidad de datos.</a:t>
            </a:r>
          </a:p>
          <a:p>
            <a:pPr algn="just"/>
            <a:endParaRPr lang="es-CR" sz="2400" dirty="0"/>
          </a:p>
          <a:p>
            <a:pPr algn="just"/>
            <a:r>
              <a:rPr lang="es-CR" sz="2400" dirty="0" smtClean="0"/>
              <a:t>Los número relativos y la distribución de frecuencias son dos métodos que permiten alcanzar lo anterior.</a:t>
            </a:r>
          </a:p>
          <a:p>
            <a:pPr algn="just"/>
            <a:endParaRPr lang="es-CR" sz="2400" dirty="0"/>
          </a:p>
          <a:p>
            <a:pPr algn="just"/>
            <a:r>
              <a:rPr lang="es-CR" sz="2400" dirty="0" smtClean="0"/>
              <a:t>Los números relativos se pueden entender como fórmulas matemáticas para resumir la información.</a:t>
            </a:r>
          </a:p>
          <a:p>
            <a:pPr algn="just"/>
            <a:endParaRPr lang="es-CR" sz="2400" dirty="0"/>
          </a:p>
          <a:p>
            <a:pPr algn="just"/>
            <a:r>
              <a:rPr lang="es-CR" sz="2400" dirty="0" smtClean="0"/>
              <a:t>La distribución de frecuencias son representaciones gráficas de una variable también para resumir la información. </a:t>
            </a:r>
            <a:endParaRPr lang="es-CR" sz="2400" dirty="0"/>
          </a:p>
        </p:txBody>
      </p:sp>
      <p:pic>
        <p:nvPicPr>
          <p:cNvPr id="4098" name="Picture 2" descr="http://technode.com/wp-content/uploads/2013/12/chart-and-magnifying-glass-data-analysis-predictive-analytics-.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8264" y="1196752"/>
            <a:ext cx="1872208" cy="151216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www.gfi.com/blog/wp-content/uploads/2011/02/data-analysi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5293" y="4077072"/>
            <a:ext cx="2168915" cy="2016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34728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611560" y="1484784"/>
            <a:ext cx="7772400" cy="4572000"/>
          </a:xfrm>
        </p:spPr>
        <p:txBody>
          <a:bodyPr/>
          <a:lstStyle/>
          <a:p>
            <a:endParaRPr lang="es-CR" dirty="0"/>
          </a:p>
        </p:txBody>
      </p:sp>
      <p:sp>
        <p:nvSpPr>
          <p:cNvPr id="4" name="1 Título"/>
          <p:cNvSpPr>
            <a:spLocks noGrp="1"/>
          </p:cNvSpPr>
          <p:nvPr>
            <p:ph type="title"/>
          </p:nvPr>
        </p:nvSpPr>
        <p:spPr>
          <a:xfrm>
            <a:off x="611560" y="260648"/>
            <a:ext cx="7772400" cy="1008112"/>
          </a:xfrm>
        </p:spPr>
        <p:txBody>
          <a:bodyPr>
            <a:normAutofit/>
          </a:bodyPr>
          <a:lstStyle/>
          <a:p>
            <a:pPr algn="ctr"/>
            <a:r>
              <a:rPr lang="es-CR" sz="3600" dirty="0" smtClean="0"/>
              <a:t>Índice</a:t>
            </a:r>
            <a:endParaRPr lang="es-CR" sz="3600" dirty="0"/>
          </a:p>
        </p:txBody>
      </p:sp>
      <p:sp>
        <p:nvSpPr>
          <p:cNvPr id="5" name="4 Elipse"/>
          <p:cNvSpPr/>
          <p:nvPr/>
        </p:nvSpPr>
        <p:spPr>
          <a:xfrm>
            <a:off x="842671" y="1631694"/>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1</a:t>
            </a:r>
            <a:endParaRPr lang="es-CR" dirty="0"/>
          </a:p>
        </p:txBody>
      </p:sp>
      <p:sp>
        <p:nvSpPr>
          <p:cNvPr id="7" name="6 Elipse"/>
          <p:cNvSpPr/>
          <p:nvPr/>
        </p:nvSpPr>
        <p:spPr>
          <a:xfrm>
            <a:off x="891421" y="3212976"/>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2</a:t>
            </a:r>
            <a:endParaRPr lang="es-CR" dirty="0"/>
          </a:p>
        </p:txBody>
      </p:sp>
      <p:sp>
        <p:nvSpPr>
          <p:cNvPr id="8" name="7 Elipse"/>
          <p:cNvSpPr/>
          <p:nvPr/>
        </p:nvSpPr>
        <p:spPr>
          <a:xfrm>
            <a:off x="891421" y="4797152"/>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3</a:t>
            </a:r>
            <a:endParaRPr lang="es-CR" dirty="0"/>
          </a:p>
        </p:txBody>
      </p:sp>
      <p:sp>
        <p:nvSpPr>
          <p:cNvPr id="9" name="8 Elipse"/>
          <p:cNvSpPr/>
          <p:nvPr/>
        </p:nvSpPr>
        <p:spPr>
          <a:xfrm>
            <a:off x="4860032" y="1629390"/>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4</a:t>
            </a:r>
            <a:endParaRPr lang="es-CR" dirty="0"/>
          </a:p>
        </p:txBody>
      </p:sp>
      <p:sp>
        <p:nvSpPr>
          <p:cNvPr id="12" name="11 Rectángulo redondeado"/>
          <p:cNvSpPr/>
          <p:nvPr/>
        </p:nvSpPr>
        <p:spPr>
          <a:xfrm>
            <a:off x="2339752" y="1609669"/>
            <a:ext cx="1728192"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smtClean="0"/>
              <a:t>Resumir información</a:t>
            </a:r>
            <a:endParaRPr lang="es-CR" dirty="0"/>
          </a:p>
        </p:txBody>
      </p:sp>
      <p:sp>
        <p:nvSpPr>
          <p:cNvPr id="15" name="14 Rectángulo redondeado"/>
          <p:cNvSpPr/>
          <p:nvPr/>
        </p:nvSpPr>
        <p:spPr>
          <a:xfrm>
            <a:off x="2339752" y="4831788"/>
            <a:ext cx="1728192" cy="829459"/>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a:t>Distribución de frecuencia</a:t>
            </a:r>
          </a:p>
        </p:txBody>
      </p:sp>
      <p:sp>
        <p:nvSpPr>
          <p:cNvPr id="16" name="15 Rectángulo redondeado"/>
          <p:cNvSpPr/>
          <p:nvPr/>
        </p:nvSpPr>
        <p:spPr>
          <a:xfrm>
            <a:off x="2339752" y="3247674"/>
            <a:ext cx="1728192"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smtClean="0"/>
              <a:t>Números relativos</a:t>
            </a:r>
            <a:endParaRPr lang="es-CR" dirty="0"/>
          </a:p>
        </p:txBody>
      </p:sp>
      <p:sp>
        <p:nvSpPr>
          <p:cNvPr id="17" name="16 Rectángulo redondeado"/>
          <p:cNvSpPr/>
          <p:nvPr/>
        </p:nvSpPr>
        <p:spPr>
          <a:xfrm>
            <a:off x="6372200" y="1664242"/>
            <a:ext cx="1872208"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a:t>Indicadores e </a:t>
            </a:r>
            <a:r>
              <a:rPr lang="es-CR" dirty="0" smtClean="0"/>
              <a:t>Índices</a:t>
            </a:r>
            <a:endParaRPr lang="es-CR" dirty="0"/>
          </a:p>
        </p:txBody>
      </p:sp>
    </p:spTree>
    <p:extLst>
      <p:ext uri="{BB962C8B-B14F-4D97-AF65-F5344CB8AC3E}">
        <p14:creationId xmlns:p14="http://schemas.microsoft.com/office/powerpoint/2010/main" val="36353028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611560" y="1484784"/>
            <a:ext cx="7772400" cy="4572000"/>
          </a:xfrm>
        </p:spPr>
        <p:txBody>
          <a:bodyPr/>
          <a:lstStyle/>
          <a:p>
            <a:endParaRPr lang="es-CR" dirty="0"/>
          </a:p>
        </p:txBody>
      </p:sp>
      <p:sp>
        <p:nvSpPr>
          <p:cNvPr id="4" name="1 Título"/>
          <p:cNvSpPr>
            <a:spLocks noGrp="1"/>
          </p:cNvSpPr>
          <p:nvPr>
            <p:ph type="title"/>
          </p:nvPr>
        </p:nvSpPr>
        <p:spPr>
          <a:xfrm>
            <a:off x="611560" y="260648"/>
            <a:ext cx="7772400" cy="1008112"/>
          </a:xfrm>
        </p:spPr>
        <p:txBody>
          <a:bodyPr>
            <a:normAutofit/>
          </a:bodyPr>
          <a:lstStyle/>
          <a:p>
            <a:pPr algn="ctr"/>
            <a:r>
              <a:rPr lang="es-CR" sz="3600" dirty="0" smtClean="0"/>
              <a:t>Índice</a:t>
            </a:r>
            <a:endParaRPr lang="es-CR" sz="3600" dirty="0"/>
          </a:p>
        </p:txBody>
      </p:sp>
      <p:sp>
        <p:nvSpPr>
          <p:cNvPr id="5" name="4 Elipse"/>
          <p:cNvSpPr/>
          <p:nvPr/>
        </p:nvSpPr>
        <p:spPr>
          <a:xfrm>
            <a:off x="842671" y="1631694"/>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1</a:t>
            </a:r>
            <a:endParaRPr lang="es-CR" dirty="0"/>
          </a:p>
        </p:txBody>
      </p:sp>
      <p:sp>
        <p:nvSpPr>
          <p:cNvPr id="12" name="11 Rectángulo redondeado"/>
          <p:cNvSpPr/>
          <p:nvPr/>
        </p:nvSpPr>
        <p:spPr>
          <a:xfrm>
            <a:off x="2339752" y="1609669"/>
            <a:ext cx="1728192"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smtClean="0"/>
              <a:t>Resumir información</a:t>
            </a:r>
            <a:endParaRPr lang="es-CR" dirty="0"/>
          </a:p>
        </p:txBody>
      </p:sp>
    </p:spTree>
    <p:extLst>
      <p:ext uri="{BB962C8B-B14F-4D97-AF65-F5344CB8AC3E}">
        <p14:creationId xmlns:p14="http://schemas.microsoft.com/office/powerpoint/2010/main" val="3635302846"/>
      </p:ext>
    </p:extLst>
  </p:cSld>
  <p:clrMapOvr>
    <a:masterClrMapping/>
  </p:clrMapOvr>
  <p:transition spd="slow">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4282" y="0"/>
            <a:ext cx="8715436" cy="857232"/>
          </a:xfrm>
        </p:spPr>
        <p:txBody>
          <a:bodyPr>
            <a:normAutofit/>
          </a:bodyPr>
          <a:lstStyle/>
          <a:p>
            <a:r>
              <a:rPr lang="es-CR" sz="3600" dirty="0" smtClean="0"/>
              <a:t>La necesidad de resumir la información</a:t>
            </a:r>
            <a:endParaRPr lang="es-CR" sz="3600" dirty="0"/>
          </a:p>
        </p:txBody>
      </p:sp>
      <p:sp>
        <p:nvSpPr>
          <p:cNvPr id="3" name="2 Marcador de contenido"/>
          <p:cNvSpPr>
            <a:spLocks noGrp="1"/>
          </p:cNvSpPr>
          <p:nvPr>
            <p:ph sz="quarter" idx="1"/>
          </p:nvPr>
        </p:nvSpPr>
        <p:spPr>
          <a:xfrm>
            <a:off x="357158" y="1142984"/>
            <a:ext cx="6072230" cy="5286412"/>
          </a:xfrm>
        </p:spPr>
        <p:txBody>
          <a:bodyPr>
            <a:normAutofit/>
          </a:bodyPr>
          <a:lstStyle/>
          <a:p>
            <a:pPr algn="just"/>
            <a:r>
              <a:rPr lang="es-CR" sz="2400" dirty="0" smtClean="0"/>
              <a:t>En las investigaciones, análisis de mercado y otros, se tiene una gran cantidad de datos, que por si solos no tienen ningún sentido.</a:t>
            </a:r>
          </a:p>
          <a:p>
            <a:pPr algn="just"/>
            <a:endParaRPr lang="es-CR" sz="2400" dirty="0" smtClean="0"/>
          </a:p>
          <a:p>
            <a:pPr algn="just"/>
            <a:r>
              <a:rPr lang="es-CR" sz="2400" dirty="0" smtClean="0"/>
              <a:t>Para sacar provecho de los datos es importante obtener medidas que resuman o expliquen la información. De esta forma los análisis y las interpretaciones se facilitan.</a:t>
            </a:r>
          </a:p>
          <a:p>
            <a:pPr algn="just"/>
            <a:endParaRPr lang="es-CR" sz="2400" dirty="0" smtClean="0"/>
          </a:p>
          <a:p>
            <a:pPr algn="just"/>
            <a:r>
              <a:rPr lang="es-CR" sz="2400" dirty="0" smtClean="0"/>
              <a:t>De lo anterior la gran importancia de resumir la información para ciertas medidas con tal de obtener conclusiones e interpretaciones más rápidas y entendibles para las personas.</a:t>
            </a:r>
          </a:p>
        </p:txBody>
      </p:sp>
      <p:pic>
        <p:nvPicPr>
          <p:cNvPr id="25602" name="Picture 2" descr="http://www.cienladrillos.com/images/2008/02/datos.jpg"/>
          <p:cNvPicPr>
            <a:picLocks noChangeAspect="1" noChangeArrowheads="1"/>
          </p:cNvPicPr>
          <p:nvPr/>
        </p:nvPicPr>
        <p:blipFill>
          <a:blip r:embed="rId2" cstate="print"/>
          <a:srcRect/>
          <a:stretch>
            <a:fillRect/>
          </a:stretch>
        </p:blipFill>
        <p:spPr bwMode="auto">
          <a:xfrm>
            <a:off x="6715140" y="1285860"/>
            <a:ext cx="2095514" cy="1571636"/>
          </a:xfrm>
          <a:prstGeom prst="rect">
            <a:avLst/>
          </a:prstGeom>
          <a:noFill/>
        </p:spPr>
      </p:pic>
      <p:pic>
        <p:nvPicPr>
          <p:cNvPr id="25604" name="Picture 4" descr="http://www.mirrorservice.org/sites/home.ubalt.edu/ntsbarsh/Business-stat/stat-data/LearnCurve.Gif"/>
          <p:cNvPicPr>
            <a:picLocks noChangeAspect="1" noChangeArrowheads="1"/>
          </p:cNvPicPr>
          <p:nvPr/>
        </p:nvPicPr>
        <p:blipFill>
          <a:blip r:embed="rId3" cstate="print"/>
          <a:srcRect/>
          <a:stretch>
            <a:fillRect/>
          </a:stretch>
        </p:blipFill>
        <p:spPr bwMode="auto">
          <a:xfrm>
            <a:off x="6357950" y="3429000"/>
            <a:ext cx="2287608" cy="2571768"/>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43801" y="188640"/>
            <a:ext cx="9123332" cy="857232"/>
          </a:xfrm>
          <a:prstGeom prst="rect">
            <a:avLst/>
          </a:prstGeom>
        </p:spPr>
        <p:txBody>
          <a:bodyPr bIns="91440" anchor="b" anchorCtr="0">
            <a:normAutofit fontScale="92500"/>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s-CR" sz="3600" dirty="0" smtClean="0"/>
              <a:t>La necesidad de resumir la información: ejemplo</a:t>
            </a:r>
            <a:endParaRPr lang="es-CR" sz="3600" dirty="0"/>
          </a:p>
        </p:txBody>
      </p:sp>
      <p:pic>
        <p:nvPicPr>
          <p:cNvPr id="1026" name="Picture 2" descr="http://retos-directivos.eae.es/wp-content/uploads/2014/08/453614325-607x34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403008"/>
            <a:ext cx="5781675" cy="33147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consejosgratis.es/wp-content/uploads/2010/06/ejemplos-carta-presentacion.jpg"/>
          <p:cNvPicPr>
            <a:picLocks noChangeAspect="1" noChangeArrowheads="1"/>
          </p:cNvPicPr>
          <p:nvPr/>
        </p:nvPicPr>
        <p:blipFill rotWithShape="1">
          <a:blip r:embed="rId3">
            <a:extLst>
              <a:ext uri="{28A0092B-C50C-407E-A947-70E740481C1C}">
                <a14:useLocalDpi xmlns:a14="http://schemas.microsoft.com/office/drawing/2010/main" val="0"/>
              </a:ext>
            </a:extLst>
          </a:blip>
          <a:srcRect l="22907" r="16803"/>
          <a:stretch/>
        </p:blipFill>
        <p:spPr bwMode="auto">
          <a:xfrm>
            <a:off x="6696075" y="1349162"/>
            <a:ext cx="2230819" cy="5032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028255"/>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857232"/>
            <a:ext cx="6143636" cy="5884136"/>
          </a:xfrm>
        </p:spPr>
        <p:txBody>
          <a:bodyPr>
            <a:normAutofit/>
          </a:bodyPr>
          <a:lstStyle/>
          <a:p>
            <a:pPr algn="just"/>
            <a:r>
              <a:rPr lang="es-CR" sz="2200" dirty="0" smtClean="0"/>
              <a:t>Cuando se analiza la información, lo recomendable es llevar a cabo comparaciones, y no únicamente utilizar cifras absolutas dado que estas pueden ser engañosas e insuficientes.</a:t>
            </a:r>
          </a:p>
          <a:p>
            <a:pPr algn="just"/>
            <a:endParaRPr lang="es-CR" sz="2200" dirty="0"/>
          </a:p>
          <a:p>
            <a:pPr algn="just"/>
            <a:r>
              <a:rPr lang="es-CR" sz="2200" dirty="0" smtClean="0"/>
              <a:t>Supongamos el siguiente enunciado de un periódico:</a:t>
            </a:r>
          </a:p>
          <a:p>
            <a:pPr marL="0" indent="0" algn="just">
              <a:buNone/>
            </a:pPr>
            <a:endParaRPr lang="es-CR" sz="2200" dirty="0" smtClean="0"/>
          </a:p>
          <a:p>
            <a:pPr marL="0" indent="0" algn="just">
              <a:buNone/>
            </a:pPr>
            <a:endParaRPr lang="es-CR" sz="2200" dirty="0" smtClean="0"/>
          </a:p>
          <a:p>
            <a:pPr marL="0" indent="0" algn="just">
              <a:buNone/>
            </a:pPr>
            <a:endParaRPr lang="es-CR" sz="2200" dirty="0" smtClean="0"/>
          </a:p>
          <a:p>
            <a:pPr algn="just">
              <a:buNone/>
            </a:pPr>
            <a:endParaRPr lang="es-CR" sz="2200" dirty="0"/>
          </a:p>
          <a:p>
            <a:pPr algn="just"/>
            <a:r>
              <a:rPr lang="es-CR" sz="2200" dirty="0" smtClean="0"/>
              <a:t>Los datos absolutos </a:t>
            </a:r>
            <a:r>
              <a:rPr lang="es-CR" sz="2200" dirty="0" smtClean="0"/>
              <a:t>son </a:t>
            </a:r>
            <a:r>
              <a:rPr lang="es-CR" sz="2200" dirty="0" smtClean="0"/>
              <a:t>importantes. </a:t>
            </a:r>
            <a:r>
              <a:rPr lang="es-CR" sz="2200" dirty="0"/>
              <a:t>S</a:t>
            </a:r>
            <a:r>
              <a:rPr lang="es-CR" sz="2200" dirty="0" smtClean="0"/>
              <a:t>aber que una universidad recibirá el próximo año 4500 estudiantes en lugar de 4000 (presente año),  es un dato útil para la </a:t>
            </a:r>
            <a:r>
              <a:rPr lang="es-CR" sz="2200" dirty="0" smtClean="0"/>
              <a:t>planificación: profesores</a:t>
            </a:r>
            <a:r>
              <a:rPr lang="es-CR" sz="2200" dirty="0" smtClean="0"/>
              <a:t>, aulas, material didáctico, compra de equipo, recursos, </a:t>
            </a:r>
            <a:r>
              <a:rPr lang="es-CR" sz="2200" dirty="0" smtClean="0"/>
              <a:t>etc…..</a:t>
            </a:r>
            <a:endParaRPr lang="es-CR" sz="2200" dirty="0"/>
          </a:p>
        </p:txBody>
      </p:sp>
      <p:sp>
        <p:nvSpPr>
          <p:cNvPr id="4" name="1 Título"/>
          <p:cNvSpPr>
            <a:spLocks noGrp="1"/>
          </p:cNvSpPr>
          <p:nvPr>
            <p:ph type="title"/>
          </p:nvPr>
        </p:nvSpPr>
        <p:spPr>
          <a:xfrm>
            <a:off x="214282" y="0"/>
            <a:ext cx="8715436" cy="857232"/>
          </a:xfrm>
        </p:spPr>
        <p:txBody>
          <a:bodyPr>
            <a:normAutofit/>
          </a:bodyPr>
          <a:lstStyle/>
          <a:p>
            <a:r>
              <a:rPr lang="es-CR" sz="3600" dirty="0" smtClean="0"/>
              <a:t>La necesidad de resumir la información</a:t>
            </a:r>
            <a:endParaRPr lang="es-CR" sz="3600" dirty="0"/>
          </a:p>
        </p:txBody>
      </p:sp>
      <p:pic>
        <p:nvPicPr>
          <p:cNvPr id="24578" name="Picture 2" descr="http://segurosytecnologia.com/wp-content/uploads/data-warehouse.jpg"/>
          <p:cNvPicPr>
            <a:picLocks noChangeAspect="1" noChangeArrowheads="1"/>
          </p:cNvPicPr>
          <p:nvPr/>
        </p:nvPicPr>
        <p:blipFill>
          <a:blip r:embed="rId2" cstate="print"/>
          <a:srcRect/>
          <a:stretch>
            <a:fillRect/>
          </a:stretch>
        </p:blipFill>
        <p:spPr bwMode="auto">
          <a:xfrm>
            <a:off x="6500826" y="1142984"/>
            <a:ext cx="2467858" cy="2500330"/>
          </a:xfrm>
          <a:prstGeom prst="rect">
            <a:avLst/>
          </a:prstGeom>
          <a:noFill/>
        </p:spPr>
      </p:pic>
      <p:pic>
        <p:nvPicPr>
          <p:cNvPr id="24580" name="Picture 4" descr="http://api.ning.com/files/ksYI3xmJzatqt6t6rTWQ8LX-Ds0TI6dpP4wwuTtnAjaNOzAopmi7ElruSxLFZQlgNsO9YYVNtTUyXWStHP6PnNB18drGaCCo/harvard_university.jpg"/>
          <p:cNvPicPr>
            <a:picLocks noChangeAspect="1" noChangeArrowheads="1"/>
          </p:cNvPicPr>
          <p:nvPr/>
        </p:nvPicPr>
        <p:blipFill>
          <a:blip r:embed="rId3" cstate="print"/>
          <a:srcRect/>
          <a:stretch>
            <a:fillRect/>
          </a:stretch>
        </p:blipFill>
        <p:spPr bwMode="auto">
          <a:xfrm>
            <a:off x="6357918" y="3857628"/>
            <a:ext cx="2607801" cy="2500329"/>
          </a:xfrm>
          <a:prstGeom prst="rect">
            <a:avLst/>
          </a:prstGeom>
          <a:noFill/>
        </p:spPr>
      </p:pic>
      <p:sp>
        <p:nvSpPr>
          <p:cNvPr id="2" name="1 Rectángulo redondeado"/>
          <p:cNvSpPr/>
          <p:nvPr/>
        </p:nvSpPr>
        <p:spPr>
          <a:xfrm>
            <a:off x="477788" y="3501008"/>
            <a:ext cx="5616624" cy="93952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El siguiente año, la Universidad </a:t>
            </a:r>
            <a:r>
              <a:rPr lang="es-CR" dirty="0" smtClean="0"/>
              <a:t>Z recibirá </a:t>
            </a:r>
            <a:r>
              <a:rPr lang="es-CR" dirty="0" smtClean="0"/>
              <a:t>la mayor cantidad de personas, pasando de 4000 a 4500  estudiantes</a:t>
            </a:r>
            <a:endParaRPr lang="es-CR" dirty="0"/>
          </a:p>
        </p:txBody>
      </p:sp>
    </p:spTree>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071546"/>
            <a:ext cx="6429420" cy="5597814"/>
          </a:xfrm>
        </p:spPr>
        <p:txBody>
          <a:bodyPr>
            <a:normAutofit/>
          </a:bodyPr>
          <a:lstStyle/>
          <a:p>
            <a:pPr algn="just"/>
            <a:r>
              <a:rPr lang="es-CR" sz="2400" dirty="0" smtClean="0"/>
              <a:t>Sin embargo,  el número absoluto </a:t>
            </a:r>
            <a:r>
              <a:rPr lang="es-CR" sz="2400" b="1" i="1" dirty="0" smtClean="0"/>
              <a:t>no responde de forma exacta</a:t>
            </a:r>
            <a:r>
              <a:rPr lang="es-CR" sz="2400" dirty="0" smtClean="0"/>
              <a:t> al tema y puede ser engañoso. Por lo tanto, es necesario compararlo con otra información.</a:t>
            </a:r>
          </a:p>
          <a:p>
            <a:pPr algn="just"/>
            <a:endParaRPr lang="es-CR" sz="2400" dirty="0" smtClean="0"/>
          </a:p>
          <a:p>
            <a:pPr algn="just"/>
            <a:r>
              <a:rPr lang="es-CR" sz="2400" dirty="0" smtClean="0"/>
              <a:t>Siguiendo el </a:t>
            </a:r>
            <a:r>
              <a:rPr lang="es-CR" sz="2400" dirty="0" smtClean="0"/>
              <a:t>ejemplo, si </a:t>
            </a:r>
            <a:r>
              <a:rPr lang="es-CR" sz="2400" dirty="0" smtClean="0"/>
              <a:t>se hubiera querido </a:t>
            </a:r>
            <a:r>
              <a:rPr lang="es-CR" sz="2400" dirty="0" smtClean="0"/>
              <a:t>especificar</a:t>
            </a:r>
            <a:r>
              <a:rPr lang="es-CR" sz="2400" i="1" dirty="0" smtClean="0"/>
              <a:t>:</a:t>
            </a:r>
          </a:p>
          <a:p>
            <a:pPr algn="just">
              <a:buNone/>
            </a:pPr>
            <a:r>
              <a:rPr lang="es-CR" sz="2400" i="1" dirty="0" smtClean="0"/>
              <a:t>  </a:t>
            </a:r>
            <a:r>
              <a:rPr lang="es-CR" sz="2400" i="1" dirty="0" smtClean="0"/>
              <a:t>“</a:t>
            </a:r>
            <a:r>
              <a:rPr lang="es-CR" sz="2400" b="1" i="1" dirty="0" smtClean="0"/>
              <a:t>en qué medida está respondiendo la </a:t>
            </a:r>
            <a:r>
              <a:rPr lang="es-CR" sz="2400" b="1" i="1" dirty="0" smtClean="0"/>
              <a:t>Universidad Z </a:t>
            </a:r>
            <a:r>
              <a:rPr lang="es-CR" sz="2400" b="1" i="1" dirty="0" smtClean="0"/>
              <a:t>a las demandas de ingreso</a:t>
            </a:r>
            <a:r>
              <a:rPr lang="es-CR" sz="2400" i="1" dirty="0" smtClean="0"/>
              <a:t>”,</a:t>
            </a:r>
          </a:p>
          <a:p>
            <a:pPr algn="just">
              <a:buNone/>
            </a:pPr>
            <a:r>
              <a:rPr lang="es-CR" sz="2400" i="1" dirty="0" smtClean="0"/>
              <a:t> </a:t>
            </a:r>
            <a:r>
              <a:rPr lang="es-CR" sz="2400" i="1" dirty="0" smtClean="0"/>
              <a:t>la comparación absoluta entre 4500 y 4000 aclara que efectivamente  para el presente año, hay más demanda de </a:t>
            </a:r>
            <a:r>
              <a:rPr lang="es-CR" sz="2400" i="1" dirty="0" smtClean="0"/>
              <a:t>ingreso. Sería </a:t>
            </a:r>
            <a:r>
              <a:rPr lang="es-CR" sz="2400" i="1" dirty="0" smtClean="0"/>
              <a:t>conveniente analizar la demanda de ingreso con respecto al número de todos los solicitantes</a:t>
            </a:r>
            <a:r>
              <a:rPr lang="es-CR" sz="2400" i="1" dirty="0" smtClean="0"/>
              <a:t>.</a:t>
            </a:r>
            <a:endParaRPr lang="es-CR" sz="2400" dirty="0" smtClean="0"/>
          </a:p>
        </p:txBody>
      </p:sp>
      <p:sp>
        <p:nvSpPr>
          <p:cNvPr id="4" name="1 Título"/>
          <p:cNvSpPr>
            <a:spLocks noGrp="1"/>
          </p:cNvSpPr>
          <p:nvPr>
            <p:ph type="title"/>
          </p:nvPr>
        </p:nvSpPr>
        <p:spPr>
          <a:xfrm>
            <a:off x="214282" y="0"/>
            <a:ext cx="8715436" cy="857232"/>
          </a:xfrm>
        </p:spPr>
        <p:txBody>
          <a:bodyPr>
            <a:normAutofit/>
          </a:bodyPr>
          <a:lstStyle/>
          <a:p>
            <a:r>
              <a:rPr lang="es-CR" sz="3600" dirty="0" smtClean="0"/>
              <a:t>La necesidad de resumir la información</a:t>
            </a:r>
            <a:endParaRPr lang="es-CR" sz="3600" dirty="0"/>
          </a:p>
        </p:txBody>
      </p:sp>
      <p:pic>
        <p:nvPicPr>
          <p:cNvPr id="23554" name="Picture 2" descr="http://www.jalame.com.ar/wp-content/uploads/2008/02/lamparas-de-bajo-consumo.jpg"/>
          <p:cNvPicPr>
            <a:picLocks noChangeAspect="1" noChangeArrowheads="1"/>
          </p:cNvPicPr>
          <p:nvPr/>
        </p:nvPicPr>
        <p:blipFill>
          <a:blip r:embed="rId2" cstate="print"/>
          <a:srcRect/>
          <a:stretch>
            <a:fillRect/>
          </a:stretch>
        </p:blipFill>
        <p:spPr bwMode="auto">
          <a:xfrm>
            <a:off x="6643702" y="785794"/>
            <a:ext cx="2357454" cy="3000396"/>
          </a:xfrm>
          <a:prstGeom prst="rect">
            <a:avLst/>
          </a:prstGeom>
          <a:noFill/>
        </p:spPr>
      </p:pic>
      <p:pic>
        <p:nvPicPr>
          <p:cNvPr id="23556" name="Picture 4" descr="View of The University of St Andrews"/>
          <p:cNvPicPr>
            <a:picLocks noChangeAspect="1" noChangeArrowheads="1"/>
          </p:cNvPicPr>
          <p:nvPr/>
        </p:nvPicPr>
        <p:blipFill>
          <a:blip r:embed="rId3" cstate="print"/>
          <a:srcRect/>
          <a:stretch>
            <a:fillRect/>
          </a:stretch>
        </p:blipFill>
        <p:spPr bwMode="auto">
          <a:xfrm>
            <a:off x="6715140" y="3929066"/>
            <a:ext cx="2286016" cy="260985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42844" y="1142984"/>
            <a:ext cx="5643602" cy="5000660"/>
          </a:xfrm>
        </p:spPr>
        <p:txBody>
          <a:bodyPr>
            <a:normAutofit/>
          </a:bodyPr>
          <a:lstStyle/>
          <a:p>
            <a:pPr algn="just"/>
            <a:r>
              <a:rPr lang="es-CR" sz="2400" dirty="0" smtClean="0"/>
              <a:t>De acuerdo a lo anterior, si se introduce la cantidad de demandantes para ingresar a la </a:t>
            </a:r>
            <a:r>
              <a:rPr lang="es-CR" sz="2400" dirty="0" smtClean="0"/>
              <a:t>Universidad Z</a:t>
            </a:r>
            <a:r>
              <a:rPr lang="es-CR" sz="2400" dirty="0" smtClean="0"/>
              <a:t>:</a:t>
            </a:r>
            <a:endParaRPr lang="es-CR" sz="2400" dirty="0" smtClean="0"/>
          </a:p>
          <a:p>
            <a:pPr algn="just"/>
            <a:endParaRPr lang="es-CR" sz="2400" dirty="0" smtClean="0"/>
          </a:p>
          <a:p>
            <a:pPr algn="just">
              <a:buNone/>
            </a:pPr>
            <a:r>
              <a:rPr lang="es-CR" sz="2400" u="sng" dirty="0" smtClean="0"/>
              <a:t>2014</a:t>
            </a:r>
            <a:r>
              <a:rPr lang="es-CR" sz="2400" dirty="0" smtClean="0"/>
              <a:t>: </a:t>
            </a:r>
            <a:r>
              <a:rPr lang="es-CR" sz="2400" dirty="0" smtClean="0"/>
              <a:t>4000/8000   =  0.5  </a:t>
            </a:r>
            <a:r>
              <a:rPr lang="es-CR" sz="2400" dirty="0" smtClean="0">
                <a:sym typeface="Wingdings" pitchFamily="2" charset="2"/>
              </a:rPr>
              <a:t> 50%</a:t>
            </a:r>
          </a:p>
          <a:p>
            <a:pPr algn="just">
              <a:buNone/>
            </a:pPr>
            <a:endParaRPr lang="es-CR" sz="2400" dirty="0" smtClean="0">
              <a:sym typeface="Wingdings" pitchFamily="2" charset="2"/>
            </a:endParaRPr>
          </a:p>
          <a:p>
            <a:pPr algn="just">
              <a:buNone/>
            </a:pPr>
            <a:r>
              <a:rPr lang="es-CR" sz="2400" u="sng" dirty="0" smtClean="0">
                <a:sym typeface="Wingdings" pitchFamily="2" charset="2"/>
              </a:rPr>
              <a:t>2015</a:t>
            </a:r>
            <a:r>
              <a:rPr lang="es-CR" sz="2400" dirty="0" smtClean="0">
                <a:sym typeface="Wingdings" pitchFamily="2" charset="2"/>
              </a:rPr>
              <a:t>: </a:t>
            </a:r>
            <a:r>
              <a:rPr lang="es-CR" sz="2400" dirty="0" smtClean="0">
                <a:sym typeface="Wingdings" pitchFamily="2" charset="2"/>
              </a:rPr>
              <a:t>4500/10000 = 0.45  45%</a:t>
            </a:r>
          </a:p>
          <a:p>
            <a:pPr algn="just">
              <a:buNone/>
            </a:pPr>
            <a:endParaRPr lang="es-CR" sz="2400" dirty="0" smtClean="0">
              <a:sym typeface="Wingdings" pitchFamily="2" charset="2"/>
            </a:endParaRPr>
          </a:p>
          <a:p>
            <a:pPr algn="just"/>
            <a:r>
              <a:rPr lang="es-CR" sz="2400" dirty="0" smtClean="0">
                <a:sym typeface="Wingdings" pitchFamily="2" charset="2"/>
              </a:rPr>
              <a:t>Los porcentajes revelan que la universidad está admitiendo menos personas en el </a:t>
            </a:r>
            <a:r>
              <a:rPr lang="es-CR" sz="2400" dirty="0" smtClean="0">
                <a:sym typeface="Wingdings" pitchFamily="2" charset="2"/>
              </a:rPr>
              <a:t>2015, </a:t>
            </a:r>
            <a:r>
              <a:rPr lang="es-CR" sz="2400" dirty="0" smtClean="0">
                <a:sym typeface="Wingdings" pitchFamily="2" charset="2"/>
              </a:rPr>
              <a:t>por lo que si se hubiera utilizado una cifra absoluta, está hubiera sido engañosa.  </a:t>
            </a:r>
            <a:endParaRPr lang="es-CR" sz="2400" dirty="0"/>
          </a:p>
        </p:txBody>
      </p:sp>
      <p:sp>
        <p:nvSpPr>
          <p:cNvPr id="4" name="1 Título"/>
          <p:cNvSpPr>
            <a:spLocks noGrp="1"/>
          </p:cNvSpPr>
          <p:nvPr>
            <p:ph type="title"/>
          </p:nvPr>
        </p:nvSpPr>
        <p:spPr>
          <a:xfrm>
            <a:off x="214282" y="0"/>
            <a:ext cx="8715436" cy="857232"/>
          </a:xfrm>
        </p:spPr>
        <p:txBody>
          <a:bodyPr>
            <a:normAutofit/>
          </a:bodyPr>
          <a:lstStyle/>
          <a:p>
            <a:r>
              <a:rPr lang="es-CR" sz="3600" dirty="0" smtClean="0"/>
              <a:t>La necesidad de resumir la información</a:t>
            </a:r>
            <a:endParaRPr lang="es-CR" sz="3600" dirty="0"/>
          </a:p>
        </p:txBody>
      </p:sp>
      <p:pic>
        <p:nvPicPr>
          <p:cNvPr id="22530" name="Picture 2" descr="http://finanzasperu.files.wordpress.com/2010/03/porcentaje3.jpg"/>
          <p:cNvPicPr>
            <a:picLocks noChangeAspect="1" noChangeArrowheads="1"/>
          </p:cNvPicPr>
          <p:nvPr/>
        </p:nvPicPr>
        <p:blipFill rotWithShape="1">
          <a:blip r:embed="rId2" cstate="print"/>
          <a:srcRect r="9881"/>
          <a:stretch/>
        </p:blipFill>
        <p:spPr bwMode="auto">
          <a:xfrm>
            <a:off x="6000760" y="1214422"/>
            <a:ext cx="2675696" cy="2143140"/>
          </a:xfrm>
          <a:prstGeom prst="rect">
            <a:avLst/>
          </a:prstGeom>
          <a:noFill/>
        </p:spPr>
      </p:pic>
      <p:pic>
        <p:nvPicPr>
          <p:cNvPr id="22532" name="Picture 4" descr="http://jameshinks.files.wordpress.com/2009/03/cardiff_university_main_building.jpg"/>
          <p:cNvPicPr>
            <a:picLocks noChangeAspect="1" noChangeArrowheads="1"/>
          </p:cNvPicPr>
          <p:nvPr/>
        </p:nvPicPr>
        <p:blipFill>
          <a:blip r:embed="rId3" cstate="print"/>
          <a:srcRect/>
          <a:stretch>
            <a:fillRect/>
          </a:stretch>
        </p:blipFill>
        <p:spPr bwMode="auto">
          <a:xfrm>
            <a:off x="6000760" y="3929066"/>
            <a:ext cx="2667018" cy="2357454"/>
          </a:xfrm>
          <a:prstGeom prst="rect">
            <a:avLst/>
          </a:prstGeom>
          <a:noFill/>
        </p:spPr>
      </p:pic>
    </p:spTree>
  </p:cSld>
  <p:clrMapOvr>
    <a:masterClrMapping/>
  </p:clrMapOvr>
  <p:transition spd="slow">
    <p:wheel spokes="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857232"/>
            <a:ext cx="5798448" cy="6000768"/>
          </a:xfrm>
        </p:spPr>
        <p:txBody>
          <a:bodyPr>
            <a:noAutofit/>
          </a:bodyPr>
          <a:lstStyle/>
          <a:p>
            <a:pPr algn="just"/>
            <a:r>
              <a:rPr lang="es-CR" sz="2200" dirty="0" smtClean="0"/>
              <a:t>En el ejemplo anterior se utilizó un </a:t>
            </a:r>
            <a:r>
              <a:rPr lang="es-CR" sz="2200" i="1" dirty="0" smtClean="0"/>
              <a:t>números relativos</a:t>
            </a:r>
            <a:r>
              <a:rPr lang="es-CR" sz="2200" dirty="0" smtClean="0"/>
              <a:t> </a:t>
            </a:r>
            <a:r>
              <a:rPr lang="es-CR" sz="2200" dirty="0" smtClean="0"/>
              <a:t>(la proporción y porcentaje), </a:t>
            </a:r>
            <a:r>
              <a:rPr lang="es-CR" sz="2200" dirty="0" smtClean="0"/>
              <a:t>para poder saber si realmente la </a:t>
            </a:r>
            <a:r>
              <a:rPr lang="es-CR" sz="2200" dirty="0"/>
              <a:t>U</a:t>
            </a:r>
            <a:r>
              <a:rPr lang="es-CR" sz="2200" dirty="0" smtClean="0"/>
              <a:t>niversidad Z está </a:t>
            </a:r>
            <a:r>
              <a:rPr lang="es-CR" sz="2200" dirty="0" smtClean="0"/>
              <a:t>recibiendo más estudiantes</a:t>
            </a:r>
            <a:r>
              <a:rPr lang="es-CR" sz="2200" dirty="0" smtClean="0"/>
              <a:t>.</a:t>
            </a:r>
            <a:endParaRPr lang="es-CR" sz="2200" dirty="0" smtClean="0"/>
          </a:p>
          <a:p>
            <a:pPr algn="just"/>
            <a:r>
              <a:rPr lang="es-CR" sz="2200" dirty="0" smtClean="0"/>
              <a:t>Los número relativos más populares son:</a:t>
            </a:r>
          </a:p>
          <a:p>
            <a:pPr algn="just">
              <a:buNone/>
            </a:pPr>
            <a:r>
              <a:rPr lang="es-CR" sz="2200" dirty="0" smtClean="0"/>
              <a:t>-Las tasas.</a:t>
            </a:r>
          </a:p>
          <a:p>
            <a:pPr algn="just">
              <a:buNone/>
            </a:pPr>
            <a:r>
              <a:rPr lang="es-CR" sz="2200" dirty="0" smtClean="0"/>
              <a:t>-Las proporciones  (porcentaje).</a:t>
            </a:r>
          </a:p>
          <a:p>
            <a:pPr algn="just">
              <a:buNone/>
            </a:pPr>
            <a:r>
              <a:rPr lang="es-CR" sz="2200" dirty="0" smtClean="0"/>
              <a:t>-Las razones</a:t>
            </a:r>
            <a:r>
              <a:rPr lang="es-CR" sz="2200" dirty="0" smtClean="0"/>
              <a:t>.</a:t>
            </a:r>
          </a:p>
          <a:p>
            <a:pPr algn="just">
              <a:buNone/>
            </a:pPr>
            <a:r>
              <a:rPr lang="es-CR" sz="2200" dirty="0" smtClean="0"/>
              <a:t>-Distribución de frecuencias</a:t>
            </a:r>
            <a:endParaRPr lang="es-CR" sz="2200" dirty="0" smtClean="0"/>
          </a:p>
          <a:p>
            <a:pPr algn="just">
              <a:buNone/>
            </a:pPr>
            <a:r>
              <a:rPr lang="es-CR" sz="2200" dirty="0" smtClean="0"/>
              <a:t>-Indicadores e Índice</a:t>
            </a:r>
            <a:r>
              <a:rPr lang="es-CR" sz="2200" dirty="0" smtClean="0"/>
              <a:t>.</a:t>
            </a:r>
            <a:endParaRPr lang="es-CR" sz="2200" dirty="0" smtClean="0"/>
          </a:p>
          <a:p>
            <a:pPr algn="just"/>
            <a:r>
              <a:rPr lang="es-CR" sz="2200" dirty="0" smtClean="0"/>
              <a:t>La importancia de los número relativos consiste en poder resumir de mejor forma la información, además de mejorar la calidad de la representación de la información, lo cual es la gran debilidad de los números absolutos. </a:t>
            </a:r>
          </a:p>
        </p:txBody>
      </p:sp>
      <p:sp>
        <p:nvSpPr>
          <p:cNvPr id="4" name="1 Título"/>
          <p:cNvSpPr>
            <a:spLocks noGrp="1"/>
          </p:cNvSpPr>
          <p:nvPr>
            <p:ph type="title"/>
          </p:nvPr>
        </p:nvSpPr>
        <p:spPr>
          <a:xfrm>
            <a:off x="214282" y="0"/>
            <a:ext cx="8715436" cy="857232"/>
          </a:xfrm>
        </p:spPr>
        <p:txBody>
          <a:bodyPr>
            <a:normAutofit/>
          </a:bodyPr>
          <a:lstStyle/>
          <a:p>
            <a:r>
              <a:rPr lang="es-CR" sz="3600" dirty="0" smtClean="0"/>
              <a:t>La necesidad de resumir la información</a:t>
            </a:r>
            <a:endParaRPr lang="es-CR" sz="3600" dirty="0"/>
          </a:p>
        </p:txBody>
      </p:sp>
      <p:pic>
        <p:nvPicPr>
          <p:cNvPr id="21506" name="Picture 2" descr="http://jorgehierro.files.wordpress.com/2009/03/datos.gif"/>
          <p:cNvPicPr>
            <a:picLocks noChangeAspect="1" noChangeArrowheads="1"/>
          </p:cNvPicPr>
          <p:nvPr/>
        </p:nvPicPr>
        <p:blipFill>
          <a:blip r:embed="rId2" cstate="print"/>
          <a:srcRect/>
          <a:stretch>
            <a:fillRect/>
          </a:stretch>
        </p:blipFill>
        <p:spPr bwMode="auto">
          <a:xfrm>
            <a:off x="6569034" y="1214422"/>
            <a:ext cx="2574966" cy="2500330"/>
          </a:xfrm>
          <a:prstGeom prst="rect">
            <a:avLst/>
          </a:prstGeom>
          <a:noFill/>
        </p:spPr>
      </p:pic>
      <p:pic>
        <p:nvPicPr>
          <p:cNvPr id="21508" name="Picture 4" descr="http://upload.wikimedia.org/wikipedia/commons/thumb/f/f1/Attention_green.svg/300px-Attention_green.svg.png"/>
          <p:cNvPicPr>
            <a:picLocks noChangeAspect="1" noChangeArrowheads="1"/>
          </p:cNvPicPr>
          <p:nvPr/>
        </p:nvPicPr>
        <p:blipFill>
          <a:blip r:embed="rId3" cstate="print"/>
          <a:srcRect/>
          <a:stretch>
            <a:fillRect/>
          </a:stretch>
        </p:blipFill>
        <p:spPr bwMode="auto">
          <a:xfrm>
            <a:off x="6715140" y="4429132"/>
            <a:ext cx="2071702" cy="2071702"/>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611560" y="1484784"/>
            <a:ext cx="7772400" cy="4572000"/>
          </a:xfrm>
        </p:spPr>
        <p:txBody>
          <a:bodyPr/>
          <a:lstStyle/>
          <a:p>
            <a:endParaRPr lang="es-CR" dirty="0"/>
          </a:p>
        </p:txBody>
      </p:sp>
      <p:sp>
        <p:nvSpPr>
          <p:cNvPr id="4" name="1 Título"/>
          <p:cNvSpPr>
            <a:spLocks noGrp="1"/>
          </p:cNvSpPr>
          <p:nvPr>
            <p:ph type="title"/>
          </p:nvPr>
        </p:nvSpPr>
        <p:spPr>
          <a:xfrm>
            <a:off x="611560" y="260648"/>
            <a:ext cx="7772400" cy="1008112"/>
          </a:xfrm>
        </p:spPr>
        <p:txBody>
          <a:bodyPr>
            <a:normAutofit/>
          </a:bodyPr>
          <a:lstStyle/>
          <a:p>
            <a:pPr algn="ctr"/>
            <a:r>
              <a:rPr lang="es-CR" sz="3600" dirty="0" smtClean="0"/>
              <a:t>Índice</a:t>
            </a:r>
            <a:endParaRPr lang="es-CR" sz="3600" dirty="0"/>
          </a:p>
        </p:txBody>
      </p:sp>
      <p:sp>
        <p:nvSpPr>
          <p:cNvPr id="5" name="4 Elipse"/>
          <p:cNvSpPr/>
          <p:nvPr/>
        </p:nvSpPr>
        <p:spPr>
          <a:xfrm>
            <a:off x="842671" y="1631694"/>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1</a:t>
            </a:r>
            <a:endParaRPr lang="es-CR" dirty="0"/>
          </a:p>
        </p:txBody>
      </p:sp>
      <p:sp>
        <p:nvSpPr>
          <p:cNvPr id="7" name="6 Elipse"/>
          <p:cNvSpPr/>
          <p:nvPr/>
        </p:nvSpPr>
        <p:spPr>
          <a:xfrm>
            <a:off x="891421" y="3212976"/>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2</a:t>
            </a:r>
            <a:endParaRPr lang="es-CR" dirty="0"/>
          </a:p>
        </p:txBody>
      </p:sp>
      <p:sp>
        <p:nvSpPr>
          <p:cNvPr id="12" name="11 Rectángulo redondeado"/>
          <p:cNvSpPr/>
          <p:nvPr/>
        </p:nvSpPr>
        <p:spPr>
          <a:xfrm>
            <a:off x="2339752" y="1609669"/>
            <a:ext cx="1728192"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smtClean="0"/>
              <a:t>Resumir información</a:t>
            </a:r>
            <a:endParaRPr lang="es-CR" dirty="0"/>
          </a:p>
        </p:txBody>
      </p:sp>
      <p:sp>
        <p:nvSpPr>
          <p:cNvPr id="16" name="15 Rectángulo redondeado"/>
          <p:cNvSpPr/>
          <p:nvPr/>
        </p:nvSpPr>
        <p:spPr>
          <a:xfrm>
            <a:off x="2339752" y="3247674"/>
            <a:ext cx="1728192"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smtClean="0"/>
              <a:t>Números relativos</a:t>
            </a:r>
            <a:endParaRPr lang="es-CR" dirty="0"/>
          </a:p>
        </p:txBody>
      </p:sp>
      <p:sp>
        <p:nvSpPr>
          <p:cNvPr id="13" name="12 Rectángulo redondeado"/>
          <p:cNvSpPr/>
          <p:nvPr/>
        </p:nvSpPr>
        <p:spPr>
          <a:xfrm>
            <a:off x="6084168" y="1609669"/>
            <a:ext cx="2000264" cy="114300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3200" dirty="0" smtClean="0"/>
              <a:t>Razón</a:t>
            </a:r>
            <a:endParaRPr lang="es-CR" sz="3200" dirty="0"/>
          </a:p>
        </p:txBody>
      </p:sp>
      <p:sp>
        <p:nvSpPr>
          <p:cNvPr id="14" name="13 Rectángulo redondeado"/>
          <p:cNvSpPr/>
          <p:nvPr/>
        </p:nvSpPr>
        <p:spPr>
          <a:xfrm>
            <a:off x="6084168" y="3247674"/>
            <a:ext cx="2000264" cy="114300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3200" dirty="0" smtClean="0"/>
              <a:t>Proporción</a:t>
            </a:r>
            <a:endParaRPr lang="es-CR" sz="3200" dirty="0"/>
          </a:p>
        </p:txBody>
      </p:sp>
      <p:sp>
        <p:nvSpPr>
          <p:cNvPr id="18" name="17 Rectángulo redondeado"/>
          <p:cNvSpPr/>
          <p:nvPr/>
        </p:nvSpPr>
        <p:spPr>
          <a:xfrm>
            <a:off x="6084168" y="5013176"/>
            <a:ext cx="2000264" cy="114300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sz="3200" dirty="0" smtClean="0"/>
              <a:t>Tasa</a:t>
            </a:r>
            <a:endParaRPr lang="es-CR" sz="3200" dirty="0"/>
          </a:p>
        </p:txBody>
      </p:sp>
      <p:sp>
        <p:nvSpPr>
          <p:cNvPr id="2" name="1 Abrir llave"/>
          <p:cNvSpPr/>
          <p:nvPr/>
        </p:nvSpPr>
        <p:spPr>
          <a:xfrm>
            <a:off x="4572000" y="1681677"/>
            <a:ext cx="1152128" cy="433961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s-CR"/>
          </a:p>
        </p:txBody>
      </p:sp>
    </p:spTree>
    <p:extLst>
      <p:ext uri="{BB962C8B-B14F-4D97-AF65-F5344CB8AC3E}">
        <p14:creationId xmlns:p14="http://schemas.microsoft.com/office/powerpoint/2010/main" val="64048676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8" grpId="0" animBg="1"/>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41704" y="836712"/>
            <a:ext cx="6014472" cy="5806998"/>
          </a:xfrm>
        </p:spPr>
        <p:txBody>
          <a:bodyPr>
            <a:normAutofit/>
          </a:bodyPr>
          <a:lstStyle/>
          <a:p>
            <a:r>
              <a:rPr lang="es-CR" sz="2400" dirty="0" smtClean="0"/>
              <a:t>Es la relación entre dos número positivos.</a:t>
            </a:r>
          </a:p>
          <a:p>
            <a:endParaRPr lang="es-CR" sz="2400" dirty="0" smtClean="0"/>
          </a:p>
          <a:p>
            <a:r>
              <a:rPr lang="es-CR" sz="2400" dirty="0" smtClean="0"/>
              <a:t>Por ejemplo, si “A” y “B” son dos número positivos, y dividimos A entre B, obtenemos la razón     .</a:t>
            </a:r>
          </a:p>
          <a:p>
            <a:endParaRPr lang="es-CR" sz="2400" dirty="0" smtClean="0"/>
          </a:p>
          <a:p>
            <a:r>
              <a:rPr lang="es-CR" sz="2400" dirty="0" smtClean="0"/>
              <a:t>Esto nos dice cuántas veces A es más grande que B (si el resultado es mayor a 1),  o análogamente, que cantidad de A por cada cantidad de B.</a:t>
            </a:r>
          </a:p>
          <a:p>
            <a:endParaRPr lang="es-CR" sz="2400" dirty="0" smtClean="0"/>
          </a:p>
          <a:p>
            <a:r>
              <a:rPr lang="es-CR" sz="2400" dirty="0" smtClean="0"/>
              <a:t>Los datos que se relacionan pueden pertenecer al mismo universo de datos o provenir de un universo distinto.</a:t>
            </a:r>
          </a:p>
          <a:p>
            <a:endParaRPr lang="es-CR" sz="2400" dirty="0" smtClean="0"/>
          </a:p>
          <a:p>
            <a:endParaRPr lang="es-CR" sz="2400" dirty="0"/>
          </a:p>
        </p:txBody>
      </p:sp>
      <p:sp>
        <p:nvSpPr>
          <p:cNvPr id="5" name="4 Título"/>
          <p:cNvSpPr>
            <a:spLocks noGrp="1"/>
          </p:cNvSpPr>
          <p:nvPr>
            <p:ph type="title"/>
          </p:nvPr>
        </p:nvSpPr>
        <p:spPr>
          <a:xfrm>
            <a:off x="616024" y="44624"/>
            <a:ext cx="7772400" cy="836712"/>
          </a:xfrm>
        </p:spPr>
        <p:txBody>
          <a:bodyPr>
            <a:normAutofit/>
          </a:bodyPr>
          <a:lstStyle/>
          <a:p>
            <a:pPr algn="ctr"/>
            <a:r>
              <a:rPr lang="es-CR" sz="3600" dirty="0" smtClean="0"/>
              <a:t>Razón</a:t>
            </a:r>
            <a:endParaRPr lang="es-CR" sz="3600" dirty="0"/>
          </a:p>
        </p:txBody>
      </p:sp>
      <p:sp>
        <p:nvSpPr>
          <p:cNvPr id="286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867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189334" y="2401685"/>
            <a:ext cx="214314" cy="714380"/>
          </a:xfrm>
          <a:prstGeom prst="rect">
            <a:avLst/>
          </a:prstGeom>
          <a:noFill/>
        </p:spPr>
      </p:pic>
      <p:pic>
        <p:nvPicPr>
          <p:cNvPr id="19458" name="Picture 2" descr="http://www.galeriacubarte.cult.cu/documento/24barbudo-razon.jpg"/>
          <p:cNvPicPr>
            <a:picLocks noChangeAspect="1" noChangeArrowheads="1"/>
          </p:cNvPicPr>
          <p:nvPr/>
        </p:nvPicPr>
        <p:blipFill>
          <a:blip r:embed="rId3" cstate="print"/>
          <a:srcRect/>
          <a:stretch>
            <a:fillRect/>
          </a:stretch>
        </p:blipFill>
        <p:spPr bwMode="auto">
          <a:xfrm>
            <a:off x="6429388" y="1000108"/>
            <a:ext cx="2439746" cy="2286016"/>
          </a:xfrm>
          <a:prstGeom prst="rect">
            <a:avLst/>
          </a:prstGeom>
          <a:noFill/>
        </p:spPr>
      </p:pic>
      <p:pic>
        <p:nvPicPr>
          <p:cNvPr id="19460" name="Picture 4" descr="http://luisbourbaki.files.wordpress.com/2009/09/pink-floyd-the-division-bell-54888.jpg"/>
          <p:cNvPicPr>
            <a:picLocks noChangeAspect="1" noChangeArrowheads="1"/>
          </p:cNvPicPr>
          <p:nvPr/>
        </p:nvPicPr>
        <p:blipFill>
          <a:blip r:embed="rId4" cstate="print"/>
          <a:srcRect/>
          <a:stretch>
            <a:fillRect/>
          </a:stretch>
        </p:blipFill>
        <p:spPr bwMode="auto">
          <a:xfrm>
            <a:off x="6500826" y="3357562"/>
            <a:ext cx="2424142" cy="3143272"/>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857232"/>
            <a:ext cx="6500858" cy="5786478"/>
          </a:xfrm>
        </p:spPr>
        <p:txBody>
          <a:bodyPr>
            <a:normAutofit fontScale="85000" lnSpcReduction="10000"/>
          </a:bodyPr>
          <a:lstStyle/>
          <a:p>
            <a:pPr algn="just"/>
            <a:r>
              <a:rPr lang="es-CR" dirty="0" smtClean="0"/>
              <a:t>Se puede considerar como una razón, pero con 2 características especiales:</a:t>
            </a:r>
          </a:p>
          <a:p>
            <a:pPr algn="just">
              <a:buNone/>
            </a:pPr>
            <a:endParaRPr lang="es-CR" dirty="0" smtClean="0"/>
          </a:p>
          <a:p>
            <a:pPr algn="just">
              <a:buNone/>
            </a:pPr>
            <a:r>
              <a:rPr lang="es-CR" dirty="0" smtClean="0"/>
              <a:t>	-Relaciona 2 números del mismo universo.</a:t>
            </a:r>
          </a:p>
          <a:p>
            <a:pPr algn="just">
              <a:buNone/>
            </a:pPr>
            <a:r>
              <a:rPr lang="es-CR" dirty="0" smtClean="0"/>
              <a:t>	-Relaciona a una parte con el todo.  Por ejemplo, si tenemos los número A, B y C pertenecientes al mismo universo, una proporción sería: </a:t>
            </a:r>
          </a:p>
          <a:p>
            <a:pPr algn="just">
              <a:buNone/>
            </a:pPr>
            <a:endParaRPr lang="es-CR" dirty="0" smtClean="0"/>
          </a:p>
          <a:p>
            <a:pPr algn="just">
              <a:buNone/>
            </a:pPr>
            <a:endParaRPr lang="es-CR" dirty="0" smtClean="0"/>
          </a:p>
          <a:p>
            <a:pPr algn="just"/>
            <a:endParaRPr lang="es-CR" dirty="0" smtClean="0"/>
          </a:p>
          <a:p>
            <a:pPr algn="just"/>
            <a:r>
              <a:rPr lang="es-CR" dirty="0" smtClean="0"/>
              <a:t>Como puede apreciarse, “B” numerador forma parte del total de los elementos (A,B y C). La proporción nos indica qué parte o fracción del total “A+B+C”  representa B.</a:t>
            </a:r>
          </a:p>
          <a:p>
            <a:pPr algn="just"/>
            <a:endParaRPr lang="es-CR" dirty="0" smtClean="0"/>
          </a:p>
          <a:p>
            <a:pPr algn="just"/>
            <a:r>
              <a:rPr lang="es-CR" dirty="0" smtClean="0"/>
              <a:t>Una proporción siempre va a estar entre los valore de </a:t>
            </a:r>
          </a:p>
          <a:p>
            <a:pPr algn="just">
              <a:buNone/>
            </a:pPr>
            <a:r>
              <a:rPr lang="es-CR" dirty="0" smtClean="0"/>
              <a:t>	 0 y 1.</a:t>
            </a:r>
          </a:p>
          <a:p>
            <a:pPr>
              <a:buNone/>
            </a:pPr>
            <a:endParaRPr lang="es-CR" dirty="0" smtClean="0"/>
          </a:p>
          <a:p>
            <a:endParaRPr lang="es-CR" dirty="0"/>
          </a:p>
        </p:txBody>
      </p:sp>
      <p:sp>
        <p:nvSpPr>
          <p:cNvPr id="5" name="4 Título"/>
          <p:cNvSpPr>
            <a:spLocks noGrp="1"/>
          </p:cNvSpPr>
          <p:nvPr>
            <p:ph type="title"/>
          </p:nvPr>
        </p:nvSpPr>
        <p:spPr>
          <a:xfrm>
            <a:off x="428596" y="0"/>
            <a:ext cx="7772400" cy="857232"/>
          </a:xfrm>
        </p:spPr>
        <p:txBody>
          <a:bodyPr>
            <a:normAutofit/>
          </a:bodyPr>
          <a:lstStyle/>
          <a:p>
            <a:pPr algn="ctr"/>
            <a:r>
              <a:rPr lang="es-CR" sz="3600" dirty="0" smtClean="0"/>
              <a:t>Proporción</a:t>
            </a:r>
            <a:endParaRPr lang="es-CR" sz="3600" dirty="0"/>
          </a:p>
        </p:txBody>
      </p:sp>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764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537707" y="3429000"/>
            <a:ext cx="1500198" cy="851074"/>
          </a:xfrm>
          <a:prstGeom prst="rect">
            <a:avLst/>
          </a:prstGeom>
          <a:noFill/>
        </p:spPr>
      </p:pic>
      <p:pic>
        <p:nvPicPr>
          <p:cNvPr id="18434" name="Picture 2" descr="http://www.piramidedeluz.com.ar/subpaginas/espaniol/engranaje_clip_image008.jpg"/>
          <p:cNvPicPr>
            <a:picLocks noChangeAspect="1" noChangeArrowheads="1"/>
          </p:cNvPicPr>
          <p:nvPr/>
        </p:nvPicPr>
        <p:blipFill>
          <a:blip r:embed="rId3" cstate="print"/>
          <a:srcRect/>
          <a:stretch>
            <a:fillRect/>
          </a:stretch>
        </p:blipFill>
        <p:spPr bwMode="auto">
          <a:xfrm>
            <a:off x="6786578" y="857232"/>
            <a:ext cx="2169170" cy="2357454"/>
          </a:xfrm>
          <a:prstGeom prst="rect">
            <a:avLst/>
          </a:prstGeom>
          <a:noFill/>
        </p:spPr>
      </p:pic>
      <p:pic>
        <p:nvPicPr>
          <p:cNvPr id="18436" name="Picture 4" descr="http://www.desarrolloweb.com/articulos/images/usabilidad/paletacolores.gif"/>
          <p:cNvPicPr>
            <a:picLocks noChangeAspect="1" noChangeArrowheads="1"/>
          </p:cNvPicPr>
          <p:nvPr/>
        </p:nvPicPr>
        <p:blipFill>
          <a:blip r:embed="rId4" cstate="print"/>
          <a:srcRect/>
          <a:stretch>
            <a:fillRect/>
          </a:stretch>
        </p:blipFill>
        <p:spPr bwMode="auto">
          <a:xfrm>
            <a:off x="6715140" y="3429000"/>
            <a:ext cx="2214578" cy="321471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928670"/>
            <a:ext cx="7772400" cy="5429288"/>
          </a:xfrm>
        </p:spPr>
        <p:txBody>
          <a:bodyPr>
            <a:normAutofit/>
          </a:bodyPr>
          <a:lstStyle/>
          <a:p>
            <a:pPr algn="just"/>
            <a:r>
              <a:rPr lang="es-CR" sz="2400" dirty="0" smtClean="0"/>
              <a:t>Supongamos </a:t>
            </a:r>
            <a:r>
              <a:rPr lang="es-CR" sz="2400" dirty="0" smtClean="0"/>
              <a:t>que se desea investigar cierta población expuesta a un tratamiento para mejorar su salud. Se cuenta con un total de </a:t>
            </a:r>
            <a:r>
              <a:rPr lang="es-CR" sz="2400" dirty="0" smtClean="0"/>
              <a:t>2000 personas, de los cuales 1200 son mujeres y 800 son hombres.</a:t>
            </a:r>
            <a:r>
              <a:rPr lang="es-CR" sz="2400" dirty="0"/>
              <a:t> </a:t>
            </a:r>
            <a:r>
              <a:rPr lang="es-CR" sz="2400" dirty="0" smtClean="0"/>
              <a:t>Además 700 provienen de San José, 600 de Alajuela, 400 de Heredia y 300 de Guanacaste.</a:t>
            </a:r>
            <a:endParaRPr lang="es-CR" sz="2400" dirty="0" smtClean="0"/>
          </a:p>
          <a:p>
            <a:endParaRPr lang="es-CR" sz="2400" dirty="0" smtClean="0"/>
          </a:p>
          <a:p>
            <a:r>
              <a:rPr lang="es-CR" sz="2400" dirty="0" smtClean="0"/>
              <a:t>Obtenga la razón de </a:t>
            </a:r>
            <a:r>
              <a:rPr lang="es-CR" sz="2400" dirty="0" smtClean="0"/>
              <a:t>mujeres entre hombres y la proporción de personas que provienen de Alajuela.</a:t>
            </a:r>
            <a:endParaRPr lang="es-CR" sz="2400" dirty="0" smtClean="0"/>
          </a:p>
          <a:p>
            <a:pPr>
              <a:buNone/>
            </a:pPr>
            <a:r>
              <a:rPr lang="es-CR" sz="2400" dirty="0" smtClean="0"/>
              <a:t>        	Razón  				Porcentaje</a:t>
            </a:r>
            <a:endParaRPr lang="es-CR" sz="2400" dirty="0"/>
          </a:p>
        </p:txBody>
      </p:sp>
      <p:sp>
        <p:nvSpPr>
          <p:cNvPr id="4" name="1 Título"/>
          <p:cNvSpPr>
            <a:spLocks noGrp="1"/>
          </p:cNvSpPr>
          <p:nvPr>
            <p:ph type="title"/>
          </p:nvPr>
        </p:nvSpPr>
        <p:spPr>
          <a:xfrm>
            <a:off x="214282" y="0"/>
            <a:ext cx="8715436" cy="857232"/>
          </a:xfrm>
        </p:spPr>
        <p:txBody>
          <a:bodyPr>
            <a:normAutofit/>
          </a:bodyPr>
          <a:lstStyle/>
          <a:p>
            <a:pPr algn="ctr"/>
            <a:r>
              <a:rPr lang="es-CR" sz="3600" dirty="0" smtClean="0"/>
              <a:t>Ejemplo de razón y proporción</a:t>
            </a:r>
            <a:endParaRPr lang="es-CR" sz="3600" dirty="0"/>
          </a:p>
        </p:txBody>
      </p:sp>
      <p:sp>
        <p:nvSpPr>
          <p:cNvPr id="266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266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266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52" name="Picture 4" descr="http://www.lacpoissonblanc.ca/wp-content/uploads/2015/03/question.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8702" t="4866" r="22236" b="9495"/>
          <a:stretch/>
        </p:blipFill>
        <p:spPr bwMode="auto">
          <a:xfrm>
            <a:off x="1115616" y="4653136"/>
            <a:ext cx="1296144" cy="187940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www.larepublique77.fr/files/2013/10/question.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4273" t="5154" r="19282" b="9664"/>
          <a:stretch/>
        </p:blipFill>
        <p:spPr bwMode="auto">
          <a:xfrm>
            <a:off x="4788024" y="4658101"/>
            <a:ext cx="1512168" cy="18794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41134" y="1214422"/>
            <a:ext cx="6159058" cy="5143536"/>
          </a:xfrm>
        </p:spPr>
        <p:txBody>
          <a:bodyPr>
            <a:normAutofit/>
          </a:bodyPr>
          <a:lstStyle/>
          <a:p>
            <a:r>
              <a:rPr lang="es-CR" sz="2400" dirty="0" smtClean="0"/>
              <a:t>De acuerdo a los resultados anteriores, la interpretación es la siguiente.</a:t>
            </a:r>
          </a:p>
          <a:p>
            <a:pPr>
              <a:buNone/>
            </a:pPr>
            <a:endParaRPr lang="es-CR" sz="2400" dirty="0" smtClean="0"/>
          </a:p>
          <a:p>
            <a:pPr>
              <a:buNone/>
            </a:pPr>
            <a:r>
              <a:rPr lang="es-CR" sz="2400" dirty="0" smtClean="0"/>
              <a:t>	</a:t>
            </a:r>
            <a:r>
              <a:rPr lang="es-CR" sz="2400" u="sng" dirty="0" smtClean="0"/>
              <a:t>Razón</a:t>
            </a:r>
            <a:r>
              <a:rPr lang="es-CR" sz="2400" dirty="0" smtClean="0"/>
              <a:t>: se tiene un total de 3 </a:t>
            </a:r>
            <a:r>
              <a:rPr lang="es-CR" sz="2400" dirty="0" smtClean="0"/>
              <a:t>mujeres por cada 2 hombres.</a:t>
            </a:r>
            <a:endParaRPr lang="es-CR" sz="2400" dirty="0" smtClean="0"/>
          </a:p>
          <a:p>
            <a:pPr>
              <a:buNone/>
            </a:pPr>
            <a:endParaRPr lang="es-CR" sz="2400" dirty="0" smtClean="0"/>
          </a:p>
          <a:p>
            <a:pPr>
              <a:buNone/>
            </a:pPr>
            <a:r>
              <a:rPr lang="es-CR" sz="2400" dirty="0" smtClean="0"/>
              <a:t>	</a:t>
            </a:r>
            <a:r>
              <a:rPr lang="es-CR" sz="2400" u="sng" dirty="0" smtClean="0"/>
              <a:t>Proporción</a:t>
            </a:r>
            <a:r>
              <a:rPr lang="es-CR" sz="2400" dirty="0" smtClean="0"/>
              <a:t>: </a:t>
            </a:r>
            <a:r>
              <a:rPr lang="es-CR" sz="2400" dirty="0" smtClean="0"/>
              <a:t>0.3  </a:t>
            </a:r>
            <a:r>
              <a:rPr lang="es-CR" sz="2400" dirty="0" smtClean="0"/>
              <a:t>o el </a:t>
            </a:r>
            <a:r>
              <a:rPr lang="es-CR" sz="2400" dirty="0" smtClean="0"/>
              <a:t>30</a:t>
            </a:r>
            <a:r>
              <a:rPr lang="es-CR" sz="2400" dirty="0" smtClean="0"/>
              <a:t>% </a:t>
            </a:r>
            <a:r>
              <a:rPr lang="es-CR" sz="2400" dirty="0" smtClean="0"/>
              <a:t>de </a:t>
            </a:r>
            <a:r>
              <a:rPr lang="es-CR" sz="2400" dirty="0" smtClean="0"/>
              <a:t>las personas provienen de Alajuela.</a:t>
            </a:r>
            <a:endParaRPr lang="es-CR" sz="2400" dirty="0" smtClean="0"/>
          </a:p>
          <a:p>
            <a:pPr>
              <a:buNone/>
            </a:pPr>
            <a:endParaRPr lang="es-CR" sz="2400" dirty="0" smtClean="0"/>
          </a:p>
          <a:p>
            <a:pPr>
              <a:buNone/>
            </a:pPr>
            <a:r>
              <a:rPr lang="es-CR" sz="2400" dirty="0" smtClean="0"/>
              <a:t>	</a:t>
            </a:r>
            <a:r>
              <a:rPr lang="es-CR" sz="2400" b="1" dirty="0" smtClean="0"/>
              <a:t>Nota: </a:t>
            </a:r>
            <a:r>
              <a:rPr lang="es-CR" sz="2400" dirty="0" smtClean="0"/>
              <a:t>para obtener un </a:t>
            </a:r>
            <a:r>
              <a:rPr lang="es-CR" sz="2400" b="1" i="1" dirty="0" smtClean="0"/>
              <a:t>porcentaje</a:t>
            </a:r>
            <a:r>
              <a:rPr lang="es-CR" sz="2400" dirty="0" smtClean="0"/>
              <a:t>, lo que hacemos es multiplicar el resultado de la proporción por 100, y así obtenemos el </a:t>
            </a:r>
            <a:r>
              <a:rPr lang="es-CR" sz="2400" b="1" i="1" dirty="0" smtClean="0"/>
              <a:t>porcentaje</a:t>
            </a:r>
            <a:r>
              <a:rPr lang="es-CR" sz="2400" dirty="0" smtClean="0"/>
              <a:t>.</a:t>
            </a:r>
            <a:endParaRPr lang="es-CR" sz="2400" dirty="0"/>
          </a:p>
        </p:txBody>
      </p:sp>
      <p:sp>
        <p:nvSpPr>
          <p:cNvPr id="4" name="1 Título"/>
          <p:cNvSpPr>
            <a:spLocks noGrp="1"/>
          </p:cNvSpPr>
          <p:nvPr>
            <p:ph type="title"/>
          </p:nvPr>
        </p:nvSpPr>
        <p:spPr>
          <a:xfrm>
            <a:off x="0" y="0"/>
            <a:ext cx="9144000" cy="857232"/>
          </a:xfrm>
        </p:spPr>
        <p:txBody>
          <a:bodyPr>
            <a:normAutofit fontScale="90000"/>
          </a:bodyPr>
          <a:lstStyle/>
          <a:p>
            <a:pPr algn="ctr"/>
            <a:r>
              <a:rPr lang="es-CR" dirty="0" smtClean="0"/>
              <a:t>Ejemplo de razón y proporción: interpretación</a:t>
            </a:r>
            <a:endParaRPr lang="es-CR" dirty="0"/>
          </a:p>
        </p:txBody>
      </p:sp>
      <p:pic>
        <p:nvPicPr>
          <p:cNvPr id="5122" name="Picture 2" descr="http://www.tradonline.fr/wp-content/uploads/2014/05/interpretation-chuchotage-tradonline-300x3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8898" y="1412776"/>
            <a:ext cx="2160240" cy="216024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mtgcoaching.co.uk/wp-content/uploads/2015/02/interpretation-service-250x25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5508" y="4293096"/>
            <a:ext cx="1800200" cy="1800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000108"/>
            <a:ext cx="6143668" cy="5669252"/>
          </a:xfrm>
        </p:spPr>
        <p:txBody>
          <a:bodyPr>
            <a:normAutofit fontScale="92500"/>
          </a:bodyPr>
          <a:lstStyle/>
          <a:p>
            <a:pPr algn="just"/>
            <a:r>
              <a:rPr lang="es-CR" dirty="0" smtClean="0"/>
              <a:t>Se suele utilizar más el porcentaje que la proporción (uso corriente en la interpretación).</a:t>
            </a:r>
          </a:p>
          <a:p>
            <a:pPr algn="just"/>
            <a:endParaRPr lang="es-CR" dirty="0" smtClean="0"/>
          </a:p>
          <a:p>
            <a:pPr algn="just"/>
            <a:r>
              <a:rPr lang="es-CR" dirty="0" smtClean="0"/>
              <a:t>De igual forma, es mejor usar el FA para las razones, ya que la mayoría de veces hablamos de muchos </a:t>
            </a:r>
            <a:r>
              <a:rPr lang="es-CR" dirty="0" smtClean="0"/>
              <a:t>datos, y estos deben ser enteros.</a:t>
            </a:r>
            <a:endParaRPr lang="es-CR" dirty="0" smtClean="0"/>
          </a:p>
          <a:p>
            <a:pPr algn="just"/>
            <a:endParaRPr lang="es-CR" dirty="0" smtClean="0"/>
          </a:p>
          <a:p>
            <a:pPr algn="just"/>
            <a:r>
              <a:rPr lang="es-CR" dirty="0" smtClean="0"/>
              <a:t>Cuando el valor de la razón o la proporción es muy pequeño, se suele utilizar factores de expansión de 1000 (más común) y hasta 10  000 o más.</a:t>
            </a:r>
          </a:p>
          <a:p>
            <a:pPr algn="just"/>
            <a:endParaRPr lang="es-CR" dirty="0" smtClean="0"/>
          </a:p>
          <a:p>
            <a:pPr algn="just"/>
            <a:r>
              <a:rPr lang="es-CR" dirty="0" smtClean="0"/>
              <a:t>Los FA grandes se utilizan mucho en las </a:t>
            </a:r>
            <a:r>
              <a:rPr lang="es-CR" dirty="0" smtClean="0"/>
              <a:t>tasas o en pequeñas proporciones</a:t>
            </a:r>
            <a:endParaRPr lang="es-CR" dirty="0" smtClean="0"/>
          </a:p>
          <a:p>
            <a:pPr>
              <a:buNone/>
            </a:pPr>
            <a:endParaRPr lang="es-CR" dirty="0">
              <a:latin typeface="Baskerville Old Face" pitchFamily="18" charset="0"/>
            </a:endParaRPr>
          </a:p>
        </p:txBody>
      </p:sp>
      <p:sp>
        <p:nvSpPr>
          <p:cNvPr id="4" name="1 Título"/>
          <p:cNvSpPr>
            <a:spLocks noGrp="1"/>
          </p:cNvSpPr>
          <p:nvPr>
            <p:ph type="title"/>
          </p:nvPr>
        </p:nvSpPr>
        <p:spPr>
          <a:xfrm>
            <a:off x="514376" y="0"/>
            <a:ext cx="8129590" cy="857232"/>
          </a:xfrm>
        </p:spPr>
        <p:txBody>
          <a:bodyPr>
            <a:normAutofit/>
          </a:bodyPr>
          <a:lstStyle/>
          <a:p>
            <a:pPr algn="ctr"/>
            <a:r>
              <a:rPr lang="es-CR" sz="3600" dirty="0" smtClean="0"/>
              <a:t>Factor de ampliación</a:t>
            </a:r>
            <a:endParaRPr lang="es-CR" sz="3600" dirty="0"/>
          </a:p>
        </p:txBody>
      </p:sp>
      <p:pic>
        <p:nvPicPr>
          <p:cNvPr id="14338" name="Picture 2" descr="http://www.mapedsilco.com/images/Productos2008/039300negro.png"/>
          <p:cNvPicPr>
            <a:picLocks noChangeAspect="1" noChangeArrowheads="1"/>
          </p:cNvPicPr>
          <p:nvPr/>
        </p:nvPicPr>
        <p:blipFill>
          <a:blip r:embed="rId2" cstate="print"/>
          <a:srcRect/>
          <a:stretch>
            <a:fillRect/>
          </a:stretch>
        </p:blipFill>
        <p:spPr bwMode="auto">
          <a:xfrm>
            <a:off x="6003743" y="1628800"/>
            <a:ext cx="3143240" cy="5114926"/>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14376" y="0"/>
            <a:ext cx="8129590" cy="764704"/>
          </a:xfrm>
        </p:spPr>
        <p:txBody>
          <a:bodyPr>
            <a:normAutofit/>
          </a:bodyPr>
          <a:lstStyle/>
          <a:p>
            <a:pPr algn="ctr"/>
            <a:r>
              <a:rPr lang="es-CR" sz="3600" dirty="0" smtClean="0"/>
              <a:t>Factor de ampliación</a:t>
            </a:r>
            <a:endParaRPr lang="es-CR" sz="3600" dirty="0"/>
          </a:p>
        </p:txBody>
      </p:sp>
      <p:sp>
        <p:nvSpPr>
          <p:cNvPr id="3" name="2 Marcador de contenido"/>
          <p:cNvSpPr>
            <a:spLocks noGrp="1"/>
          </p:cNvSpPr>
          <p:nvPr>
            <p:ph sz="quarter" idx="1"/>
          </p:nvPr>
        </p:nvSpPr>
        <p:spPr>
          <a:xfrm>
            <a:off x="357158" y="908720"/>
            <a:ext cx="6159058" cy="5592114"/>
          </a:xfrm>
        </p:spPr>
        <p:txBody>
          <a:bodyPr>
            <a:normAutofit fontScale="92500"/>
          </a:bodyPr>
          <a:lstStyle/>
          <a:p>
            <a:r>
              <a:rPr lang="es-CR" dirty="0" smtClean="0"/>
              <a:t>En nuestro caso, aunque los </a:t>
            </a:r>
            <a:r>
              <a:rPr lang="es-CR" dirty="0" smtClean="0"/>
              <a:t>resultados obtenidos </a:t>
            </a:r>
            <a:r>
              <a:rPr lang="es-CR" dirty="0" smtClean="0"/>
              <a:t>no son incómodos </a:t>
            </a:r>
            <a:r>
              <a:rPr lang="es-CR" dirty="0" smtClean="0"/>
              <a:t>de interpretar, </a:t>
            </a:r>
            <a:r>
              <a:rPr lang="es-CR" dirty="0" smtClean="0"/>
              <a:t>de igual forma se puede usar </a:t>
            </a:r>
            <a:r>
              <a:rPr lang="es-CR" dirty="0" smtClean="0"/>
              <a:t>un “factor de ampliación”, que se logra multiplicando el resultado por 100</a:t>
            </a:r>
          </a:p>
          <a:p>
            <a:endParaRPr lang="es-CR" dirty="0" smtClean="0"/>
          </a:p>
          <a:p>
            <a:r>
              <a:rPr lang="es-CR" dirty="0" smtClean="0"/>
              <a:t>Para nuestros ejemplos:</a:t>
            </a:r>
          </a:p>
          <a:p>
            <a:endParaRPr lang="es-CR" dirty="0" smtClean="0"/>
          </a:p>
          <a:p>
            <a:endParaRPr lang="es-CR" dirty="0" smtClean="0"/>
          </a:p>
          <a:p>
            <a:pPr marL="0" indent="0">
              <a:buNone/>
            </a:pPr>
            <a:endParaRPr lang="es-CR" dirty="0" smtClean="0"/>
          </a:p>
          <a:p>
            <a:pPr marL="0" indent="0">
              <a:buNone/>
            </a:pPr>
            <a:endParaRPr lang="es-CR" dirty="0" smtClean="0"/>
          </a:p>
          <a:p>
            <a:pPr>
              <a:buNone/>
            </a:pPr>
            <a:r>
              <a:rPr lang="es-CR" u="sng" dirty="0" smtClean="0"/>
              <a:t>Razón</a:t>
            </a:r>
            <a:r>
              <a:rPr lang="es-CR" dirty="0" smtClean="0"/>
              <a:t>: hay 300 hombres por cada </a:t>
            </a:r>
            <a:r>
              <a:rPr lang="es-CR" dirty="0" smtClean="0"/>
              <a:t>200 </a:t>
            </a:r>
            <a:r>
              <a:rPr lang="es-CR" dirty="0" smtClean="0"/>
              <a:t>mujeres.</a:t>
            </a:r>
          </a:p>
          <a:p>
            <a:pPr>
              <a:buNone/>
            </a:pPr>
            <a:endParaRPr lang="es-CR" dirty="0" smtClean="0"/>
          </a:p>
          <a:p>
            <a:pPr>
              <a:buNone/>
            </a:pPr>
            <a:r>
              <a:rPr lang="es-CR" u="sng" dirty="0" smtClean="0"/>
              <a:t>Porcentaje</a:t>
            </a:r>
            <a:r>
              <a:rPr lang="es-CR" dirty="0" smtClean="0"/>
              <a:t>: el </a:t>
            </a:r>
            <a:r>
              <a:rPr lang="es-CR" dirty="0" smtClean="0"/>
              <a:t>30% </a:t>
            </a:r>
            <a:r>
              <a:rPr lang="es-CR" dirty="0" smtClean="0"/>
              <a:t>de los </a:t>
            </a:r>
            <a:r>
              <a:rPr lang="es-CR" dirty="0" smtClean="0"/>
              <a:t>paciente son de Alajuela.</a:t>
            </a:r>
            <a:endParaRPr lang="es-CR" dirty="0"/>
          </a:p>
        </p:txBody>
      </p:sp>
      <p:sp>
        <p:nvSpPr>
          <p:cNvPr id="245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245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2458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mc:AlternateContent xmlns:mc="http://schemas.openxmlformats.org/markup-compatibility/2006">
        <mc:Choice xmlns:a14="http://schemas.microsoft.com/office/drawing/2010/main" Requires="a14">
          <p:sp>
            <p:nvSpPr>
              <p:cNvPr id="4" name="Rectángulo 3"/>
              <p:cNvSpPr/>
              <p:nvPr/>
            </p:nvSpPr>
            <p:spPr>
              <a:xfrm>
                <a:off x="377184" y="4149080"/>
                <a:ext cx="5333100" cy="612732"/>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es-ES" i="1" smtClean="0">
                          <a:latin typeface="Cambria Math" panose="02040503050406030204" pitchFamily="18" charset="0"/>
                        </a:rPr>
                        <m:t>𝑃𝑜𝑟𝑐𝑒𝑛𝑡𝑎𝑗𝑒</m:t>
                      </m:r>
                      <m:r>
                        <a:rPr lang="es-ES" i="0">
                          <a:latin typeface="Cambria Math" panose="02040503050406030204" pitchFamily="18" charset="0"/>
                        </a:rPr>
                        <m:t>= </m:t>
                      </m:r>
                      <m:f>
                        <m:fPr>
                          <m:ctrlPr>
                            <a:rPr lang="es-ES" i="1">
                              <a:latin typeface="Cambria Math" panose="02040503050406030204" pitchFamily="18" charset="0"/>
                            </a:rPr>
                          </m:ctrlPr>
                        </m:fPr>
                        <m:num>
                          <m:r>
                            <a:rPr lang="es-ES" i="0">
                              <a:latin typeface="Cambria Math" panose="02040503050406030204" pitchFamily="18" charset="0"/>
                            </a:rPr>
                            <m:t>600</m:t>
                          </m:r>
                        </m:num>
                        <m:den>
                          <m:r>
                            <a:rPr lang="es-ES" i="0">
                              <a:latin typeface="Cambria Math" panose="02040503050406030204" pitchFamily="18" charset="0"/>
                            </a:rPr>
                            <m:t>1200</m:t>
                          </m:r>
                        </m:den>
                      </m:f>
                      <m:r>
                        <a:rPr lang="es-ES" i="0">
                          <a:latin typeface="Cambria Math" panose="02040503050406030204" pitchFamily="18" charset="0"/>
                        </a:rPr>
                        <m:t>= 0.3 →0.3∗100=30%</m:t>
                      </m:r>
                    </m:oMath>
                  </m:oMathPara>
                </a14:m>
                <a:endParaRPr lang="es-ES" dirty="0"/>
              </a:p>
            </p:txBody>
          </p:sp>
        </mc:Choice>
        <mc:Fallback>
          <p:sp>
            <p:nvSpPr>
              <p:cNvPr id="4" name="Rectángulo 3"/>
              <p:cNvSpPr>
                <a:spLocks noRot="1" noChangeAspect="1" noMove="1" noResize="1" noEditPoints="1" noAdjustHandles="1" noChangeArrowheads="1" noChangeShapeType="1" noTextEdit="1"/>
              </p:cNvSpPr>
              <p:nvPr/>
            </p:nvSpPr>
            <p:spPr>
              <a:xfrm>
                <a:off x="377184" y="4149080"/>
                <a:ext cx="5333100" cy="612732"/>
              </a:xfrm>
              <a:prstGeom prst="rect">
                <a:avLst/>
              </a:prstGeom>
              <a:blipFill rotWithShape="0">
                <a:blip r:embed="rId2"/>
                <a:stretch>
                  <a:fillRect/>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5" name="Rectángulo 4"/>
              <p:cNvSpPr/>
              <p:nvPr/>
            </p:nvSpPr>
            <p:spPr>
              <a:xfrm>
                <a:off x="1013003" y="3464340"/>
                <a:ext cx="3566168" cy="6127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s-ES" i="1">
                          <a:latin typeface="Cambria Math" panose="02040503050406030204" pitchFamily="18" charset="0"/>
                        </a:rPr>
                        <m:t>𝑅𝑎𝑧</m:t>
                      </m:r>
                      <m:r>
                        <a:rPr lang="es-ES" i="0">
                          <a:latin typeface="Cambria Math" panose="02040503050406030204" pitchFamily="18" charset="0"/>
                        </a:rPr>
                        <m:t>ó</m:t>
                      </m:r>
                      <m:r>
                        <a:rPr lang="es-ES" i="1">
                          <a:latin typeface="Cambria Math" panose="02040503050406030204" pitchFamily="18" charset="0"/>
                        </a:rPr>
                        <m:t>𝑛</m:t>
                      </m:r>
                      <m:r>
                        <a:rPr lang="es-ES" i="0">
                          <a:latin typeface="Cambria Math" panose="02040503050406030204" pitchFamily="18" charset="0"/>
                        </a:rPr>
                        <m:t>= </m:t>
                      </m:r>
                      <m:f>
                        <m:fPr>
                          <m:ctrlPr>
                            <a:rPr lang="es-ES" i="1">
                              <a:latin typeface="Cambria Math" panose="02040503050406030204" pitchFamily="18" charset="0"/>
                            </a:rPr>
                          </m:ctrlPr>
                        </m:fPr>
                        <m:num>
                          <m:r>
                            <a:rPr lang="es-ES" i="0">
                              <a:latin typeface="Cambria Math" panose="02040503050406030204" pitchFamily="18" charset="0"/>
                            </a:rPr>
                            <m:t>1200</m:t>
                          </m:r>
                        </m:num>
                        <m:den>
                          <m:r>
                            <a:rPr lang="es-ES" i="0">
                              <a:latin typeface="Cambria Math" panose="02040503050406030204" pitchFamily="18" charset="0"/>
                            </a:rPr>
                            <m:t>800</m:t>
                          </m:r>
                        </m:den>
                      </m:f>
                      <m:r>
                        <a:rPr lang="es-ES" i="0">
                          <a:latin typeface="Cambria Math" panose="02040503050406030204" pitchFamily="18" charset="0"/>
                        </a:rPr>
                        <m:t>= </m:t>
                      </m:r>
                      <m:f>
                        <m:fPr>
                          <m:ctrlPr>
                            <a:rPr lang="es-ES" i="1">
                              <a:latin typeface="Cambria Math" panose="02040503050406030204" pitchFamily="18" charset="0"/>
                            </a:rPr>
                          </m:ctrlPr>
                        </m:fPr>
                        <m:num>
                          <m:r>
                            <a:rPr lang="es-ES" i="0">
                              <a:latin typeface="Cambria Math" panose="02040503050406030204" pitchFamily="18" charset="0"/>
                            </a:rPr>
                            <m:t>3</m:t>
                          </m:r>
                        </m:num>
                        <m:den>
                          <m:r>
                            <a:rPr lang="es-ES" i="0">
                              <a:latin typeface="Cambria Math" panose="02040503050406030204" pitchFamily="18" charset="0"/>
                            </a:rPr>
                            <m:t>2</m:t>
                          </m:r>
                        </m:den>
                      </m:f>
                      <m:r>
                        <a:rPr lang="es-ES" i="0">
                          <a:latin typeface="Cambria Math" panose="02040503050406030204" pitchFamily="18" charset="0"/>
                        </a:rPr>
                        <m:t>∗ </m:t>
                      </m:r>
                      <m:f>
                        <m:fPr>
                          <m:ctrlPr>
                            <a:rPr lang="es-ES" i="1">
                              <a:latin typeface="Cambria Math" panose="02040503050406030204" pitchFamily="18" charset="0"/>
                            </a:rPr>
                          </m:ctrlPr>
                        </m:fPr>
                        <m:num>
                          <m:r>
                            <a:rPr lang="es-ES" i="0">
                              <a:latin typeface="Cambria Math" panose="02040503050406030204" pitchFamily="18" charset="0"/>
                            </a:rPr>
                            <m:t>100</m:t>
                          </m:r>
                        </m:num>
                        <m:den>
                          <m:r>
                            <a:rPr lang="es-ES" i="0">
                              <a:latin typeface="Cambria Math" panose="02040503050406030204" pitchFamily="18" charset="0"/>
                            </a:rPr>
                            <m:t>100</m:t>
                          </m:r>
                        </m:den>
                      </m:f>
                      <m:r>
                        <a:rPr lang="es-ES" i="0">
                          <a:latin typeface="Cambria Math" panose="02040503050406030204" pitchFamily="18" charset="0"/>
                        </a:rPr>
                        <m:t>=</m:t>
                      </m:r>
                      <m:f>
                        <m:fPr>
                          <m:ctrlPr>
                            <a:rPr lang="es-ES" i="1">
                              <a:latin typeface="Cambria Math" panose="02040503050406030204" pitchFamily="18" charset="0"/>
                            </a:rPr>
                          </m:ctrlPr>
                        </m:fPr>
                        <m:num>
                          <m:r>
                            <a:rPr lang="es-ES" i="0">
                              <a:latin typeface="Cambria Math" panose="02040503050406030204" pitchFamily="18" charset="0"/>
                            </a:rPr>
                            <m:t>300</m:t>
                          </m:r>
                        </m:num>
                        <m:den>
                          <m:r>
                            <a:rPr lang="es-ES" i="0">
                              <a:latin typeface="Cambria Math" panose="02040503050406030204" pitchFamily="18" charset="0"/>
                            </a:rPr>
                            <m:t>200</m:t>
                          </m:r>
                        </m:den>
                      </m:f>
                    </m:oMath>
                  </m:oMathPara>
                </a14:m>
                <a:endParaRPr lang="es-ES" dirty="0"/>
              </a:p>
            </p:txBody>
          </p:sp>
        </mc:Choice>
        <mc:Fallback>
          <p:sp>
            <p:nvSpPr>
              <p:cNvPr id="5" name="Rectángulo 4"/>
              <p:cNvSpPr>
                <a:spLocks noRot="1" noChangeAspect="1" noMove="1" noResize="1" noEditPoints="1" noAdjustHandles="1" noChangeArrowheads="1" noChangeShapeType="1" noTextEdit="1"/>
              </p:cNvSpPr>
              <p:nvPr/>
            </p:nvSpPr>
            <p:spPr>
              <a:xfrm>
                <a:off x="1013003" y="3464340"/>
                <a:ext cx="3566168" cy="612732"/>
              </a:xfrm>
              <a:prstGeom prst="rect">
                <a:avLst/>
              </a:prstGeom>
              <a:blipFill rotWithShape="0">
                <a:blip r:embed="rId3"/>
                <a:stretch>
                  <a:fillRect/>
                </a:stretch>
              </a:blipFill>
            </p:spPr>
            <p:txBody>
              <a:bodyPr/>
              <a:lstStyle/>
              <a:p>
                <a:r>
                  <a:rPr lang="es-ES">
                    <a:noFill/>
                  </a:rPr>
                  <a:t> </a:t>
                </a:r>
              </a:p>
            </p:txBody>
          </p:sp>
        </mc:Fallback>
      </mc:AlternateContent>
      <p:pic>
        <p:nvPicPr>
          <p:cNvPr id="3074" name="Picture 2" descr="http://www.mervir.es/44-92-large/ampliacion-transferencia-200gb-mensual-pago-anual.jpg"/>
          <p:cNvPicPr>
            <a:picLocks noChangeAspect="1" noChangeArrowheads="1"/>
          </p:cNvPicPr>
          <p:nvPr/>
        </p:nvPicPr>
        <p:blipFill rotWithShape="1">
          <a:blip r:embed="rId4">
            <a:extLst>
              <a:ext uri="{28A0092B-C50C-407E-A947-70E740481C1C}">
                <a14:useLocalDpi xmlns:a14="http://schemas.microsoft.com/office/drawing/2010/main" val="0"/>
              </a:ext>
            </a:extLst>
          </a:blip>
          <a:srcRect l="9109" t="7734" r="8917" b="5953"/>
          <a:stretch/>
        </p:blipFill>
        <p:spPr bwMode="auto">
          <a:xfrm>
            <a:off x="6660232" y="1124744"/>
            <a:ext cx="2234731" cy="1800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www.pumhs.edu.pk/images/results.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66129" y="3464340"/>
            <a:ext cx="2455999" cy="28872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14400" y="-16"/>
            <a:ext cx="7772400" cy="857248"/>
          </a:xfrm>
        </p:spPr>
        <p:txBody>
          <a:bodyPr>
            <a:normAutofit/>
          </a:bodyPr>
          <a:lstStyle/>
          <a:p>
            <a:pPr algn="ctr"/>
            <a:r>
              <a:rPr lang="es-CR" sz="3600" dirty="0" smtClean="0"/>
              <a:t>Tasas</a:t>
            </a:r>
            <a:endParaRPr lang="es-CR" sz="3600" dirty="0"/>
          </a:p>
        </p:txBody>
      </p:sp>
      <p:sp>
        <p:nvSpPr>
          <p:cNvPr id="3" name="2 Marcador de contenido"/>
          <p:cNvSpPr>
            <a:spLocks noGrp="1"/>
          </p:cNvSpPr>
          <p:nvPr>
            <p:ph sz="quarter" idx="1"/>
          </p:nvPr>
        </p:nvSpPr>
        <p:spPr>
          <a:xfrm>
            <a:off x="179512" y="928670"/>
            <a:ext cx="5184576" cy="5572164"/>
          </a:xfrm>
        </p:spPr>
        <p:txBody>
          <a:bodyPr>
            <a:normAutofit fontScale="92500" lnSpcReduction="10000"/>
          </a:bodyPr>
          <a:lstStyle/>
          <a:p>
            <a:r>
              <a:rPr lang="es-CR" sz="2400" dirty="0" smtClean="0"/>
              <a:t>El término de </a:t>
            </a:r>
            <a:r>
              <a:rPr lang="es-CR" sz="2400" b="1" i="1" dirty="0" smtClean="0"/>
              <a:t>tasa</a:t>
            </a:r>
            <a:r>
              <a:rPr lang="es-CR" sz="2400" dirty="0" smtClean="0"/>
              <a:t> se confunde con muchos otros números relativos .</a:t>
            </a:r>
          </a:p>
          <a:p>
            <a:endParaRPr lang="es-CR" sz="2400" dirty="0" smtClean="0"/>
          </a:p>
          <a:p>
            <a:r>
              <a:rPr lang="es-CR" sz="2400" dirty="0" smtClean="0"/>
              <a:t>Por ejemplo, se suele hablar de tasa de alfabetismo, cuando en realidad se le debe atribuir a porcentaje de alfabetismo.</a:t>
            </a:r>
          </a:p>
          <a:p>
            <a:endParaRPr lang="es-CR" sz="2400" dirty="0" smtClean="0"/>
          </a:p>
          <a:p>
            <a:r>
              <a:rPr lang="es-CR" sz="2400" dirty="0" smtClean="0"/>
              <a:t>La tasa se puede definir como:</a:t>
            </a:r>
          </a:p>
          <a:p>
            <a:endParaRPr lang="es-CR" sz="2400" dirty="0" smtClean="0"/>
          </a:p>
          <a:p>
            <a:pPr>
              <a:buNone/>
            </a:pPr>
            <a:r>
              <a:rPr lang="es-CR" sz="2400" dirty="0" smtClean="0"/>
              <a:t>	“</a:t>
            </a:r>
            <a:r>
              <a:rPr lang="es-CR" sz="2400" b="1" i="1" dirty="0" smtClean="0"/>
              <a:t>Es la consideración de un período de referencia, o de observación, para un hecho demográfico. Las tasas indican la frecuencia relativa de un fenómeno en un período dado, generalmente un año</a:t>
            </a:r>
            <a:r>
              <a:rPr lang="es-CR" sz="2400" dirty="0" smtClean="0"/>
              <a:t>”. </a:t>
            </a:r>
          </a:p>
          <a:p>
            <a:pPr>
              <a:buNone/>
            </a:pPr>
            <a:endParaRPr lang="es-CR" sz="2400" dirty="0"/>
          </a:p>
          <a:p>
            <a:pPr>
              <a:buNone/>
            </a:pPr>
            <a:r>
              <a:rPr lang="es-CR" sz="2400" dirty="0" smtClean="0"/>
              <a:t>Gómez, M.</a:t>
            </a:r>
            <a:endParaRPr lang="es-CR" sz="2400" dirty="0"/>
          </a:p>
        </p:txBody>
      </p:sp>
      <p:pic>
        <p:nvPicPr>
          <p:cNvPr id="13314" name="Picture 2" descr="http://www.dipucadiz.es/opencms/export/sites/default/dipucadiz/multimedia/galeriaImagenes/population.jpg"/>
          <p:cNvPicPr>
            <a:picLocks noChangeAspect="1" noChangeArrowheads="1"/>
          </p:cNvPicPr>
          <p:nvPr/>
        </p:nvPicPr>
        <p:blipFill>
          <a:blip r:embed="rId3" cstate="print"/>
          <a:srcRect/>
          <a:stretch>
            <a:fillRect/>
          </a:stretch>
        </p:blipFill>
        <p:spPr bwMode="auto">
          <a:xfrm>
            <a:off x="6143636" y="3929066"/>
            <a:ext cx="2643206" cy="2357454"/>
          </a:xfrm>
          <a:prstGeom prst="rect">
            <a:avLst/>
          </a:prstGeom>
          <a:noFill/>
        </p:spPr>
      </p:pic>
      <p:pic>
        <p:nvPicPr>
          <p:cNvPr id="13316" name="Picture 4" descr="http://www.ocompras.com/images/2007/09/mug-mr-taza.jpg"/>
          <p:cNvPicPr>
            <a:picLocks noChangeAspect="1" noChangeArrowheads="1"/>
          </p:cNvPicPr>
          <p:nvPr/>
        </p:nvPicPr>
        <p:blipFill>
          <a:blip r:embed="rId4" cstate="print"/>
          <a:srcRect/>
          <a:stretch>
            <a:fillRect/>
          </a:stretch>
        </p:blipFill>
        <p:spPr bwMode="auto">
          <a:xfrm>
            <a:off x="6000760" y="785794"/>
            <a:ext cx="3000021" cy="3000396"/>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857232"/>
            <a:ext cx="7429552" cy="5643602"/>
          </a:xfrm>
        </p:spPr>
        <p:txBody>
          <a:bodyPr/>
          <a:lstStyle/>
          <a:p>
            <a:r>
              <a:rPr lang="es-CR" dirty="0" smtClean="0"/>
              <a:t>Un ejemplo: la tasa de natalidad.</a:t>
            </a:r>
          </a:p>
          <a:p>
            <a:endParaRPr lang="es-CR" dirty="0" smtClean="0"/>
          </a:p>
          <a:p>
            <a:endParaRPr lang="es-CR" dirty="0" smtClean="0"/>
          </a:p>
          <a:p>
            <a:r>
              <a:rPr lang="es-CR" dirty="0" smtClean="0"/>
              <a:t>Para este ejemplo, la tasa indica cuántos nacimientos, por cada 1000 habitantes, se produjeron durante el natural considerado (Z), en </a:t>
            </a:r>
            <a:r>
              <a:rPr lang="es-CR" b="1" i="1" dirty="0" smtClean="0"/>
              <a:t>un cierta área</a:t>
            </a:r>
            <a:r>
              <a:rPr lang="es-CR" dirty="0" smtClean="0"/>
              <a:t>.</a:t>
            </a:r>
          </a:p>
          <a:p>
            <a:endParaRPr lang="es-CR" dirty="0" smtClean="0"/>
          </a:p>
          <a:p>
            <a:r>
              <a:rPr lang="es-CR" dirty="0" smtClean="0"/>
              <a:t>Así, por ejemplo, en el 2000 ocurrieron un total de 89965 nacimientos vivos en CR, y la población total para ese año fue de 4 017 986.</a:t>
            </a:r>
          </a:p>
          <a:p>
            <a:endParaRPr lang="es-CR" dirty="0" smtClean="0"/>
          </a:p>
          <a:p>
            <a:r>
              <a:rPr lang="es-CR" dirty="0" smtClean="0"/>
              <a:t>Con esto se puede calcular la tasa bruta de natalidad.</a:t>
            </a:r>
          </a:p>
          <a:p>
            <a:endParaRPr lang="es-CR" dirty="0" smtClean="0"/>
          </a:p>
          <a:p>
            <a:endParaRPr lang="es-CR" dirty="0" smtClean="0"/>
          </a:p>
          <a:p>
            <a:endParaRPr lang="es-CR" dirty="0" smtClean="0"/>
          </a:p>
          <a:p>
            <a:pPr>
              <a:buNone/>
            </a:pPr>
            <a:endParaRPr lang="es-CR" dirty="0"/>
          </a:p>
        </p:txBody>
      </p:sp>
      <p:sp>
        <p:nvSpPr>
          <p:cNvPr id="4" name="1 Título"/>
          <p:cNvSpPr>
            <a:spLocks noGrp="1"/>
          </p:cNvSpPr>
          <p:nvPr>
            <p:ph type="title"/>
          </p:nvPr>
        </p:nvSpPr>
        <p:spPr>
          <a:xfrm>
            <a:off x="928662" y="116632"/>
            <a:ext cx="7772400" cy="720080"/>
          </a:xfrm>
        </p:spPr>
        <p:txBody>
          <a:bodyPr>
            <a:normAutofit/>
          </a:bodyPr>
          <a:lstStyle/>
          <a:p>
            <a:pPr algn="ctr"/>
            <a:r>
              <a:rPr lang="es-CR" sz="3600" dirty="0" smtClean="0"/>
              <a:t>Tasas</a:t>
            </a:r>
            <a:endParaRPr lang="es-CR" sz="3600" dirty="0"/>
          </a:p>
        </p:txBody>
      </p:sp>
      <p:sp>
        <p:nvSpPr>
          <p:cNvPr id="215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150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44336" y="1500174"/>
            <a:ext cx="8455328" cy="571504"/>
          </a:xfrm>
          <a:prstGeom prst="rect">
            <a:avLst/>
          </a:prstGeom>
          <a:noFill/>
        </p:spPr>
      </p:pic>
    </p:spTree>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166924"/>
            <a:ext cx="6072230" cy="5286412"/>
          </a:xfrm>
        </p:spPr>
        <p:txBody>
          <a:bodyPr>
            <a:normAutofit/>
          </a:bodyPr>
          <a:lstStyle/>
          <a:p>
            <a:r>
              <a:rPr lang="es-CR" sz="2400" dirty="0" smtClean="0"/>
              <a:t>Entonces, de acuerdo a la información anterior:</a:t>
            </a:r>
          </a:p>
          <a:p>
            <a:endParaRPr lang="es-CR" sz="2400" dirty="0" smtClean="0"/>
          </a:p>
          <a:p>
            <a:endParaRPr lang="es-CR" sz="2400" dirty="0" smtClean="0"/>
          </a:p>
          <a:p>
            <a:endParaRPr lang="es-CR" sz="2400" dirty="0" smtClean="0"/>
          </a:p>
          <a:p>
            <a:r>
              <a:rPr lang="es-CR" sz="2400" u="sng" dirty="0" smtClean="0"/>
              <a:t>Interpretación:</a:t>
            </a:r>
            <a:r>
              <a:rPr lang="es-CR" sz="2400" dirty="0" smtClean="0"/>
              <a:t> “En el 2000 se dieron en Costa Rica alrededor de 22 nacimientos por cada mil habitantes.</a:t>
            </a:r>
          </a:p>
          <a:p>
            <a:endParaRPr lang="es-CR" sz="2400" u="sng" dirty="0" smtClean="0"/>
          </a:p>
          <a:p>
            <a:r>
              <a:rPr lang="es-CR" sz="2400" dirty="0" smtClean="0"/>
              <a:t>Nótese que el factor de amplificación que se emplea es de 1000 y que por ello la tasa se expresa por mil habitantes.</a:t>
            </a:r>
          </a:p>
        </p:txBody>
      </p:sp>
      <p:sp>
        <p:nvSpPr>
          <p:cNvPr id="4" name="1 Título"/>
          <p:cNvSpPr>
            <a:spLocks noGrp="1"/>
          </p:cNvSpPr>
          <p:nvPr>
            <p:ph type="title"/>
          </p:nvPr>
        </p:nvSpPr>
        <p:spPr>
          <a:xfrm>
            <a:off x="827584" y="250021"/>
            <a:ext cx="7772400" cy="785794"/>
          </a:xfrm>
        </p:spPr>
        <p:txBody>
          <a:bodyPr>
            <a:normAutofit/>
          </a:bodyPr>
          <a:lstStyle/>
          <a:p>
            <a:pPr algn="ctr"/>
            <a:r>
              <a:rPr lang="es-CR" sz="3600" dirty="0" smtClean="0"/>
              <a:t>Tasas</a:t>
            </a:r>
            <a:endParaRPr lang="es-CR" sz="3600" dirty="0"/>
          </a:p>
        </p:txBody>
      </p:sp>
      <p:sp>
        <p:nvSpPr>
          <p:cNvPr id="71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16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55576" y="1852260"/>
            <a:ext cx="4929222" cy="784652"/>
          </a:xfrm>
          <a:prstGeom prst="rect">
            <a:avLst/>
          </a:prstGeom>
          <a:noFill/>
        </p:spPr>
      </p:pic>
      <p:pic>
        <p:nvPicPr>
          <p:cNvPr id="11266" name="Picture 2" descr="http://miportalespiritual.com/imagen/nacer.gif"/>
          <p:cNvPicPr>
            <a:picLocks noChangeAspect="1" noChangeArrowheads="1"/>
          </p:cNvPicPr>
          <p:nvPr/>
        </p:nvPicPr>
        <p:blipFill>
          <a:blip r:embed="rId3" cstate="print"/>
          <a:srcRect/>
          <a:stretch>
            <a:fillRect/>
          </a:stretch>
        </p:blipFill>
        <p:spPr bwMode="auto">
          <a:xfrm>
            <a:off x="6000760" y="642918"/>
            <a:ext cx="2962275" cy="3038476"/>
          </a:xfrm>
          <a:prstGeom prst="rect">
            <a:avLst/>
          </a:prstGeom>
          <a:noFill/>
        </p:spPr>
      </p:pic>
      <p:pic>
        <p:nvPicPr>
          <p:cNvPr id="11268" name="Picture 4" descr="http://3.bp.blogspot.com/_v1TTWHaiTE8/SawIe3Vd1EI/AAAAAAAAALo/Hxen5wXvy0Q/s400/DerechoANoNacer.bmp"/>
          <p:cNvPicPr>
            <a:picLocks noChangeAspect="1" noChangeArrowheads="1"/>
          </p:cNvPicPr>
          <p:nvPr/>
        </p:nvPicPr>
        <p:blipFill>
          <a:blip r:embed="rId4" cstate="print"/>
          <a:srcRect/>
          <a:stretch>
            <a:fillRect/>
          </a:stretch>
        </p:blipFill>
        <p:spPr bwMode="auto">
          <a:xfrm>
            <a:off x="6357950" y="3786190"/>
            <a:ext cx="2571768" cy="2571768"/>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857232"/>
            <a:ext cx="6429420" cy="5786478"/>
          </a:xfrm>
        </p:spPr>
        <p:txBody>
          <a:bodyPr>
            <a:normAutofit/>
          </a:bodyPr>
          <a:lstStyle/>
          <a:p>
            <a:r>
              <a:rPr lang="es-CR" sz="2400" dirty="0" smtClean="0"/>
              <a:t>Ejemplo 2:</a:t>
            </a:r>
          </a:p>
          <a:p>
            <a:pPr>
              <a:buNone/>
            </a:pPr>
            <a:r>
              <a:rPr lang="es-CR" sz="2400" dirty="0" smtClean="0"/>
              <a:t>	La tasa bruta de mortalidad es similar que la natalidad, con la diferencia de que en el numerador se coloca el # total de defunciones ocurridas durante el año natural Z.</a:t>
            </a:r>
          </a:p>
          <a:p>
            <a:pPr>
              <a:buNone/>
            </a:pPr>
            <a:endParaRPr lang="es-CR" sz="2400" dirty="0" smtClean="0"/>
          </a:p>
          <a:p>
            <a:r>
              <a:rPr lang="es-CR" sz="2400" dirty="0" smtClean="0"/>
              <a:t>Para CR, en el 2000, hubo un total de 29356 defunciones, la tasa bruta de mortalidad sería:</a:t>
            </a:r>
          </a:p>
          <a:p>
            <a:endParaRPr lang="es-CR" sz="2400" dirty="0" smtClean="0"/>
          </a:p>
          <a:p>
            <a:endParaRPr lang="es-CR" sz="2400" dirty="0" smtClean="0"/>
          </a:p>
          <a:p>
            <a:endParaRPr lang="es-CR" sz="2400" dirty="0" smtClean="0"/>
          </a:p>
          <a:p>
            <a:r>
              <a:rPr lang="es-CR" sz="2400" dirty="0" smtClean="0"/>
              <a:t>Esto se interpreta que en Costa Rica en el 2000 hubo aproximadamente 7 muertes por cada mil habitantes.</a:t>
            </a:r>
          </a:p>
          <a:p>
            <a:endParaRPr lang="es-CR" sz="2400" dirty="0" smtClean="0"/>
          </a:p>
          <a:p>
            <a:endParaRPr lang="es-CR" sz="2400" dirty="0" smtClean="0"/>
          </a:p>
          <a:p>
            <a:endParaRPr lang="es-CR" sz="2400" dirty="0" smtClean="0"/>
          </a:p>
          <a:p>
            <a:endParaRPr lang="es-CR" sz="2400" dirty="0" smtClean="0"/>
          </a:p>
          <a:p>
            <a:endParaRPr lang="es-CR" sz="2400" dirty="0" smtClean="0"/>
          </a:p>
        </p:txBody>
      </p:sp>
      <p:sp>
        <p:nvSpPr>
          <p:cNvPr id="4" name="1 Título"/>
          <p:cNvSpPr>
            <a:spLocks noGrp="1"/>
          </p:cNvSpPr>
          <p:nvPr>
            <p:ph type="title"/>
          </p:nvPr>
        </p:nvSpPr>
        <p:spPr>
          <a:xfrm>
            <a:off x="467544" y="122926"/>
            <a:ext cx="8286808" cy="785794"/>
          </a:xfrm>
        </p:spPr>
        <p:txBody>
          <a:bodyPr>
            <a:normAutofit/>
          </a:bodyPr>
          <a:lstStyle/>
          <a:p>
            <a:pPr algn="ctr"/>
            <a:r>
              <a:rPr lang="es-CR" sz="3600" dirty="0" smtClean="0"/>
              <a:t>Tasas</a:t>
            </a:r>
            <a:endParaRPr lang="es-CR" sz="3600" dirty="0"/>
          </a:p>
        </p:txBody>
      </p:sp>
      <p:sp>
        <p:nvSpPr>
          <p:cNvPr id="61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614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85786" y="4293096"/>
            <a:ext cx="4786346" cy="755739"/>
          </a:xfrm>
          <a:prstGeom prst="rect">
            <a:avLst/>
          </a:prstGeom>
          <a:noFill/>
        </p:spPr>
      </p:pic>
      <p:pic>
        <p:nvPicPr>
          <p:cNvPr id="10242" name="Picture 2" descr="http://lasteologias.files.wordpress.com/2008/11/muerte.jpg"/>
          <p:cNvPicPr>
            <a:picLocks noChangeAspect="1" noChangeArrowheads="1"/>
          </p:cNvPicPr>
          <p:nvPr/>
        </p:nvPicPr>
        <p:blipFill>
          <a:blip r:embed="rId3" cstate="print"/>
          <a:srcRect/>
          <a:stretch>
            <a:fillRect/>
          </a:stretch>
        </p:blipFill>
        <p:spPr bwMode="auto">
          <a:xfrm>
            <a:off x="6588224" y="285728"/>
            <a:ext cx="2246252" cy="3810000"/>
          </a:xfrm>
          <a:prstGeom prst="rect">
            <a:avLst/>
          </a:prstGeom>
          <a:noFill/>
        </p:spPr>
      </p:pic>
      <p:pic>
        <p:nvPicPr>
          <p:cNvPr id="10244" name="Picture 4" descr="http://lasteologias.files.wordpress.com/2008/11/chiste-muerte_02.jpg"/>
          <p:cNvPicPr>
            <a:picLocks noChangeAspect="1" noChangeArrowheads="1"/>
          </p:cNvPicPr>
          <p:nvPr/>
        </p:nvPicPr>
        <p:blipFill>
          <a:blip r:embed="rId4" cstate="print"/>
          <a:srcRect/>
          <a:stretch>
            <a:fillRect/>
          </a:stretch>
        </p:blipFill>
        <p:spPr bwMode="auto">
          <a:xfrm>
            <a:off x="6660232" y="4214818"/>
            <a:ext cx="2126610" cy="2428892"/>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611560" y="1484784"/>
            <a:ext cx="7772400" cy="4572000"/>
          </a:xfrm>
        </p:spPr>
        <p:txBody>
          <a:bodyPr/>
          <a:lstStyle/>
          <a:p>
            <a:endParaRPr lang="es-CR" dirty="0"/>
          </a:p>
        </p:txBody>
      </p:sp>
      <p:sp>
        <p:nvSpPr>
          <p:cNvPr id="4" name="1 Título"/>
          <p:cNvSpPr>
            <a:spLocks noGrp="1"/>
          </p:cNvSpPr>
          <p:nvPr>
            <p:ph type="title"/>
          </p:nvPr>
        </p:nvSpPr>
        <p:spPr>
          <a:xfrm>
            <a:off x="611560" y="188640"/>
            <a:ext cx="7772400" cy="1008112"/>
          </a:xfrm>
        </p:spPr>
        <p:txBody>
          <a:bodyPr>
            <a:normAutofit/>
          </a:bodyPr>
          <a:lstStyle/>
          <a:p>
            <a:pPr algn="ctr"/>
            <a:r>
              <a:rPr lang="es-CR" sz="3600" dirty="0" smtClean="0"/>
              <a:t>Índice</a:t>
            </a:r>
            <a:endParaRPr lang="es-CR" sz="3600" dirty="0"/>
          </a:p>
        </p:txBody>
      </p:sp>
      <p:sp>
        <p:nvSpPr>
          <p:cNvPr id="5" name="4 Elipse"/>
          <p:cNvSpPr/>
          <p:nvPr/>
        </p:nvSpPr>
        <p:spPr>
          <a:xfrm>
            <a:off x="842671" y="1631694"/>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1</a:t>
            </a:r>
            <a:endParaRPr lang="es-CR" dirty="0"/>
          </a:p>
        </p:txBody>
      </p:sp>
      <p:sp>
        <p:nvSpPr>
          <p:cNvPr id="7" name="6 Elipse"/>
          <p:cNvSpPr/>
          <p:nvPr/>
        </p:nvSpPr>
        <p:spPr>
          <a:xfrm>
            <a:off x="891421" y="3212976"/>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2</a:t>
            </a:r>
            <a:endParaRPr lang="es-CR" dirty="0"/>
          </a:p>
        </p:txBody>
      </p:sp>
      <p:sp>
        <p:nvSpPr>
          <p:cNvPr id="8" name="7 Elipse"/>
          <p:cNvSpPr/>
          <p:nvPr/>
        </p:nvSpPr>
        <p:spPr>
          <a:xfrm>
            <a:off x="891421" y="4797152"/>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3</a:t>
            </a:r>
            <a:endParaRPr lang="es-CR" dirty="0"/>
          </a:p>
        </p:txBody>
      </p:sp>
      <p:sp>
        <p:nvSpPr>
          <p:cNvPr id="12" name="11 Rectángulo redondeado"/>
          <p:cNvSpPr/>
          <p:nvPr/>
        </p:nvSpPr>
        <p:spPr>
          <a:xfrm>
            <a:off x="2339752" y="1609669"/>
            <a:ext cx="1728192"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smtClean="0"/>
              <a:t>Resumir información</a:t>
            </a:r>
            <a:endParaRPr lang="es-CR" dirty="0"/>
          </a:p>
        </p:txBody>
      </p:sp>
      <p:sp>
        <p:nvSpPr>
          <p:cNvPr id="15" name="14 Rectángulo redondeado"/>
          <p:cNvSpPr/>
          <p:nvPr/>
        </p:nvSpPr>
        <p:spPr>
          <a:xfrm>
            <a:off x="2339752" y="4831788"/>
            <a:ext cx="1728192" cy="829459"/>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a:t>Distribución de frecuencia</a:t>
            </a:r>
          </a:p>
        </p:txBody>
      </p:sp>
      <p:sp>
        <p:nvSpPr>
          <p:cNvPr id="16" name="15 Rectángulo redondeado"/>
          <p:cNvSpPr/>
          <p:nvPr/>
        </p:nvSpPr>
        <p:spPr>
          <a:xfrm>
            <a:off x="2339752" y="3247674"/>
            <a:ext cx="1728192"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smtClean="0"/>
              <a:t>Números relativos</a:t>
            </a:r>
            <a:endParaRPr lang="es-CR" dirty="0"/>
          </a:p>
        </p:txBody>
      </p:sp>
    </p:spTree>
    <p:extLst>
      <p:ext uri="{BB962C8B-B14F-4D97-AF65-F5344CB8AC3E}">
        <p14:creationId xmlns:p14="http://schemas.microsoft.com/office/powerpoint/2010/main" val="300145425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0"/>
            <a:ext cx="8429684" cy="857232"/>
          </a:xfrm>
        </p:spPr>
        <p:txBody>
          <a:bodyPr>
            <a:normAutofit/>
          </a:bodyPr>
          <a:lstStyle/>
          <a:p>
            <a:pPr algn="ctr"/>
            <a:r>
              <a:rPr lang="es-CR" sz="3600" dirty="0" smtClean="0"/>
              <a:t>Distribución de </a:t>
            </a:r>
            <a:r>
              <a:rPr lang="es-CR" sz="3600" dirty="0"/>
              <a:t>F</a:t>
            </a:r>
            <a:r>
              <a:rPr lang="es-CR" sz="3600" dirty="0" smtClean="0"/>
              <a:t>recuencias</a:t>
            </a:r>
            <a:endParaRPr lang="es-CR" sz="3600" dirty="0"/>
          </a:p>
        </p:txBody>
      </p:sp>
      <p:sp>
        <p:nvSpPr>
          <p:cNvPr id="3" name="2 Marcador de contenido"/>
          <p:cNvSpPr>
            <a:spLocks noGrp="1"/>
          </p:cNvSpPr>
          <p:nvPr>
            <p:ph sz="quarter" idx="1"/>
          </p:nvPr>
        </p:nvSpPr>
        <p:spPr>
          <a:xfrm>
            <a:off x="285720" y="1000140"/>
            <a:ext cx="5510416" cy="5572132"/>
          </a:xfrm>
        </p:spPr>
        <p:txBody>
          <a:bodyPr>
            <a:normAutofit lnSpcReduction="10000"/>
          </a:bodyPr>
          <a:lstStyle/>
          <a:p>
            <a:pPr algn="just"/>
            <a:r>
              <a:rPr lang="es-CR" sz="2400" dirty="0" smtClean="0"/>
              <a:t>La distribución de frecuencias es otra forma de resumir la información.</a:t>
            </a:r>
          </a:p>
          <a:p>
            <a:pPr algn="just"/>
            <a:endParaRPr lang="es-CR" sz="2400" dirty="0" smtClean="0"/>
          </a:p>
          <a:p>
            <a:pPr algn="just"/>
            <a:r>
              <a:rPr lang="es-CR" sz="2400" dirty="0" smtClean="0"/>
              <a:t>Cuando los datos provienen de la operación de contar o de medir, y pueden haberse obtenido anotando el número de elementos que corresponde a una de las categorías definidas, entonces la utilización de las distribuciones de frecuencia es más recomendable.</a:t>
            </a:r>
          </a:p>
          <a:p>
            <a:pPr algn="just">
              <a:buNone/>
            </a:pPr>
            <a:endParaRPr lang="es-CR" sz="2400" dirty="0" smtClean="0"/>
          </a:p>
          <a:p>
            <a:pPr algn="just"/>
            <a:r>
              <a:rPr lang="es-CR" sz="2400" dirty="0" smtClean="0"/>
              <a:t>La DF son clasificaciones que se refieren a variables cualitativas o cuantitativas y constituyen un instrumento muy útil en el trabajo estadístico. </a:t>
            </a:r>
          </a:p>
        </p:txBody>
      </p:sp>
      <p:pic>
        <p:nvPicPr>
          <p:cNvPr id="7170" name="Picture 2" descr="http://www.mariannavarro.net/images/estudio.jpg"/>
          <p:cNvPicPr>
            <a:picLocks noChangeAspect="1" noChangeArrowheads="1"/>
          </p:cNvPicPr>
          <p:nvPr/>
        </p:nvPicPr>
        <p:blipFill>
          <a:blip r:embed="rId2" cstate="print"/>
          <a:srcRect/>
          <a:stretch>
            <a:fillRect/>
          </a:stretch>
        </p:blipFill>
        <p:spPr bwMode="auto">
          <a:xfrm>
            <a:off x="6858016" y="857232"/>
            <a:ext cx="2143141" cy="2143140"/>
          </a:xfrm>
          <a:prstGeom prst="rect">
            <a:avLst/>
          </a:prstGeom>
          <a:noFill/>
        </p:spPr>
      </p:pic>
      <p:pic>
        <p:nvPicPr>
          <p:cNvPr id="7172" name="Picture 4" descr="http://ciucab.files.wordpress.com/2009/09/escribir.jpg"/>
          <p:cNvPicPr>
            <a:picLocks noChangeAspect="1" noChangeArrowheads="1"/>
          </p:cNvPicPr>
          <p:nvPr/>
        </p:nvPicPr>
        <p:blipFill>
          <a:blip r:embed="rId3" cstate="print"/>
          <a:srcRect/>
          <a:stretch>
            <a:fillRect/>
          </a:stretch>
        </p:blipFill>
        <p:spPr bwMode="auto">
          <a:xfrm>
            <a:off x="6715140" y="3500438"/>
            <a:ext cx="2234581" cy="2928958"/>
          </a:xfrm>
          <a:prstGeom prst="rect">
            <a:avLst/>
          </a:prstGeom>
          <a:noFill/>
        </p:spPr>
      </p:pic>
    </p:spTree>
  </p:cSld>
  <p:clrMapOvr>
    <a:masterClrMapping/>
  </p:clrMapOvr>
  <p:transition spd="slow">
    <p:cove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42844" y="857232"/>
            <a:ext cx="6013332" cy="5643602"/>
          </a:xfrm>
        </p:spPr>
        <p:txBody>
          <a:bodyPr>
            <a:noAutofit/>
          </a:bodyPr>
          <a:lstStyle/>
          <a:p>
            <a:r>
              <a:rPr lang="es-CR" sz="2200" dirty="0" smtClean="0"/>
              <a:t>En los datos estadísticos resulta muy valioso disponer de elementos descriptivos que den información acerca de 3 aspectos:</a:t>
            </a:r>
          </a:p>
          <a:p>
            <a:pPr>
              <a:buNone/>
            </a:pPr>
            <a:r>
              <a:rPr lang="es-CR" sz="2200" dirty="0" smtClean="0"/>
              <a:t>	-La forma</a:t>
            </a:r>
          </a:p>
          <a:p>
            <a:pPr>
              <a:buNone/>
            </a:pPr>
            <a:r>
              <a:rPr lang="es-CR" sz="2200" dirty="0" smtClean="0"/>
              <a:t>	-La posición (alrededor de qué)</a:t>
            </a:r>
          </a:p>
          <a:p>
            <a:pPr>
              <a:buNone/>
            </a:pPr>
            <a:r>
              <a:rPr lang="es-CR" sz="2200" dirty="0" smtClean="0"/>
              <a:t>	-La dispersión</a:t>
            </a:r>
          </a:p>
          <a:p>
            <a:pPr>
              <a:buNone/>
            </a:pPr>
            <a:endParaRPr lang="es-CR" sz="2200" dirty="0" smtClean="0"/>
          </a:p>
          <a:p>
            <a:r>
              <a:rPr lang="es-CR" sz="2200" dirty="0" smtClean="0"/>
              <a:t>Cuando los datos son numerosos, para conocer lo anterior se debe recurrir a agrupar estos en una distribución de frecuencias.</a:t>
            </a:r>
          </a:p>
          <a:p>
            <a:endParaRPr lang="es-CR" sz="2200" dirty="0" smtClean="0"/>
          </a:p>
          <a:p>
            <a:r>
              <a:rPr lang="es-CR" sz="2200" dirty="0" smtClean="0"/>
              <a:t>La DF se define como una ordenación o arreglo de datos en clases o categorías que muestran, para cada una de las categorías, el número  de elementos que contiene o frecuencia.</a:t>
            </a:r>
            <a:endParaRPr lang="es-CR" sz="2200" dirty="0"/>
          </a:p>
        </p:txBody>
      </p:sp>
      <p:sp>
        <p:nvSpPr>
          <p:cNvPr id="4" name="1 Título"/>
          <p:cNvSpPr>
            <a:spLocks noGrp="1"/>
          </p:cNvSpPr>
          <p:nvPr>
            <p:ph type="title"/>
          </p:nvPr>
        </p:nvSpPr>
        <p:spPr>
          <a:xfrm>
            <a:off x="357158" y="0"/>
            <a:ext cx="8429684" cy="857232"/>
          </a:xfrm>
        </p:spPr>
        <p:txBody>
          <a:bodyPr>
            <a:normAutofit/>
          </a:bodyPr>
          <a:lstStyle/>
          <a:p>
            <a:pPr algn="ctr"/>
            <a:r>
              <a:rPr lang="es-CR" sz="3600" dirty="0" smtClean="0"/>
              <a:t>Distribución de frecuencias</a:t>
            </a:r>
            <a:endParaRPr lang="es-CR" sz="3600" dirty="0"/>
          </a:p>
        </p:txBody>
      </p:sp>
      <p:pic>
        <p:nvPicPr>
          <p:cNvPr id="6145" name="Picture 1" descr="C:\Users\Oscar\Documents\Downloads\permafrost_distribution_in_the_arctic_large.jpg"/>
          <p:cNvPicPr>
            <a:picLocks noChangeAspect="1" noChangeArrowheads="1"/>
          </p:cNvPicPr>
          <p:nvPr/>
        </p:nvPicPr>
        <p:blipFill>
          <a:blip r:embed="rId2" cstate="print"/>
          <a:srcRect/>
          <a:stretch>
            <a:fillRect/>
          </a:stretch>
        </p:blipFill>
        <p:spPr bwMode="auto">
          <a:xfrm>
            <a:off x="6572264" y="857232"/>
            <a:ext cx="2308853" cy="2571768"/>
          </a:xfrm>
          <a:prstGeom prst="rect">
            <a:avLst/>
          </a:prstGeom>
          <a:noFill/>
        </p:spPr>
      </p:pic>
      <p:pic>
        <p:nvPicPr>
          <p:cNvPr id="6147" name="Picture 3" descr="http://www.lifespan.org/adam/graphics/images/es/18138.jpg"/>
          <p:cNvPicPr>
            <a:picLocks noChangeAspect="1" noChangeArrowheads="1"/>
          </p:cNvPicPr>
          <p:nvPr/>
        </p:nvPicPr>
        <p:blipFill>
          <a:blip r:embed="rId3" cstate="print"/>
          <a:srcRect/>
          <a:stretch>
            <a:fillRect/>
          </a:stretch>
        </p:blipFill>
        <p:spPr bwMode="auto">
          <a:xfrm>
            <a:off x="6500826" y="3929066"/>
            <a:ext cx="2053842" cy="250033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928670"/>
            <a:ext cx="7772400" cy="4572000"/>
          </a:xfrm>
        </p:spPr>
        <p:txBody>
          <a:bodyPr/>
          <a:lstStyle/>
          <a:p>
            <a:r>
              <a:rPr lang="es-CR" dirty="0" smtClean="0"/>
              <a:t>Para ilustrar todo lo </a:t>
            </a:r>
            <a:r>
              <a:rPr lang="es-CR" dirty="0" err="1" smtClean="0"/>
              <a:t>anterio</a:t>
            </a:r>
            <a:r>
              <a:rPr lang="es-CR" dirty="0" smtClean="0"/>
              <a:t>, considere el siguiente ejemplo</a:t>
            </a:r>
          </a:p>
          <a:p>
            <a:pPr>
              <a:buNone/>
            </a:pPr>
            <a:r>
              <a:rPr lang="es-CR" dirty="0" smtClean="0"/>
              <a:t>	</a:t>
            </a:r>
            <a:r>
              <a:rPr lang="es-CR" i="1" dirty="0" smtClean="0"/>
              <a:t>La información corresponde al número de </a:t>
            </a:r>
            <a:r>
              <a:rPr lang="es-CR" i="1" dirty="0" smtClean="0"/>
              <a:t>veces que 25 personas van al GYM por semana. </a:t>
            </a:r>
            <a:r>
              <a:rPr lang="es-CR" i="1" dirty="0" smtClean="0"/>
              <a:t>Los datos son los siguientes:</a:t>
            </a:r>
          </a:p>
          <a:p>
            <a:pPr>
              <a:buNone/>
            </a:pPr>
            <a:endParaRPr lang="es-CR" i="1" dirty="0" smtClean="0"/>
          </a:p>
          <a:p>
            <a:pPr>
              <a:buNone/>
            </a:pPr>
            <a:r>
              <a:rPr lang="es-CR" i="1" dirty="0" smtClean="0"/>
              <a:t> </a:t>
            </a:r>
            <a:endParaRPr lang="es-CR" dirty="0" smtClean="0"/>
          </a:p>
          <a:p>
            <a:pPr>
              <a:buNone/>
            </a:pPr>
            <a:r>
              <a:rPr lang="es-CR" dirty="0" smtClean="0"/>
              <a:t>	</a:t>
            </a:r>
            <a:endParaRPr lang="es-CR" dirty="0"/>
          </a:p>
        </p:txBody>
      </p:sp>
      <p:sp>
        <p:nvSpPr>
          <p:cNvPr id="4" name="1 Título"/>
          <p:cNvSpPr>
            <a:spLocks noGrp="1"/>
          </p:cNvSpPr>
          <p:nvPr>
            <p:ph type="title"/>
          </p:nvPr>
        </p:nvSpPr>
        <p:spPr>
          <a:xfrm>
            <a:off x="357158" y="0"/>
            <a:ext cx="8429684" cy="785794"/>
          </a:xfrm>
        </p:spPr>
        <p:txBody>
          <a:bodyPr>
            <a:normAutofit/>
          </a:bodyPr>
          <a:lstStyle/>
          <a:p>
            <a:pPr algn="ctr"/>
            <a:r>
              <a:rPr lang="es-CR" sz="3600" dirty="0" smtClean="0"/>
              <a:t>Distribución de frecuencias</a:t>
            </a:r>
            <a:endParaRPr lang="es-CR" sz="3600" dirty="0"/>
          </a:p>
        </p:txBody>
      </p:sp>
      <p:graphicFrame>
        <p:nvGraphicFramePr>
          <p:cNvPr id="5" name="4 Tabla"/>
          <p:cNvGraphicFramePr>
            <a:graphicFrameLocks noGrp="1"/>
          </p:cNvGraphicFramePr>
          <p:nvPr>
            <p:extLst>
              <p:ext uri="{D42A27DB-BD31-4B8C-83A1-F6EECF244321}">
                <p14:modId xmlns:p14="http://schemas.microsoft.com/office/powerpoint/2010/main" val="56437643"/>
              </p:ext>
            </p:extLst>
          </p:nvPr>
        </p:nvGraphicFramePr>
        <p:xfrm>
          <a:off x="500034" y="2500306"/>
          <a:ext cx="7715304" cy="3929090"/>
        </p:xfrm>
        <a:graphic>
          <a:graphicData uri="http://schemas.openxmlformats.org/drawingml/2006/table">
            <a:tbl>
              <a:tblPr/>
              <a:tblGrid>
                <a:gridCol w="1285884"/>
                <a:gridCol w="1285884"/>
                <a:gridCol w="1285884"/>
                <a:gridCol w="1285884"/>
                <a:gridCol w="1285884"/>
                <a:gridCol w="1285884"/>
              </a:tblGrid>
              <a:tr h="392909">
                <a:tc>
                  <a:txBody>
                    <a:bodyPr/>
                    <a:lstStyle/>
                    <a:p>
                      <a:pPr algn="ctr" fontAlgn="b"/>
                      <a:r>
                        <a:rPr lang="es-CR" sz="1400" b="0" i="0" u="none" strike="noStrike" dirty="0" smtClean="0">
                          <a:solidFill>
                            <a:srgbClr val="000000"/>
                          </a:solidFill>
                          <a:latin typeface="Arial" pitchFamily="34" charset="0"/>
                          <a:cs typeface="Arial" pitchFamily="34" charset="0"/>
                        </a:rPr>
                        <a:t>Personas</a:t>
                      </a:r>
                      <a:endParaRPr lang="es-CR" sz="1400" b="0" i="0" u="none" strike="noStrike" dirty="0">
                        <a:solidFill>
                          <a:srgbClr val="000000"/>
                        </a:solidFill>
                        <a:latin typeface="Arial" pitchFamily="34" charset="0"/>
                        <a:cs typeface="Arial"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ctr" fontAlgn="b"/>
                      <a:r>
                        <a:rPr lang="es-CR" sz="1400" b="0" i="0" u="none" strike="noStrike" dirty="0" smtClean="0">
                          <a:solidFill>
                            <a:srgbClr val="000000"/>
                          </a:solidFill>
                          <a:latin typeface="Arial" pitchFamily="34" charset="0"/>
                          <a:cs typeface="Arial" pitchFamily="34" charset="0"/>
                        </a:rPr>
                        <a:t>GYM</a:t>
                      </a:r>
                      <a:endParaRPr lang="es-CR" sz="1400" b="0" i="0" u="none" strike="noStrike" dirty="0">
                        <a:solidFill>
                          <a:srgbClr val="000000"/>
                        </a:solidFill>
                        <a:latin typeface="Arial" pitchFamily="34" charset="0"/>
                        <a:cs typeface="Arial"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ctr" fontAlgn="b"/>
                      <a:r>
                        <a:rPr lang="es-CR" sz="1400" b="0" i="0" u="none" strike="noStrike" dirty="0" smtClean="0">
                          <a:solidFill>
                            <a:srgbClr val="000000"/>
                          </a:solidFill>
                          <a:latin typeface="Arial" pitchFamily="34" charset="0"/>
                          <a:cs typeface="Arial" pitchFamily="34" charset="0"/>
                        </a:rPr>
                        <a:t>Personas</a:t>
                      </a:r>
                      <a:endParaRPr lang="es-CR" sz="1400" b="0" i="0" u="none" strike="noStrike" dirty="0">
                        <a:solidFill>
                          <a:srgbClr val="000000"/>
                        </a:solidFill>
                        <a:latin typeface="Arial" pitchFamily="34" charset="0"/>
                        <a:cs typeface="Arial"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ctr" fontAlgn="b"/>
                      <a:r>
                        <a:rPr lang="es-CR" sz="1400" b="0" i="0" u="none" strike="noStrike" dirty="0" smtClean="0">
                          <a:solidFill>
                            <a:srgbClr val="000000"/>
                          </a:solidFill>
                          <a:latin typeface="Arial" pitchFamily="34" charset="0"/>
                          <a:cs typeface="Arial" pitchFamily="34" charset="0"/>
                        </a:rPr>
                        <a:t>GYM</a:t>
                      </a:r>
                      <a:endParaRPr lang="es-CR" sz="1400" b="0" i="0" u="none" strike="noStrike" dirty="0">
                        <a:solidFill>
                          <a:srgbClr val="000000"/>
                        </a:solidFill>
                        <a:latin typeface="Arial" pitchFamily="34" charset="0"/>
                        <a:cs typeface="Arial"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ctr" fontAlgn="b"/>
                      <a:r>
                        <a:rPr lang="es-CR" sz="1400" b="0" i="0" u="none" strike="noStrike" dirty="0" smtClean="0">
                          <a:solidFill>
                            <a:srgbClr val="000000"/>
                          </a:solidFill>
                          <a:latin typeface="Arial" pitchFamily="34" charset="0"/>
                          <a:cs typeface="Arial" pitchFamily="34" charset="0"/>
                        </a:rPr>
                        <a:t>Personas</a:t>
                      </a:r>
                      <a:endParaRPr lang="es-CR" sz="1400" b="0" i="0" u="none" strike="noStrike" dirty="0">
                        <a:solidFill>
                          <a:srgbClr val="000000"/>
                        </a:solidFill>
                        <a:latin typeface="Arial" pitchFamily="34" charset="0"/>
                        <a:cs typeface="Arial"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c>
                  <a:txBody>
                    <a:bodyPr/>
                    <a:lstStyle/>
                    <a:p>
                      <a:pPr algn="ctr" fontAlgn="b"/>
                      <a:r>
                        <a:rPr lang="es-CR" sz="1400" b="0" i="0" u="none" strike="noStrike" dirty="0" smtClean="0">
                          <a:solidFill>
                            <a:srgbClr val="000000"/>
                          </a:solidFill>
                          <a:latin typeface="Arial" pitchFamily="34" charset="0"/>
                          <a:cs typeface="Arial" pitchFamily="34" charset="0"/>
                        </a:rPr>
                        <a:t>GYM</a:t>
                      </a:r>
                      <a:endParaRPr lang="es-CR" sz="1400" b="0" i="0" u="none" strike="noStrike" dirty="0">
                        <a:solidFill>
                          <a:srgbClr val="000000"/>
                        </a:solidFill>
                        <a:latin typeface="Arial" pitchFamily="34" charset="0"/>
                        <a:cs typeface="Arial"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4BC"/>
                    </a:solidFill>
                  </a:tcPr>
                </a:tc>
              </a:tr>
              <a:tr h="392909">
                <a:tc>
                  <a:txBody>
                    <a:bodyPr/>
                    <a:lstStyle/>
                    <a:p>
                      <a:pPr algn="ctr" fontAlgn="b"/>
                      <a:r>
                        <a:rPr lang="es-CR" sz="1400" b="0" i="0" u="none" strike="noStrike" dirty="0">
                          <a:solidFill>
                            <a:srgbClr val="000000"/>
                          </a:solidFill>
                          <a:latin typeface="Arial" pitchFamily="34" charset="0"/>
                          <a:cs typeface="Arial" pitchFamily="34" charset="0"/>
                        </a:rPr>
                        <a:t>AA</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3</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400" b="0" i="0" u="none" strike="noStrike">
                          <a:solidFill>
                            <a:srgbClr val="000000"/>
                          </a:solidFill>
                          <a:latin typeface="Arial" pitchFamily="34" charset="0"/>
                          <a:cs typeface="Arial" pitchFamily="34" charset="0"/>
                        </a:rPr>
                        <a:t>JB</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2</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400" b="0" i="0" u="none" strike="noStrike">
                          <a:solidFill>
                            <a:srgbClr val="000000"/>
                          </a:solidFill>
                          <a:latin typeface="Arial" pitchFamily="34" charset="0"/>
                          <a:cs typeface="Arial" pitchFamily="34" charset="0"/>
                        </a:rPr>
                        <a:t>MA</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3</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r>
              <a:tr h="392909">
                <a:tc>
                  <a:txBody>
                    <a:bodyPr/>
                    <a:lstStyle/>
                    <a:p>
                      <a:pPr algn="ctr" fontAlgn="b"/>
                      <a:r>
                        <a:rPr lang="es-CR" sz="1400" b="0" i="0" u="none" strike="noStrike" dirty="0">
                          <a:solidFill>
                            <a:srgbClr val="000000"/>
                          </a:solidFill>
                          <a:latin typeface="Arial" pitchFamily="34" charset="0"/>
                          <a:cs typeface="Arial" pitchFamily="34" charset="0"/>
                        </a:rPr>
                        <a:t>RA</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5</a:t>
                      </a:r>
                    </a:p>
                  </a:txBody>
                  <a:tcPr marL="9525" marR="9525" marT="9525" marB="0" anchor="b">
                    <a:lnL>
                      <a:noFill/>
                    </a:lnL>
                    <a:lnR>
                      <a:noFill/>
                    </a:lnR>
                    <a:lnT>
                      <a:noFill/>
                    </a:lnT>
                    <a:lnB>
                      <a:noFill/>
                    </a:lnB>
                  </a:tcPr>
                </a:tc>
                <a:tc>
                  <a:txBody>
                    <a:bodyPr/>
                    <a:lstStyle/>
                    <a:p>
                      <a:pPr algn="ctr" fontAlgn="b"/>
                      <a:r>
                        <a:rPr lang="es-CR" sz="1400" b="0" i="0" u="none" strike="noStrike">
                          <a:solidFill>
                            <a:srgbClr val="000000"/>
                          </a:solidFill>
                          <a:latin typeface="Arial" pitchFamily="34" charset="0"/>
                          <a:cs typeface="Arial" pitchFamily="34" charset="0"/>
                        </a:rPr>
                        <a:t>CA</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4</a:t>
                      </a:r>
                    </a:p>
                  </a:txBody>
                  <a:tcPr marL="9525" marR="9525" marT="9525" marB="0" anchor="b">
                    <a:lnL>
                      <a:noFill/>
                    </a:lnL>
                    <a:lnR>
                      <a:noFill/>
                    </a:lnR>
                    <a:lnT>
                      <a:noFill/>
                    </a:lnT>
                    <a:lnB>
                      <a:noFill/>
                    </a:lnB>
                  </a:tcPr>
                </a:tc>
                <a:tc>
                  <a:txBody>
                    <a:bodyPr/>
                    <a:lstStyle/>
                    <a:p>
                      <a:pPr algn="ctr" fontAlgn="b"/>
                      <a:r>
                        <a:rPr lang="es-CR" sz="1400" b="0" i="0" u="none" strike="noStrike">
                          <a:solidFill>
                            <a:srgbClr val="000000"/>
                          </a:solidFill>
                          <a:latin typeface="Arial" pitchFamily="34" charset="0"/>
                          <a:cs typeface="Arial" pitchFamily="34" charset="0"/>
                        </a:rPr>
                        <a:t>RC</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4</a:t>
                      </a:r>
                    </a:p>
                  </a:txBody>
                  <a:tcPr marL="9525" marR="9525" marT="9525" marB="0" anchor="b">
                    <a:lnL>
                      <a:noFill/>
                    </a:lnL>
                    <a:lnR>
                      <a:noFill/>
                    </a:lnR>
                    <a:lnT>
                      <a:noFill/>
                    </a:lnT>
                    <a:lnB>
                      <a:noFill/>
                    </a:lnB>
                  </a:tcPr>
                </a:tc>
              </a:tr>
              <a:tr h="392909">
                <a:tc>
                  <a:txBody>
                    <a:bodyPr/>
                    <a:lstStyle/>
                    <a:p>
                      <a:pPr algn="ctr" fontAlgn="b"/>
                      <a:r>
                        <a:rPr lang="es-CR" sz="1400" b="0" i="0" u="none" strike="noStrike">
                          <a:solidFill>
                            <a:srgbClr val="000000"/>
                          </a:solidFill>
                          <a:latin typeface="Arial" pitchFamily="34" charset="0"/>
                          <a:cs typeface="Arial" pitchFamily="34" charset="0"/>
                        </a:rPr>
                        <a:t>AD</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5</a:t>
                      </a:r>
                    </a:p>
                  </a:txBody>
                  <a:tcPr marL="9525" marR="9525" marT="9525" marB="0" anchor="b">
                    <a:lnL>
                      <a:noFill/>
                    </a:lnL>
                    <a:lnR>
                      <a:noFill/>
                    </a:lnR>
                    <a:lnT>
                      <a:noFill/>
                    </a:lnT>
                    <a:lnB>
                      <a:noFill/>
                    </a:lnB>
                  </a:tcPr>
                </a:tc>
                <a:tc>
                  <a:txBody>
                    <a:bodyPr/>
                    <a:lstStyle/>
                    <a:p>
                      <a:pPr algn="ctr" fontAlgn="b"/>
                      <a:r>
                        <a:rPr lang="es-CR" sz="1400" b="0" i="0" u="none" strike="noStrike" dirty="0">
                          <a:solidFill>
                            <a:srgbClr val="000000"/>
                          </a:solidFill>
                          <a:latin typeface="Arial" pitchFamily="34" charset="0"/>
                          <a:cs typeface="Arial" pitchFamily="34" charset="0"/>
                        </a:rPr>
                        <a:t>JE</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7</a:t>
                      </a:r>
                    </a:p>
                  </a:txBody>
                  <a:tcPr marL="9525" marR="9525" marT="9525" marB="0" anchor="b">
                    <a:lnL>
                      <a:noFill/>
                    </a:lnL>
                    <a:lnR>
                      <a:noFill/>
                    </a:lnR>
                    <a:lnT>
                      <a:noFill/>
                    </a:lnT>
                    <a:lnB>
                      <a:noFill/>
                    </a:lnB>
                  </a:tcPr>
                </a:tc>
                <a:tc>
                  <a:txBody>
                    <a:bodyPr/>
                    <a:lstStyle/>
                    <a:p>
                      <a:pPr algn="ctr" fontAlgn="b"/>
                      <a:r>
                        <a:rPr lang="es-CR" sz="1400" b="0" i="0" u="none" strike="noStrike">
                          <a:solidFill>
                            <a:srgbClr val="000000"/>
                          </a:solidFill>
                          <a:latin typeface="Arial" pitchFamily="34" charset="0"/>
                          <a:cs typeface="Arial" pitchFamily="34" charset="0"/>
                        </a:rPr>
                        <a:t>JE</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6</a:t>
                      </a:r>
                    </a:p>
                  </a:txBody>
                  <a:tcPr marL="9525" marR="9525" marT="9525" marB="0" anchor="b">
                    <a:lnL>
                      <a:noFill/>
                    </a:lnL>
                    <a:lnR>
                      <a:noFill/>
                    </a:lnR>
                    <a:lnT>
                      <a:noFill/>
                    </a:lnT>
                    <a:lnB>
                      <a:noFill/>
                    </a:lnB>
                  </a:tcPr>
                </a:tc>
              </a:tr>
              <a:tr h="392909">
                <a:tc>
                  <a:txBody>
                    <a:bodyPr/>
                    <a:lstStyle/>
                    <a:p>
                      <a:pPr algn="ctr" fontAlgn="b"/>
                      <a:r>
                        <a:rPr lang="es-CR" sz="1400" b="0" i="0" u="none" strike="noStrike">
                          <a:solidFill>
                            <a:srgbClr val="000000"/>
                          </a:solidFill>
                          <a:latin typeface="Arial" pitchFamily="34" charset="0"/>
                          <a:cs typeface="Arial" pitchFamily="34" charset="0"/>
                        </a:rPr>
                        <a:t>MM</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8</a:t>
                      </a:r>
                    </a:p>
                  </a:txBody>
                  <a:tcPr marL="9525" marR="9525" marT="9525" marB="0" anchor="b">
                    <a:lnL>
                      <a:noFill/>
                    </a:lnL>
                    <a:lnR>
                      <a:noFill/>
                    </a:lnR>
                    <a:lnT>
                      <a:noFill/>
                    </a:lnT>
                    <a:lnB>
                      <a:noFill/>
                    </a:lnB>
                  </a:tcPr>
                </a:tc>
                <a:tc>
                  <a:txBody>
                    <a:bodyPr/>
                    <a:lstStyle/>
                    <a:p>
                      <a:pPr algn="ctr" fontAlgn="b"/>
                      <a:r>
                        <a:rPr lang="es-CR" sz="1400" b="0" i="0" u="none" strike="noStrike" dirty="0">
                          <a:solidFill>
                            <a:srgbClr val="000000"/>
                          </a:solidFill>
                          <a:latin typeface="Arial" pitchFamily="34" charset="0"/>
                          <a:cs typeface="Arial" pitchFamily="34" charset="0"/>
                        </a:rPr>
                        <a:t>LM</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4</a:t>
                      </a:r>
                    </a:p>
                  </a:txBody>
                  <a:tcPr marL="9525" marR="9525" marT="9525" marB="0" anchor="b">
                    <a:lnL>
                      <a:noFill/>
                    </a:lnL>
                    <a:lnR>
                      <a:noFill/>
                    </a:lnR>
                    <a:lnT>
                      <a:noFill/>
                    </a:lnT>
                    <a:lnB>
                      <a:noFill/>
                    </a:lnB>
                  </a:tcPr>
                </a:tc>
                <a:tc>
                  <a:txBody>
                    <a:bodyPr/>
                    <a:lstStyle/>
                    <a:p>
                      <a:pPr algn="ctr" fontAlgn="b"/>
                      <a:r>
                        <a:rPr lang="es-CR" sz="1400" b="0" i="0" u="none" strike="noStrike" dirty="0">
                          <a:solidFill>
                            <a:srgbClr val="000000"/>
                          </a:solidFill>
                          <a:latin typeface="Arial" pitchFamily="34" charset="0"/>
                          <a:cs typeface="Arial" pitchFamily="34" charset="0"/>
                        </a:rPr>
                        <a:t>LP</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2</a:t>
                      </a:r>
                    </a:p>
                  </a:txBody>
                  <a:tcPr marL="9525" marR="9525" marT="9525" marB="0" anchor="b">
                    <a:lnL>
                      <a:noFill/>
                    </a:lnL>
                    <a:lnR>
                      <a:noFill/>
                    </a:lnR>
                    <a:lnT>
                      <a:noFill/>
                    </a:lnT>
                    <a:lnB>
                      <a:noFill/>
                    </a:lnB>
                  </a:tcPr>
                </a:tc>
              </a:tr>
              <a:tr h="392909">
                <a:tc>
                  <a:txBody>
                    <a:bodyPr/>
                    <a:lstStyle/>
                    <a:p>
                      <a:pPr algn="ctr" fontAlgn="b"/>
                      <a:r>
                        <a:rPr lang="es-CR" sz="1400" b="0" i="0" u="none" strike="noStrike">
                          <a:solidFill>
                            <a:srgbClr val="000000"/>
                          </a:solidFill>
                          <a:latin typeface="Arial" pitchFamily="34" charset="0"/>
                          <a:cs typeface="Arial" pitchFamily="34" charset="0"/>
                        </a:rPr>
                        <a:t>RQ</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7</a:t>
                      </a:r>
                    </a:p>
                  </a:txBody>
                  <a:tcPr marL="9525" marR="9525" marT="9525" marB="0" anchor="b">
                    <a:lnL>
                      <a:noFill/>
                    </a:lnL>
                    <a:lnR>
                      <a:noFill/>
                    </a:lnR>
                    <a:lnT>
                      <a:noFill/>
                    </a:lnT>
                    <a:lnB>
                      <a:noFill/>
                    </a:lnB>
                  </a:tcPr>
                </a:tc>
                <a:tc>
                  <a:txBody>
                    <a:bodyPr/>
                    <a:lstStyle/>
                    <a:p>
                      <a:pPr algn="ctr" fontAlgn="b"/>
                      <a:r>
                        <a:rPr lang="es-CR" sz="1400" b="0" i="0" u="none" strike="noStrike">
                          <a:solidFill>
                            <a:srgbClr val="000000"/>
                          </a:solidFill>
                          <a:latin typeface="Arial" pitchFamily="34" charset="0"/>
                          <a:cs typeface="Arial" pitchFamily="34" charset="0"/>
                        </a:rPr>
                        <a:t>PR</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4</a:t>
                      </a:r>
                    </a:p>
                  </a:txBody>
                  <a:tcPr marL="9525" marR="9525" marT="9525" marB="0" anchor="b">
                    <a:lnL>
                      <a:noFill/>
                    </a:lnL>
                    <a:lnR>
                      <a:noFill/>
                    </a:lnR>
                    <a:lnT>
                      <a:noFill/>
                    </a:lnT>
                    <a:lnB>
                      <a:noFill/>
                    </a:lnB>
                  </a:tcPr>
                </a:tc>
                <a:tc>
                  <a:txBody>
                    <a:bodyPr/>
                    <a:lstStyle/>
                    <a:p>
                      <a:pPr algn="ctr" fontAlgn="b"/>
                      <a:r>
                        <a:rPr lang="es-CR" sz="1400" b="0" i="0" u="none" strike="noStrike" dirty="0">
                          <a:solidFill>
                            <a:srgbClr val="000000"/>
                          </a:solidFill>
                          <a:latin typeface="Arial" pitchFamily="34" charset="0"/>
                          <a:cs typeface="Arial" pitchFamily="34" charset="0"/>
                        </a:rPr>
                        <a:t>CV</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8</a:t>
                      </a:r>
                    </a:p>
                  </a:txBody>
                  <a:tcPr marL="9525" marR="9525" marT="9525" marB="0" anchor="b">
                    <a:lnL>
                      <a:noFill/>
                    </a:lnL>
                    <a:lnR>
                      <a:noFill/>
                    </a:lnR>
                    <a:lnT>
                      <a:noFill/>
                    </a:lnT>
                    <a:lnB>
                      <a:noFill/>
                    </a:lnB>
                  </a:tcPr>
                </a:tc>
              </a:tr>
              <a:tr h="392909">
                <a:tc>
                  <a:txBody>
                    <a:bodyPr/>
                    <a:lstStyle/>
                    <a:p>
                      <a:pPr algn="ctr" fontAlgn="b"/>
                      <a:r>
                        <a:rPr lang="es-CR" sz="1400" b="0" i="0" u="none" strike="noStrike">
                          <a:solidFill>
                            <a:srgbClr val="000000"/>
                          </a:solidFill>
                          <a:latin typeface="Arial" pitchFamily="34" charset="0"/>
                          <a:cs typeface="Arial" pitchFamily="34" charset="0"/>
                        </a:rPr>
                        <a:t>RG</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3</a:t>
                      </a:r>
                    </a:p>
                  </a:txBody>
                  <a:tcPr marL="9525" marR="9525" marT="9525" marB="0" anchor="b">
                    <a:lnL>
                      <a:noFill/>
                    </a:lnL>
                    <a:lnR>
                      <a:noFill/>
                    </a:lnR>
                    <a:lnT>
                      <a:noFill/>
                    </a:lnT>
                    <a:lnB>
                      <a:noFill/>
                    </a:lnB>
                  </a:tcPr>
                </a:tc>
                <a:tc>
                  <a:txBody>
                    <a:bodyPr/>
                    <a:lstStyle/>
                    <a:p>
                      <a:pPr algn="ctr" fontAlgn="b"/>
                      <a:r>
                        <a:rPr lang="es-CR" sz="1400" b="0" i="0" u="none" strike="noStrike">
                          <a:solidFill>
                            <a:srgbClr val="000000"/>
                          </a:solidFill>
                          <a:latin typeface="Arial" pitchFamily="34" charset="0"/>
                          <a:cs typeface="Arial" pitchFamily="34" charset="0"/>
                        </a:rPr>
                        <a:t>GG</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1</a:t>
                      </a:r>
                    </a:p>
                  </a:txBody>
                  <a:tcPr marL="9525" marR="9525" marT="9525" marB="0" anchor="b">
                    <a:lnL>
                      <a:noFill/>
                    </a:lnL>
                    <a:lnR>
                      <a:noFill/>
                    </a:lnR>
                    <a:lnT>
                      <a:noFill/>
                    </a:lnT>
                    <a:lnB>
                      <a:noFill/>
                    </a:lnB>
                  </a:tcPr>
                </a:tc>
                <a:tc>
                  <a:txBody>
                    <a:bodyPr/>
                    <a:lstStyle/>
                    <a:p>
                      <a:pPr algn="ctr" fontAlgn="b"/>
                      <a:r>
                        <a:rPr lang="es-CR" sz="1400" b="0" i="0" u="none" strike="noStrike" dirty="0">
                          <a:solidFill>
                            <a:srgbClr val="000000"/>
                          </a:solidFill>
                          <a:latin typeface="Arial" pitchFamily="34" charset="0"/>
                          <a:cs typeface="Arial" pitchFamily="34" charset="0"/>
                        </a:rPr>
                        <a:t>AG</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3</a:t>
                      </a:r>
                    </a:p>
                  </a:txBody>
                  <a:tcPr marL="9525" marR="9525" marT="9525" marB="0" anchor="b">
                    <a:lnL>
                      <a:noFill/>
                    </a:lnL>
                    <a:lnR>
                      <a:noFill/>
                    </a:lnR>
                    <a:lnT>
                      <a:noFill/>
                    </a:lnT>
                    <a:lnB>
                      <a:noFill/>
                    </a:lnB>
                  </a:tcPr>
                </a:tc>
              </a:tr>
              <a:tr h="392909">
                <a:tc>
                  <a:txBody>
                    <a:bodyPr/>
                    <a:lstStyle/>
                    <a:p>
                      <a:pPr algn="ctr" fontAlgn="b"/>
                      <a:r>
                        <a:rPr lang="es-CR" sz="1400" b="0" i="0" u="none" strike="noStrike">
                          <a:solidFill>
                            <a:srgbClr val="000000"/>
                          </a:solidFill>
                          <a:latin typeface="Arial" pitchFamily="34" charset="0"/>
                          <a:cs typeface="Arial" pitchFamily="34" charset="0"/>
                        </a:rPr>
                        <a:t>FG</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2</a:t>
                      </a:r>
                    </a:p>
                  </a:txBody>
                  <a:tcPr marL="9525" marR="9525" marT="9525" marB="0" anchor="b">
                    <a:lnL>
                      <a:noFill/>
                    </a:lnL>
                    <a:lnR>
                      <a:noFill/>
                    </a:lnR>
                    <a:lnT>
                      <a:noFill/>
                    </a:lnT>
                    <a:lnB>
                      <a:noFill/>
                    </a:lnB>
                  </a:tcPr>
                </a:tc>
                <a:tc>
                  <a:txBody>
                    <a:bodyPr/>
                    <a:lstStyle/>
                    <a:p>
                      <a:pPr algn="ctr" fontAlgn="b"/>
                      <a:r>
                        <a:rPr lang="es-CR" sz="1400" b="0" i="0" u="none" strike="noStrike">
                          <a:solidFill>
                            <a:srgbClr val="000000"/>
                          </a:solidFill>
                          <a:latin typeface="Arial" pitchFamily="34" charset="0"/>
                          <a:cs typeface="Arial" pitchFamily="34" charset="0"/>
                        </a:rPr>
                        <a:t>HH</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4</a:t>
                      </a:r>
                    </a:p>
                  </a:txBody>
                  <a:tcPr marL="9525" marR="9525" marT="9525" marB="0" anchor="b">
                    <a:lnL>
                      <a:noFill/>
                    </a:lnL>
                    <a:lnR>
                      <a:noFill/>
                    </a:lnR>
                    <a:lnT>
                      <a:noFill/>
                    </a:lnT>
                    <a:lnB>
                      <a:noFill/>
                    </a:lnB>
                  </a:tcPr>
                </a:tc>
                <a:tc>
                  <a:txBody>
                    <a:bodyPr/>
                    <a:lstStyle/>
                    <a:p>
                      <a:pPr algn="ctr" fontAlgn="b"/>
                      <a:r>
                        <a:rPr lang="es-CR" sz="1400" b="0" i="0" u="none" strike="noStrike" dirty="0">
                          <a:solidFill>
                            <a:srgbClr val="000000"/>
                          </a:solidFill>
                          <a:latin typeface="Arial" pitchFamily="34" charset="0"/>
                          <a:cs typeface="Arial" pitchFamily="34" charset="0"/>
                        </a:rPr>
                        <a:t>VH</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4</a:t>
                      </a:r>
                    </a:p>
                  </a:txBody>
                  <a:tcPr marL="9525" marR="9525" marT="9525" marB="0" anchor="b">
                    <a:lnL>
                      <a:noFill/>
                    </a:lnL>
                    <a:lnR>
                      <a:noFill/>
                    </a:lnR>
                    <a:lnT>
                      <a:noFill/>
                    </a:lnT>
                    <a:lnB>
                      <a:noFill/>
                    </a:lnB>
                  </a:tcPr>
                </a:tc>
              </a:tr>
              <a:tr h="392909">
                <a:tc>
                  <a:txBody>
                    <a:bodyPr/>
                    <a:lstStyle/>
                    <a:p>
                      <a:pPr algn="ctr" fontAlgn="b"/>
                      <a:r>
                        <a:rPr lang="es-CR" sz="1400" b="0" i="0" u="none" strike="noStrike">
                          <a:solidFill>
                            <a:srgbClr val="000000"/>
                          </a:solidFill>
                          <a:latin typeface="Arial" pitchFamily="34" charset="0"/>
                          <a:cs typeface="Arial" pitchFamily="34" charset="0"/>
                        </a:rPr>
                        <a:t>RJ</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4</a:t>
                      </a:r>
                    </a:p>
                  </a:txBody>
                  <a:tcPr marL="9525" marR="9525" marT="9525" marB="0" anchor="b">
                    <a:lnL>
                      <a:noFill/>
                    </a:lnL>
                    <a:lnR>
                      <a:noFill/>
                    </a:lnR>
                    <a:lnT>
                      <a:noFill/>
                    </a:lnT>
                    <a:lnB>
                      <a:noFill/>
                    </a:lnB>
                  </a:tcPr>
                </a:tc>
                <a:tc>
                  <a:txBody>
                    <a:bodyPr/>
                    <a:lstStyle/>
                    <a:p>
                      <a:pPr algn="ctr" fontAlgn="b"/>
                      <a:r>
                        <a:rPr lang="es-CR" sz="1400" b="0" i="0" u="none" strike="noStrike">
                          <a:solidFill>
                            <a:srgbClr val="000000"/>
                          </a:solidFill>
                          <a:latin typeface="Arial" pitchFamily="34" charset="0"/>
                          <a:cs typeface="Arial" pitchFamily="34" charset="0"/>
                        </a:rPr>
                        <a:t>MJ</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1</a:t>
                      </a:r>
                    </a:p>
                  </a:txBody>
                  <a:tcPr marL="9525" marR="9525" marT="9525" marB="0" anchor="b">
                    <a:lnL>
                      <a:noFill/>
                    </a:lnL>
                    <a:lnR>
                      <a:noFill/>
                    </a:lnR>
                    <a:lnT>
                      <a:noFill/>
                    </a:lnT>
                    <a:lnB>
                      <a:noFill/>
                    </a:lnB>
                  </a:tcPr>
                </a:tc>
                <a:tc>
                  <a:txBody>
                    <a:bodyPr/>
                    <a:lstStyle/>
                    <a:p>
                      <a:pPr algn="ctr" fontAlgn="b"/>
                      <a:r>
                        <a:rPr lang="es-CR" sz="1400" b="0" i="0" u="none" strike="noStrike">
                          <a:solidFill>
                            <a:srgbClr val="000000"/>
                          </a:solidFill>
                          <a:latin typeface="Arial" pitchFamily="34" charset="0"/>
                          <a:cs typeface="Arial" pitchFamily="34" charset="0"/>
                        </a:rPr>
                        <a:t>MV</a:t>
                      </a:r>
                    </a:p>
                  </a:txBody>
                  <a:tcPr marL="9525" marR="9525" marT="9525" marB="0" anchor="b">
                    <a:lnL>
                      <a:noFill/>
                    </a:lnL>
                    <a:lnR>
                      <a:noFill/>
                    </a:lnR>
                    <a:lnT>
                      <a:noFill/>
                    </a:lnT>
                    <a:lnB>
                      <a:noFill/>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5</a:t>
                      </a:r>
                    </a:p>
                  </a:txBody>
                  <a:tcPr marL="9525" marR="9525" marT="9525" marB="0" anchor="b">
                    <a:lnL>
                      <a:noFill/>
                    </a:lnL>
                    <a:lnR>
                      <a:noFill/>
                    </a:lnR>
                    <a:lnT>
                      <a:noFill/>
                    </a:lnT>
                    <a:lnB>
                      <a:noFill/>
                    </a:lnB>
                  </a:tcPr>
                </a:tc>
              </a:tr>
              <a:tr h="392909">
                <a:tc>
                  <a:txBody>
                    <a:bodyPr/>
                    <a:lstStyle/>
                    <a:p>
                      <a:pPr algn="ctr" fontAlgn="b"/>
                      <a:r>
                        <a:rPr lang="es-CR" sz="1400" b="0" i="0" u="none" strike="noStrike">
                          <a:solidFill>
                            <a:srgbClr val="000000"/>
                          </a:solidFill>
                          <a:latin typeface="Arial" pitchFamily="34" charset="0"/>
                          <a:cs typeface="Arial" pitchFamily="34" charset="0"/>
                        </a:rPr>
                        <a:t>JZ</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4</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1400" b="0" i="0" u="none" strike="noStrike" dirty="0">
                          <a:solidFill>
                            <a:srgbClr val="000000"/>
                          </a:solidFill>
                          <a:latin typeface="Arial" pitchFamily="34" charset="0"/>
                          <a:cs typeface="Arial" pitchFamily="34" charset="0"/>
                        </a:rPr>
                        <a:t>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E5E0EC"/>
                    </a:solidFill>
                  </a:tcPr>
                </a:tc>
                <a:tc>
                  <a:txBody>
                    <a:bodyPr/>
                    <a:lstStyle/>
                    <a:p>
                      <a:pPr algn="ctr" fontAlgn="b"/>
                      <a:r>
                        <a:rPr lang="es-CR" sz="1400" b="0" i="0" u="none" strike="noStrike">
                          <a:solidFill>
                            <a:srgbClr val="000000"/>
                          </a:solidFill>
                          <a:latin typeface="Arial" pitchFamily="34" charset="0"/>
                          <a:cs typeface="Arial" pitchFamily="34" charset="0"/>
                        </a:rPr>
                        <a:t>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1400" b="0" i="0" u="none" strike="noStrike">
                          <a:solidFill>
                            <a:srgbClr val="000000"/>
                          </a:solidFill>
                          <a:latin typeface="Arial" pitchFamily="34" charset="0"/>
                          <a:cs typeface="Arial" pitchFamily="34" charset="0"/>
                        </a:rPr>
                        <a:t>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E5E0EC"/>
                    </a:solidFill>
                  </a:tcPr>
                </a:tc>
                <a:tc>
                  <a:txBody>
                    <a:bodyPr/>
                    <a:lstStyle/>
                    <a:p>
                      <a:pPr algn="ctr" fontAlgn="b"/>
                      <a:r>
                        <a:rPr lang="es-CR" sz="1400" b="0" i="0" u="none" strike="noStrike" dirty="0">
                          <a:solidFill>
                            <a:srgbClr val="000000"/>
                          </a:solidFill>
                          <a:latin typeface="Arial" pitchFamily="34" charset="0"/>
                          <a:cs typeface="Arial" pitchFamily="34" charset="0"/>
                        </a:rPr>
                        <a:t>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071546"/>
            <a:ext cx="8358246" cy="5786454"/>
          </a:xfrm>
        </p:spPr>
        <p:txBody>
          <a:bodyPr>
            <a:noAutofit/>
          </a:bodyPr>
          <a:lstStyle/>
          <a:p>
            <a:pPr algn="just"/>
            <a:r>
              <a:rPr lang="es-CR" sz="2000" dirty="0" smtClean="0"/>
              <a:t>Para este tipo de datos se puede aplicar un análisis más cómodo y </a:t>
            </a:r>
            <a:r>
              <a:rPr lang="es-CR" sz="2000" dirty="0" smtClean="0"/>
              <a:t>eficiente, </a:t>
            </a:r>
            <a:r>
              <a:rPr lang="es-CR" sz="2000" dirty="0" smtClean="0"/>
              <a:t>agrupando las respuestas en una distribución de frecuencia, tal como aparece a continuación.</a:t>
            </a:r>
          </a:p>
          <a:p>
            <a:pPr algn="just"/>
            <a:endParaRPr lang="es-CR" sz="2000" dirty="0" smtClean="0"/>
          </a:p>
          <a:p>
            <a:pPr algn="just"/>
            <a:endParaRPr lang="es-CR" sz="2000" dirty="0"/>
          </a:p>
          <a:p>
            <a:pPr algn="just"/>
            <a:endParaRPr lang="es-CR" sz="2000" dirty="0" smtClean="0"/>
          </a:p>
          <a:p>
            <a:pPr algn="just"/>
            <a:endParaRPr lang="es-CR" sz="2000" dirty="0"/>
          </a:p>
          <a:p>
            <a:pPr algn="just"/>
            <a:endParaRPr lang="es-CR" sz="2000" dirty="0" smtClean="0"/>
          </a:p>
          <a:p>
            <a:pPr algn="just"/>
            <a:endParaRPr lang="es-CR" sz="2000" dirty="0" smtClean="0"/>
          </a:p>
          <a:p>
            <a:pPr algn="just"/>
            <a:endParaRPr lang="es-CR" sz="2000" dirty="0" smtClean="0"/>
          </a:p>
          <a:p>
            <a:pPr algn="just"/>
            <a:endParaRPr lang="es-CR" sz="2000" dirty="0" smtClean="0"/>
          </a:p>
          <a:p>
            <a:pPr algn="just"/>
            <a:endParaRPr lang="es-CR" sz="2000" dirty="0" smtClean="0"/>
          </a:p>
          <a:p>
            <a:pPr algn="just"/>
            <a:endParaRPr lang="es-CR" sz="2000" dirty="0" smtClean="0"/>
          </a:p>
          <a:p>
            <a:pPr algn="just"/>
            <a:endParaRPr lang="es-CR" sz="2000" dirty="0" smtClean="0"/>
          </a:p>
          <a:p>
            <a:pPr algn="just"/>
            <a:r>
              <a:rPr lang="es-CR" sz="2000" dirty="0" smtClean="0"/>
              <a:t>Mediante este ordenamiento de los datos es posible “hablar de la información”.</a:t>
            </a:r>
            <a:endParaRPr lang="es-CR" sz="2000" dirty="0"/>
          </a:p>
        </p:txBody>
      </p:sp>
      <p:sp>
        <p:nvSpPr>
          <p:cNvPr id="4" name="1 Título"/>
          <p:cNvSpPr>
            <a:spLocks noGrp="1"/>
          </p:cNvSpPr>
          <p:nvPr>
            <p:ph type="title"/>
          </p:nvPr>
        </p:nvSpPr>
        <p:spPr>
          <a:xfrm>
            <a:off x="357158" y="0"/>
            <a:ext cx="8429684" cy="785794"/>
          </a:xfrm>
        </p:spPr>
        <p:txBody>
          <a:bodyPr/>
          <a:lstStyle/>
          <a:p>
            <a:pPr algn="ctr"/>
            <a:r>
              <a:rPr lang="es-CR" dirty="0" smtClean="0"/>
              <a:t>Distribución de frecuencias</a:t>
            </a:r>
            <a:endParaRPr lang="es-CR" dirty="0"/>
          </a:p>
        </p:txBody>
      </p:sp>
      <p:graphicFrame>
        <p:nvGraphicFramePr>
          <p:cNvPr id="5" name="4 Tabla"/>
          <p:cNvGraphicFramePr>
            <a:graphicFrameLocks noGrp="1"/>
          </p:cNvGraphicFramePr>
          <p:nvPr>
            <p:extLst>
              <p:ext uri="{D42A27DB-BD31-4B8C-83A1-F6EECF244321}">
                <p14:modId xmlns:p14="http://schemas.microsoft.com/office/powerpoint/2010/main" val="3667332537"/>
              </p:ext>
            </p:extLst>
          </p:nvPr>
        </p:nvGraphicFramePr>
        <p:xfrm>
          <a:off x="251520" y="2276872"/>
          <a:ext cx="8501122" cy="3348720"/>
        </p:xfrm>
        <a:graphic>
          <a:graphicData uri="http://schemas.openxmlformats.org/drawingml/2006/table">
            <a:tbl>
              <a:tblPr/>
              <a:tblGrid>
                <a:gridCol w="1596129"/>
                <a:gridCol w="1977812"/>
                <a:gridCol w="1977812"/>
                <a:gridCol w="1856368"/>
                <a:gridCol w="1093001"/>
              </a:tblGrid>
              <a:tr h="316835">
                <a:tc>
                  <a:txBody>
                    <a:bodyPr/>
                    <a:lstStyle/>
                    <a:p>
                      <a:pPr algn="ctr" fontAlgn="b"/>
                      <a:r>
                        <a:rPr lang="es-CR" sz="1600" b="0" i="0" u="none" strike="noStrike" dirty="0" smtClean="0">
                          <a:solidFill>
                            <a:srgbClr val="000000"/>
                          </a:solidFill>
                          <a:latin typeface="Arial"/>
                        </a:rPr>
                        <a:t>GYM</a:t>
                      </a:r>
                      <a:r>
                        <a:rPr lang="es-CR" sz="1600" b="0" i="0" u="none" strike="noStrike" baseline="0" dirty="0" smtClean="0">
                          <a:solidFill>
                            <a:srgbClr val="000000"/>
                          </a:solidFill>
                          <a:latin typeface="Arial"/>
                        </a:rPr>
                        <a:t> por semana</a:t>
                      </a:r>
                      <a:endParaRPr lang="es-CR" sz="1600" b="0" i="0" u="none" strike="noStrike" dirty="0">
                        <a:solidFill>
                          <a:srgbClr val="000000"/>
                        </a:solidFill>
                        <a:latin typeface="Arial"/>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D69A"/>
                    </a:solidFill>
                  </a:tcPr>
                </a:tc>
                <a:tc>
                  <a:txBody>
                    <a:bodyPr/>
                    <a:lstStyle/>
                    <a:p>
                      <a:pPr algn="ctr" fontAlgn="b"/>
                      <a:r>
                        <a:rPr lang="es-CR" sz="1600" b="0" i="0" u="none" strike="noStrike" dirty="0" smtClean="0">
                          <a:solidFill>
                            <a:srgbClr val="000000"/>
                          </a:solidFill>
                          <a:latin typeface="Arial"/>
                        </a:rPr>
                        <a:t>Recuento</a:t>
                      </a:r>
                      <a:endParaRPr lang="es-CR" sz="1600" b="0" i="0" u="none" strike="noStrike" dirty="0">
                        <a:solidFill>
                          <a:srgbClr val="000000"/>
                        </a:solidFill>
                        <a:latin typeface="Arial"/>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D69A"/>
                    </a:solidFill>
                  </a:tcPr>
                </a:tc>
                <a:tc>
                  <a:txBody>
                    <a:bodyPr/>
                    <a:lstStyle/>
                    <a:p>
                      <a:pPr algn="ctr" fontAlgn="b"/>
                      <a:r>
                        <a:rPr lang="es-CR" sz="1600" b="0" i="0" u="none" strike="noStrike" dirty="0">
                          <a:solidFill>
                            <a:srgbClr val="000000"/>
                          </a:solidFill>
                          <a:latin typeface="Arial"/>
                        </a:rPr>
                        <a:t>Frecuencia absoluta</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D69A"/>
                    </a:solidFill>
                  </a:tcPr>
                </a:tc>
                <a:tc>
                  <a:txBody>
                    <a:bodyPr/>
                    <a:lstStyle/>
                    <a:p>
                      <a:pPr algn="ctr" fontAlgn="b"/>
                      <a:r>
                        <a:rPr lang="es-CR" sz="1600" b="0" i="0" u="none" strike="noStrike">
                          <a:solidFill>
                            <a:srgbClr val="000000"/>
                          </a:solidFill>
                          <a:latin typeface="Arial"/>
                        </a:rPr>
                        <a:t>Frecuencia relativa</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D69A"/>
                    </a:solidFill>
                  </a:tcPr>
                </a:tc>
                <a:tc>
                  <a:txBody>
                    <a:bodyPr/>
                    <a:lstStyle/>
                    <a:p>
                      <a:pPr algn="ctr" fontAlgn="b"/>
                      <a:r>
                        <a:rPr lang="es-CR" sz="1600" b="0" i="0" u="none" strike="noStrike">
                          <a:solidFill>
                            <a:srgbClr val="000000"/>
                          </a:solidFill>
                          <a:latin typeface="Arial"/>
                        </a:rPr>
                        <a:t>Porcentaje</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D69A"/>
                    </a:solidFill>
                  </a:tcPr>
                </a:tc>
              </a:tr>
              <a:tr h="316835">
                <a:tc>
                  <a:txBody>
                    <a:bodyPr/>
                    <a:lstStyle/>
                    <a:p>
                      <a:pPr algn="ctr" fontAlgn="b"/>
                      <a:r>
                        <a:rPr lang="es-CR" sz="1600" b="0" i="0" u="none" strike="noStrike" dirty="0">
                          <a:solidFill>
                            <a:srgbClr val="000000"/>
                          </a:solidFill>
                          <a:latin typeface="Arial"/>
                        </a:rPr>
                        <a:t>1</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8DB4E3"/>
                    </a:solidFill>
                  </a:tcPr>
                </a:tc>
                <a:tc>
                  <a:txBody>
                    <a:bodyPr/>
                    <a:lstStyle/>
                    <a:p>
                      <a:pPr algn="ctr" fontAlgn="b"/>
                      <a:r>
                        <a:rPr lang="es-CR" sz="1600" b="0" i="0" u="none" strike="noStrike" dirty="0" smtClean="0">
                          <a:solidFill>
                            <a:srgbClr val="000000"/>
                          </a:solidFill>
                          <a:latin typeface="Arial"/>
                        </a:rPr>
                        <a:t>II</a:t>
                      </a:r>
                      <a:endParaRPr lang="es-CR" sz="1600" b="0" i="0" u="none" strike="noStrike" dirty="0">
                        <a:solidFill>
                          <a:srgbClr val="000000"/>
                        </a:solidFill>
                        <a:latin typeface="Arial"/>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600" b="0" i="0" u="none" strike="noStrike" dirty="0">
                          <a:solidFill>
                            <a:srgbClr val="000000"/>
                          </a:solidFill>
                          <a:latin typeface="Arial"/>
                        </a:rPr>
                        <a:t>2</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600" b="0" i="0" u="none" strike="noStrike">
                          <a:solidFill>
                            <a:srgbClr val="000000"/>
                          </a:solidFill>
                          <a:latin typeface="Arial"/>
                        </a:rPr>
                        <a:t>0,08</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600" b="0" i="0" u="none" strike="noStrike">
                          <a:solidFill>
                            <a:srgbClr val="000000"/>
                          </a:solidFill>
                          <a:latin typeface="Arial"/>
                        </a:rPr>
                        <a:t>8</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r>
              <a:tr h="316835">
                <a:tc>
                  <a:txBody>
                    <a:bodyPr/>
                    <a:lstStyle/>
                    <a:p>
                      <a:pPr algn="ctr" fontAlgn="b"/>
                      <a:r>
                        <a:rPr lang="es-CR" sz="1600" b="0" i="0" u="none" strike="noStrike">
                          <a:solidFill>
                            <a:srgbClr val="000000"/>
                          </a:solidFill>
                          <a:latin typeface="Arial"/>
                        </a:rPr>
                        <a:t>2</a:t>
                      </a:r>
                    </a:p>
                  </a:txBody>
                  <a:tcPr marL="9525" marR="9525" marT="9525" marB="0" anchor="b">
                    <a:lnL>
                      <a:noFill/>
                    </a:lnL>
                    <a:lnR>
                      <a:noFill/>
                    </a:lnR>
                    <a:lnT>
                      <a:noFill/>
                    </a:lnT>
                    <a:lnB>
                      <a:noFill/>
                    </a:lnB>
                    <a:solidFill>
                      <a:srgbClr val="8DB4E3"/>
                    </a:solidFill>
                  </a:tcPr>
                </a:tc>
                <a:tc>
                  <a:txBody>
                    <a:bodyPr/>
                    <a:lstStyle/>
                    <a:p>
                      <a:pPr algn="ctr" fontAlgn="b"/>
                      <a:r>
                        <a:rPr lang="es-CR" sz="1600" b="0" i="0" u="none" strike="noStrike" dirty="0" smtClean="0">
                          <a:solidFill>
                            <a:srgbClr val="000000"/>
                          </a:solidFill>
                          <a:latin typeface="Arial"/>
                        </a:rPr>
                        <a:t> III</a:t>
                      </a:r>
                      <a:endParaRPr lang="es-CR" sz="1600" b="0" i="0" u="none" strike="noStrike" dirty="0">
                        <a:solidFill>
                          <a:srgbClr val="000000"/>
                        </a:solidFill>
                        <a:latin typeface="Arial"/>
                      </a:endParaRP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3</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a:rPr>
                        <a:t>0,12</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12</a:t>
                      </a:r>
                    </a:p>
                  </a:txBody>
                  <a:tcPr marL="9525" marR="9525" marT="9525" marB="0" anchor="b">
                    <a:lnL>
                      <a:noFill/>
                    </a:lnL>
                    <a:lnR>
                      <a:noFill/>
                    </a:lnR>
                    <a:lnT>
                      <a:noFill/>
                    </a:lnT>
                    <a:lnB>
                      <a:noFill/>
                    </a:lnB>
                  </a:tcPr>
                </a:tc>
              </a:tr>
              <a:tr h="316835">
                <a:tc>
                  <a:txBody>
                    <a:bodyPr/>
                    <a:lstStyle/>
                    <a:p>
                      <a:pPr algn="ctr" fontAlgn="b"/>
                      <a:r>
                        <a:rPr lang="es-CR" sz="1600" b="0" i="0" u="none" strike="noStrike">
                          <a:solidFill>
                            <a:srgbClr val="000000"/>
                          </a:solidFill>
                          <a:latin typeface="Arial"/>
                        </a:rPr>
                        <a:t>3</a:t>
                      </a:r>
                    </a:p>
                  </a:txBody>
                  <a:tcPr marL="9525" marR="9525" marT="9525" marB="0" anchor="b">
                    <a:lnL>
                      <a:noFill/>
                    </a:lnL>
                    <a:lnR>
                      <a:noFill/>
                    </a:lnR>
                    <a:lnT>
                      <a:noFill/>
                    </a:lnT>
                    <a:lnB>
                      <a:noFill/>
                    </a:lnB>
                    <a:solidFill>
                      <a:srgbClr val="8DB4E3"/>
                    </a:solidFill>
                  </a:tcPr>
                </a:tc>
                <a:tc>
                  <a:txBody>
                    <a:bodyPr/>
                    <a:lstStyle/>
                    <a:p>
                      <a:pPr algn="ctr" fontAlgn="b"/>
                      <a:r>
                        <a:rPr lang="es-CR" sz="1600" b="0" i="0" u="none" strike="noStrike" dirty="0" smtClean="0">
                          <a:solidFill>
                            <a:srgbClr val="000000"/>
                          </a:solidFill>
                          <a:latin typeface="Arial"/>
                        </a:rPr>
                        <a:t>  IIII</a:t>
                      </a:r>
                      <a:endParaRPr lang="es-CR" sz="1600" b="0" i="0" u="none" strike="noStrike" dirty="0">
                        <a:solidFill>
                          <a:srgbClr val="000000"/>
                        </a:solidFill>
                        <a:latin typeface="Arial"/>
                      </a:endParaRP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4</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a:rPr>
                        <a:t>0,16</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a:rPr>
                        <a:t>16</a:t>
                      </a:r>
                    </a:p>
                  </a:txBody>
                  <a:tcPr marL="9525" marR="9525" marT="9525" marB="0" anchor="b">
                    <a:lnL>
                      <a:noFill/>
                    </a:lnL>
                    <a:lnR>
                      <a:noFill/>
                    </a:lnR>
                    <a:lnT>
                      <a:noFill/>
                    </a:lnT>
                    <a:lnB>
                      <a:noFill/>
                    </a:lnB>
                  </a:tcPr>
                </a:tc>
              </a:tr>
              <a:tr h="316835">
                <a:tc>
                  <a:txBody>
                    <a:bodyPr/>
                    <a:lstStyle/>
                    <a:p>
                      <a:pPr algn="ctr" fontAlgn="b"/>
                      <a:r>
                        <a:rPr lang="es-CR" sz="1600" b="0" i="0" u="none" strike="noStrike">
                          <a:solidFill>
                            <a:srgbClr val="000000"/>
                          </a:solidFill>
                          <a:latin typeface="Arial"/>
                        </a:rPr>
                        <a:t>4</a:t>
                      </a:r>
                    </a:p>
                  </a:txBody>
                  <a:tcPr marL="9525" marR="9525" marT="9525" marB="0" anchor="b">
                    <a:lnL>
                      <a:noFill/>
                    </a:lnL>
                    <a:lnR>
                      <a:noFill/>
                    </a:lnR>
                    <a:lnT>
                      <a:noFill/>
                    </a:lnT>
                    <a:lnB>
                      <a:noFill/>
                    </a:lnB>
                    <a:solidFill>
                      <a:srgbClr val="8DB4E3"/>
                    </a:solidFill>
                  </a:tcPr>
                </a:tc>
                <a:tc>
                  <a:txBody>
                    <a:bodyPr/>
                    <a:lstStyle/>
                    <a:p>
                      <a:pPr algn="ctr" fontAlgn="b"/>
                      <a:r>
                        <a:rPr lang="es-CR" sz="1600" b="0" i="0" u="none" strike="noStrike" dirty="0" smtClean="0">
                          <a:solidFill>
                            <a:srgbClr val="000000"/>
                          </a:solidFill>
                          <a:latin typeface="Arial"/>
                        </a:rPr>
                        <a:t>      IIIIIIII</a:t>
                      </a:r>
                      <a:endParaRPr lang="es-CR" sz="1600" b="0" i="0" u="none" strike="noStrike" dirty="0">
                        <a:solidFill>
                          <a:srgbClr val="000000"/>
                        </a:solidFill>
                        <a:latin typeface="Arial"/>
                      </a:endParaRP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8</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0,32</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a:rPr>
                        <a:t>32</a:t>
                      </a:r>
                    </a:p>
                  </a:txBody>
                  <a:tcPr marL="9525" marR="9525" marT="9525" marB="0" anchor="b">
                    <a:lnL>
                      <a:noFill/>
                    </a:lnL>
                    <a:lnR>
                      <a:noFill/>
                    </a:lnR>
                    <a:lnT>
                      <a:noFill/>
                    </a:lnT>
                    <a:lnB>
                      <a:noFill/>
                    </a:lnB>
                  </a:tcPr>
                </a:tc>
              </a:tr>
              <a:tr h="316835">
                <a:tc>
                  <a:txBody>
                    <a:bodyPr/>
                    <a:lstStyle/>
                    <a:p>
                      <a:pPr algn="ctr" fontAlgn="b"/>
                      <a:r>
                        <a:rPr lang="es-CR" sz="1600" b="0" i="0" u="none" strike="noStrike">
                          <a:solidFill>
                            <a:srgbClr val="000000"/>
                          </a:solidFill>
                          <a:latin typeface="Arial"/>
                        </a:rPr>
                        <a:t>5</a:t>
                      </a:r>
                    </a:p>
                  </a:txBody>
                  <a:tcPr marL="9525" marR="9525" marT="9525" marB="0" anchor="b">
                    <a:lnL>
                      <a:noFill/>
                    </a:lnL>
                    <a:lnR>
                      <a:noFill/>
                    </a:lnR>
                    <a:lnT>
                      <a:noFill/>
                    </a:lnT>
                    <a:lnB>
                      <a:noFill/>
                    </a:lnB>
                    <a:solidFill>
                      <a:srgbClr val="8DB4E3"/>
                    </a:solidFill>
                  </a:tcPr>
                </a:tc>
                <a:tc>
                  <a:txBody>
                    <a:bodyPr/>
                    <a:lstStyle/>
                    <a:p>
                      <a:pPr algn="ctr" fontAlgn="b"/>
                      <a:r>
                        <a:rPr lang="es-CR" sz="1600" b="0" i="0" u="none" strike="noStrike" dirty="0" smtClean="0">
                          <a:solidFill>
                            <a:srgbClr val="000000"/>
                          </a:solidFill>
                          <a:latin typeface="Arial"/>
                        </a:rPr>
                        <a:t> III</a:t>
                      </a:r>
                      <a:endParaRPr lang="es-CR" sz="1600" b="0" i="0" u="none" strike="noStrike" dirty="0">
                        <a:solidFill>
                          <a:srgbClr val="000000"/>
                        </a:solidFill>
                        <a:latin typeface="Arial"/>
                      </a:endParaRP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3</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0,12</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a:rPr>
                        <a:t>12</a:t>
                      </a:r>
                    </a:p>
                  </a:txBody>
                  <a:tcPr marL="9525" marR="9525" marT="9525" marB="0" anchor="b">
                    <a:lnL>
                      <a:noFill/>
                    </a:lnL>
                    <a:lnR>
                      <a:noFill/>
                    </a:lnR>
                    <a:lnT>
                      <a:noFill/>
                    </a:lnT>
                    <a:lnB>
                      <a:noFill/>
                    </a:lnB>
                  </a:tcPr>
                </a:tc>
              </a:tr>
              <a:tr h="316835">
                <a:tc>
                  <a:txBody>
                    <a:bodyPr/>
                    <a:lstStyle/>
                    <a:p>
                      <a:pPr algn="ctr" fontAlgn="b"/>
                      <a:r>
                        <a:rPr lang="es-CR" sz="1600" b="0" i="0" u="none" strike="noStrike">
                          <a:solidFill>
                            <a:srgbClr val="000000"/>
                          </a:solidFill>
                          <a:latin typeface="Arial"/>
                        </a:rPr>
                        <a:t>6</a:t>
                      </a:r>
                    </a:p>
                  </a:txBody>
                  <a:tcPr marL="9525" marR="9525" marT="9525" marB="0" anchor="b">
                    <a:lnL>
                      <a:noFill/>
                    </a:lnL>
                    <a:lnR>
                      <a:noFill/>
                    </a:lnR>
                    <a:lnT>
                      <a:noFill/>
                    </a:lnT>
                    <a:lnB>
                      <a:noFill/>
                    </a:lnB>
                    <a:solidFill>
                      <a:srgbClr val="8DB4E3"/>
                    </a:solidFill>
                  </a:tcPr>
                </a:tc>
                <a:tc>
                  <a:txBody>
                    <a:bodyPr/>
                    <a:lstStyle/>
                    <a:p>
                      <a:pPr algn="ctr" fontAlgn="b"/>
                      <a:r>
                        <a:rPr lang="es-CR" sz="1600" b="0" i="0" u="none" strike="noStrike" dirty="0" smtClean="0">
                          <a:solidFill>
                            <a:srgbClr val="000000"/>
                          </a:solidFill>
                          <a:latin typeface="Arial"/>
                        </a:rPr>
                        <a:t>I</a:t>
                      </a:r>
                      <a:endParaRPr lang="es-CR" sz="1600" b="0" i="0" u="none" strike="noStrike" dirty="0">
                        <a:solidFill>
                          <a:srgbClr val="000000"/>
                        </a:solidFill>
                        <a:latin typeface="Arial"/>
                      </a:endParaRP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1</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0,04</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4</a:t>
                      </a:r>
                    </a:p>
                  </a:txBody>
                  <a:tcPr marL="9525" marR="9525" marT="9525" marB="0" anchor="b">
                    <a:lnL>
                      <a:noFill/>
                    </a:lnL>
                    <a:lnR>
                      <a:noFill/>
                    </a:lnR>
                    <a:lnT>
                      <a:noFill/>
                    </a:lnT>
                    <a:lnB>
                      <a:noFill/>
                    </a:lnB>
                  </a:tcPr>
                </a:tc>
              </a:tr>
              <a:tr h="316835">
                <a:tc>
                  <a:txBody>
                    <a:bodyPr/>
                    <a:lstStyle/>
                    <a:p>
                      <a:pPr algn="ctr" fontAlgn="b"/>
                      <a:r>
                        <a:rPr lang="es-CR" sz="1600" b="0" i="0" u="none" strike="noStrike">
                          <a:solidFill>
                            <a:srgbClr val="000000"/>
                          </a:solidFill>
                          <a:latin typeface="Arial"/>
                        </a:rPr>
                        <a:t>7</a:t>
                      </a:r>
                    </a:p>
                  </a:txBody>
                  <a:tcPr marL="9525" marR="9525" marT="9525" marB="0" anchor="b">
                    <a:lnL>
                      <a:noFill/>
                    </a:lnL>
                    <a:lnR>
                      <a:noFill/>
                    </a:lnR>
                    <a:lnT>
                      <a:noFill/>
                    </a:lnT>
                    <a:lnB>
                      <a:noFill/>
                    </a:lnB>
                    <a:solidFill>
                      <a:srgbClr val="8DB4E3"/>
                    </a:solidFill>
                  </a:tcPr>
                </a:tc>
                <a:tc>
                  <a:txBody>
                    <a:bodyPr/>
                    <a:lstStyle/>
                    <a:p>
                      <a:pPr algn="ctr" fontAlgn="b"/>
                      <a:r>
                        <a:rPr lang="es-CR" sz="1600" b="0" i="0" u="none" strike="noStrike" dirty="0" smtClean="0">
                          <a:solidFill>
                            <a:srgbClr val="000000"/>
                          </a:solidFill>
                          <a:latin typeface="Arial"/>
                        </a:rPr>
                        <a:t> II</a:t>
                      </a:r>
                      <a:endParaRPr lang="es-CR" sz="1600" b="0" i="0" u="none" strike="noStrike" dirty="0">
                        <a:solidFill>
                          <a:srgbClr val="000000"/>
                        </a:solidFill>
                        <a:latin typeface="Arial"/>
                      </a:endParaRP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2</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a:rPr>
                        <a:t>0,08</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a:rPr>
                        <a:t>8</a:t>
                      </a:r>
                    </a:p>
                  </a:txBody>
                  <a:tcPr marL="9525" marR="9525" marT="9525" marB="0" anchor="b">
                    <a:lnL>
                      <a:noFill/>
                    </a:lnL>
                    <a:lnR>
                      <a:noFill/>
                    </a:lnR>
                    <a:lnT>
                      <a:noFill/>
                    </a:lnT>
                    <a:lnB>
                      <a:noFill/>
                    </a:lnB>
                  </a:tcPr>
                </a:tc>
              </a:tr>
              <a:tr h="316835">
                <a:tc>
                  <a:txBody>
                    <a:bodyPr/>
                    <a:lstStyle/>
                    <a:p>
                      <a:pPr algn="ctr" fontAlgn="b"/>
                      <a:r>
                        <a:rPr lang="es-CR" sz="1600" b="0" i="0" u="none" strike="noStrike">
                          <a:solidFill>
                            <a:srgbClr val="000000"/>
                          </a:solidFill>
                          <a:latin typeface="Arial"/>
                        </a:rPr>
                        <a:t>8</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8DB4E3"/>
                    </a:solidFill>
                  </a:tcPr>
                </a:tc>
                <a:tc>
                  <a:txBody>
                    <a:bodyPr/>
                    <a:lstStyle/>
                    <a:p>
                      <a:pPr algn="ctr" fontAlgn="b"/>
                      <a:r>
                        <a:rPr lang="es-CR" sz="1600" b="0" i="0" u="none" strike="noStrike" dirty="0" smtClean="0">
                          <a:solidFill>
                            <a:srgbClr val="000000"/>
                          </a:solidFill>
                          <a:latin typeface="Arial"/>
                        </a:rPr>
                        <a:t> II</a:t>
                      </a:r>
                      <a:endParaRPr lang="es-CR" sz="1600" b="0" i="0" u="none" strike="noStrike" dirty="0">
                        <a:solidFill>
                          <a:srgbClr val="000000"/>
                        </a:solidFill>
                        <a:latin typeface="Arial"/>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1600" b="0" i="0" u="none" strike="noStrike" dirty="0">
                          <a:solidFill>
                            <a:srgbClr val="000000"/>
                          </a:solidFill>
                          <a:latin typeface="Arial"/>
                        </a:rPr>
                        <a:t>2</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1600" b="0" i="0" u="none" strike="noStrike">
                          <a:solidFill>
                            <a:srgbClr val="000000"/>
                          </a:solidFill>
                          <a:latin typeface="Arial"/>
                        </a:rPr>
                        <a:t>0,08</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1600" b="0" i="0" u="none" strike="noStrike" dirty="0">
                          <a:solidFill>
                            <a:srgbClr val="000000"/>
                          </a:solidFill>
                          <a:latin typeface="Arial"/>
                        </a:rPr>
                        <a:t>8</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r>
              <a:tr h="316835">
                <a:tc>
                  <a:txBody>
                    <a:bodyPr/>
                    <a:lstStyle/>
                    <a:p>
                      <a:pPr algn="ctr" fontAlgn="b"/>
                      <a:r>
                        <a:rPr lang="es-CR" sz="1600" b="0" i="0" u="none" strike="noStrike">
                          <a:solidFill>
                            <a:srgbClr val="000000"/>
                          </a:solidFill>
                          <a:latin typeface="Arial"/>
                        </a:rPr>
                        <a:t>Total</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s-CR" sz="1600" b="0" i="0" u="none" strike="noStrike" dirty="0">
                        <a:solidFill>
                          <a:srgbClr val="000000"/>
                        </a:solidFill>
                        <a:latin typeface="Arial"/>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600" b="0" i="0" u="none" strike="noStrike" dirty="0">
                          <a:solidFill>
                            <a:srgbClr val="000000"/>
                          </a:solidFill>
                          <a:latin typeface="Arial"/>
                        </a:rPr>
                        <a:t>25</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600" b="0" i="0" u="none" strike="noStrike">
                          <a:solidFill>
                            <a:srgbClr val="000000"/>
                          </a:solidFill>
                          <a:latin typeface="Arial"/>
                        </a:rPr>
                        <a:t>1</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600" b="0" i="0" u="none" strike="noStrike" dirty="0">
                          <a:solidFill>
                            <a:srgbClr val="000000"/>
                          </a:solidFill>
                          <a:latin typeface="Arial"/>
                        </a:rPr>
                        <a:t>100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980728"/>
            <a:ext cx="5509846" cy="5520106"/>
          </a:xfrm>
        </p:spPr>
        <p:txBody>
          <a:bodyPr>
            <a:normAutofit/>
          </a:bodyPr>
          <a:lstStyle/>
          <a:p>
            <a:pPr algn="just"/>
            <a:r>
              <a:rPr lang="es-CR" sz="2400" dirty="0" smtClean="0"/>
              <a:t>De acuerdo al cuadro anterior, la columna del recuento permite visualizar que los datos tienen forma de campana (ver horizontalmente). Además el número más frecuente es de 4 hermanos (posición), y que la mayoría de los alumnos (15) tienen entre 3 y 5 hermanos. Además parece que el número de hermanos es pequeño en los extremos, pero no así en el centro.  </a:t>
            </a:r>
          </a:p>
          <a:p>
            <a:pPr algn="just"/>
            <a:endParaRPr lang="es-CR" sz="2400" dirty="0" smtClean="0"/>
          </a:p>
          <a:p>
            <a:pPr algn="just"/>
            <a:r>
              <a:rPr lang="es-CR" sz="2400" dirty="0" smtClean="0"/>
              <a:t>Además una forma de ver mejor el mayor número de hermanos, se utilizaron las frecuencias relativas, o proporciones, y se pasaron a porcentajes.</a:t>
            </a:r>
            <a:endParaRPr lang="es-CR" sz="2400" dirty="0"/>
          </a:p>
        </p:txBody>
      </p:sp>
      <p:sp>
        <p:nvSpPr>
          <p:cNvPr id="5" name="1 Título"/>
          <p:cNvSpPr>
            <a:spLocks noGrp="1"/>
          </p:cNvSpPr>
          <p:nvPr>
            <p:ph type="title"/>
          </p:nvPr>
        </p:nvSpPr>
        <p:spPr>
          <a:xfrm>
            <a:off x="357158" y="0"/>
            <a:ext cx="8429684" cy="785794"/>
          </a:xfrm>
        </p:spPr>
        <p:txBody>
          <a:bodyPr>
            <a:normAutofit/>
          </a:bodyPr>
          <a:lstStyle/>
          <a:p>
            <a:pPr algn="ctr"/>
            <a:r>
              <a:rPr lang="es-CR" sz="3600" dirty="0" smtClean="0"/>
              <a:t>Distribución de frecuencias</a:t>
            </a:r>
            <a:endParaRPr lang="es-CR" sz="3600" dirty="0"/>
          </a:p>
        </p:txBody>
      </p:sp>
      <p:pic>
        <p:nvPicPr>
          <p:cNvPr id="6146" name="Picture 2" descr="http://l.thumbs.canstockphoto.com/canstock622146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0232" y="1268760"/>
            <a:ext cx="2088232" cy="208823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thetyee.cachefly.net/Mediacheck/2013/03/24/Exclamation-Poi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2160" y="3717032"/>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928670"/>
            <a:ext cx="8501122" cy="5929330"/>
          </a:xfrm>
        </p:spPr>
        <p:txBody>
          <a:bodyPr>
            <a:normAutofit lnSpcReduction="10000"/>
          </a:bodyPr>
          <a:lstStyle/>
          <a:p>
            <a:r>
              <a:rPr lang="es-CR" sz="2400" dirty="0" smtClean="0"/>
              <a:t>La distribución de frecuencia puede presentarse por medio de un gráfico de barras verticales, como sigue: </a:t>
            </a:r>
          </a:p>
          <a:p>
            <a:endParaRPr lang="es-CR" sz="2400" dirty="0" smtClean="0"/>
          </a:p>
          <a:p>
            <a:endParaRPr lang="es-CR" sz="2400" dirty="0" smtClean="0"/>
          </a:p>
          <a:p>
            <a:endParaRPr lang="es-CR" sz="2400" dirty="0" smtClean="0"/>
          </a:p>
          <a:p>
            <a:endParaRPr lang="es-CR" sz="2400" dirty="0" smtClean="0"/>
          </a:p>
          <a:p>
            <a:endParaRPr lang="es-CR" sz="2400" dirty="0" smtClean="0"/>
          </a:p>
          <a:p>
            <a:endParaRPr lang="es-CR" sz="2400" dirty="0" smtClean="0"/>
          </a:p>
          <a:p>
            <a:endParaRPr lang="es-CR" sz="2400" dirty="0" smtClean="0"/>
          </a:p>
          <a:p>
            <a:endParaRPr lang="es-CR" sz="2400" dirty="0" smtClean="0"/>
          </a:p>
          <a:p>
            <a:endParaRPr lang="es-CR" sz="2400" dirty="0" smtClean="0"/>
          </a:p>
          <a:p>
            <a:endParaRPr lang="es-CR" sz="2400" dirty="0" smtClean="0"/>
          </a:p>
          <a:p>
            <a:pPr algn="just"/>
            <a:r>
              <a:rPr lang="es-CR" sz="2400" dirty="0" smtClean="0"/>
              <a:t>En conclusión, </a:t>
            </a:r>
            <a:r>
              <a:rPr lang="es-CR" sz="2400" dirty="0" smtClean="0"/>
              <a:t>la </a:t>
            </a:r>
            <a:r>
              <a:rPr lang="es-CR" sz="2400" dirty="0" smtClean="0"/>
              <a:t>DF es un excelente método para hacer representaciones de la información cuando esta abunda y se quiere conocer ciertas características.</a:t>
            </a:r>
          </a:p>
        </p:txBody>
      </p:sp>
      <p:sp>
        <p:nvSpPr>
          <p:cNvPr id="5" name="1 Título"/>
          <p:cNvSpPr>
            <a:spLocks noGrp="1"/>
          </p:cNvSpPr>
          <p:nvPr>
            <p:ph type="title"/>
          </p:nvPr>
        </p:nvSpPr>
        <p:spPr>
          <a:xfrm>
            <a:off x="214282" y="0"/>
            <a:ext cx="8643998" cy="785794"/>
          </a:xfrm>
        </p:spPr>
        <p:txBody>
          <a:bodyPr>
            <a:normAutofit/>
          </a:bodyPr>
          <a:lstStyle/>
          <a:p>
            <a:pPr algn="ctr"/>
            <a:r>
              <a:rPr lang="es-CR" sz="3600" dirty="0" smtClean="0"/>
              <a:t>Distribución de frecuencias</a:t>
            </a:r>
            <a:endParaRPr lang="es-CR" sz="3600" dirty="0"/>
          </a:p>
        </p:txBody>
      </p:sp>
      <p:graphicFrame>
        <p:nvGraphicFramePr>
          <p:cNvPr id="7" name="1 Gráfico"/>
          <p:cNvGraphicFramePr/>
          <p:nvPr>
            <p:extLst>
              <p:ext uri="{D42A27DB-BD31-4B8C-83A1-F6EECF244321}">
                <p14:modId xmlns:p14="http://schemas.microsoft.com/office/powerpoint/2010/main" val="396421191"/>
              </p:ext>
            </p:extLst>
          </p:nvPr>
        </p:nvGraphicFramePr>
        <p:xfrm>
          <a:off x="357158" y="1857364"/>
          <a:ext cx="8501122" cy="3786214"/>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slow">
    <p:cove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611560" y="1484784"/>
            <a:ext cx="7772400" cy="4572000"/>
          </a:xfrm>
        </p:spPr>
        <p:txBody>
          <a:bodyPr/>
          <a:lstStyle/>
          <a:p>
            <a:endParaRPr lang="es-CR" dirty="0"/>
          </a:p>
        </p:txBody>
      </p:sp>
      <p:sp>
        <p:nvSpPr>
          <p:cNvPr id="4" name="1 Título"/>
          <p:cNvSpPr>
            <a:spLocks noGrp="1"/>
          </p:cNvSpPr>
          <p:nvPr>
            <p:ph type="title"/>
          </p:nvPr>
        </p:nvSpPr>
        <p:spPr>
          <a:xfrm>
            <a:off x="611560" y="260648"/>
            <a:ext cx="7772400" cy="1008112"/>
          </a:xfrm>
        </p:spPr>
        <p:txBody>
          <a:bodyPr>
            <a:normAutofit/>
          </a:bodyPr>
          <a:lstStyle/>
          <a:p>
            <a:pPr algn="ctr"/>
            <a:r>
              <a:rPr lang="es-CR" sz="3600" dirty="0" smtClean="0"/>
              <a:t>Índice</a:t>
            </a:r>
            <a:endParaRPr lang="es-CR" sz="3600" dirty="0"/>
          </a:p>
        </p:txBody>
      </p:sp>
      <p:sp>
        <p:nvSpPr>
          <p:cNvPr id="5" name="4 Elipse"/>
          <p:cNvSpPr/>
          <p:nvPr/>
        </p:nvSpPr>
        <p:spPr>
          <a:xfrm>
            <a:off x="842671" y="1631694"/>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1</a:t>
            </a:r>
            <a:endParaRPr lang="es-CR" dirty="0"/>
          </a:p>
        </p:txBody>
      </p:sp>
      <p:sp>
        <p:nvSpPr>
          <p:cNvPr id="7" name="6 Elipse"/>
          <p:cNvSpPr/>
          <p:nvPr/>
        </p:nvSpPr>
        <p:spPr>
          <a:xfrm>
            <a:off x="891421" y="3212976"/>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2</a:t>
            </a:r>
            <a:endParaRPr lang="es-CR" dirty="0"/>
          </a:p>
        </p:txBody>
      </p:sp>
      <p:sp>
        <p:nvSpPr>
          <p:cNvPr id="8" name="7 Elipse"/>
          <p:cNvSpPr/>
          <p:nvPr/>
        </p:nvSpPr>
        <p:spPr>
          <a:xfrm>
            <a:off x="891421" y="4797152"/>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3</a:t>
            </a:r>
            <a:endParaRPr lang="es-CR" dirty="0"/>
          </a:p>
        </p:txBody>
      </p:sp>
      <p:sp>
        <p:nvSpPr>
          <p:cNvPr id="9" name="8 Elipse"/>
          <p:cNvSpPr/>
          <p:nvPr/>
        </p:nvSpPr>
        <p:spPr>
          <a:xfrm>
            <a:off x="4860032" y="1629390"/>
            <a:ext cx="936104" cy="86409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4</a:t>
            </a:r>
            <a:endParaRPr lang="es-CR" dirty="0"/>
          </a:p>
        </p:txBody>
      </p:sp>
      <p:sp>
        <p:nvSpPr>
          <p:cNvPr id="12" name="11 Rectángulo redondeado"/>
          <p:cNvSpPr/>
          <p:nvPr/>
        </p:nvSpPr>
        <p:spPr>
          <a:xfrm>
            <a:off x="2339752" y="1609669"/>
            <a:ext cx="1728192"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smtClean="0"/>
              <a:t>Resumir información</a:t>
            </a:r>
            <a:endParaRPr lang="es-CR" dirty="0"/>
          </a:p>
        </p:txBody>
      </p:sp>
      <p:sp>
        <p:nvSpPr>
          <p:cNvPr id="15" name="14 Rectángulo redondeado"/>
          <p:cNvSpPr/>
          <p:nvPr/>
        </p:nvSpPr>
        <p:spPr>
          <a:xfrm>
            <a:off x="2339752" y="4831788"/>
            <a:ext cx="1728192" cy="829459"/>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a:t>Distribución de frecuencia</a:t>
            </a:r>
          </a:p>
        </p:txBody>
      </p:sp>
      <p:sp>
        <p:nvSpPr>
          <p:cNvPr id="16" name="15 Rectángulo redondeado"/>
          <p:cNvSpPr/>
          <p:nvPr/>
        </p:nvSpPr>
        <p:spPr>
          <a:xfrm>
            <a:off x="2339752" y="3247674"/>
            <a:ext cx="1728192"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smtClean="0"/>
              <a:t>Números relativos</a:t>
            </a:r>
            <a:endParaRPr lang="es-CR" dirty="0"/>
          </a:p>
        </p:txBody>
      </p:sp>
      <p:sp>
        <p:nvSpPr>
          <p:cNvPr id="17" name="16 Rectángulo redondeado"/>
          <p:cNvSpPr/>
          <p:nvPr/>
        </p:nvSpPr>
        <p:spPr>
          <a:xfrm>
            <a:off x="6372200" y="1664242"/>
            <a:ext cx="1872208" cy="79439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s-CR" dirty="0"/>
              <a:t>Indicadores e </a:t>
            </a:r>
            <a:r>
              <a:rPr lang="es-CR" dirty="0" smtClean="0"/>
              <a:t>Índices</a:t>
            </a:r>
            <a:endParaRPr lang="es-CR" dirty="0"/>
          </a:p>
        </p:txBody>
      </p:sp>
    </p:spTree>
    <p:extLst>
      <p:ext uri="{BB962C8B-B14F-4D97-AF65-F5344CB8AC3E}">
        <p14:creationId xmlns:p14="http://schemas.microsoft.com/office/powerpoint/2010/main" val="39740909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88640"/>
            <a:ext cx="7772400" cy="850106"/>
          </a:xfrm>
        </p:spPr>
        <p:txBody>
          <a:bodyPr>
            <a:normAutofit/>
          </a:bodyPr>
          <a:lstStyle/>
          <a:p>
            <a:pPr algn="ctr"/>
            <a:r>
              <a:rPr lang="es-CR" sz="3600" dirty="0" smtClean="0"/>
              <a:t>Indicadores</a:t>
            </a:r>
            <a:endParaRPr lang="es-CR" sz="3600" dirty="0"/>
          </a:p>
        </p:txBody>
      </p:sp>
      <p:sp>
        <p:nvSpPr>
          <p:cNvPr id="3" name="2 Marcador de contenido"/>
          <p:cNvSpPr>
            <a:spLocks noGrp="1"/>
          </p:cNvSpPr>
          <p:nvPr>
            <p:ph sz="quarter" idx="1"/>
          </p:nvPr>
        </p:nvSpPr>
        <p:spPr>
          <a:xfrm>
            <a:off x="251520" y="1124744"/>
            <a:ext cx="6264696" cy="5328592"/>
          </a:xfrm>
        </p:spPr>
        <p:txBody>
          <a:bodyPr>
            <a:normAutofit/>
          </a:bodyPr>
          <a:lstStyle/>
          <a:p>
            <a:pPr algn="just"/>
            <a:r>
              <a:rPr lang="es-CR" sz="2400" dirty="0" smtClean="0"/>
              <a:t>Los indicadores son también número relativos, y se suelen utilizarse en área académica, pero sobre todo en la toma de decisiones. </a:t>
            </a:r>
          </a:p>
          <a:p>
            <a:pPr algn="just"/>
            <a:endParaRPr lang="es-CR" sz="2400" dirty="0" smtClean="0"/>
          </a:p>
          <a:p>
            <a:pPr algn="just"/>
            <a:r>
              <a:rPr lang="es-CR" sz="2400" dirty="0"/>
              <a:t>Un indicador es una característica específica, </a:t>
            </a:r>
            <a:r>
              <a:rPr lang="es-CR" sz="2400" b="1" i="1" dirty="0"/>
              <a:t>observable</a:t>
            </a:r>
            <a:r>
              <a:rPr lang="es-CR" sz="2400" dirty="0"/>
              <a:t> y </a:t>
            </a:r>
            <a:r>
              <a:rPr lang="es-CR" sz="2400" b="1" i="1" dirty="0"/>
              <a:t>medible</a:t>
            </a:r>
            <a:r>
              <a:rPr lang="es-CR" sz="2400" dirty="0"/>
              <a:t> que puede ser usada para mostrar los cambios y progresos que está haciendo un programa hacia el logro de un resultado </a:t>
            </a:r>
            <a:r>
              <a:rPr lang="es-CR" sz="2400" dirty="0" smtClean="0"/>
              <a:t>específico (en el tiempo).</a:t>
            </a:r>
            <a:endParaRPr lang="es-CR" sz="2400" dirty="0"/>
          </a:p>
          <a:p>
            <a:pPr algn="just"/>
            <a:endParaRPr lang="es-CR" sz="2400" dirty="0" smtClean="0"/>
          </a:p>
          <a:p>
            <a:pPr algn="just"/>
            <a:r>
              <a:rPr lang="es-CR" sz="2400" dirty="0"/>
              <a:t>Un indicador debe ser definido en términos precisos, no ambiguos, que describan clara y exactamente lo que se está midiendo.</a:t>
            </a:r>
            <a:endParaRPr lang="es-CR" sz="2400" dirty="0" smtClean="0"/>
          </a:p>
        </p:txBody>
      </p:sp>
      <p:pic>
        <p:nvPicPr>
          <p:cNvPr id="7170" name="Picture 2" descr="http://www.improve.com.pe/portal/images/improve/indicadores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2595" y="4221088"/>
            <a:ext cx="1872208" cy="201622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www.tantum.com/conocimiento/wp-content/uploads/2013/03/Brainstorm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4761" y="1052736"/>
            <a:ext cx="2047875" cy="2762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4643545"/>
      </p:ext>
    </p:extLst>
  </p:cSld>
  <p:clrMapOvr>
    <a:masterClrMapping/>
  </p:clrMapOvr>
  <p:transition spd="slow">
    <p:randomBar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260648"/>
            <a:ext cx="7772400" cy="864096"/>
          </a:xfrm>
        </p:spPr>
        <p:txBody>
          <a:bodyPr>
            <a:normAutofit/>
          </a:bodyPr>
          <a:lstStyle/>
          <a:p>
            <a:pPr algn="ctr"/>
            <a:r>
              <a:rPr lang="es-CR" sz="3600" dirty="0" smtClean="0"/>
              <a:t>Indicadores</a:t>
            </a:r>
            <a:endParaRPr lang="es-CR" sz="3600" dirty="0"/>
          </a:p>
        </p:txBody>
      </p:sp>
      <p:sp>
        <p:nvSpPr>
          <p:cNvPr id="3" name="2 Marcador de contenido"/>
          <p:cNvSpPr>
            <a:spLocks noGrp="1"/>
          </p:cNvSpPr>
          <p:nvPr>
            <p:ph sz="quarter" idx="1"/>
          </p:nvPr>
        </p:nvSpPr>
        <p:spPr>
          <a:xfrm>
            <a:off x="323528" y="1412776"/>
            <a:ext cx="6120680" cy="5184576"/>
          </a:xfrm>
        </p:spPr>
        <p:txBody>
          <a:bodyPr>
            <a:normAutofit/>
          </a:bodyPr>
          <a:lstStyle/>
          <a:p>
            <a:pPr algn="just"/>
            <a:r>
              <a:rPr lang="es-CR" sz="2400" dirty="0" smtClean="0"/>
              <a:t>Un indicador posee </a:t>
            </a:r>
            <a:r>
              <a:rPr lang="es-CR" sz="2400" b="1" i="1" dirty="0" smtClean="0"/>
              <a:t>siempre</a:t>
            </a:r>
            <a:r>
              <a:rPr lang="es-CR" sz="2400" dirty="0" smtClean="0"/>
              <a:t> las siguientes características: es válido, confiable, preciso, medible, oportuno y pragmático.</a:t>
            </a:r>
          </a:p>
          <a:p>
            <a:pPr algn="just"/>
            <a:endParaRPr lang="es-CR" sz="2400" dirty="0"/>
          </a:p>
          <a:p>
            <a:pPr algn="just"/>
            <a:r>
              <a:rPr lang="es-CR" sz="2400" dirty="0" smtClean="0"/>
              <a:t>Un indicador puede ser una medida tan sencilla como una medida relativa no tan evidente.</a:t>
            </a:r>
          </a:p>
          <a:p>
            <a:pPr algn="just"/>
            <a:endParaRPr lang="es-CR" sz="2400" dirty="0" smtClean="0"/>
          </a:p>
          <a:p>
            <a:pPr algn="just"/>
            <a:r>
              <a:rPr lang="es-CR" sz="2400" dirty="0" smtClean="0"/>
              <a:t>No existe una fórmula exacta para decir que es y no es un indicador. Estos se suelen definir de acuerdo a las necesidades.</a:t>
            </a:r>
          </a:p>
          <a:p>
            <a:pPr algn="just"/>
            <a:endParaRPr lang="es-CR" sz="2400" dirty="0"/>
          </a:p>
          <a:p>
            <a:pPr algn="just"/>
            <a:r>
              <a:rPr lang="es-CR" sz="2400" dirty="0" smtClean="0"/>
              <a:t>A continuación presentamos ciertos ejemplos.</a:t>
            </a:r>
            <a:endParaRPr lang="es-CR" sz="2400" dirty="0"/>
          </a:p>
          <a:p>
            <a:pPr algn="just"/>
            <a:endParaRPr lang="es-CR" sz="2400" dirty="0"/>
          </a:p>
        </p:txBody>
      </p:sp>
      <p:pic>
        <p:nvPicPr>
          <p:cNvPr id="8194" name="Picture 2" descr="http://1.bp.blogspot.com/-V6U4WBmz43w/Tl8G0Dd7lAI/AAAAAAAAAAw/NRJ58bcc16o/s364/indicadores_exito.jpg.pagespeed.ce.5ERjlQryE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1641" y="1340768"/>
            <a:ext cx="1872208" cy="17145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www.storybasedinquiry.com/wp-content/uploads/2013/12/MannetjeBoeke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2924" y="4005064"/>
            <a:ext cx="2269641" cy="194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579328"/>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914400" y="274638"/>
            <a:ext cx="7772400" cy="850106"/>
          </a:xfrm>
        </p:spPr>
        <p:txBody>
          <a:bodyPr>
            <a:normAutofit/>
          </a:bodyPr>
          <a:lstStyle/>
          <a:p>
            <a:pPr algn="ctr"/>
            <a:r>
              <a:rPr lang="es-CR" sz="3600" dirty="0" smtClean="0"/>
              <a:t>Indicadores</a:t>
            </a:r>
            <a:endParaRPr lang="es-CR" sz="3600" dirty="0"/>
          </a:p>
        </p:txBody>
      </p:sp>
      <p:sp>
        <p:nvSpPr>
          <p:cNvPr id="2" name="1 Elipse"/>
          <p:cNvSpPr/>
          <p:nvPr/>
        </p:nvSpPr>
        <p:spPr>
          <a:xfrm>
            <a:off x="467544" y="1423666"/>
            <a:ext cx="2016224" cy="158417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CR" dirty="0" smtClean="0"/>
              <a:t>Salud</a:t>
            </a:r>
            <a:endParaRPr lang="es-CR" dirty="0"/>
          </a:p>
        </p:txBody>
      </p:sp>
      <p:sp>
        <p:nvSpPr>
          <p:cNvPr id="5" name="4 Elipse"/>
          <p:cNvSpPr/>
          <p:nvPr/>
        </p:nvSpPr>
        <p:spPr>
          <a:xfrm>
            <a:off x="6660232" y="1423666"/>
            <a:ext cx="2016224" cy="158417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CR" dirty="0" smtClean="0"/>
              <a:t>Economía</a:t>
            </a:r>
            <a:endParaRPr lang="es-CR" dirty="0"/>
          </a:p>
        </p:txBody>
      </p:sp>
      <p:sp>
        <p:nvSpPr>
          <p:cNvPr id="6" name="5 Elipse"/>
          <p:cNvSpPr/>
          <p:nvPr/>
        </p:nvSpPr>
        <p:spPr>
          <a:xfrm>
            <a:off x="3635896" y="1423666"/>
            <a:ext cx="2016224" cy="158417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CR" dirty="0" smtClean="0"/>
              <a:t>Demografía</a:t>
            </a:r>
            <a:endParaRPr lang="es-CR" dirty="0"/>
          </a:p>
        </p:txBody>
      </p:sp>
      <p:sp>
        <p:nvSpPr>
          <p:cNvPr id="8" name="7 Rectángulo redondeado"/>
          <p:cNvSpPr/>
          <p:nvPr/>
        </p:nvSpPr>
        <p:spPr>
          <a:xfrm>
            <a:off x="323528" y="3356992"/>
            <a:ext cx="2304256" cy="316835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Cobertura de Hospitalización</a:t>
            </a:r>
          </a:p>
          <a:p>
            <a:pPr algn="ctr"/>
            <a:endParaRPr lang="es-CR" dirty="0"/>
          </a:p>
          <a:p>
            <a:pPr algn="ctr"/>
            <a:r>
              <a:rPr lang="es-CR" dirty="0" smtClean="0"/>
              <a:t>Total de personas que asiste a los EBAIS</a:t>
            </a:r>
          </a:p>
          <a:p>
            <a:pPr algn="ctr"/>
            <a:endParaRPr lang="es-CR" dirty="0"/>
          </a:p>
          <a:p>
            <a:pPr algn="ctr"/>
            <a:r>
              <a:rPr lang="es-CR" dirty="0" smtClean="0"/>
              <a:t>Clínicas por cantón</a:t>
            </a:r>
          </a:p>
          <a:p>
            <a:pPr algn="ctr"/>
            <a:endParaRPr lang="es-CR" dirty="0" smtClean="0"/>
          </a:p>
          <a:p>
            <a:pPr algn="ctr"/>
            <a:r>
              <a:rPr lang="es-CR" dirty="0" smtClean="0"/>
              <a:t>Atención de emergencia en hospitales</a:t>
            </a:r>
          </a:p>
        </p:txBody>
      </p:sp>
      <p:sp>
        <p:nvSpPr>
          <p:cNvPr id="9" name="8 Rectángulo redondeado"/>
          <p:cNvSpPr/>
          <p:nvPr/>
        </p:nvSpPr>
        <p:spPr>
          <a:xfrm>
            <a:off x="3491880" y="3356992"/>
            <a:ext cx="2304256" cy="316835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Total de muertes por accidentes de carro</a:t>
            </a:r>
          </a:p>
          <a:p>
            <a:pPr algn="ctr"/>
            <a:endParaRPr lang="es-CR" dirty="0"/>
          </a:p>
          <a:p>
            <a:pPr algn="ctr"/>
            <a:r>
              <a:rPr lang="es-CR" dirty="0" smtClean="0"/>
              <a:t>Nacimientos por provincia</a:t>
            </a:r>
          </a:p>
          <a:p>
            <a:pPr algn="ctr"/>
            <a:endParaRPr lang="es-CR" dirty="0"/>
          </a:p>
          <a:p>
            <a:pPr algn="ctr"/>
            <a:r>
              <a:rPr lang="es-CR" dirty="0" smtClean="0"/>
              <a:t>Madres antes de los 18 años</a:t>
            </a:r>
          </a:p>
          <a:p>
            <a:pPr algn="ctr"/>
            <a:endParaRPr lang="es-CR" dirty="0"/>
          </a:p>
          <a:p>
            <a:pPr algn="ctr"/>
            <a:r>
              <a:rPr lang="es-CR" dirty="0" smtClean="0"/>
              <a:t>Divorcios en Costa Rica</a:t>
            </a:r>
            <a:endParaRPr lang="es-CR" dirty="0"/>
          </a:p>
        </p:txBody>
      </p:sp>
      <p:sp>
        <p:nvSpPr>
          <p:cNvPr id="10" name="9 Rectángulo redondeado"/>
          <p:cNvSpPr/>
          <p:nvPr/>
        </p:nvSpPr>
        <p:spPr>
          <a:xfrm>
            <a:off x="6516216" y="3356992"/>
            <a:ext cx="2304256" cy="316835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Tasa básica pasiva</a:t>
            </a:r>
          </a:p>
          <a:p>
            <a:pPr algn="ctr"/>
            <a:endParaRPr lang="es-CR" dirty="0"/>
          </a:p>
          <a:p>
            <a:pPr algn="ctr"/>
            <a:r>
              <a:rPr lang="es-CR" dirty="0" smtClean="0"/>
              <a:t>Total de desempleados en CR</a:t>
            </a:r>
          </a:p>
          <a:p>
            <a:pPr algn="ctr"/>
            <a:endParaRPr lang="es-CR" dirty="0"/>
          </a:p>
          <a:p>
            <a:pPr algn="ctr"/>
            <a:r>
              <a:rPr lang="es-CR" dirty="0" smtClean="0"/>
              <a:t>Población activa </a:t>
            </a:r>
          </a:p>
          <a:p>
            <a:pPr algn="ctr"/>
            <a:endParaRPr lang="es-CR" dirty="0"/>
          </a:p>
          <a:p>
            <a:pPr algn="ctr"/>
            <a:endParaRPr lang="es-CR" dirty="0"/>
          </a:p>
        </p:txBody>
      </p:sp>
    </p:spTree>
    <p:extLst>
      <p:ext uri="{BB962C8B-B14F-4D97-AF65-F5344CB8AC3E}">
        <p14:creationId xmlns:p14="http://schemas.microsoft.com/office/powerpoint/2010/main" val="76222899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67544" y="3068960"/>
            <a:ext cx="7772400" cy="1440160"/>
          </a:xfrm>
        </p:spPr>
        <p:txBody>
          <a:bodyPr/>
          <a:lstStyle/>
          <a:p>
            <a:pPr marL="0" indent="0" algn="ctr">
              <a:buNone/>
            </a:pPr>
            <a:r>
              <a:rPr lang="es-CR" dirty="0" smtClean="0"/>
              <a:t>¿Qué relación hay entre las medidas de número relativos de antes y los indicadores </a:t>
            </a:r>
            <a:r>
              <a:rPr lang="es-CR" dirty="0"/>
              <a:t>?</a:t>
            </a:r>
          </a:p>
        </p:txBody>
      </p:sp>
      <p:sp>
        <p:nvSpPr>
          <p:cNvPr id="4" name="1 Título"/>
          <p:cNvSpPr>
            <a:spLocks noGrp="1"/>
          </p:cNvSpPr>
          <p:nvPr>
            <p:ph type="title"/>
          </p:nvPr>
        </p:nvSpPr>
        <p:spPr>
          <a:xfrm>
            <a:off x="914400" y="274638"/>
            <a:ext cx="7772400" cy="850106"/>
          </a:xfrm>
        </p:spPr>
        <p:txBody>
          <a:bodyPr>
            <a:normAutofit/>
          </a:bodyPr>
          <a:lstStyle/>
          <a:p>
            <a:pPr algn="ctr"/>
            <a:r>
              <a:rPr lang="es-CR" sz="3600" dirty="0" smtClean="0"/>
              <a:t>Indicadores</a:t>
            </a:r>
            <a:endParaRPr lang="es-CR" sz="3600" dirty="0"/>
          </a:p>
        </p:txBody>
      </p:sp>
      <p:pic>
        <p:nvPicPr>
          <p:cNvPr id="2050" name="Picture 2" descr="http://iaj.g4comunicacion.com/uploads/images/pregunt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4005064"/>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www.fq.edu.uy/sites/default/files/sites/all/themes/professional_theme/images/Pregunta_0.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611560" y="911105"/>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06000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1086" y="51488"/>
            <a:ext cx="8215370" cy="857232"/>
          </a:xfrm>
        </p:spPr>
        <p:txBody>
          <a:bodyPr>
            <a:normAutofit/>
          </a:bodyPr>
          <a:lstStyle/>
          <a:p>
            <a:pPr algn="ctr"/>
            <a:r>
              <a:rPr lang="es-CR" sz="3600" dirty="0" smtClean="0"/>
              <a:t>Índices</a:t>
            </a:r>
            <a:endParaRPr lang="es-CR" sz="3600" dirty="0"/>
          </a:p>
        </p:txBody>
      </p:sp>
      <p:sp>
        <p:nvSpPr>
          <p:cNvPr id="3" name="2 Marcador de contenido"/>
          <p:cNvSpPr>
            <a:spLocks noGrp="1"/>
          </p:cNvSpPr>
          <p:nvPr>
            <p:ph sz="quarter" idx="1"/>
          </p:nvPr>
        </p:nvSpPr>
        <p:spPr>
          <a:xfrm>
            <a:off x="251520" y="980728"/>
            <a:ext cx="6264696" cy="5643602"/>
          </a:xfrm>
        </p:spPr>
        <p:txBody>
          <a:bodyPr>
            <a:normAutofit/>
          </a:bodyPr>
          <a:lstStyle/>
          <a:p>
            <a:pPr algn="just"/>
            <a:r>
              <a:rPr lang="es-CR" sz="2400" dirty="0"/>
              <a:t>Los índices, al igual que la razón, </a:t>
            </a:r>
            <a:r>
              <a:rPr lang="es-CR" sz="2400" dirty="0" smtClean="0"/>
              <a:t>proporción, tasa</a:t>
            </a:r>
            <a:r>
              <a:rPr lang="es-CR" sz="2400" dirty="0"/>
              <a:t> </a:t>
            </a:r>
            <a:r>
              <a:rPr lang="es-CR" sz="2400" dirty="0" smtClean="0"/>
              <a:t>e indicadores,  </a:t>
            </a:r>
            <a:r>
              <a:rPr lang="es-CR" sz="2400" dirty="0"/>
              <a:t>busca resumir la información en un número relativo para facilitar la información de un acontecimiento o algo por el estilo</a:t>
            </a:r>
            <a:r>
              <a:rPr lang="es-CR" sz="2400" dirty="0" smtClean="0"/>
              <a:t>.</a:t>
            </a:r>
          </a:p>
          <a:p>
            <a:pPr algn="just"/>
            <a:endParaRPr lang="es-CR" sz="2400" dirty="0"/>
          </a:p>
          <a:p>
            <a:pPr algn="just"/>
            <a:r>
              <a:rPr lang="es-CR" sz="2400" dirty="0" smtClean="0"/>
              <a:t>Los índices, por lo general, son los números relativos más complejos y difíciles de construir. Puede ser tan simple como el IMC, o tan complejo como el IDH.</a:t>
            </a:r>
            <a:endParaRPr lang="es-CR" sz="2400" b="1" dirty="0" smtClean="0"/>
          </a:p>
          <a:p>
            <a:pPr algn="just"/>
            <a:endParaRPr lang="es-CR" sz="2400" dirty="0"/>
          </a:p>
          <a:p>
            <a:pPr algn="just"/>
            <a:r>
              <a:rPr lang="es-CR" sz="2400" dirty="0" smtClean="0"/>
              <a:t>Por lo general, un índice se construye a partir de indicadores. De igual forma, hay índice que se obtienen a partir de otros índices. </a:t>
            </a:r>
          </a:p>
        </p:txBody>
      </p:sp>
      <p:pic>
        <p:nvPicPr>
          <p:cNvPr id="9218" name="Picture 2" descr="http://animkids.fr/images/loup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2280" y="1484784"/>
            <a:ext cx="1724380" cy="1847851"/>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http://www.lyonmag.com/medias/images/sherlock-holmes-00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5600" y="3789040"/>
            <a:ext cx="2198888" cy="2628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611560" y="1412776"/>
            <a:ext cx="7772400" cy="4572000"/>
          </a:xfrm>
        </p:spPr>
        <p:txBody>
          <a:bodyPr/>
          <a:lstStyle/>
          <a:p>
            <a:r>
              <a:rPr lang="es-CR" dirty="0" smtClean="0"/>
              <a:t>Esquema </a:t>
            </a:r>
            <a:r>
              <a:rPr lang="es-CR" b="1" i="1" dirty="0" smtClean="0"/>
              <a:t>general</a:t>
            </a:r>
            <a:r>
              <a:rPr lang="es-CR" dirty="0" smtClean="0"/>
              <a:t> para construir un índice es el siguiente:</a:t>
            </a:r>
            <a:endParaRPr lang="es-CR" dirty="0"/>
          </a:p>
        </p:txBody>
      </p:sp>
      <p:sp>
        <p:nvSpPr>
          <p:cNvPr id="4" name="1 Título"/>
          <p:cNvSpPr>
            <a:spLocks noGrp="1"/>
          </p:cNvSpPr>
          <p:nvPr>
            <p:ph type="title"/>
          </p:nvPr>
        </p:nvSpPr>
        <p:spPr>
          <a:xfrm>
            <a:off x="461086" y="51488"/>
            <a:ext cx="8215370" cy="857232"/>
          </a:xfrm>
        </p:spPr>
        <p:txBody>
          <a:bodyPr>
            <a:normAutofit/>
          </a:bodyPr>
          <a:lstStyle/>
          <a:p>
            <a:pPr algn="ctr"/>
            <a:r>
              <a:rPr lang="es-CR" sz="3600" dirty="0" smtClean="0"/>
              <a:t>Índices</a:t>
            </a:r>
            <a:endParaRPr lang="es-CR" sz="3600" dirty="0"/>
          </a:p>
        </p:txBody>
      </p:sp>
      <p:sp>
        <p:nvSpPr>
          <p:cNvPr id="5" name="4 Rectángulo redondeado"/>
          <p:cNvSpPr/>
          <p:nvPr/>
        </p:nvSpPr>
        <p:spPr>
          <a:xfrm>
            <a:off x="539552" y="2420888"/>
            <a:ext cx="2088232" cy="79208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Indicador 1</a:t>
            </a:r>
            <a:endParaRPr lang="es-CR" dirty="0"/>
          </a:p>
        </p:txBody>
      </p:sp>
      <p:sp>
        <p:nvSpPr>
          <p:cNvPr id="6" name="5 Rectángulo redondeado"/>
          <p:cNvSpPr/>
          <p:nvPr/>
        </p:nvSpPr>
        <p:spPr>
          <a:xfrm>
            <a:off x="548947" y="3897052"/>
            <a:ext cx="2088232" cy="79208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Indicador 2</a:t>
            </a:r>
            <a:endParaRPr lang="es-CR" dirty="0"/>
          </a:p>
        </p:txBody>
      </p:sp>
      <p:sp>
        <p:nvSpPr>
          <p:cNvPr id="7" name="6 Rectángulo redondeado"/>
          <p:cNvSpPr/>
          <p:nvPr/>
        </p:nvSpPr>
        <p:spPr>
          <a:xfrm>
            <a:off x="508538" y="5334607"/>
            <a:ext cx="2088232" cy="79208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Indicador 3</a:t>
            </a:r>
            <a:endParaRPr lang="es-CR" dirty="0"/>
          </a:p>
        </p:txBody>
      </p:sp>
      <p:sp>
        <p:nvSpPr>
          <p:cNvPr id="9" name="8 Elipse"/>
          <p:cNvSpPr/>
          <p:nvPr/>
        </p:nvSpPr>
        <p:spPr>
          <a:xfrm>
            <a:off x="5292080" y="2638214"/>
            <a:ext cx="3059832" cy="3309763"/>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CR" dirty="0" smtClean="0"/>
              <a:t>Índice</a:t>
            </a:r>
            <a:endParaRPr lang="es-CR" dirty="0"/>
          </a:p>
        </p:txBody>
      </p:sp>
      <p:cxnSp>
        <p:nvCxnSpPr>
          <p:cNvPr id="11" name="10 Conector recto de flecha"/>
          <p:cNvCxnSpPr/>
          <p:nvPr/>
        </p:nvCxnSpPr>
        <p:spPr>
          <a:xfrm>
            <a:off x="2843808" y="2924944"/>
            <a:ext cx="2160240" cy="1224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a:off x="2843808" y="4293096"/>
            <a:ext cx="21602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flipV="1">
            <a:off x="2843808" y="4437113"/>
            <a:ext cx="2160240" cy="11521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36878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85748" y="1000108"/>
            <a:ext cx="7058020" cy="5715040"/>
          </a:xfrm>
        </p:spPr>
        <p:txBody>
          <a:bodyPr>
            <a:normAutofit/>
          </a:bodyPr>
          <a:lstStyle/>
          <a:p>
            <a:pPr algn="just"/>
            <a:r>
              <a:rPr lang="es-CR" sz="2400" dirty="0" smtClean="0"/>
              <a:t>Cualquiera que sea la situación, la palabra índice lleva implícitamente la noción de que se realizan comparaciones de las variaciones de un cierto fenómeno a lo largo del </a:t>
            </a:r>
            <a:r>
              <a:rPr lang="es-CR" sz="2400" b="1" i="1" dirty="0" smtClean="0"/>
              <a:t>tiempo</a:t>
            </a:r>
            <a:r>
              <a:rPr lang="es-CR" sz="2400" dirty="0" smtClean="0"/>
              <a:t> y del </a:t>
            </a:r>
            <a:r>
              <a:rPr lang="es-CR" sz="2400" b="1" i="1" dirty="0" smtClean="0"/>
              <a:t>espacio</a:t>
            </a:r>
            <a:r>
              <a:rPr lang="es-CR" sz="2400" dirty="0" smtClean="0"/>
              <a:t>, como para los indicadores.</a:t>
            </a:r>
          </a:p>
          <a:p>
            <a:pPr algn="just"/>
            <a:endParaRPr lang="es-CR" sz="2400" dirty="0" smtClean="0"/>
          </a:p>
          <a:p>
            <a:pPr algn="just"/>
            <a:r>
              <a:rPr lang="es-CR" sz="2400" dirty="0" smtClean="0"/>
              <a:t>No vamos a entrar en materia dada la complejidad, sin embargo, mencionaremos alguno de los más importantes.</a:t>
            </a:r>
          </a:p>
          <a:p>
            <a:pPr algn="just"/>
            <a:endParaRPr lang="es-CR" sz="2400" dirty="0" smtClean="0"/>
          </a:p>
          <a:p>
            <a:pPr marL="0" indent="0" algn="just">
              <a:buNone/>
            </a:pPr>
            <a:endParaRPr lang="es-CR" sz="2400" dirty="0" smtClean="0"/>
          </a:p>
        </p:txBody>
      </p:sp>
      <p:sp>
        <p:nvSpPr>
          <p:cNvPr id="4" name="1 Título"/>
          <p:cNvSpPr>
            <a:spLocks noGrp="1"/>
          </p:cNvSpPr>
          <p:nvPr>
            <p:ph type="title"/>
          </p:nvPr>
        </p:nvSpPr>
        <p:spPr>
          <a:xfrm>
            <a:off x="500034" y="0"/>
            <a:ext cx="8215370" cy="857232"/>
          </a:xfrm>
        </p:spPr>
        <p:txBody>
          <a:bodyPr/>
          <a:lstStyle/>
          <a:p>
            <a:pPr algn="ctr"/>
            <a:r>
              <a:rPr lang="es-CR" dirty="0" smtClean="0"/>
              <a:t>Índices</a:t>
            </a:r>
            <a:endParaRPr lang="es-CR" dirty="0"/>
          </a:p>
        </p:txBody>
      </p:sp>
      <p:sp>
        <p:nvSpPr>
          <p:cNvPr id="2" name="1 Elipse"/>
          <p:cNvSpPr/>
          <p:nvPr/>
        </p:nvSpPr>
        <p:spPr>
          <a:xfrm>
            <a:off x="1368152" y="3789040"/>
            <a:ext cx="1475656" cy="13681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IDH</a:t>
            </a:r>
            <a:endParaRPr lang="es-CR" dirty="0"/>
          </a:p>
        </p:txBody>
      </p:sp>
      <p:sp>
        <p:nvSpPr>
          <p:cNvPr id="5" name="4 Elipse"/>
          <p:cNvSpPr/>
          <p:nvPr/>
        </p:nvSpPr>
        <p:spPr>
          <a:xfrm>
            <a:off x="3744416" y="3789040"/>
            <a:ext cx="1475656" cy="13681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IPG</a:t>
            </a:r>
            <a:endParaRPr lang="es-CR" dirty="0"/>
          </a:p>
        </p:txBody>
      </p:sp>
      <p:sp>
        <p:nvSpPr>
          <p:cNvPr id="6" name="5 Elipse"/>
          <p:cNvSpPr/>
          <p:nvPr/>
        </p:nvSpPr>
        <p:spPr>
          <a:xfrm>
            <a:off x="3744416" y="5350593"/>
            <a:ext cx="1475656" cy="13681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IVI</a:t>
            </a:r>
            <a:endParaRPr lang="es-CR" dirty="0"/>
          </a:p>
        </p:txBody>
      </p:sp>
      <p:sp>
        <p:nvSpPr>
          <p:cNvPr id="7" name="6 Elipse"/>
          <p:cNvSpPr/>
          <p:nvPr/>
        </p:nvSpPr>
        <p:spPr>
          <a:xfrm>
            <a:off x="1344169" y="5301208"/>
            <a:ext cx="1475656" cy="13681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IBH</a:t>
            </a:r>
            <a:endParaRPr lang="es-CR" dirty="0"/>
          </a:p>
        </p:txBody>
      </p:sp>
      <p:sp>
        <p:nvSpPr>
          <p:cNvPr id="8" name="7 Elipse"/>
          <p:cNvSpPr/>
          <p:nvPr/>
        </p:nvSpPr>
        <p:spPr>
          <a:xfrm>
            <a:off x="5964558" y="5350593"/>
            <a:ext cx="1475656" cy="13681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ICC</a:t>
            </a:r>
            <a:endParaRPr lang="es-CR" dirty="0"/>
          </a:p>
        </p:txBody>
      </p:sp>
      <p:sp>
        <p:nvSpPr>
          <p:cNvPr id="9" name="8 Elipse"/>
          <p:cNvSpPr/>
          <p:nvPr/>
        </p:nvSpPr>
        <p:spPr>
          <a:xfrm>
            <a:off x="5976664" y="3789040"/>
            <a:ext cx="1475656" cy="13681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ICP</a:t>
            </a:r>
            <a:endParaRPr lang="es-CR" dirty="0"/>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1026" name="Picture 2" descr="http://www.atout-finance.com/images-articles/idh-dans-le-mond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76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15489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s-CR" sz="3600" dirty="0" smtClean="0"/>
              <a:t>Construcción del IDH</a:t>
            </a:r>
            <a:endParaRPr lang="es-CR" sz="3600" dirty="0"/>
          </a:p>
        </p:txBody>
      </p:sp>
      <p:pic>
        <p:nvPicPr>
          <p:cNvPr id="2050" name="Picture 2" descr="https://burica.files.wordpress.com/2008/02/id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464" y="1844824"/>
            <a:ext cx="8557714" cy="374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9737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4282" y="0"/>
            <a:ext cx="8643998" cy="1000108"/>
          </a:xfrm>
        </p:spPr>
        <p:txBody>
          <a:bodyPr>
            <a:normAutofit/>
          </a:bodyPr>
          <a:lstStyle/>
          <a:p>
            <a:pPr algn="ctr"/>
            <a:r>
              <a:rPr lang="es-CR" sz="3600" dirty="0" smtClean="0"/>
              <a:t>Reseñas finales</a:t>
            </a:r>
            <a:endParaRPr lang="es-CR" sz="3600" dirty="0"/>
          </a:p>
        </p:txBody>
      </p:sp>
      <p:sp>
        <p:nvSpPr>
          <p:cNvPr id="3" name="2 Marcador de contenido"/>
          <p:cNvSpPr>
            <a:spLocks noGrp="1"/>
          </p:cNvSpPr>
          <p:nvPr>
            <p:ph sz="quarter" idx="1"/>
          </p:nvPr>
        </p:nvSpPr>
        <p:spPr>
          <a:xfrm>
            <a:off x="214282" y="1142984"/>
            <a:ext cx="6157918" cy="5429288"/>
          </a:xfrm>
        </p:spPr>
        <p:txBody>
          <a:bodyPr>
            <a:normAutofit lnSpcReduction="10000"/>
          </a:bodyPr>
          <a:lstStyle/>
          <a:p>
            <a:pPr algn="just"/>
            <a:r>
              <a:rPr lang="es-CR" sz="2400" dirty="0" smtClean="0"/>
              <a:t>La importancia de los número relativos está en poder resumir la información con tal de brindar una mejor explicación.</a:t>
            </a:r>
          </a:p>
          <a:p>
            <a:pPr algn="just"/>
            <a:endParaRPr lang="es-CR" sz="2400" dirty="0" smtClean="0"/>
          </a:p>
          <a:p>
            <a:pPr algn="just"/>
            <a:r>
              <a:rPr lang="es-CR" sz="2400" dirty="0" smtClean="0"/>
              <a:t>Los NR más conocidos son la razón, proporción (porcentaje), tasas, indicadores e índices.</a:t>
            </a:r>
          </a:p>
          <a:p>
            <a:pPr algn="just"/>
            <a:endParaRPr lang="es-CR" sz="2400" dirty="0" smtClean="0"/>
          </a:p>
          <a:p>
            <a:pPr algn="just"/>
            <a:r>
              <a:rPr lang="es-CR" sz="2400" dirty="0" smtClean="0"/>
              <a:t>Las distribuciones de frecuencias son otra excelente forma de explicar la información.</a:t>
            </a:r>
          </a:p>
          <a:p>
            <a:pPr algn="just"/>
            <a:endParaRPr lang="es-CR" sz="2400" dirty="0" smtClean="0"/>
          </a:p>
          <a:p>
            <a:pPr algn="just"/>
            <a:r>
              <a:rPr lang="es-CR" sz="2400" dirty="0" smtClean="0"/>
              <a:t>En próximos temas veremos las medidas de tendencia centra y de variabilidad, que son como los número relativos, pero más específicos y utilizados. </a:t>
            </a:r>
          </a:p>
          <a:p>
            <a:pPr>
              <a:buNone/>
            </a:pPr>
            <a:endParaRPr lang="es-CR" sz="2400" dirty="0" smtClean="0"/>
          </a:p>
        </p:txBody>
      </p:sp>
      <p:pic>
        <p:nvPicPr>
          <p:cNvPr id="2050" name="Picture 2" descr="http://www.marcoele.com/UserFiles/Image/conclusion.gif"/>
          <p:cNvPicPr>
            <a:picLocks noChangeAspect="1" noChangeArrowheads="1"/>
          </p:cNvPicPr>
          <p:nvPr/>
        </p:nvPicPr>
        <p:blipFill>
          <a:blip r:embed="rId2" cstate="print"/>
          <a:srcRect/>
          <a:stretch>
            <a:fillRect/>
          </a:stretch>
        </p:blipFill>
        <p:spPr bwMode="auto">
          <a:xfrm>
            <a:off x="6786578" y="1142984"/>
            <a:ext cx="2150213" cy="2143140"/>
          </a:xfrm>
          <a:prstGeom prst="rect">
            <a:avLst/>
          </a:prstGeom>
          <a:noFill/>
        </p:spPr>
      </p:pic>
      <p:pic>
        <p:nvPicPr>
          <p:cNvPr id="2054" name="Picture 6" descr="http://biblioteca.itson.mx/oa/educacion/oa1/ParadigmasInvestigacion/img/conclusion_imagen.jpg"/>
          <p:cNvPicPr>
            <a:picLocks noChangeAspect="1" noChangeArrowheads="1"/>
          </p:cNvPicPr>
          <p:nvPr/>
        </p:nvPicPr>
        <p:blipFill>
          <a:blip r:embed="rId3" cstate="print"/>
          <a:srcRect/>
          <a:stretch>
            <a:fillRect/>
          </a:stretch>
        </p:blipFill>
        <p:spPr bwMode="auto">
          <a:xfrm>
            <a:off x="7000892" y="3500438"/>
            <a:ext cx="1785950" cy="2714644"/>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encrypted-tbn2.gstatic.com/images?q=tbn:ANd9GcTx4jVVsIkaLCe9-VKBc9uCBOVPDBvwLg1FVvii58OYK8yntdiOY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89128"/>
            <a:ext cx="7272808" cy="6380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02447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39938" name="Picture 2" descr="http://diegobacha.files.wordpress.com/2009/07/not-the-end.jpg"/>
          <p:cNvPicPr>
            <a:picLocks noChangeAspect="1" noChangeArrowheads="1"/>
          </p:cNvPicPr>
          <p:nvPr/>
        </p:nvPicPr>
        <p:blipFill>
          <a:blip r:embed="rId2" cstate="print"/>
          <a:srcRect/>
          <a:stretch>
            <a:fillRect/>
          </a:stretch>
        </p:blipFill>
        <p:spPr bwMode="auto">
          <a:xfrm>
            <a:off x="0" y="0"/>
            <a:ext cx="9144000" cy="6891240"/>
          </a:xfrm>
          <a:prstGeom prst="rect">
            <a:avLst/>
          </a:prstGeom>
          <a:noFill/>
        </p:spPr>
      </p:pic>
    </p:spTree>
  </p:cSld>
  <p:clrMapOvr>
    <a:masterClrMapping/>
  </p:clrMapOvr>
  <p:transition spd="slow">
    <p:wheel spokes="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1083</TotalTime>
  <Words>2080</Words>
  <Application>Microsoft Office PowerPoint</Application>
  <PresentationFormat>Presentación en pantalla (4:3)</PresentationFormat>
  <Paragraphs>416</Paragraphs>
  <Slides>41</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41</vt:i4>
      </vt:variant>
    </vt:vector>
  </HeadingPairs>
  <TitlesOfParts>
    <vt:vector size="50" baseType="lpstr">
      <vt:lpstr>Arial</vt:lpstr>
      <vt:lpstr>Baskerville Old Face</vt:lpstr>
      <vt:lpstr>Calibri</vt:lpstr>
      <vt:lpstr>Cambria Math</vt:lpstr>
      <vt:lpstr>Franklin Gothic Book</vt:lpstr>
      <vt:lpstr>Perpetua</vt:lpstr>
      <vt:lpstr>Wingdings</vt:lpstr>
      <vt:lpstr>Wingdings 2</vt:lpstr>
      <vt:lpstr>Equidad</vt:lpstr>
      <vt:lpstr>Números relativos y  la distribución de frecuencias.</vt:lpstr>
      <vt:lpstr>Introducción</vt:lpstr>
      <vt:lpstr>Índice</vt:lpstr>
      <vt:lpstr>Índice</vt:lpstr>
      <vt:lpstr>La necesidad de resumir la información</vt:lpstr>
      <vt:lpstr>Presentación de PowerPoint</vt:lpstr>
      <vt:lpstr>La necesidad de resumir la información</vt:lpstr>
      <vt:lpstr>La necesidad de resumir la información</vt:lpstr>
      <vt:lpstr>La necesidad de resumir la información</vt:lpstr>
      <vt:lpstr>La necesidad de resumir la información</vt:lpstr>
      <vt:lpstr>Índice</vt:lpstr>
      <vt:lpstr>Razón</vt:lpstr>
      <vt:lpstr>Proporción</vt:lpstr>
      <vt:lpstr>Ejemplo de razón y proporción</vt:lpstr>
      <vt:lpstr>Ejemplo de razón y proporción: interpretación</vt:lpstr>
      <vt:lpstr>Factor de ampliación</vt:lpstr>
      <vt:lpstr>Factor de ampliación</vt:lpstr>
      <vt:lpstr>Tasas</vt:lpstr>
      <vt:lpstr>Tasas</vt:lpstr>
      <vt:lpstr>Tasas</vt:lpstr>
      <vt:lpstr>Tasas</vt:lpstr>
      <vt:lpstr>Índice</vt:lpstr>
      <vt:lpstr>Distribución de Frecuencias</vt:lpstr>
      <vt:lpstr>Distribución de frecuencias</vt:lpstr>
      <vt:lpstr>Distribución de frecuencias</vt:lpstr>
      <vt:lpstr>Distribución de frecuencias</vt:lpstr>
      <vt:lpstr>Distribución de frecuencias</vt:lpstr>
      <vt:lpstr>Distribución de frecuencias</vt:lpstr>
      <vt:lpstr>Índice</vt:lpstr>
      <vt:lpstr>Indicadores</vt:lpstr>
      <vt:lpstr>Indicadores</vt:lpstr>
      <vt:lpstr>Indicadores</vt:lpstr>
      <vt:lpstr>Indicadores</vt:lpstr>
      <vt:lpstr>Índices</vt:lpstr>
      <vt:lpstr>Índices</vt:lpstr>
      <vt:lpstr>Índices</vt:lpstr>
      <vt:lpstr>Presentación de PowerPoint</vt:lpstr>
      <vt:lpstr>Construcción del IDH</vt:lpstr>
      <vt:lpstr>Reseñas finales</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Números Relativos</dc:title>
  <dc:creator>Oscar</dc:creator>
  <cp:lastModifiedBy>Oscar</cp:lastModifiedBy>
  <cp:revision>115</cp:revision>
  <dcterms:created xsi:type="dcterms:W3CDTF">2010-05-15T03:52:17Z</dcterms:created>
  <dcterms:modified xsi:type="dcterms:W3CDTF">2016-05-11T16:44:52Z</dcterms:modified>
</cp:coreProperties>
</file>