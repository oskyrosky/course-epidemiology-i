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256" r:id="rId2"/>
    <p:sldId id="294" r:id="rId3"/>
    <p:sldId id="296" r:id="rId4"/>
    <p:sldId id="257" r:id="rId5"/>
    <p:sldId id="258" r:id="rId6"/>
    <p:sldId id="259" r:id="rId7"/>
    <p:sldId id="260" r:id="rId8"/>
    <p:sldId id="266" r:id="rId9"/>
    <p:sldId id="295" r:id="rId10"/>
    <p:sldId id="262" r:id="rId11"/>
    <p:sldId id="267" r:id="rId12"/>
    <p:sldId id="261" r:id="rId13"/>
    <p:sldId id="263" r:id="rId14"/>
    <p:sldId id="268" r:id="rId15"/>
    <p:sldId id="264" r:id="rId16"/>
    <p:sldId id="297" r:id="rId17"/>
    <p:sldId id="265" r:id="rId18"/>
    <p:sldId id="269" r:id="rId19"/>
    <p:sldId id="270" r:id="rId20"/>
    <p:sldId id="271" r:id="rId21"/>
    <p:sldId id="272" r:id="rId22"/>
    <p:sldId id="273" r:id="rId23"/>
    <p:sldId id="298" r:id="rId24"/>
    <p:sldId id="274" r:id="rId25"/>
    <p:sldId id="275" r:id="rId26"/>
    <p:sldId id="276" r:id="rId27"/>
    <p:sldId id="277" r:id="rId28"/>
    <p:sldId id="278" r:id="rId29"/>
    <p:sldId id="299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307" r:id="rId43"/>
    <p:sldId id="303" r:id="rId44"/>
    <p:sldId id="301" r:id="rId45"/>
    <p:sldId id="302" r:id="rId46"/>
    <p:sldId id="304" r:id="rId47"/>
    <p:sldId id="305" r:id="rId48"/>
    <p:sldId id="306" r:id="rId49"/>
    <p:sldId id="293" r:id="rId50"/>
    <p:sldId id="292" r:id="rId51"/>
  </p:sldIdLst>
  <p:sldSz cx="9144000" cy="6858000" type="screen4x3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1935" autoAdjust="0"/>
  </p:normalViewPr>
  <p:slideViewPr>
    <p:cSldViewPr>
      <p:cViewPr varScale="1">
        <p:scale>
          <a:sx n="67" d="100"/>
          <a:sy n="67" d="100"/>
        </p:scale>
        <p:origin x="-55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DB582-929D-488D-851A-2B572ED36B6F}" type="datetimeFigureOut">
              <a:rPr lang="es-CR" smtClean="0"/>
              <a:t>25/05/2016</a:t>
            </a:fld>
            <a:endParaRPr lang="es-C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F6233-9931-4CD3-9E79-63AB91E4D62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9466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6233-9931-4CD3-9E79-63AB91E4D62C}" type="slidenum">
              <a:rPr lang="es-CR" smtClean="0"/>
              <a:t>40</a:t>
            </a:fld>
            <a:endParaRPr lang="es-C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12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5AD9-0EFF-4905-931F-E2DC852D5965}" type="datetimeFigureOut">
              <a:rPr lang="es-CR" smtClean="0"/>
              <a:pPr/>
              <a:t>25/05/2016</a:t>
            </a:fld>
            <a:endParaRPr lang="es-CR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1D907EA-997F-49FF-A434-07DE71C01475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7" name="6 Rectángulo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5AD9-0EFF-4905-931F-E2DC852D5965}" type="datetimeFigureOut">
              <a:rPr lang="es-CR" smtClean="0"/>
              <a:pPr/>
              <a:t>25/05/2016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07EA-997F-49FF-A434-07DE71C01475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9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5AD9-0EFF-4905-931F-E2DC852D5965}" type="datetimeFigureOut">
              <a:rPr lang="es-CR" smtClean="0"/>
              <a:pPr/>
              <a:t>25/05/2016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s-CR"/>
          </a:p>
        </p:txBody>
      </p:sp>
      <p:sp>
        <p:nvSpPr>
          <p:cNvPr id="7" name="6 Rectángulo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1D907EA-997F-49FF-A434-07DE71C01475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5AD9-0EFF-4905-931F-E2DC852D5965}" type="datetimeFigureOut">
              <a:rPr lang="es-CR" smtClean="0"/>
              <a:pPr/>
              <a:t>25/05/2016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07EA-997F-49FF-A434-07DE71C01475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5AD9-0EFF-4905-931F-E2DC852D5965}" type="datetimeFigureOut">
              <a:rPr lang="es-CR" smtClean="0"/>
              <a:pPr/>
              <a:t>25/05/2016</a:t>
            </a:fld>
            <a:endParaRPr lang="es-C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07EA-997F-49FF-A434-07DE71C01475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11" name="10 Marcador de contenido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5AD9-0EFF-4905-931F-E2DC852D5965}" type="datetimeFigureOut">
              <a:rPr lang="es-CR" smtClean="0"/>
              <a:pPr/>
              <a:t>25/05/2016</a:t>
            </a:fld>
            <a:endParaRPr lang="es-C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07EA-997F-49FF-A434-07DE71C01475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5AD9-0EFF-4905-931F-E2DC852D5965}" type="datetimeFigureOut">
              <a:rPr lang="es-CR" smtClean="0"/>
              <a:pPr/>
              <a:t>25/05/2016</a:t>
            </a:fld>
            <a:endParaRPr lang="es-C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07EA-997F-49FF-A434-07DE71C01475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8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5AD9-0EFF-4905-931F-E2DC852D5965}" type="datetimeFigureOut">
              <a:rPr lang="es-CR" smtClean="0"/>
              <a:pPr/>
              <a:t>25/05/2016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07EA-997F-49FF-A434-07DE71C01475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5AD9-0EFF-4905-931F-E2DC852D5965}" type="datetimeFigureOut">
              <a:rPr lang="es-CR" smtClean="0"/>
              <a:pPr/>
              <a:t>25/05/2016</a:t>
            </a:fld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1D907EA-997F-49FF-A434-07DE71C01475}" type="slidenum">
              <a:rPr lang="es-CR" smtClean="0"/>
              <a:pPr/>
              <a:t>‹Nº›</a:t>
            </a:fld>
            <a:endParaRPr lang="es-CR"/>
          </a:p>
        </p:txBody>
      </p:sp>
      <p:sp>
        <p:nvSpPr>
          <p:cNvPr id="11" name="10 Rectángulo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5AD9-0EFF-4905-931F-E2DC852D5965}" type="datetimeFigureOut">
              <a:rPr lang="es-CR" smtClean="0"/>
              <a:pPr/>
              <a:t>25/05/2016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07EA-997F-49FF-A434-07DE71C01475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5AD9-0EFF-4905-931F-E2DC852D5965}" type="datetimeFigureOut">
              <a:rPr lang="es-CR" smtClean="0"/>
              <a:pPr/>
              <a:t>25/05/2016</a:t>
            </a:fld>
            <a:endParaRPr lang="es-C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07EA-997F-49FF-A434-07DE71C01475}" type="slidenum">
              <a:rPr lang="es-CR" smtClean="0"/>
              <a:pPr/>
              <a:t>‹Nº›</a:t>
            </a:fld>
            <a:endParaRPr lang="es-C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7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00F5AD9-0EFF-4905-931F-E2DC852D5965}" type="datetimeFigureOut">
              <a:rPr lang="es-CR" smtClean="0"/>
              <a:pPr/>
              <a:t>25/05/2016</a:t>
            </a:fld>
            <a:endParaRPr lang="es-C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CR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1D907EA-997F-49FF-A434-07DE71C01475}" type="slidenum">
              <a:rPr lang="es-CR" smtClean="0"/>
              <a:pPr/>
              <a:t>‹Nº›</a:t>
            </a:fld>
            <a:endParaRPr lang="es-C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21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21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gi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743200" y="5033986"/>
            <a:ext cx="6400800" cy="1752600"/>
          </a:xfrm>
        </p:spPr>
        <p:txBody>
          <a:bodyPr>
            <a:normAutofit lnSpcReduction="10000"/>
          </a:bodyPr>
          <a:lstStyle/>
          <a:p>
            <a:endParaRPr lang="es-CR" dirty="0" smtClean="0"/>
          </a:p>
          <a:p>
            <a:endParaRPr lang="es-CR" dirty="0"/>
          </a:p>
          <a:p>
            <a:pPr algn="r"/>
            <a:r>
              <a:rPr lang="es-CR" sz="4800" dirty="0" smtClean="0">
                <a:solidFill>
                  <a:schemeClr val="bg1">
                    <a:lumMod val="50000"/>
                  </a:schemeClr>
                </a:solidFill>
              </a:rPr>
              <a:t>Osca Centeno Mora</a:t>
            </a:r>
            <a:endParaRPr lang="es-CR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28662" y="1"/>
            <a:ext cx="7772400" cy="714355"/>
          </a:xfrm>
        </p:spPr>
        <p:txBody>
          <a:bodyPr>
            <a:noAutofit/>
          </a:bodyPr>
          <a:lstStyle/>
          <a:p>
            <a:r>
              <a:rPr lang="es-CR" sz="5400" dirty="0" smtClean="0">
                <a:solidFill>
                  <a:schemeClr val="bg1">
                    <a:lumMod val="50000"/>
                  </a:schemeClr>
                </a:solidFill>
              </a:rPr>
              <a:t>Estimación</a:t>
            </a:r>
            <a:endParaRPr lang="es-CR" sz="5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6" name="Picture 2" descr="http://www.uku.fi/~mauranen/advbis/samp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14356"/>
            <a:ext cx="9144000" cy="5241016"/>
          </a:xfrm>
          <a:prstGeom prst="rect">
            <a:avLst/>
          </a:prstGeom>
          <a:noFill/>
        </p:spPr>
      </p:pic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72400" cy="868958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467544" y="126876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467544" y="3284984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467544" y="522920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4716016" y="126876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8" name="7 Elipse"/>
          <p:cNvSpPr/>
          <p:nvPr/>
        </p:nvSpPr>
        <p:spPr>
          <a:xfrm>
            <a:off x="4716016" y="3284984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5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2051720" y="141277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2051720" y="3429000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Características de la muestra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051720" y="537321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Inferencia estadística</a:t>
            </a:r>
            <a:endParaRPr lang="es-CR" dirty="0"/>
          </a:p>
        </p:txBody>
      </p:sp>
      <p:sp>
        <p:nvSpPr>
          <p:cNvPr id="16" name="15 Rectángulo redondeado"/>
          <p:cNvSpPr/>
          <p:nvPr/>
        </p:nvSpPr>
        <p:spPr>
          <a:xfrm>
            <a:off x="6444208" y="141277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Estimación puntual y por intervalos</a:t>
            </a:r>
            <a:endParaRPr lang="es-CR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6444208" y="3429000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Límites de confianza</a:t>
            </a:r>
            <a:endParaRPr lang="es-CR" dirty="0"/>
          </a:p>
        </p:txBody>
      </p:sp>
      <p:sp>
        <p:nvSpPr>
          <p:cNvPr id="18" name="17 Elipse"/>
          <p:cNvSpPr/>
          <p:nvPr/>
        </p:nvSpPr>
        <p:spPr>
          <a:xfrm>
            <a:off x="4716016" y="522920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6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6444208" y="537321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Interpretación de los límites de confianza y otros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30963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72400" cy="868958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467544" y="126876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2051720" y="141277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74133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643998" cy="928670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5214974" cy="5715040"/>
          </a:xfrm>
        </p:spPr>
        <p:txBody>
          <a:bodyPr>
            <a:normAutofit lnSpcReduction="10000"/>
          </a:bodyPr>
          <a:lstStyle/>
          <a:p>
            <a:r>
              <a:rPr lang="es-CR" dirty="0" smtClean="0"/>
              <a:t>En todo estudio o investigación existe un campo de referencia, universo o</a:t>
            </a:r>
            <a:r>
              <a:rPr lang="es-CR" b="1" dirty="0" smtClean="0"/>
              <a:t> población </a:t>
            </a:r>
            <a:r>
              <a:rPr lang="es-CR" dirty="0" smtClean="0"/>
              <a:t>al cual se desea generalizar los resultados o conclusiones que se obtengan.</a:t>
            </a:r>
          </a:p>
          <a:p>
            <a:endParaRPr lang="es-CR" dirty="0" smtClean="0"/>
          </a:p>
          <a:p>
            <a:r>
              <a:rPr lang="es-CR" dirty="0" smtClean="0"/>
              <a:t>Por </a:t>
            </a:r>
            <a:r>
              <a:rPr lang="es-CR" b="1" dirty="0" smtClean="0"/>
              <a:t>población</a:t>
            </a:r>
            <a:r>
              <a:rPr lang="es-CR" dirty="0" smtClean="0"/>
              <a:t> o universo se entiende el total de personas, objetos o mediciones que tienen una característica común.</a:t>
            </a:r>
          </a:p>
          <a:p>
            <a:endParaRPr lang="es-CR" dirty="0" smtClean="0"/>
          </a:p>
          <a:p>
            <a:r>
              <a:rPr lang="es-CR" dirty="0" smtClean="0"/>
              <a:t>“El total de todas las observaciones correspondientes a una cierta característica”. Gómez. M. </a:t>
            </a:r>
          </a:p>
          <a:p>
            <a:endParaRPr lang="es-CR" dirty="0" smtClean="0"/>
          </a:p>
          <a:p>
            <a:endParaRPr lang="es-CR" dirty="0"/>
          </a:p>
        </p:txBody>
      </p:sp>
      <p:pic>
        <p:nvPicPr>
          <p:cNvPr id="9218" name="Picture 2" descr="http://www.losmejoresdestinos.com/destinos/costa_rica/mapa_region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57884" y="1071546"/>
            <a:ext cx="3000396" cy="2626700"/>
          </a:xfrm>
          <a:prstGeom prst="rect">
            <a:avLst/>
          </a:prstGeom>
          <a:noFill/>
        </p:spPr>
      </p:pic>
      <p:pic>
        <p:nvPicPr>
          <p:cNvPr id="9220" name="Picture 4" descr="http://www.dipucadiz.es/opencms/export/sites/default/dipucadiz/multimedia/galeriaImagenes/populati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8" y="3857628"/>
            <a:ext cx="3143272" cy="2585342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46"/>
            <a:ext cx="8143932" cy="5500726"/>
          </a:xfrm>
        </p:spPr>
        <p:txBody>
          <a:bodyPr>
            <a:normAutofit fontScale="92500"/>
          </a:bodyPr>
          <a:lstStyle/>
          <a:p>
            <a:r>
              <a:rPr lang="es-CR" dirty="0" smtClean="0"/>
              <a:t>Las investigaciones y experimentos se llevan a cabo con el propósito de llegar a conclusiones o leyes de carácter general, es decir, buscando resultados que se puedan generalizar a todos los elementos de la población.</a:t>
            </a:r>
          </a:p>
          <a:p>
            <a:endParaRPr lang="es-CR" dirty="0" smtClean="0"/>
          </a:p>
          <a:p>
            <a:r>
              <a:rPr lang="es-CR" dirty="0" smtClean="0"/>
              <a:t>El sentido común indica que lo mejor sería “censar” a todos los elementos que constituyen la población.</a:t>
            </a:r>
          </a:p>
          <a:p>
            <a:endParaRPr lang="es-CR" dirty="0" smtClean="0"/>
          </a:p>
          <a:p>
            <a:r>
              <a:rPr lang="es-CR" dirty="0" smtClean="0"/>
              <a:t>Sin embargo, esto resulta muchas veces imposible por cuestiones de administración, tiempo, grandeza y dinero (recursos).</a:t>
            </a:r>
          </a:p>
          <a:p>
            <a:endParaRPr lang="es-CR" dirty="0" smtClean="0"/>
          </a:p>
          <a:p>
            <a:r>
              <a:rPr lang="es-CR" dirty="0" smtClean="0"/>
              <a:t>Como no se puede “censar” toda la población,  se toma una muestra y los resultados de ella se generalizan a toda la población.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643998" cy="928670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7772400" cy="4572000"/>
          </a:xfrm>
        </p:spPr>
        <p:txBody>
          <a:bodyPr/>
          <a:lstStyle/>
          <a:p>
            <a:r>
              <a:rPr lang="es-CR" dirty="0" smtClean="0"/>
              <a:t>Generalización de la información: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643998" cy="928670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285720" y="1571612"/>
            <a:ext cx="3786214" cy="44291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dirty="0"/>
              <a:t>N=Población</a:t>
            </a:r>
            <a:br>
              <a:rPr lang="es-ES_tradnl" dirty="0"/>
            </a:b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7000892" y="3071810"/>
            <a:ext cx="1857375" cy="17859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_tradnl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dirty="0"/>
              <a:t>n=muestra</a:t>
            </a:r>
            <a:br>
              <a:rPr lang="es-ES_tradnl" dirty="0"/>
            </a:br>
            <a:r>
              <a:rPr lang="es-ES_tradnl" dirty="0"/>
              <a:t/>
            </a:r>
            <a:br>
              <a:rPr lang="es-ES_tradnl" dirty="0"/>
            </a:br>
            <a:endParaRPr lang="es-CR" dirty="0"/>
          </a:p>
        </p:txBody>
      </p:sp>
      <p:sp>
        <p:nvSpPr>
          <p:cNvPr id="7" name="6 Arco"/>
          <p:cNvSpPr/>
          <p:nvPr/>
        </p:nvSpPr>
        <p:spPr>
          <a:xfrm>
            <a:off x="1785918" y="3643314"/>
            <a:ext cx="4929187" cy="214313"/>
          </a:xfrm>
          <a:prstGeom prst="arc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R"/>
          </a:p>
        </p:txBody>
      </p:sp>
      <p:sp>
        <p:nvSpPr>
          <p:cNvPr id="8" name="7 Rectángulo"/>
          <p:cNvSpPr/>
          <p:nvPr/>
        </p:nvSpPr>
        <p:spPr>
          <a:xfrm>
            <a:off x="4214810" y="4786322"/>
            <a:ext cx="2857520" cy="1857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R" sz="2800" dirty="0" smtClean="0"/>
              <a:t>La idea es que la muestra contenga la información de la población</a:t>
            </a:r>
            <a:endParaRPr lang="es-CR" sz="2800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928670"/>
            <a:ext cx="8501122" cy="5715040"/>
          </a:xfrm>
        </p:spPr>
        <p:txBody>
          <a:bodyPr/>
          <a:lstStyle/>
          <a:p>
            <a:r>
              <a:rPr lang="es-CR" dirty="0" smtClean="0"/>
              <a:t>La razón más importante de la muestra es la no necesidad de estudiar toda la población. </a:t>
            </a:r>
          </a:p>
          <a:p>
            <a:endParaRPr lang="es-CR" dirty="0" smtClean="0"/>
          </a:p>
          <a:p>
            <a:r>
              <a:rPr lang="es-CR" dirty="0" smtClean="0"/>
              <a:t>Los resultados que arrojaría una muestra  bien seleccionada de tamaño razonable, serán suficientemente precisos para alcanzar los fines prácticos: generalizar a la población.</a:t>
            </a:r>
          </a:p>
          <a:p>
            <a:endParaRPr lang="es-CR" dirty="0" smtClean="0"/>
          </a:p>
          <a:p>
            <a:r>
              <a:rPr lang="es-CR" b="1" i="1" u="sng" dirty="0" smtClean="0"/>
              <a:t>Inferencia estadística</a:t>
            </a:r>
            <a:r>
              <a:rPr lang="es-CR" b="1" i="1" dirty="0" smtClean="0"/>
              <a:t>: “</a:t>
            </a:r>
            <a:r>
              <a:rPr lang="es-CR" dirty="0" smtClean="0"/>
              <a:t>es el proceso mediante el cual se generalizan los resultados observados en una muestra aleatoria, a la población de la cual se extrajo (población de interés).” </a:t>
            </a:r>
            <a:r>
              <a:rPr lang="es-CR" dirty="0" err="1" smtClean="0"/>
              <a:t>Gomez</a:t>
            </a:r>
            <a:r>
              <a:rPr lang="es-CR" dirty="0" smtClean="0"/>
              <a:t>, M.</a:t>
            </a:r>
          </a:p>
          <a:p>
            <a:pPr>
              <a:buNone/>
            </a:pPr>
            <a:endParaRPr lang="es-CR" dirty="0" smtClean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643998" cy="928670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</p:spTree>
  </p:cSld>
  <p:clrMapOvr>
    <a:masterClrMapping/>
  </p:clrMapOvr>
  <p:transition>
    <p:pull dir="l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643998" cy="928670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6929454" y="3071810"/>
            <a:ext cx="1857375" cy="17859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_tradnl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dirty="0" smtClean="0"/>
              <a:t>n=muestra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_tradnl" dirty="0" smtClean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dirty="0"/>
              <a:t/>
            </a:r>
            <a:br>
              <a:rPr lang="es-ES_tradnl" dirty="0"/>
            </a:br>
            <a:endParaRPr lang="es-CR" dirty="0"/>
          </a:p>
        </p:txBody>
      </p:sp>
      <p:sp>
        <p:nvSpPr>
          <p:cNvPr id="6" name="5 Arco"/>
          <p:cNvSpPr/>
          <p:nvPr/>
        </p:nvSpPr>
        <p:spPr>
          <a:xfrm>
            <a:off x="1785918" y="3643314"/>
            <a:ext cx="4929187" cy="214313"/>
          </a:xfrm>
          <a:prstGeom prst="arc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R"/>
          </a:p>
        </p:txBody>
      </p:sp>
      <p:sp>
        <p:nvSpPr>
          <p:cNvPr id="7" name="6 Rectángulo"/>
          <p:cNvSpPr/>
          <p:nvPr/>
        </p:nvSpPr>
        <p:spPr>
          <a:xfrm>
            <a:off x="3929058" y="4786322"/>
            <a:ext cx="3214710" cy="17859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R" sz="2800" dirty="0" smtClean="0"/>
              <a:t>Siempre en el proceso de tomar una muestra se hace:</a:t>
            </a:r>
          </a:p>
          <a:p>
            <a:pPr algn="ctr"/>
            <a:r>
              <a:rPr lang="es-CR" sz="2800" i="1" u="sng" dirty="0" smtClean="0"/>
              <a:t>Inferencia Estadística</a:t>
            </a:r>
            <a:endParaRPr lang="es-CR" sz="2800" i="1" u="sng" dirty="0"/>
          </a:p>
        </p:txBody>
      </p:sp>
      <p:sp>
        <p:nvSpPr>
          <p:cNvPr id="8" name="7 Elipse"/>
          <p:cNvSpPr/>
          <p:nvPr/>
        </p:nvSpPr>
        <p:spPr>
          <a:xfrm>
            <a:off x="285720" y="1571612"/>
            <a:ext cx="3786214" cy="44291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800" dirty="0" smtClean="0"/>
              <a:t>N=Población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_tradnl" sz="2800" dirty="0" smtClean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800" dirty="0"/>
              <a:t/>
            </a:r>
            <a:br>
              <a:rPr lang="es-ES_tradnl" sz="2800" dirty="0"/>
            </a:br>
            <a:endParaRPr lang="es-CR" sz="2800" dirty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72400" cy="868958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467544" y="126876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467544" y="3284984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2051720" y="141277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2051720" y="3429000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Características de la muestra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74133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857232"/>
          </a:xfrm>
        </p:spPr>
        <p:txBody>
          <a:bodyPr/>
          <a:lstStyle/>
          <a:p>
            <a:pPr algn="ctr"/>
            <a:r>
              <a:rPr lang="es-CR" dirty="0" smtClean="0"/>
              <a:t>Características de la muestra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7772400" cy="5286412"/>
          </a:xfrm>
        </p:spPr>
        <p:txBody>
          <a:bodyPr/>
          <a:lstStyle/>
          <a:p>
            <a:r>
              <a:rPr lang="es-CR" dirty="0" smtClean="0"/>
              <a:t>Para tener resultados válidos de generalización, se dice que la muestra debe ser aleatoria o probabilística.</a:t>
            </a:r>
          </a:p>
          <a:p>
            <a:endParaRPr lang="es-CR" dirty="0" smtClean="0"/>
          </a:p>
          <a:p>
            <a:r>
              <a:rPr lang="es-CR" dirty="0" smtClean="0"/>
              <a:t>Esto es, los elementos que constituyen la muestran fueron seleccionados utilizando mecanismos que da a cada elemento de la población una probabilidad conocida de ser incluida en la muestra, y estos fueron seleccionadas al azar.</a:t>
            </a:r>
          </a:p>
          <a:p>
            <a:endParaRPr lang="es-CR" dirty="0" smtClean="0"/>
          </a:p>
          <a:p>
            <a:r>
              <a:rPr lang="es-CR" dirty="0" smtClean="0"/>
              <a:t>Al ser la muestra aleatoria, esto permite que esta posea una distribución probabilística y es posible aplicar la teoría de las probabilidades para evaluar la confiabilidad de las inferencias.</a:t>
            </a:r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1500166" y="5643578"/>
            <a:ext cx="5786478" cy="9286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Aplicación de la curva normal estándar N(0,1)</a:t>
            </a:r>
            <a:endParaRPr lang="es-CR" sz="2800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857232"/>
          </a:xfrm>
        </p:spPr>
        <p:txBody>
          <a:bodyPr/>
          <a:lstStyle/>
          <a:p>
            <a:pPr algn="ctr"/>
            <a:r>
              <a:rPr lang="es-CR" dirty="0" smtClean="0"/>
              <a:t>Características de la muestra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57158" y="1000108"/>
            <a:ext cx="1857375" cy="17859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_tradnl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dirty="0" smtClean="0"/>
              <a:t>n=muestra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_tradnl" dirty="0" smtClean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dirty="0"/>
              <a:t/>
            </a:r>
            <a:br>
              <a:rPr lang="es-ES_tradnl" dirty="0"/>
            </a:br>
            <a:endParaRPr lang="es-CR" dirty="0"/>
          </a:p>
        </p:txBody>
      </p:sp>
      <p:sp>
        <p:nvSpPr>
          <p:cNvPr id="8" name="7 Arco"/>
          <p:cNvSpPr/>
          <p:nvPr/>
        </p:nvSpPr>
        <p:spPr>
          <a:xfrm>
            <a:off x="571472" y="2071678"/>
            <a:ext cx="2357454" cy="2071702"/>
          </a:xfrm>
          <a:prstGeom prst="arc">
            <a:avLst>
              <a:gd name="adj1" fmla="val 17553380"/>
              <a:gd name="adj2" fmla="val 15768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357563"/>
            <a:ext cx="426222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00298" y="5715016"/>
            <a:ext cx="214314" cy="464347"/>
          </a:xfrm>
          <a:prstGeom prst="rect">
            <a:avLst/>
          </a:prstGeom>
          <a:noFill/>
        </p:spPr>
      </p:pic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28926" y="5715016"/>
            <a:ext cx="428628" cy="247652"/>
          </a:xfrm>
          <a:prstGeom prst="rect">
            <a:avLst/>
          </a:prstGeom>
          <a:noFill/>
        </p:spPr>
      </p:pic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85917" y="5748354"/>
            <a:ext cx="428625" cy="247650"/>
          </a:xfrm>
          <a:prstGeom prst="rect">
            <a:avLst/>
          </a:prstGeom>
          <a:noFill/>
        </p:spPr>
      </p:pic>
      <p:pic>
        <p:nvPicPr>
          <p:cNvPr id="1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7494" y="3357562"/>
            <a:ext cx="426222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20 Conector recto de flecha"/>
          <p:cNvCxnSpPr/>
          <p:nvPr/>
        </p:nvCxnSpPr>
        <p:spPr>
          <a:xfrm>
            <a:off x="3571868" y="4214818"/>
            <a:ext cx="2214578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86578" y="5643578"/>
            <a:ext cx="214314" cy="535785"/>
          </a:xfrm>
          <a:prstGeom prst="rect">
            <a:avLst/>
          </a:prstGeom>
          <a:noFill/>
        </p:spPr>
      </p:pic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0" y="6953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24 CuadroTexto"/>
          <p:cNvSpPr txBox="1"/>
          <p:nvPr/>
        </p:nvSpPr>
        <p:spPr>
          <a:xfrm>
            <a:off x="6072198" y="5715016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2000" dirty="0" smtClean="0"/>
              <a:t>-1</a:t>
            </a:r>
            <a:endParaRPr lang="es-CR" sz="2000" dirty="0"/>
          </a:p>
        </p:txBody>
      </p:sp>
      <p:sp>
        <p:nvSpPr>
          <p:cNvPr id="26" name="25 CuadroTexto"/>
          <p:cNvSpPr txBox="1"/>
          <p:nvPr/>
        </p:nvSpPr>
        <p:spPr>
          <a:xfrm>
            <a:off x="7286644" y="5715016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2000" dirty="0" smtClean="0"/>
              <a:t>1</a:t>
            </a:r>
            <a:endParaRPr lang="es-CR" sz="2000" dirty="0"/>
          </a:p>
        </p:txBody>
      </p:sp>
      <p:sp>
        <p:nvSpPr>
          <p:cNvPr id="27" name="26 CuadroTexto"/>
          <p:cNvSpPr txBox="1"/>
          <p:nvPr/>
        </p:nvSpPr>
        <p:spPr>
          <a:xfrm>
            <a:off x="5500694" y="5715016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2000" dirty="0" smtClean="0"/>
              <a:t>-2</a:t>
            </a:r>
            <a:endParaRPr lang="es-CR" sz="2000" dirty="0"/>
          </a:p>
        </p:txBody>
      </p:sp>
      <p:sp>
        <p:nvSpPr>
          <p:cNvPr id="28" name="27 CuadroTexto"/>
          <p:cNvSpPr txBox="1"/>
          <p:nvPr/>
        </p:nvSpPr>
        <p:spPr>
          <a:xfrm>
            <a:off x="7786710" y="5715016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2000" dirty="0" smtClean="0"/>
              <a:t>2</a:t>
            </a:r>
            <a:endParaRPr lang="es-CR" sz="2000" dirty="0"/>
          </a:p>
        </p:txBody>
      </p:sp>
      <p:sp>
        <p:nvSpPr>
          <p:cNvPr id="22" name="21 Rectángulo"/>
          <p:cNvSpPr/>
          <p:nvPr/>
        </p:nvSpPr>
        <p:spPr>
          <a:xfrm>
            <a:off x="714348" y="6072206"/>
            <a:ext cx="3714776" cy="714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Información de la muestra</a:t>
            </a:r>
            <a:endParaRPr lang="es-CR" sz="2800" dirty="0"/>
          </a:p>
        </p:txBody>
      </p:sp>
      <p:sp>
        <p:nvSpPr>
          <p:cNvPr id="23" name="22 Rectángulo"/>
          <p:cNvSpPr/>
          <p:nvPr/>
        </p:nvSpPr>
        <p:spPr>
          <a:xfrm>
            <a:off x="4714876" y="6072206"/>
            <a:ext cx="4286248" cy="714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Aplicación de las probabilidades</a:t>
            </a:r>
            <a:endParaRPr lang="es-CR" sz="2800" dirty="0"/>
          </a:p>
        </p:txBody>
      </p:sp>
      <p:sp>
        <p:nvSpPr>
          <p:cNvPr id="29" name="28 Rectángulo"/>
          <p:cNvSpPr/>
          <p:nvPr/>
        </p:nvSpPr>
        <p:spPr>
          <a:xfrm>
            <a:off x="3071802" y="1214422"/>
            <a:ext cx="5500726" cy="1785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Al ser una muestra aleatoria, se puede aplicar la teoría de probabilidad para obtener inferencias confiables</a:t>
            </a:r>
            <a:endParaRPr lang="es-CR" sz="2800" dirty="0"/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235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8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25" grpId="0"/>
      <p:bldP spid="26" grpId="0"/>
      <p:bldP spid="27" grpId="0"/>
      <p:bldP spid="28" grpId="0"/>
      <p:bldP spid="22" grpId="0" animBg="1"/>
      <p:bldP spid="23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785794"/>
            <a:ext cx="8643998" cy="5786478"/>
          </a:xfrm>
        </p:spPr>
        <p:txBody>
          <a:bodyPr/>
          <a:lstStyle/>
          <a:p>
            <a:r>
              <a:rPr lang="es-CR" dirty="0" smtClean="0"/>
              <a:t>Cada muestra posee un error asociado a la generalización (predicho probabilísticamente).</a:t>
            </a:r>
          </a:p>
          <a:p>
            <a:pPr>
              <a:buNone/>
            </a:pPr>
            <a:endParaRPr lang="es-CR" dirty="0" smtClean="0"/>
          </a:p>
          <a:p>
            <a:r>
              <a:rPr lang="es-CR" dirty="0" smtClean="0"/>
              <a:t>Esto es, como no se toma en cuenta a todos los individuos de la población, entonces hay una cierta diferencia entre el valor verdadero que si quiere (el de la población), y el que se obtuvo con la muestra.</a:t>
            </a:r>
          </a:p>
          <a:p>
            <a:endParaRPr lang="es-CR" dirty="0" smtClean="0"/>
          </a:p>
          <a:p>
            <a:r>
              <a:rPr lang="es-CR" dirty="0" smtClean="0"/>
              <a:t>Mediante la teoría de probabilidades, si y sólo si se tomó una muestra aleatoria, es posible, es posible medir ese error entre el valor real de la población y el de la muestra.</a:t>
            </a:r>
          </a:p>
          <a:p>
            <a:endParaRPr lang="es-CR" dirty="0" smtClean="0"/>
          </a:p>
          <a:p>
            <a:r>
              <a:rPr lang="es-CR" dirty="0" smtClean="0"/>
              <a:t>A este error se le conoce como </a:t>
            </a:r>
            <a:r>
              <a:rPr lang="es-CR" b="1" dirty="0" smtClean="0"/>
              <a:t>error de muestreo</a:t>
            </a:r>
            <a:r>
              <a:rPr lang="es-CR" dirty="0" smtClean="0"/>
              <a:t>. </a:t>
            </a:r>
          </a:p>
          <a:p>
            <a:endParaRPr lang="es-CR" dirty="0" smtClean="0"/>
          </a:p>
          <a:p>
            <a:pPr>
              <a:buNone/>
            </a:pPr>
            <a:endParaRPr lang="es-CR" dirty="0" smtClean="0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857232"/>
          </a:xfrm>
        </p:spPr>
        <p:txBody>
          <a:bodyPr/>
          <a:lstStyle/>
          <a:p>
            <a:pPr algn="ctr"/>
            <a:r>
              <a:rPr lang="es-CR" dirty="0" smtClean="0"/>
              <a:t>El error asociado a la muestra</a:t>
            </a:r>
            <a:endParaRPr lang="es-CR" dirty="0"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3438" y="3429000"/>
            <a:ext cx="426222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16" y="5715016"/>
            <a:ext cx="142876" cy="309565"/>
          </a:xfrm>
          <a:prstGeom prst="rect">
            <a:avLst/>
          </a:prstGeom>
          <a:noFill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39262" y="5715016"/>
            <a:ext cx="428628" cy="247652"/>
          </a:xfrm>
          <a:prstGeom prst="rect">
            <a:avLst/>
          </a:prstGeom>
          <a:noFill/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253" y="5748354"/>
            <a:ext cx="428625" cy="247650"/>
          </a:xfrm>
          <a:prstGeom prst="rect">
            <a:avLst/>
          </a:prstGeom>
          <a:noFill/>
        </p:spPr>
      </p:pic>
      <p:sp>
        <p:nvSpPr>
          <p:cNvPr id="8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857232"/>
          </a:xfrm>
        </p:spPr>
        <p:txBody>
          <a:bodyPr/>
          <a:lstStyle/>
          <a:p>
            <a:pPr algn="ctr"/>
            <a:r>
              <a:rPr lang="es-CR" dirty="0" smtClean="0"/>
              <a:t>El error asociado a la muestra</a:t>
            </a:r>
            <a:endParaRPr lang="es-CR" dirty="0"/>
          </a:p>
        </p:txBody>
      </p:sp>
      <p:pic>
        <p:nvPicPr>
          <p:cNvPr id="10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3429000"/>
            <a:ext cx="426222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 de flecha"/>
          <p:cNvCxnSpPr/>
          <p:nvPr/>
        </p:nvCxnSpPr>
        <p:spPr>
          <a:xfrm>
            <a:off x="3643306" y="4071942"/>
            <a:ext cx="221457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5984" y="5786454"/>
            <a:ext cx="104775" cy="238125"/>
          </a:xfrm>
          <a:prstGeom prst="rect">
            <a:avLst/>
          </a:prstGeom>
          <a:noFill/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6953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14612" y="5786454"/>
            <a:ext cx="419100" cy="238125"/>
          </a:xfrm>
          <a:prstGeom prst="rect">
            <a:avLst/>
          </a:prstGeom>
          <a:noFill/>
        </p:spPr>
      </p:pic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71604" y="5786454"/>
            <a:ext cx="419100" cy="238125"/>
          </a:xfrm>
          <a:prstGeom prst="rect">
            <a:avLst/>
          </a:prstGeom>
          <a:noFill/>
        </p:spPr>
      </p:pic>
      <p:sp>
        <p:nvSpPr>
          <p:cNvPr id="21" name="20 Rectángulo"/>
          <p:cNvSpPr/>
          <p:nvPr/>
        </p:nvSpPr>
        <p:spPr>
          <a:xfrm>
            <a:off x="785786" y="6072206"/>
            <a:ext cx="3071834" cy="71435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Información de la población</a:t>
            </a:r>
            <a:endParaRPr lang="es-CR" dirty="0"/>
          </a:p>
        </p:txBody>
      </p:sp>
      <p:sp>
        <p:nvSpPr>
          <p:cNvPr id="22" name="21 Rectángulo"/>
          <p:cNvSpPr/>
          <p:nvPr/>
        </p:nvSpPr>
        <p:spPr>
          <a:xfrm>
            <a:off x="5357818" y="6072206"/>
            <a:ext cx="3071834" cy="71435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Información de la muestra</a:t>
            </a:r>
            <a:endParaRPr lang="es-CR" dirty="0"/>
          </a:p>
        </p:txBody>
      </p:sp>
      <p:sp>
        <p:nvSpPr>
          <p:cNvPr id="23" name="22 Rectángulo"/>
          <p:cNvSpPr/>
          <p:nvPr/>
        </p:nvSpPr>
        <p:spPr>
          <a:xfrm>
            <a:off x="428596" y="1285860"/>
            <a:ext cx="8143932" cy="185738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La diferencia entre el valor real de la población </a:t>
            </a:r>
            <a:r>
              <a:rPr lang="es-CR" sz="2800" dirty="0" err="1" smtClean="0"/>
              <a:t>población</a:t>
            </a:r>
            <a:r>
              <a:rPr lang="es-CR" sz="2800" dirty="0" smtClean="0"/>
              <a:t> y el de la muestra se denominada error de muestreo.</a:t>
            </a:r>
          </a:p>
          <a:p>
            <a:pPr algn="ctr"/>
            <a:endParaRPr lang="es-CR" sz="2800" dirty="0" smtClean="0"/>
          </a:p>
          <a:p>
            <a:r>
              <a:rPr lang="es-CR" sz="2800" dirty="0" smtClean="0"/>
              <a:t>Para el caso del promedio:        µ - x = error de muestreo</a:t>
            </a:r>
            <a:endParaRPr lang="es-CR" sz="2800" dirty="0"/>
          </a:p>
        </p:txBody>
      </p:sp>
      <p:cxnSp>
        <p:nvCxnSpPr>
          <p:cNvPr id="25" name="24 Conector recto"/>
          <p:cNvCxnSpPr/>
          <p:nvPr/>
        </p:nvCxnSpPr>
        <p:spPr>
          <a:xfrm>
            <a:off x="4929190" y="2714620"/>
            <a:ext cx="214314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>
            <a:off x="4357686" y="2571744"/>
            <a:ext cx="371477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4357686" y="3071810"/>
            <a:ext cx="371477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07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4282" y="-24"/>
            <a:ext cx="8643998" cy="928694"/>
          </a:xfrm>
        </p:spPr>
        <p:txBody>
          <a:bodyPr>
            <a:normAutofit/>
          </a:bodyPr>
          <a:lstStyle/>
          <a:p>
            <a:pPr algn="ctr"/>
            <a:r>
              <a:rPr lang="es-CR" sz="4800" dirty="0" smtClean="0"/>
              <a:t>Muestra no aleatorio o al azar</a:t>
            </a:r>
            <a:endParaRPr lang="es-CR" sz="48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06" y="1071546"/>
            <a:ext cx="9072594" cy="5786454"/>
          </a:xfrm>
        </p:spPr>
        <p:txBody>
          <a:bodyPr/>
          <a:lstStyle/>
          <a:p>
            <a:r>
              <a:rPr lang="es-CR" dirty="0" smtClean="0"/>
              <a:t>Si la muestra es seleccionada en forma intencional o de juicio, los errores no tendrán un comportamiento aleatorio, sino que dependerán de los prejuicios y de tendencias conscientes o inconscientes del que hizo la selección. </a:t>
            </a:r>
          </a:p>
          <a:p>
            <a:endParaRPr lang="es-CR" dirty="0" smtClean="0"/>
          </a:p>
          <a:p>
            <a:r>
              <a:rPr lang="es-CR" dirty="0" smtClean="0"/>
              <a:t>En estas circunstancias no es posible aplicar la teoría de las probabilidades para evaluar las inferencias o generalizaciones.</a:t>
            </a:r>
          </a:p>
          <a:p>
            <a:endParaRPr lang="es-CR" dirty="0" smtClean="0"/>
          </a:p>
          <a:p>
            <a:r>
              <a:rPr lang="es-CR" dirty="0" smtClean="0"/>
              <a:t>Al no tener una forma objetiva de evaluar los errores de muestreo, la inferencia estadística no puede ser aplicada a las muestras no aleatorias.</a:t>
            </a:r>
          </a:p>
          <a:p>
            <a:endParaRPr lang="es-CR" dirty="0" smtClean="0"/>
          </a:p>
          <a:p>
            <a:r>
              <a:rPr lang="es-CR" dirty="0" smtClean="0"/>
              <a:t>Por lo tanto,  por esta y otras razones, se debe aplicar una muestra aleatoria.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142984"/>
            <a:ext cx="7000924" cy="5286412"/>
          </a:xfrm>
        </p:spPr>
        <p:txBody>
          <a:bodyPr>
            <a:normAutofit lnSpcReduction="10000"/>
          </a:bodyPr>
          <a:lstStyle/>
          <a:p>
            <a:r>
              <a:rPr lang="es-CR" dirty="0" smtClean="0"/>
              <a:t>La preferencia por las muestras aleatorias para la realización de inferencias obedece a tres razones básicas:</a:t>
            </a:r>
          </a:p>
          <a:p>
            <a:endParaRPr lang="es-CR" dirty="0" smtClean="0"/>
          </a:p>
          <a:p>
            <a:pPr marL="514350" indent="-514350">
              <a:buFont typeface="+mj-lt"/>
              <a:buAutoNum type="arabicPeriod"/>
            </a:pPr>
            <a:r>
              <a:rPr lang="es-CR" dirty="0" smtClean="0"/>
              <a:t>Eliminan los sesgos o errores de selección.</a:t>
            </a:r>
          </a:p>
          <a:p>
            <a:pPr marL="514350" indent="-514350">
              <a:buFont typeface="+mj-lt"/>
              <a:buAutoNum type="arabicPeriod"/>
            </a:pPr>
            <a:endParaRPr lang="es-CR" dirty="0" smtClean="0"/>
          </a:p>
          <a:p>
            <a:pPr marL="514350" indent="-514350">
              <a:buFont typeface="+mj-lt"/>
              <a:buAutoNum type="arabicPeriod"/>
            </a:pPr>
            <a:r>
              <a:rPr lang="es-CR" dirty="0" smtClean="0"/>
              <a:t>Producen errores aleatorios de muestreo que son medibles utilizando modelos probabilísticos.</a:t>
            </a:r>
          </a:p>
          <a:p>
            <a:pPr marL="514350" indent="-514350">
              <a:buFont typeface="+mj-lt"/>
              <a:buAutoNum type="arabicPeriod"/>
            </a:pPr>
            <a:endParaRPr lang="es-CR" dirty="0" smtClean="0"/>
          </a:p>
          <a:p>
            <a:pPr marL="514350" indent="-514350">
              <a:buFont typeface="+mj-lt"/>
              <a:buAutoNum type="arabicPeriod"/>
            </a:pPr>
            <a:r>
              <a:rPr lang="es-CR" dirty="0" smtClean="0"/>
              <a:t>El error de muestreo puede hacerse tan pequeño como se quiera, aumentando el tamaño de la muestra.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282" y="-24"/>
            <a:ext cx="8643998" cy="928694"/>
          </a:xfrm>
        </p:spPr>
        <p:txBody>
          <a:bodyPr>
            <a:normAutofit/>
          </a:bodyPr>
          <a:lstStyle/>
          <a:p>
            <a:pPr algn="ctr"/>
            <a:r>
              <a:rPr lang="es-CR" sz="4800" dirty="0" smtClean="0"/>
              <a:t>Muestra no aleatorio o al azar</a:t>
            </a:r>
            <a:endParaRPr lang="es-CR" sz="4800" dirty="0"/>
          </a:p>
        </p:txBody>
      </p:sp>
      <p:pic>
        <p:nvPicPr>
          <p:cNvPr id="11266" name="Picture 2" descr="http://www.sedsanandres.gov.co/artes/calida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64" y="1000108"/>
            <a:ext cx="2307055" cy="2428892"/>
          </a:xfrm>
          <a:prstGeom prst="rect">
            <a:avLst/>
          </a:prstGeom>
          <a:noFill/>
        </p:spPr>
      </p:pic>
      <p:pic>
        <p:nvPicPr>
          <p:cNvPr id="11268" name="Picture 4" descr="http://www.gestion-calidad.org/images/calida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0826" y="5143512"/>
            <a:ext cx="2276198" cy="12858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72400" cy="868958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467544" y="126876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467544" y="3284984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467544" y="522920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2051720" y="141277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2051720" y="3429000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Características de la muestra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051720" y="537321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Inferencia estadística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74133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4282" y="-24"/>
            <a:ext cx="8786874" cy="785818"/>
          </a:xfrm>
        </p:spPr>
        <p:txBody>
          <a:bodyPr/>
          <a:lstStyle/>
          <a:p>
            <a:pPr algn="ctr"/>
            <a:r>
              <a:rPr lang="es-CR" dirty="0" smtClean="0"/>
              <a:t>Inferencia estadística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071546"/>
            <a:ext cx="8429684" cy="5572164"/>
          </a:xfrm>
        </p:spPr>
        <p:txBody>
          <a:bodyPr>
            <a:normAutofit lnSpcReduction="10000"/>
          </a:bodyPr>
          <a:lstStyle/>
          <a:p>
            <a:r>
              <a:rPr lang="es-CR" dirty="0" smtClean="0"/>
              <a:t>Dentro de la inferencia estadística se distinguen dos tipos de problemas:</a:t>
            </a:r>
          </a:p>
          <a:p>
            <a:endParaRPr lang="es-CR" dirty="0" smtClean="0"/>
          </a:p>
          <a:p>
            <a:pPr marL="514350" indent="-514350">
              <a:buAutoNum type="arabicPeriod"/>
            </a:pPr>
            <a:r>
              <a:rPr lang="es-CR" dirty="0" smtClean="0"/>
              <a:t>Uno en que interesa </a:t>
            </a:r>
            <a:r>
              <a:rPr lang="es-CR" b="1" i="1" dirty="0" smtClean="0"/>
              <a:t>estimar (estimación)</a:t>
            </a:r>
            <a:r>
              <a:rPr lang="es-CR" dirty="0" smtClean="0"/>
              <a:t> características o propiedades de la población –promedio, variancia- de los elementos de ciertas características.</a:t>
            </a:r>
          </a:p>
          <a:p>
            <a:pPr marL="514350" indent="-514350">
              <a:buAutoNum type="arabicPeriod"/>
            </a:pPr>
            <a:r>
              <a:rPr lang="es-CR" dirty="0" smtClean="0"/>
              <a:t>El otro es cuando interesa someter a </a:t>
            </a:r>
            <a:r>
              <a:rPr lang="es-CR" b="1" i="1" dirty="0" smtClean="0"/>
              <a:t>prueba de hipótesis </a:t>
            </a:r>
            <a:r>
              <a:rPr lang="es-CR" dirty="0" smtClean="0"/>
              <a:t>cierta característica de la población.</a:t>
            </a:r>
          </a:p>
          <a:p>
            <a:pPr marL="514350" indent="-514350">
              <a:buAutoNum type="arabicPeriod"/>
            </a:pPr>
            <a:endParaRPr lang="es-CR" i="1" dirty="0" smtClean="0"/>
          </a:p>
          <a:p>
            <a:pPr marL="514350" indent="-514350"/>
            <a:r>
              <a:rPr lang="es-CR" dirty="0" smtClean="0"/>
              <a:t>Mientras que en la estimación interesa saber el rango de valores que podría tener cierto parámetro, en la prueba de hipótesis </a:t>
            </a:r>
            <a:r>
              <a:rPr lang="es-CR" dirty="0" err="1" smtClean="0"/>
              <a:t>intersa</a:t>
            </a:r>
            <a:r>
              <a:rPr lang="es-CR" dirty="0" smtClean="0"/>
              <a:t> si un determinado parámetro podría tener un cierto valor.</a:t>
            </a:r>
            <a:endParaRPr lang="es-C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42844" y="-24"/>
            <a:ext cx="8786874" cy="928694"/>
          </a:xfrm>
        </p:spPr>
        <p:txBody>
          <a:bodyPr/>
          <a:lstStyle/>
          <a:p>
            <a:pPr algn="ctr"/>
            <a:r>
              <a:rPr lang="es-CR" dirty="0" smtClean="0"/>
              <a:t>Inferencia estadística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3000364" y="1000108"/>
            <a:ext cx="2714644" cy="235745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Inferencia Estadística</a:t>
            </a:r>
            <a:endParaRPr lang="es-CR" sz="3600" dirty="0"/>
          </a:p>
        </p:txBody>
      </p:sp>
      <p:cxnSp>
        <p:nvCxnSpPr>
          <p:cNvPr id="8" name="7 Conector recto de flecha"/>
          <p:cNvCxnSpPr/>
          <p:nvPr/>
        </p:nvCxnSpPr>
        <p:spPr>
          <a:xfrm rot="10800000" flipV="1">
            <a:off x="1357290" y="2643182"/>
            <a:ext cx="1500198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 de flecha"/>
          <p:cNvCxnSpPr/>
          <p:nvPr/>
        </p:nvCxnSpPr>
        <p:spPr>
          <a:xfrm>
            <a:off x="5857884" y="2571744"/>
            <a:ext cx="1285884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Rectángulo redondeado"/>
          <p:cNvSpPr/>
          <p:nvPr/>
        </p:nvSpPr>
        <p:spPr>
          <a:xfrm>
            <a:off x="285720" y="3786190"/>
            <a:ext cx="3071834" cy="114300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Estimación</a:t>
            </a:r>
            <a:endParaRPr lang="es-CR" sz="3600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5643570" y="3786190"/>
            <a:ext cx="3071834" cy="114300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Prueba de Hipótesis</a:t>
            </a:r>
            <a:endParaRPr lang="es-CR" sz="3600" dirty="0"/>
          </a:p>
        </p:txBody>
      </p:sp>
      <p:cxnSp>
        <p:nvCxnSpPr>
          <p:cNvPr id="14" name="13 Conector recto de flecha"/>
          <p:cNvCxnSpPr/>
          <p:nvPr/>
        </p:nvCxnSpPr>
        <p:spPr>
          <a:xfrm rot="10800000" flipV="1">
            <a:off x="642910" y="5072074"/>
            <a:ext cx="642942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 rot="16200000" flipH="1">
            <a:off x="2250265" y="5107793"/>
            <a:ext cx="571504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"/>
          <p:cNvSpPr/>
          <p:nvPr/>
        </p:nvSpPr>
        <p:spPr>
          <a:xfrm>
            <a:off x="0" y="5786454"/>
            <a:ext cx="1857356" cy="8572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Puntual</a:t>
            </a:r>
            <a:endParaRPr lang="es-CR" sz="3600" dirty="0"/>
          </a:p>
        </p:txBody>
      </p:sp>
      <p:sp>
        <p:nvSpPr>
          <p:cNvPr id="18" name="17 Rectángulo"/>
          <p:cNvSpPr/>
          <p:nvPr/>
        </p:nvSpPr>
        <p:spPr>
          <a:xfrm>
            <a:off x="2285984" y="5786454"/>
            <a:ext cx="1857356" cy="8572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3200" dirty="0" smtClean="0"/>
              <a:t>Por Intervalo</a:t>
            </a:r>
            <a:endParaRPr lang="es-C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643998" cy="857232"/>
          </a:xfrm>
        </p:spPr>
        <p:txBody>
          <a:bodyPr/>
          <a:lstStyle/>
          <a:p>
            <a:pPr algn="ctr"/>
            <a:r>
              <a:rPr lang="es-CR" dirty="0" smtClean="0"/>
              <a:t>Parámetros y Estimadores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142984"/>
            <a:ext cx="8501122" cy="5286412"/>
          </a:xfrm>
        </p:spPr>
        <p:txBody>
          <a:bodyPr/>
          <a:lstStyle/>
          <a:p>
            <a:r>
              <a:rPr lang="es-CR" dirty="0" smtClean="0"/>
              <a:t>Las medidas que representan características o propiedades de la población, y que fueron obtenidas para toda la población, se denominan “valores poblacionales”   o “Parámetros”. Algunos  a citar son:</a:t>
            </a:r>
            <a:endParaRPr lang="es-CR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85786" y="2928934"/>
          <a:ext cx="7000924" cy="3568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462"/>
                <a:gridCol w="3500462"/>
              </a:tblGrid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s-CR" dirty="0" smtClean="0"/>
                        <a:t>Parámetro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dirty="0" smtClean="0"/>
                        <a:t>Definición</a:t>
                      </a:r>
                      <a:endParaRPr lang="es-CR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kumimoji="0" lang="es-CR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µ</a:t>
                      </a:r>
                      <a:endParaRPr lang="es-C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dirty="0" smtClean="0"/>
                        <a:t>Promedio de la población</a:t>
                      </a:r>
                      <a:endParaRPr lang="es-CR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kumimoji="0" lang="es-CR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σ</a:t>
                      </a:r>
                      <a:r>
                        <a:rPr kumimoji="0" lang="es-CR" sz="28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s-C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dirty="0" smtClean="0"/>
                        <a:t>Variancia de la población</a:t>
                      </a:r>
                      <a:endParaRPr lang="es-CR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kumimoji="0" lang="es-CR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σ</a:t>
                      </a:r>
                      <a:endParaRPr lang="es-C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dirty="0" smtClean="0"/>
                        <a:t>Desviación</a:t>
                      </a:r>
                      <a:r>
                        <a:rPr lang="es-CR" baseline="0" dirty="0" smtClean="0"/>
                        <a:t> estándar de la población</a:t>
                      </a:r>
                      <a:endParaRPr lang="es-CR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s-CR" sz="2800" dirty="0" smtClean="0"/>
                        <a:t>Me</a:t>
                      </a:r>
                      <a:endParaRPr lang="es-C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dirty="0" smtClean="0"/>
                        <a:t>Mediana de la población</a:t>
                      </a:r>
                      <a:endParaRPr lang="es-CR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s-CR" sz="2800" dirty="0" smtClean="0"/>
                        <a:t>P</a:t>
                      </a:r>
                      <a:endParaRPr lang="es-C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dirty="0" smtClean="0"/>
                        <a:t>Proporción</a:t>
                      </a:r>
                      <a:r>
                        <a:rPr lang="es-CR" baseline="0" dirty="0" smtClean="0"/>
                        <a:t> de la población</a:t>
                      </a:r>
                      <a:endParaRPr lang="es-CR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kumimoji="0" lang="es-CR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endParaRPr lang="es-C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dirty="0" smtClean="0"/>
                        <a:t>Coeficiente de población</a:t>
                      </a:r>
                      <a:r>
                        <a:rPr lang="es-CR" baseline="0" dirty="0" smtClean="0"/>
                        <a:t> </a:t>
                      </a:r>
                      <a:endParaRPr lang="es-CR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071546"/>
            <a:ext cx="8429684" cy="5500726"/>
          </a:xfrm>
        </p:spPr>
        <p:txBody>
          <a:bodyPr>
            <a:normAutofit lnSpcReduction="10000"/>
          </a:bodyPr>
          <a:lstStyle/>
          <a:p>
            <a:r>
              <a:rPr lang="es-CR" dirty="0" smtClean="0"/>
              <a:t>Generalmente, los valores poblacionales no son conocidos y una de las tareas básicas de la inferencia estadística es su </a:t>
            </a:r>
            <a:r>
              <a:rPr lang="es-CR" b="1" i="1" dirty="0" smtClean="0"/>
              <a:t>estimación</a:t>
            </a:r>
            <a:r>
              <a:rPr lang="es-CR" dirty="0" smtClean="0"/>
              <a:t>.</a:t>
            </a:r>
          </a:p>
          <a:p>
            <a:endParaRPr lang="es-CR" b="1" i="1" dirty="0" smtClean="0"/>
          </a:p>
          <a:p>
            <a:r>
              <a:rPr lang="es-CR" dirty="0" smtClean="0"/>
              <a:t>La estimación es el cálculo a partir de los datos de la muestra, de un valor numérico que será considerado, para efectos prácticos, como el valor de la población.</a:t>
            </a:r>
          </a:p>
          <a:p>
            <a:endParaRPr lang="es-CR" dirty="0" smtClean="0"/>
          </a:p>
          <a:p>
            <a:r>
              <a:rPr lang="es-CR" dirty="0" smtClean="0"/>
              <a:t> Entonces, </a:t>
            </a:r>
            <a:r>
              <a:rPr lang="es-CR" b="1" i="1" dirty="0" smtClean="0"/>
              <a:t>un estimador </a:t>
            </a:r>
            <a:r>
              <a:rPr lang="es-CR" dirty="0" smtClean="0"/>
              <a:t>es una función de los valores de la muestra que se utiliza para aproximar o estimar el valor poblacional.</a:t>
            </a:r>
          </a:p>
          <a:p>
            <a:endParaRPr lang="es-CR" dirty="0" smtClean="0"/>
          </a:p>
          <a:p>
            <a:pPr algn="just"/>
            <a:r>
              <a:rPr lang="es-CR" dirty="0" smtClean="0"/>
              <a:t>La </a:t>
            </a:r>
            <a:r>
              <a:rPr lang="es-CR" b="1" i="1" dirty="0" smtClean="0"/>
              <a:t>estimación </a:t>
            </a:r>
            <a:r>
              <a:rPr lang="es-CR" dirty="0" smtClean="0"/>
              <a:t>es el valor numérico producido por una muestra específica (es el proceso de cálculo con un respectivo valor).</a:t>
            </a:r>
            <a:endParaRPr lang="es-CR" b="1" i="1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643998" cy="857232"/>
          </a:xfrm>
        </p:spPr>
        <p:txBody>
          <a:bodyPr/>
          <a:lstStyle/>
          <a:p>
            <a:pPr algn="ctr"/>
            <a:r>
              <a:rPr lang="es-CR" dirty="0" smtClean="0"/>
              <a:t>Parámetros y Estimadores</a:t>
            </a:r>
            <a:endParaRPr lang="es-C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928670"/>
            <a:ext cx="7772400" cy="4572000"/>
          </a:xfrm>
        </p:spPr>
        <p:txBody>
          <a:bodyPr/>
          <a:lstStyle/>
          <a:p>
            <a:r>
              <a:rPr lang="es-CR" dirty="0" smtClean="0"/>
              <a:t>Resumiendo: 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643998" cy="857232"/>
          </a:xfrm>
        </p:spPr>
        <p:txBody>
          <a:bodyPr/>
          <a:lstStyle/>
          <a:p>
            <a:pPr algn="ctr"/>
            <a:r>
              <a:rPr lang="es-CR" dirty="0" smtClean="0"/>
              <a:t>Parámetros y Estimadores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428596" y="2071678"/>
            <a:ext cx="3000396" cy="278608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dirty="0"/>
              <a:t>N=Población</a:t>
            </a:r>
            <a:br>
              <a:rPr lang="es-ES_tradnl" dirty="0"/>
            </a:b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6500826" y="3071810"/>
            <a:ext cx="1785950" cy="121444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_tradnl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dirty="0"/>
              <a:t>n=muestra</a:t>
            </a:r>
            <a:br>
              <a:rPr lang="es-ES_tradnl" dirty="0"/>
            </a:br>
            <a:r>
              <a:rPr lang="es-ES_tradnl" dirty="0"/>
              <a:t/>
            </a:r>
            <a:br>
              <a:rPr lang="es-ES_tradnl" dirty="0"/>
            </a:br>
            <a:endParaRPr lang="es-CR" dirty="0"/>
          </a:p>
        </p:txBody>
      </p:sp>
      <p:sp>
        <p:nvSpPr>
          <p:cNvPr id="8" name="7 Rectángulo"/>
          <p:cNvSpPr/>
          <p:nvPr/>
        </p:nvSpPr>
        <p:spPr>
          <a:xfrm>
            <a:off x="214282" y="1428736"/>
            <a:ext cx="4000528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Datos  obtenidos para toda la población</a:t>
            </a:r>
            <a:endParaRPr lang="es-CR" dirty="0"/>
          </a:p>
        </p:txBody>
      </p:sp>
      <p:sp>
        <p:nvSpPr>
          <p:cNvPr id="9" name="8 Rectángulo"/>
          <p:cNvSpPr/>
          <p:nvPr/>
        </p:nvSpPr>
        <p:spPr>
          <a:xfrm>
            <a:off x="5000628" y="1428736"/>
            <a:ext cx="4000528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Datos obtenidos para una muestra</a:t>
            </a:r>
            <a:endParaRPr lang="es-CR" dirty="0"/>
          </a:p>
        </p:txBody>
      </p:sp>
      <p:cxnSp>
        <p:nvCxnSpPr>
          <p:cNvPr id="11" name="10 Conector recto de flecha"/>
          <p:cNvCxnSpPr/>
          <p:nvPr/>
        </p:nvCxnSpPr>
        <p:spPr>
          <a:xfrm rot="5400000">
            <a:off x="1250133" y="4893479"/>
            <a:ext cx="150019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/>
          <p:nvPr/>
        </p:nvCxnSpPr>
        <p:spPr>
          <a:xfrm rot="5400000">
            <a:off x="6607983" y="4822041"/>
            <a:ext cx="150019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7 Rectángulo"/>
          <p:cNvSpPr/>
          <p:nvPr/>
        </p:nvSpPr>
        <p:spPr>
          <a:xfrm>
            <a:off x="214282" y="5715016"/>
            <a:ext cx="3571900" cy="9286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Parámetros</a:t>
            </a:r>
            <a:endParaRPr lang="es-CR" sz="3600" dirty="0"/>
          </a:p>
        </p:txBody>
      </p:sp>
      <p:sp>
        <p:nvSpPr>
          <p:cNvPr id="19" name="18 Rectángulo"/>
          <p:cNvSpPr/>
          <p:nvPr/>
        </p:nvSpPr>
        <p:spPr>
          <a:xfrm>
            <a:off x="5357818" y="5715016"/>
            <a:ext cx="3571900" cy="9286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Estimadores</a:t>
            </a:r>
            <a:endParaRPr lang="es-CR" sz="36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000108"/>
            <a:ext cx="7772400" cy="4572000"/>
          </a:xfrm>
        </p:spPr>
        <p:txBody>
          <a:bodyPr/>
          <a:lstStyle/>
          <a:p>
            <a:r>
              <a:rPr lang="es-CR" dirty="0" smtClean="0"/>
              <a:t>Los estimadores más famosos son los del promedio (x barra), la variancia (S</a:t>
            </a:r>
            <a:r>
              <a:rPr lang="es-CR" baseline="30000" dirty="0" smtClean="0"/>
              <a:t>2</a:t>
            </a:r>
            <a:r>
              <a:rPr lang="es-CR" dirty="0" smtClean="0"/>
              <a:t>) y el de la desviación estándar (S).  A continuación se presentan algunos parámetros y estimadores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643998" cy="857232"/>
          </a:xfrm>
        </p:spPr>
        <p:txBody>
          <a:bodyPr/>
          <a:lstStyle/>
          <a:p>
            <a:pPr algn="ctr"/>
            <a:r>
              <a:rPr lang="es-CR" dirty="0" smtClean="0"/>
              <a:t>Parámetros y Estimadores</a:t>
            </a:r>
            <a:endParaRPr lang="es-CR" dirty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2714620"/>
            <a:ext cx="7929618" cy="3946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72400" cy="868958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467544" y="126876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467544" y="3284984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467544" y="522920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4716016" y="126876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2051720" y="141277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2051720" y="3429000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Características de la muestra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051720" y="537321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Inferencia estadística</a:t>
            </a:r>
            <a:endParaRPr lang="es-CR" dirty="0"/>
          </a:p>
        </p:txBody>
      </p:sp>
      <p:sp>
        <p:nvSpPr>
          <p:cNvPr id="16" name="15 Rectángulo redondeado"/>
          <p:cNvSpPr/>
          <p:nvPr/>
        </p:nvSpPr>
        <p:spPr>
          <a:xfrm>
            <a:off x="6444208" y="141277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Estimación puntual y por intervalos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74133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857256"/>
          </a:xfrm>
        </p:spPr>
        <p:txBody>
          <a:bodyPr>
            <a:normAutofit fontScale="90000"/>
          </a:bodyPr>
          <a:lstStyle/>
          <a:p>
            <a:pPr algn="ctr"/>
            <a:r>
              <a:rPr lang="es-CR" sz="4800" dirty="0" smtClean="0"/>
              <a:t>Estimación puntual del parámetro µ </a:t>
            </a:r>
            <a:endParaRPr lang="es-CR" sz="48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142984"/>
            <a:ext cx="7772400" cy="4572000"/>
          </a:xfrm>
        </p:spPr>
        <p:txBody>
          <a:bodyPr/>
          <a:lstStyle/>
          <a:p>
            <a:r>
              <a:rPr lang="es-CR" dirty="0" smtClean="0"/>
              <a:t>Para estimar el valor del promedio de cierta población (</a:t>
            </a:r>
            <a:r>
              <a:rPr lang="es-CR" sz="2800" dirty="0" smtClean="0"/>
              <a:t>µ) </a:t>
            </a:r>
            <a:r>
              <a:rPr lang="es-CR" dirty="0" smtClean="0"/>
              <a:t>se podría</a:t>
            </a:r>
            <a:r>
              <a:rPr lang="es-CR" sz="2800" dirty="0" smtClean="0"/>
              <a:t> utilizar el estimador    . Esto sería una estimación puntual de µ.</a:t>
            </a:r>
          </a:p>
          <a:p>
            <a:endParaRPr lang="es-CR" sz="2800" dirty="0" smtClean="0"/>
          </a:p>
          <a:p>
            <a:r>
              <a:rPr lang="es-CR" sz="2800" dirty="0" smtClean="0"/>
              <a:t>Ejemplo: se quiere estimar el promedio de edad de todos las personas de la Universidad Z (µ). Se selecciona una única muestra para estimar el promedio (  ), y el resultado fue de 25.7 años.</a:t>
            </a:r>
            <a:endParaRPr lang="es-CR" dirty="0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14810" y="1581817"/>
            <a:ext cx="214314" cy="489861"/>
          </a:xfrm>
          <a:prstGeom prst="rect">
            <a:avLst/>
          </a:prstGeom>
          <a:noFill/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65041" y="3857627"/>
            <a:ext cx="214314" cy="489861"/>
          </a:xfrm>
          <a:prstGeom prst="rect">
            <a:avLst/>
          </a:prstGeom>
          <a:noFill/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86050" y="5714991"/>
            <a:ext cx="500066" cy="1143009"/>
          </a:xfrm>
          <a:prstGeom prst="rect">
            <a:avLst/>
          </a:prstGeom>
          <a:noFill/>
        </p:spPr>
      </p:pic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488" y="4572008"/>
            <a:ext cx="357190" cy="811795"/>
          </a:xfrm>
          <a:prstGeom prst="rect">
            <a:avLst/>
          </a:prstGeom>
          <a:noFill/>
        </p:spPr>
      </p:pic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0" y="6953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3428992" y="5072074"/>
            <a:ext cx="242889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>
            <a:off x="3428992" y="6286520"/>
            <a:ext cx="242889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>
            <a:stCxn id="4099" idx="2"/>
            <a:endCxn id="7" idx="0"/>
          </p:cNvCxnSpPr>
          <p:nvPr/>
        </p:nvCxnSpPr>
        <p:spPr>
          <a:xfrm rot="5400000">
            <a:off x="2870489" y="5549397"/>
            <a:ext cx="33118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/>
          <p:nvPr/>
        </p:nvCxnSpPr>
        <p:spPr>
          <a:xfrm rot="5400000">
            <a:off x="6407464" y="5691504"/>
            <a:ext cx="33118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"/>
          <p:cNvSpPr/>
          <p:nvPr/>
        </p:nvSpPr>
        <p:spPr>
          <a:xfrm>
            <a:off x="6072198" y="6000768"/>
            <a:ext cx="1000132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200" dirty="0" smtClean="0"/>
              <a:t>25.7</a:t>
            </a:r>
            <a:endParaRPr lang="es-CR" sz="3200" dirty="0"/>
          </a:p>
        </p:txBody>
      </p:sp>
      <p:sp>
        <p:nvSpPr>
          <p:cNvPr id="18" name="17 Rectángulo"/>
          <p:cNvSpPr/>
          <p:nvPr/>
        </p:nvSpPr>
        <p:spPr>
          <a:xfrm>
            <a:off x="6072198" y="4714884"/>
            <a:ext cx="1000132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?????</a:t>
            </a:r>
            <a:endParaRPr lang="es-CR" sz="36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071546"/>
            <a:ext cx="8715436" cy="5786454"/>
          </a:xfrm>
        </p:spPr>
        <p:txBody>
          <a:bodyPr>
            <a:normAutofit lnSpcReduction="10000"/>
          </a:bodyPr>
          <a:lstStyle/>
          <a:p>
            <a:r>
              <a:rPr lang="es-CR" dirty="0" smtClean="0"/>
              <a:t>Sin embargo, antes se había discutido que, al no tomar toda la información de la población, se podría producir una diferencia </a:t>
            </a:r>
            <a:r>
              <a:rPr lang="es-CR" dirty="0" err="1" smtClean="0"/>
              <a:t>imporante</a:t>
            </a:r>
            <a:r>
              <a:rPr lang="es-CR" dirty="0" smtClean="0"/>
              <a:t>  entre el valor real (</a:t>
            </a:r>
            <a:r>
              <a:rPr lang="es-CR" sz="2400" dirty="0" smtClean="0"/>
              <a:t>µ</a:t>
            </a:r>
            <a:r>
              <a:rPr lang="es-CR" dirty="0" smtClean="0"/>
              <a:t>), y el del estimador (   ).</a:t>
            </a:r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r>
              <a:rPr lang="es-CR" dirty="0" smtClean="0"/>
              <a:t>De ahí la importancia de contar con una idea acerca del error </a:t>
            </a:r>
            <a:r>
              <a:rPr lang="es-CR" dirty="0" err="1" smtClean="0"/>
              <a:t>aosociado</a:t>
            </a:r>
            <a:r>
              <a:rPr lang="es-CR" dirty="0" smtClean="0"/>
              <a:t> con la estimación que se ha realizado.</a:t>
            </a:r>
          </a:p>
          <a:p>
            <a:endParaRPr lang="es-CR" dirty="0" smtClean="0"/>
          </a:p>
          <a:p>
            <a:r>
              <a:rPr lang="es-CR" dirty="0" smtClean="0"/>
              <a:t>La estimación puntual es insuficiente si no se posee alguna medida </a:t>
            </a:r>
            <a:r>
              <a:rPr lang="es-CR" dirty="0" err="1" smtClean="0"/>
              <a:t>medida</a:t>
            </a:r>
            <a:r>
              <a:rPr lang="es-CR" dirty="0" smtClean="0"/>
              <a:t> de confianza.</a:t>
            </a:r>
          </a:p>
          <a:p>
            <a:endParaRPr lang="es-CR" dirty="0" smtClean="0"/>
          </a:p>
          <a:p>
            <a:pPr>
              <a:buNone/>
            </a:pPr>
            <a:endParaRPr lang="es-CR" dirty="0" smtClean="0"/>
          </a:p>
          <a:p>
            <a:endParaRPr lang="es-CR" dirty="0" smtClean="0"/>
          </a:p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857256"/>
          </a:xfrm>
        </p:spPr>
        <p:txBody>
          <a:bodyPr>
            <a:normAutofit fontScale="90000"/>
          </a:bodyPr>
          <a:lstStyle/>
          <a:p>
            <a:pPr algn="ctr"/>
            <a:r>
              <a:rPr lang="es-CR" sz="4800" dirty="0" smtClean="0"/>
              <a:t>Estimación puntual del parámetro µ </a:t>
            </a:r>
            <a:endParaRPr lang="es-CR" sz="4800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92" y="1785926"/>
            <a:ext cx="214314" cy="489861"/>
          </a:xfrm>
          <a:prstGeom prst="rect">
            <a:avLst/>
          </a:prstGeom>
          <a:noFill/>
        </p:spPr>
      </p:pic>
      <p:sp>
        <p:nvSpPr>
          <p:cNvPr id="6" name="5 Rectángulo"/>
          <p:cNvSpPr/>
          <p:nvPr/>
        </p:nvSpPr>
        <p:spPr>
          <a:xfrm>
            <a:off x="714348" y="2714620"/>
            <a:ext cx="6786610" cy="1500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Error de muestreo:         </a:t>
            </a:r>
            <a:r>
              <a:rPr lang="es-CR" sz="5400" dirty="0" smtClean="0"/>
              <a:t>µ</a:t>
            </a:r>
            <a:r>
              <a:rPr lang="es-CR" sz="3600" dirty="0" smtClean="0"/>
              <a:t>-X = E.M.  </a:t>
            </a:r>
            <a:endParaRPr lang="es-CR" sz="3600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142984"/>
            <a:ext cx="7772400" cy="4572000"/>
          </a:xfrm>
        </p:spPr>
        <p:txBody>
          <a:bodyPr/>
          <a:lstStyle/>
          <a:p>
            <a:r>
              <a:rPr lang="es-CR" dirty="0" smtClean="0"/>
              <a:t>El problema se resuelve utilizando la </a:t>
            </a:r>
            <a:r>
              <a:rPr lang="es-CR" b="1" i="1" dirty="0" smtClean="0"/>
              <a:t>estimación por intervalos</a:t>
            </a:r>
            <a:r>
              <a:rPr lang="es-CR" dirty="0" smtClean="0"/>
              <a:t>, o sea construyendo,  a partir de la estimación puntual, un intervalo dentro de cuyos límites, se espera, con una determinada grado de confianza, que esté contenido el verdadero valor poblacional.</a:t>
            </a:r>
          </a:p>
          <a:p>
            <a:endParaRPr lang="es-CR" dirty="0" smtClean="0"/>
          </a:p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857256"/>
          </a:xfrm>
        </p:spPr>
        <p:txBody>
          <a:bodyPr>
            <a:normAutofit fontScale="90000"/>
          </a:bodyPr>
          <a:lstStyle/>
          <a:p>
            <a:pPr algn="ctr"/>
            <a:r>
              <a:rPr lang="es-CR" sz="4800" dirty="0" smtClean="0"/>
              <a:t>Estimación puntual del parámetro µ </a:t>
            </a:r>
            <a:endParaRPr lang="es-CR" sz="48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6248" y="3143248"/>
            <a:ext cx="357190" cy="811795"/>
          </a:xfrm>
          <a:prstGeom prst="rect">
            <a:avLst/>
          </a:prstGeom>
          <a:noFill/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6248" y="4214817"/>
            <a:ext cx="500066" cy="1143009"/>
          </a:xfrm>
          <a:prstGeom prst="rect">
            <a:avLst/>
          </a:prstGeom>
          <a:noFill/>
        </p:spPr>
      </p:pic>
      <p:cxnSp>
        <p:nvCxnSpPr>
          <p:cNvPr id="7" name="6 Conector recto de flecha"/>
          <p:cNvCxnSpPr/>
          <p:nvPr/>
        </p:nvCxnSpPr>
        <p:spPr>
          <a:xfrm rot="5400000">
            <a:off x="4335762" y="4165304"/>
            <a:ext cx="33118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 de flecha"/>
          <p:cNvCxnSpPr/>
          <p:nvPr/>
        </p:nvCxnSpPr>
        <p:spPr>
          <a:xfrm rot="5400000">
            <a:off x="4335762" y="5594064"/>
            <a:ext cx="33118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2643174" y="5143512"/>
            <a:ext cx="4214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rot="5400000">
            <a:off x="2464579" y="4964917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rot="5400000">
            <a:off x="6679421" y="4964917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"/>
          <p:cNvSpPr/>
          <p:nvPr/>
        </p:nvSpPr>
        <p:spPr>
          <a:xfrm>
            <a:off x="2214546" y="4143380"/>
            <a:ext cx="714380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LI</a:t>
            </a:r>
            <a:endParaRPr lang="es-CR" dirty="0"/>
          </a:p>
        </p:txBody>
      </p:sp>
      <p:sp>
        <p:nvSpPr>
          <p:cNvPr id="18" name="17 Rectángulo"/>
          <p:cNvSpPr/>
          <p:nvPr/>
        </p:nvSpPr>
        <p:spPr>
          <a:xfrm>
            <a:off x="6572264" y="4143380"/>
            <a:ext cx="714380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LS</a:t>
            </a:r>
            <a:endParaRPr lang="es-CR" dirty="0"/>
          </a:p>
        </p:txBody>
      </p:sp>
      <p:sp>
        <p:nvSpPr>
          <p:cNvPr id="19" name="18 CuadroTexto"/>
          <p:cNvSpPr txBox="1"/>
          <p:nvPr/>
        </p:nvSpPr>
        <p:spPr>
          <a:xfrm>
            <a:off x="3857620" y="5857892"/>
            <a:ext cx="1428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4000" dirty="0" smtClean="0"/>
              <a:t>25.7</a:t>
            </a:r>
            <a:endParaRPr lang="es-CR" sz="3200" dirty="0"/>
          </a:p>
        </p:txBody>
      </p:sp>
      <p:cxnSp>
        <p:nvCxnSpPr>
          <p:cNvPr id="20" name="19 Conector recto"/>
          <p:cNvCxnSpPr/>
          <p:nvPr/>
        </p:nvCxnSpPr>
        <p:spPr>
          <a:xfrm>
            <a:off x="2643174" y="6500834"/>
            <a:ext cx="42148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 rot="5400000">
            <a:off x="2464579" y="6322239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rot="5400000">
            <a:off x="6679421" y="6322239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Rectángulo"/>
          <p:cNvSpPr/>
          <p:nvPr/>
        </p:nvSpPr>
        <p:spPr>
          <a:xfrm>
            <a:off x="2285984" y="5429264"/>
            <a:ext cx="714380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LI</a:t>
            </a:r>
            <a:endParaRPr lang="es-CR" dirty="0"/>
          </a:p>
        </p:txBody>
      </p:sp>
      <p:sp>
        <p:nvSpPr>
          <p:cNvPr id="26" name="25 Rectángulo"/>
          <p:cNvSpPr/>
          <p:nvPr/>
        </p:nvSpPr>
        <p:spPr>
          <a:xfrm>
            <a:off x="6572264" y="5429264"/>
            <a:ext cx="714380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LS</a:t>
            </a:r>
            <a:endParaRPr lang="es-CR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5" grpId="0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142984"/>
            <a:ext cx="8501122" cy="5429288"/>
          </a:xfrm>
        </p:spPr>
        <p:txBody>
          <a:bodyPr>
            <a:normAutofit lnSpcReduction="10000"/>
          </a:bodyPr>
          <a:lstStyle/>
          <a:p>
            <a:r>
              <a:rPr lang="es-CR" dirty="0" smtClean="0"/>
              <a:t>Para nuestro presente caso, la estimación del promedio (</a:t>
            </a:r>
            <a:r>
              <a:rPr lang="es-CR" sz="2400" dirty="0" smtClean="0"/>
              <a:t>25.7 años</a:t>
            </a:r>
            <a:r>
              <a:rPr lang="es-CR" dirty="0" smtClean="0"/>
              <a:t>), podría estar muy alejada del valor real de la población de interés (</a:t>
            </a:r>
            <a:r>
              <a:rPr lang="es-CR" sz="2400" dirty="0" smtClean="0"/>
              <a:t>µ</a:t>
            </a:r>
            <a:r>
              <a:rPr lang="es-CR" dirty="0" smtClean="0"/>
              <a:t>), o poco alejada, no se sabe.</a:t>
            </a:r>
          </a:p>
          <a:p>
            <a:endParaRPr lang="es-CR" dirty="0" smtClean="0"/>
          </a:p>
          <a:p>
            <a:r>
              <a:rPr lang="es-CR" dirty="0" smtClean="0"/>
              <a:t>  Para superar esta dificultad, esta incertidumbre, puede usarse la estimación por intervalos. </a:t>
            </a:r>
          </a:p>
          <a:p>
            <a:endParaRPr lang="es-CR" dirty="0" smtClean="0"/>
          </a:p>
          <a:p>
            <a:r>
              <a:rPr lang="es-CR" dirty="0" smtClean="0"/>
              <a:t>Al decir que el valor de 25.7 años</a:t>
            </a:r>
            <a:r>
              <a:rPr lang="es-CR" sz="2800" dirty="0" smtClean="0"/>
              <a:t> puede estar entre dos valor (llamados límites inferior y superior), se tendría una mayor confianza de reportar el resultado.</a:t>
            </a:r>
          </a:p>
          <a:p>
            <a:endParaRPr lang="es-CR" sz="2800" b="1" dirty="0" smtClean="0"/>
          </a:p>
          <a:p>
            <a:r>
              <a:rPr lang="es-CR" sz="2800" dirty="0" smtClean="0"/>
              <a:t>De ahí la gran importancia  de la estimación por intervalos.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857256"/>
          </a:xfrm>
        </p:spPr>
        <p:txBody>
          <a:bodyPr>
            <a:normAutofit fontScale="90000"/>
          </a:bodyPr>
          <a:lstStyle/>
          <a:p>
            <a:pPr algn="ctr"/>
            <a:r>
              <a:rPr lang="es-CR" sz="4800" dirty="0" smtClean="0"/>
              <a:t>Estimación puntual del parámetro µ </a:t>
            </a:r>
            <a:endParaRPr lang="es-CR" sz="4800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000108"/>
            <a:ext cx="7772400" cy="4572000"/>
          </a:xfrm>
        </p:spPr>
        <p:txBody>
          <a:bodyPr/>
          <a:lstStyle/>
          <a:p>
            <a:r>
              <a:rPr lang="es-CR" dirty="0" smtClean="0"/>
              <a:t>La utilidad de los intervalos de confianza:</a:t>
            </a:r>
            <a:endParaRPr lang="es-CR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29058" y="1571612"/>
            <a:ext cx="357190" cy="811795"/>
          </a:xfrm>
          <a:prstGeom prst="rect">
            <a:avLst/>
          </a:prstGeom>
          <a:noFill/>
        </p:spPr>
      </p:pic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785818"/>
          </a:xfrm>
        </p:spPr>
        <p:txBody>
          <a:bodyPr>
            <a:normAutofit fontScale="90000"/>
          </a:bodyPr>
          <a:lstStyle/>
          <a:p>
            <a:pPr algn="ctr"/>
            <a:r>
              <a:rPr lang="es-CR" sz="4800" dirty="0" smtClean="0"/>
              <a:t>Estimación puntual del parámetro µ </a:t>
            </a:r>
            <a:endParaRPr lang="es-CR" sz="4800" dirty="0"/>
          </a:p>
        </p:txBody>
      </p:sp>
      <p:cxnSp>
        <p:nvCxnSpPr>
          <p:cNvPr id="8" name="7 Conector recto"/>
          <p:cNvCxnSpPr/>
          <p:nvPr/>
        </p:nvCxnSpPr>
        <p:spPr>
          <a:xfrm rot="5400000">
            <a:off x="2178827" y="4393413"/>
            <a:ext cx="37862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Rectángulo"/>
          <p:cNvSpPr/>
          <p:nvPr/>
        </p:nvSpPr>
        <p:spPr>
          <a:xfrm>
            <a:off x="3500430" y="6286544"/>
            <a:ext cx="1214446" cy="4286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26.5</a:t>
            </a:r>
            <a:endParaRPr lang="es-CR" sz="2800" dirty="0"/>
          </a:p>
        </p:txBody>
      </p:sp>
      <p:cxnSp>
        <p:nvCxnSpPr>
          <p:cNvPr id="13" name="12 Conector recto"/>
          <p:cNvCxnSpPr/>
          <p:nvPr/>
        </p:nvCxnSpPr>
        <p:spPr>
          <a:xfrm rot="5400000">
            <a:off x="928662" y="4786322"/>
            <a:ext cx="300039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Rectángulo"/>
          <p:cNvSpPr/>
          <p:nvPr/>
        </p:nvSpPr>
        <p:spPr>
          <a:xfrm>
            <a:off x="1785918" y="6286544"/>
            <a:ext cx="1214446" cy="4286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25.7</a:t>
            </a:r>
            <a:endParaRPr lang="es-CR" sz="2800" dirty="0"/>
          </a:p>
        </p:txBody>
      </p:sp>
      <p:pic>
        <p:nvPicPr>
          <p:cNvPr id="15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14546" y="2500306"/>
            <a:ext cx="500066" cy="960128"/>
          </a:xfrm>
          <a:prstGeom prst="rect">
            <a:avLst/>
          </a:prstGeom>
          <a:noFill/>
        </p:spPr>
      </p:pic>
      <p:cxnSp>
        <p:nvCxnSpPr>
          <p:cNvPr id="17" name="16 Conector recto"/>
          <p:cNvCxnSpPr/>
          <p:nvPr/>
        </p:nvCxnSpPr>
        <p:spPr>
          <a:xfrm>
            <a:off x="500034" y="5072074"/>
            <a:ext cx="40005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rot="5400000">
            <a:off x="285720" y="5072074"/>
            <a:ext cx="4286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rot="5400000">
            <a:off x="4286248" y="5072074"/>
            <a:ext cx="4286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21 Rectángulo"/>
          <p:cNvSpPr/>
          <p:nvPr/>
        </p:nvSpPr>
        <p:spPr>
          <a:xfrm>
            <a:off x="214282" y="4357694"/>
            <a:ext cx="642942" cy="3571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LI</a:t>
            </a:r>
            <a:endParaRPr lang="es-CR" dirty="0"/>
          </a:p>
        </p:txBody>
      </p:sp>
      <p:sp>
        <p:nvSpPr>
          <p:cNvPr id="23" name="22 Rectángulo"/>
          <p:cNvSpPr/>
          <p:nvPr/>
        </p:nvSpPr>
        <p:spPr>
          <a:xfrm>
            <a:off x="4214810" y="4357694"/>
            <a:ext cx="642942" cy="3571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LS</a:t>
            </a:r>
            <a:endParaRPr lang="es-CR" dirty="0"/>
          </a:p>
        </p:txBody>
      </p:sp>
      <p:sp>
        <p:nvSpPr>
          <p:cNvPr id="24" name="23 Rectángulo"/>
          <p:cNvSpPr/>
          <p:nvPr/>
        </p:nvSpPr>
        <p:spPr>
          <a:xfrm>
            <a:off x="5429256" y="1928802"/>
            <a:ext cx="3429024" cy="32861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R" sz="2800" dirty="0" smtClean="0"/>
              <a:t>Aunque el estimador no es igual que el parámetro, con el cálculo de los intervalos de confianza, tenemos que el intervalo está conteniendo al valor poblacional µ</a:t>
            </a:r>
            <a:endParaRPr lang="es-CR" sz="28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72400" cy="868958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467544" y="126876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467544" y="3284984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467544" y="522920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4716016" y="126876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8" name="7 Elipse"/>
          <p:cNvSpPr/>
          <p:nvPr/>
        </p:nvSpPr>
        <p:spPr>
          <a:xfrm>
            <a:off x="4716016" y="3284984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5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2051720" y="141277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2051720" y="3429000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Características de la muestra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051720" y="537321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Inferencia estadística</a:t>
            </a:r>
            <a:endParaRPr lang="es-CR" dirty="0"/>
          </a:p>
        </p:txBody>
      </p:sp>
      <p:sp>
        <p:nvSpPr>
          <p:cNvPr id="16" name="15 Rectángulo redondeado"/>
          <p:cNvSpPr/>
          <p:nvPr/>
        </p:nvSpPr>
        <p:spPr>
          <a:xfrm>
            <a:off x="6444208" y="141277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Estimación puntual y por intervalos</a:t>
            </a:r>
            <a:endParaRPr lang="es-CR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6444208" y="3429000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Límites de confianza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74133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928670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Límites de confianza para µ </a:t>
            </a:r>
            <a:endParaRPr lang="es-CR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endParaRPr lang="es-CR" dirty="0" smtClean="0"/>
          </a:p>
          <a:p>
            <a:r>
              <a:rPr lang="es-CR" dirty="0" smtClean="0"/>
              <a:t>Supóngase que la distribución de la población es una curva normal con media </a:t>
            </a:r>
            <a:r>
              <a:rPr lang="es-CR" sz="2800" dirty="0" smtClean="0"/>
              <a:t>µ y variancia </a:t>
            </a:r>
            <a:r>
              <a:rPr lang="es-CR" dirty="0" smtClean="0"/>
              <a:t>σ</a:t>
            </a:r>
            <a:r>
              <a:rPr lang="es-CR" baseline="30000" dirty="0" smtClean="0"/>
              <a:t>2 </a:t>
            </a:r>
            <a:r>
              <a:rPr lang="es-CR" dirty="0" smtClean="0"/>
              <a:t>(desviación estándar σ), y de esta se tomó una muestra de tamaño n.</a:t>
            </a:r>
          </a:p>
          <a:p>
            <a:endParaRPr lang="es-CR" dirty="0" smtClean="0"/>
          </a:p>
          <a:p>
            <a:r>
              <a:rPr lang="es-CR" dirty="0" smtClean="0"/>
              <a:t>Ahora, se desea saber la posible distribución alrededor de la media </a:t>
            </a:r>
            <a:r>
              <a:rPr lang="es-CR" dirty="0" err="1" smtClean="0"/>
              <a:t>muestral</a:t>
            </a:r>
            <a:r>
              <a:rPr lang="es-CR" dirty="0" smtClean="0"/>
              <a:t> (   ) que se obtuvo.</a:t>
            </a:r>
          </a:p>
          <a:p>
            <a:pPr>
              <a:buNone/>
            </a:pPr>
            <a:endParaRPr lang="es-CR" dirty="0" smtClean="0"/>
          </a:p>
          <a:p>
            <a:r>
              <a:rPr lang="es-CR" dirty="0" smtClean="0"/>
              <a:t>Por teoría sabemos entonces que la distribución </a:t>
            </a:r>
            <a:r>
              <a:rPr lang="es-CR" dirty="0" err="1" smtClean="0"/>
              <a:t>muestral</a:t>
            </a:r>
            <a:r>
              <a:rPr lang="es-CR" dirty="0" smtClean="0"/>
              <a:t> tendrá  una media de    y una variancia de σ</a:t>
            </a:r>
            <a:r>
              <a:rPr lang="es-CR" baseline="30000" dirty="0" smtClean="0"/>
              <a:t>2</a:t>
            </a:r>
            <a:r>
              <a:rPr lang="es-CR" dirty="0" smtClean="0"/>
              <a:t>/n (desviación estándar σ/    ).</a:t>
            </a:r>
          </a:p>
          <a:p>
            <a:endParaRPr lang="es-CR" dirty="0" smtClean="0"/>
          </a:p>
          <a:p>
            <a:r>
              <a:rPr lang="es-CR" dirty="0" smtClean="0"/>
              <a:t>Si la curva poblacional tiene una distribución N(</a:t>
            </a:r>
            <a:r>
              <a:rPr lang="es-CR" sz="2400" dirty="0" smtClean="0"/>
              <a:t>µ</a:t>
            </a:r>
            <a:r>
              <a:rPr lang="es-CR" dirty="0" smtClean="0"/>
              <a:t>,σ), la </a:t>
            </a:r>
            <a:r>
              <a:rPr lang="es-CR" dirty="0" err="1" smtClean="0"/>
              <a:t>muestral</a:t>
            </a:r>
            <a:r>
              <a:rPr lang="es-CR" dirty="0" smtClean="0"/>
              <a:t> tiene una curva de N( ,σ/   ) </a:t>
            </a: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37671" y="4929198"/>
            <a:ext cx="306163" cy="357190"/>
          </a:xfrm>
          <a:prstGeom prst="rect">
            <a:avLst/>
          </a:prstGeom>
          <a:noFill/>
        </p:spPr>
      </p:pic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71604" y="3500438"/>
            <a:ext cx="214314" cy="548645"/>
          </a:xfrm>
          <a:prstGeom prst="rect">
            <a:avLst/>
          </a:prstGeom>
          <a:noFill/>
        </p:spPr>
      </p:pic>
      <p:pic>
        <p:nvPicPr>
          <p:cNvPr id="12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14546" y="6277947"/>
            <a:ext cx="142876" cy="365763"/>
          </a:xfrm>
          <a:prstGeom prst="rect">
            <a:avLst/>
          </a:prstGeom>
          <a:noFill/>
        </p:spPr>
      </p:pic>
      <p:pic>
        <p:nvPicPr>
          <p:cNvPr id="13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14612" y="6238894"/>
            <a:ext cx="285752" cy="333378"/>
          </a:xfrm>
          <a:prstGeom prst="rect">
            <a:avLst/>
          </a:prstGeom>
          <a:noFill/>
        </p:spPr>
      </p:pic>
      <p:pic>
        <p:nvPicPr>
          <p:cNvPr id="14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79329" y="4867284"/>
            <a:ext cx="163713" cy="419104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74" y="1214422"/>
            <a:ext cx="3207290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0298" y="4214818"/>
            <a:ext cx="3528019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928670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Límites de confianza para µ </a:t>
            </a:r>
            <a:endParaRPr lang="es-CR" sz="4400" dirty="0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14810" y="6143644"/>
            <a:ext cx="167432" cy="428628"/>
          </a:xfrm>
          <a:prstGeom prst="rect">
            <a:avLst/>
          </a:prstGeom>
          <a:noFill/>
        </p:spPr>
      </p:pic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52911" y="3000372"/>
            <a:ext cx="104775" cy="238125"/>
          </a:xfrm>
          <a:prstGeom prst="rect">
            <a:avLst/>
          </a:prstGeom>
          <a:noFill/>
        </p:spPr>
      </p:pic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3047999"/>
            <a:ext cx="419100" cy="238125"/>
          </a:xfrm>
          <a:prstGeom prst="rect">
            <a:avLst/>
          </a:prstGeom>
          <a:noFill/>
        </p:spPr>
      </p:pic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43306" y="3071810"/>
            <a:ext cx="419100" cy="238125"/>
          </a:xfrm>
          <a:prstGeom prst="rect">
            <a:avLst/>
          </a:prstGeom>
          <a:noFill/>
        </p:spPr>
      </p:pic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43306" y="6286520"/>
            <a:ext cx="419100" cy="238125"/>
          </a:xfrm>
          <a:prstGeom prst="rect">
            <a:avLst/>
          </a:prstGeom>
          <a:noFill/>
        </p:spPr>
      </p:pic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6286520"/>
            <a:ext cx="419100" cy="238125"/>
          </a:xfrm>
          <a:prstGeom prst="rect">
            <a:avLst/>
          </a:prstGeom>
          <a:noFill/>
        </p:spPr>
      </p:pic>
      <p:cxnSp>
        <p:nvCxnSpPr>
          <p:cNvPr id="19" name="18 Conector recto"/>
          <p:cNvCxnSpPr/>
          <p:nvPr/>
        </p:nvCxnSpPr>
        <p:spPr>
          <a:xfrm rot="5400000">
            <a:off x="1357302" y="3857640"/>
            <a:ext cx="5857892" cy="0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 de flecha"/>
          <p:cNvCxnSpPr/>
          <p:nvPr/>
        </p:nvCxnSpPr>
        <p:spPr>
          <a:xfrm rot="5400000">
            <a:off x="71406" y="3713958"/>
            <a:ext cx="38576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15140" y="1142984"/>
            <a:ext cx="1594496" cy="642942"/>
          </a:xfrm>
          <a:prstGeom prst="rect">
            <a:avLst/>
          </a:prstGeom>
          <a:noFill/>
        </p:spPr>
      </p:pic>
      <p:cxnSp>
        <p:nvCxnSpPr>
          <p:cNvPr id="27" name="26 Conector recto de flecha"/>
          <p:cNvCxnSpPr/>
          <p:nvPr/>
        </p:nvCxnSpPr>
        <p:spPr>
          <a:xfrm rot="10800000" flipV="1">
            <a:off x="5143504" y="1500174"/>
            <a:ext cx="1357322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/>
          <p:nvPr/>
        </p:nvCxnSpPr>
        <p:spPr>
          <a:xfrm rot="10800000" flipV="1">
            <a:off x="5286381" y="4286255"/>
            <a:ext cx="1357322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Rectángulo"/>
          <p:cNvSpPr/>
          <p:nvPr/>
        </p:nvSpPr>
        <p:spPr>
          <a:xfrm>
            <a:off x="428596" y="1071546"/>
            <a:ext cx="2214578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Distribución de la población</a:t>
            </a:r>
            <a:endParaRPr lang="es-CR" dirty="0"/>
          </a:p>
        </p:txBody>
      </p:sp>
      <p:sp>
        <p:nvSpPr>
          <p:cNvPr id="33" name="32 Rectángulo"/>
          <p:cNvSpPr/>
          <p:nvPr/>
        </p:nvSpPr>
        <p:spPr>
          <a:xfrm>
            <a:off x="500034" y="5715016"/>
            <a:ext cx="2214578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Distribución de la muestra</a:t>
            </a:r>
            <a:endParaRPr lang="es-CR" dirty="0"/>
          </a:p>
        </p:txBody>
      </p:sp>
      <p:sp>
        <p:nvSpPr>
          <p:cNvPr id="34" name="33 Rectángulo"/>
          <p:cNvSpPr/>
          <p:nvPr/>
        </p:nvSpPr>
        <p:spPr>
          <a:xfrm>
            <a:off x="285720" y="3286124"/>
            <a:ext cx="1500198" cy="1071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Se extrae muestra de tamaña “n” </a:t>
            </a:r>
            <a:endParaRPr lang="es-CR" dirty="0"/>
          </a:p>
        </p:txBody>
      </p: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9229" name="Picture 13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16" y="3786190"/>
            <a:ext cx="1739832" cy="928694"/>
          </a:xfrm>
          <a:prstGeom prst="rect">
            <a:avLst/>
          </a:prstGeom>
          <a:noFill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857232"/>
            <a:ext cx="5643602" cy="6000768"/>
          </a:xfrm>
        </p:spPr>
        <p:txBody>
          <a:bodyPr/>
          <a:lstStyle/>
          <a:p>
            <a:r>
              <a:rPr lang="es-CR" dirty="0" smtClean="0"/>
              <a:t>Lo deseable es que el valor del promedio </a:t>
            </a:r>
            <a:r>
              <a:rPr lang="es-CR" dirty="0" err="1" smtClean="0"/>
              <a:t>muestral</a:t>
            </a:r>
            <a:r>
              <a:rPr lang="es-CR" dirty="0" smtClean="0"/>
              <a:t> (   ), fuera exactamente igual como el del poblacional (</a:t>
            </a:r>
            <a:r>
              <a:rPr lang="es-CR" sz="2800" dirty="0" smtClean="0"/>
              <a:t>µ</a:t>
            </a:r>
            <a:r>
              <a:rPr lang="es-CR" dirty="0" smtClean="0"/>
              <a:t>), como se dio en la filmina anterior.</a:t>
            </a:r>
          </a:p>
          <a:p>
            <a:endParaRPr lang="es-CR" dirty="0" smtClean="0"/>
          </a:p>
          <a:p>
            <a:r>
              <a:rPr lang="es-CR" dirty="0" smtClean="0"/>
              <a:t>Como casi nunca se sabe el valor verdadero de </a:t>
            </a:r>
            <a:r>
              <a:rPr lang="es-CR" sz="2400" dirty="0" smtClean="0"/>
              <a:t>µ, entonces lo ideal sería brindar posibles límites de confianza en donde se podría esperar que estos límites contengan al parámetro </a:t>
            </a:r>
            <a:r>
              <a:rPr lang="es-CR" sz="2800" dirty="0" smtClean="0"/>
              <a:t>µ, </a:t>
            </a:r>
            <a:r>
              <a:rPr lang="es-CR" sz="2400" dirty="0" smtClean="0"/>
              <a:t>con un determinado error probabilístico asociado.</a:t>
            </a:r>
          </a:p>
          <a:p>
            <a:endParaRPr lang="es-CR" sz="2400" dirty="0" smtClean="0"/>
          </a:p>
          <a:p>
            <a:r>
              <a:rPr lang="es-CR" sz="2400" dirty="0" smtClean="0"/>
              <a:t>Para este error probabilístico utilizaremos la curva normal estándar y sus valores de Z.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928670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Límites de confianza para µ </a:t>
            </a:r>
            <a:endParaRPr lang="es-CR" sz="4400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85918" y="1295384"/>
            <a:ext cx="163713" cy="419104"/>
          </a:xfrm>
          <a:prstGeom prst="rect">
            <a:avLst/>
          </a:prstGeom>
          <a:noFill/>
        </p:spPr>
      </p:pic>
      <p:pic>
        <p:nvPicPr>
          <p:cNvPr id="14340" name="Picture 4" descr="http://opusdeiblogs.es/soclliure/files/2009/08/equa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7884" y="928670"/>
            <a:ext cx="3110682" cy="2071702"/>
          </a:xfrm>
          <a:prstGeom prst="rect">
            <a:avLst/>
          </a:prstGeom>
          <a:noFill/>
        </p:spPr>
      </p:pic>
      <p:pic>
        <p:nvPicPr>
          <p:cNvPr id="14342" name="Picture 6" descr="http://blogs.20minutos.es/myfiles/madreconadolescentes/interrogaci%C3%B3n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86512" y="3071810"/>
            <a:ext cx="2500330" cy="354332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0298" y="1214422"/>
            <a:ext cx="3207290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3042" y="4286256"/>
            <a:ext cx="3528019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29997" y="6215082"/>
            <a:ext cx="167432" cy="428628"/>
          </a:xfrm>
          <a:prstGeom prst="rect">
            <a:avLst/>
          </a:prstGeom>
          <a:noFill/>
        </p:spPr>
      </p:pic>
      <p:pic>
        <p:nvPicPr>
          <p:cNvPr id="17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10035" y="3000372"/>
            <a:ext cx="104775" cy="238125"/>
          </a:xfrm>
          <a:prstGeom prst="rect">
            <a:avLst/>
          </a:prstGeom>
          <a:noFill/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29124" y="3047999"/>
            <a:ext cx="419100" cy="238125"/>
          </a:xfrm>
          <a:prstGeom prst="rect">
            <a:avLst/>
          </a:prstGeom>
          <a:noFill/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00430" y="3071810"/>
            <a:ext cx="419100" cy="238125"/>
          </a:xfrm>
          <a:prstGeom prst="rect">
            <a:avLst/>
          </a:prstGeom>
          <a:noFill/>
        </p:spPr>
      </p:pic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58493" y="6286520"/>
            <a:ext cx="419100" cy="238125"/>
          </a:xfrm>
          <a:prstGeom prst="rect">
            <a:avLst/>
          </a:prstGeom>
          <a:noFill/>
        </p:spPr>
      </p:pic>
      <p:pic>
        <p:nvPicPr>
          <p:cNvPr id="21" name="Picture 9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87187" y="6286520"/>
            <a:ext cx="419100" cy="238125"/>
          </a:xfrm>
          <a:prstGeom prst="rect">
            <a:avLst/>
          </a:prstGeom>
          <a:noFill/>
        </p:spPr>
      </p:pic>
      <p:pic>
        <p:nvPicPr>
          <p:cNvPr id="22" name="Picture 11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15140" y="1142984"/>
            <a:ext cx="1594496" cy="642942"/>
          </a:xfrm>
          <a:prstGeom prst="rect">
            <a:avLst/>
          </a:prstGeom>
          <a:noFill/>
        </p:spPr>
      </p:pic>
      <p:cxnSp>
        <p:nvCxnSpPr>
          <p:cNvPr id="23" name="22 Conector recto de flecha"/>
          <p:cNvCxnSpPr/>
          <p:nvPr/>
        </p:nvCxnSpPr>
        <p:spPr>
          <a:xfrm rot="10800000" flipV="1">
            <a:off x="5143504" y="1500174"/>
            <a:ext cx="1357322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 de flecha"/>
          <p:cNvCxnSpPr/>
          <p:nvPr/>
        </p:nvCxnSpPr>
        <p:spPr>
          <a:xfrm>
            <a:off x="1214414" y="4643446"/>
            <a:ext cx="1143008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13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34" y="3786190"/>
            <a:ext cx="1739832" cy="928694"/>
          </a:xfrm>
          <a:prstGeom prst="rect">
            <a:avLst/>
          </a:prstGeom>
          <a:noFill/>
        </p:spPr>
      </p:pic>
      <p:sp>
        <p:nvSpPr>
          <p:cNvPr id="26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928670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Límites de confianza para µ </a:t>
            </a:r>
            <a:endParaRPr lang="es-CR" sz="4400" dirty="0"/>
          </a:p>
        </p:txBody>
      </p:sp>
      <p:cxnSp>
        <p:nvCxnSpPr>
          <p:cNvPr id="29" name="28 Conector recto"/>
          <p:cNvCxnSpPr/>
          <p:nvPr/>
        </p:nvCxnSpPr>
        <p:spPr>
          <a:xfrm rot="5400000">
            <a:off x="1321583" y="3821921"/>
            <a:ext cx="5643578" cy="0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2571736" y="6643710"/>
            <a:ext cx="1785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 rot="5400000" flipH="1" flipV="1">
            <a:off x="4179103" y="6679417"/>
            <a:ext cx="3571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 rot="5400000" flipH="1" flipV="1">
            <a:off x="2393153" y="6679417"/>
            <a:ext cx="3571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071546"/>
            <a:ext cx="7929618" cy="5572164"/>
          </a:xfrm>
        </p:spPr>
        <p:txBody>
          <a:bodyPr/>
          <a:lstStyle/>
          <a:p>
            <a:r>
              <a:rPr lang="es-CR" dirty="0" smtClean="0"/>
              <a:t>Ahora nos preguntamos: ¿dentro de qué valores se encontrará el 95% de los valores de    ?</a:t>
            </a:r>
          </a:p>
          <a:p>
            <a:endParaRPr lang="es-CR" dirty="0" smtClean="0"/>
          </a:p>
          <a:p>
            <a:r>
              <a:rPr lang="es-CR" dirty="0" smtClean="0"/>
              <a:t>Se sabe, por la teoría estadística, que en una curva normal estándar, el 95% central del área bajo la curva está entre </a:t>
            </a:r>
          </a:p>
          <a:p>
            <a:pPr>
              <a:buNone/>
            </a:pPr>
            <a:r>
              <a:rPr lang="es-CR" dirty="0" smtClean="0"/>
              <a:t>    -1.96 y +1.96; por lo tanto, en la distribución de   , el 95%  de los valores se encontrarán entre:</a:t>
            </a:r>
          </a:p>
          <a:p>
            <a:pPr>
              <a:buNone/>
            </a:pPr>
            <a:r>
              <a:rPr lang="es-CR" dirty="0" smtClean="0"/>
              <a:t>     </a:t>
            </a:r>
            <a:r>
              <a:rPr lang="es-CR" sz="2800" dirty="0" smtClean="0"/>
              <a:t>“µ-1.96*σ</a:t>
            </a:r>
            <a:r>
              <a:rPr lang="es-CR" dirty="0" smtClean="0"/>
              <a:t>/    “ y “</a:t>
            </a:r>
            <a:r>
              <a:rPr lang="es-CR" sz="2800" dirty="0" smtClean="0"/>
              <a:t>µ+1.96*</a:t>
            </a:r>
            <a:r>
              <a:rPr lang="es-CR" dirty="0" smtClean="0"/>
              <a:t>σ/</a:t>
            </a:r>
          </a:p>
          <a:p>
            <a:pPr>
              <a:buNone/>
            </a:pPr>
            <a:r>
              <a:rPr lang="es-CR" dirty="0" smtClean="0"/>
              <a:t>    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928670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Límites de confianza para µ </a:t>
            </a:r>
            <a:endParaRPr lang="es-CR" sz="4400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868" y="1500174"/>
            <a:ext cx="163713" cy="419104"/>
          </a:xfrm>
          <a:prstGeom prst="rect">
            <a:avLst/>
          </a:prstGeom>
          <a:noFill/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51427" y="3286124"/>
            <a:ext cx="163713" cy="419104"/>
          </a:xfrm>
          <a:prstGeom prst="rect">
            <a:avLst/>
          </a:prstGeom>
          <a:noFill/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3108" y="4286256"/>
            <a:ext cx="285752" cy="333378"/>
          </a:xfrm>
          <a:prstGeom prst="rect">
            <a:avLst/>
          </a:prstGeom>
          <a:noFill/>
        </p:spPr>
      </p:pic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202148"/>
            <a:ext cx="6513341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CuadroTexto"/>
          <p:cNvSpPr txBox="1"/>
          <p:nvPr/>
        </p:nvSpPr>
        <p:spPr>
          <a:xfrm>
            <a:off x="4714876" y="3131106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1.96</a:t>
            </a:r>
            <a:endParaRPr lang="es-CR" dirty="0"/>
          </a:p>
        </p:txBody>
      </p:sp>
      <p:sp>
        <p:nvSpPr>
          <p:cNvPr id="7" name="6 CuadroTexto"/>
          <p:cNvSpPr txBox="1"/>
          <p:nvPr/>
        </p:nvSpPr>
        <p:spPr>
          <a:xfrm>
            <a:off x="1214414" y="3131106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1.96</a:t>
            </a:r>
            <a:endParaRPr lang="es-CR" dirty="0"/>
          </a:p>
        </p:txBody>
      </p:sp>
      <p:cxnSp>
        <p:nvCxnSpPr>
          <p:cNvPr id="9" name="8 Conector recto"/>
          <p:cNvCxnSpPr/>
          <p:nvPr/>
        </p:nvCxnSpPr>
        <p:spPr>
          <a:xfrm rot="5400000" flipH="1" flipV="1">
            <a:off x="1393009" y="2881073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rot="5400000" flipH="1" flipV="1">
            <a:off x="5072066" y="2916792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3071802" y="702214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3000364" y="845090"/>
            <a:ext cx="64294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2857488" y="987966"/>
            <a:ext cx="85725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2786050" y="1130842"/>
            <a:ext cx="1000132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flipV="1">
            <a:off x="2714612" y="1273718"/>
            <a:ext cx="1143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 flipV="1">
            <a:off x="2714612" y="1416594"/>
            <a:ext cx="1214446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flipV="1">
            <a:off x="2643174" y="1559470"/>
            <a:ext cx="1357322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 flipV="1">
            <a:off x="2500298" y="1702346"/>
            <a:ext cx="1571636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 flipV="1">
            <a:off x="2428860" y="1845222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flipV="1">
            <a:off x="2357422" y="1988098"/>
            <a:ext cx="1857388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CuadroTexto"/>
          <p:cNvSpPr txBox="1"/>
          <p:nvPr/>
        </p:nvSpPr>
        <p:spPr>
          <a:xfrm>
            <a:off x="6143636" y="3059668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Z</a:t>
            </a:r>
            <a:endParaRPr lang="es-CR" dirty="0"/>
          </a:p>
        </p:txBody>
      </p:sp>
      <p:cxnSp>
        <p:nvCxnSpPr>
          <p:cNvPr id="33" name="32 Conector recto"/>
          <p:cNvCxnSpPr/>
          <p:nvPr/>
        </p:nvCxnSpPr>
        <p:spPr>
          <a:xfrm flipV="1">
            <a:off x="2285984" y="2130974"/>
            <a:ext cx="2000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 flipV="1">
            <a:off x="2214546" y="2273850"/>
            <a:ext cx="214314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 flipV="1">
            <a:off x="2143108" y="2416726"/>
            <a:ext cx="228601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 flipV="1">
            <a:off x="1928794" y="2559602"/>
            <a:ext cx="2643206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 flipV="1">
            <a:off x="1714480" y="2702478"/>
            <a:ext cx="3071834" cy="38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 flipV="1">
            <a:off x="1500166" y="2773916"/>
            <a:ext cx="3500462" cy="47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>
            <a:off x="1500166" y="2892974"/>
            <a:ext cx="36433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 de flecha"/>
          <p:cNvCxnSpPr/>
          <p:nvPr/>
        </p:nvCxnSpPr>
        <p:spPr>
          <a:xfrm rot="10800000" flipV="1">
            <a:off x="4214810" y="1059404"/>
            <a:ext cx="1428760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51 CuadroTexto"/>
          <p:cNvSpPr txBox="1"/>
          <p:nvPr/>
        </p:nvSpPr>
        <p:spPr>
          <a:xfrm>
            <a:off x="5786446" y="773652"/>
            <a:ext cx="1000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2800" dirty="0" smtClean="0"/>
              <a:t>0.95</a:t>
            </a:r>
            <a:endParaRPr lang="es-CR" sz="2800" dirty="0"/>
          </a:p>
        </p:txBody>
      </p:sp>
      <p:pic>
        <p:nvPicPr>
          <p:cNvPr id="7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5984" y="3559734"/>
            <a:ext cx="6513341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" name="80 CuadroTexto"/>
          <p:cNvSpPr txBox="1"/>
          <p:nvPr/>
        </p:nvSpPr>
        <p:spPr>
          <a:xfrm>
            <a:off x="3357554" y="6488693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µ-1.96*σ/</a:t>
            </a:r>
            <a:endParaRPr lang="es-CR" dirty="0"/>
          </a:p>
        </p:txBody>
      </p:sp>
      <p:cxnSp>
        <p:nvCxnSpPr>
          <p:cNvPr id="82" name="81 Conector recto"/>
          <p:cNvCxnSpPr/>
          <p:nvPr/>
        </p:nvCxnSpPr>
        <p:spPr>
          <a:xfrm rot="5400000" flipH="1" flipV="1">
            <a:off x="3536149" y="6238659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"/>
          <p:cNvCxnSpPr/>
          <p:nvPr/>
        </p:nvCxnSpPr>
        <p:spPr>
          <a:xfrm rot="5400000" flipH="1" flipV="1">
            <a:off x="7215206" y="6274378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recto"/>
          <p:cNvCxnSpPr/>
          <p:nvPr/>
        </p:nvCxnSpPr>
        <p:spPr>
          <a:xfrm>
            <a:off x="5214942" y="4059800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flipV="1">
            <a:off x="5143504" y="4202676"/>
            <a:ext cx="64294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"/>
          <p:cNvCxnSpPr/>
          <p:nvPr/>
        </p:nvCxnSpPr>
        <p:spPr>
          <a:xfrm flipV="1">
            <a:off x="5000628" y="4345552"/>
            <a:ext cx="85725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 flipV="1">
            <a:off x="4929190" y="4488428"/>
            <a:ext cx="1000132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87 Conector recto"/>
          <p:cNvCxnSpPr/>
          <p:nvPr/>
        </p:nvCxnSpPr>
        <p:spPr>
          <a:xfrm flipV="1">
            <a:off x="4857752" y="4631304"/>
            <a:ext cx="1143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 flipV="1">
            <a:off x="4857752" y="4774180"/>
            <a:ext cx="1214446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89 Conector recto"/>
          <p:cNvCxnSpPr/>
          <p:nvPr/>
        </p:nvCxnSpPr>
        <p:spPr>
          <a:xfrm flipV="1">
            <a:off x="4786314" y="4917056"/>
            <a:ext cx="1357322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"/>
          <p:cNvCxnSpPr/>
          <p:nvPr/>
        </p:nvCxnSpPr>
        <p:spPr>
          <a:xfrm flipV="1">
            <a:off x="4643438" y="5059932"/>
            <a:ext cx="1571636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91 Conector recto"/>
          <p:cNvCxnSpPr/>
          <p:nvPr/>
        </p:nvCxnSpPr>
        <p:spPr>
          <a:xfrm flipV="1">
            <a:off x="4572000" y="5202808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92 Conector recto"/>
          <p:cNvCxnSpPr/>
          <p:nvPr/>
        </p:nvCxnSpPr>
        <p:spPr>
          <a:xfrm flipV="1">
            <a:off x="4500562" y="5345684"/>
            <a:ext cx="1857388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94 Conector recto"/>
          <p:cNvCxnSpPr/>
          <p:nvPr/>
        </p:nvCxnSpPr>
        <p:spPr>
          <a:xfrm flipV="1">
            <a:off x="4429124" y="5488560"/>
            <a:ext cx="2000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95 Conector recto"/>
          <p:cNvCxnSpPr/>
          <p:nvPr/>
        </p:nvCxnSpPr>
        <p:spPr>
          <a:xfrm flipV="1">
            <a:off x="4357686" y="5631436"/>
            <a:ext cx="214314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96 Conector recto"/>
          <p:cNvCxnSpPr/>
          <p:nvPr/>
        </p:nvCxnSpPr>
        <p:spPr>
          <a:xfrm flipV="1">
            <a:off x="4286248" y="5774312"/>
            <a:ext cx="228601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97 Conector recto"/>
          <p:cNvCxnSpPr/>
          <p:nvPr/>
        </p:nvCxnSpPr>
        <p:spPr>
          <a:xfrm flipV="1">
            <a:off x="4071934" y="5917188"/>
            <a:ext cx="2643206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98 Conector recto"/>
          <p:cNvCxnSpPr/>
          <p:nvPr/>
        </p:nvCxnSpPr>
        <p:spPr>
          <a:xfrm flipV="1">
            <a:off x="3857620" y="6060064"/>
            <a:ext cx="3071834" cy="38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99 Conector recto"/>
          <p:cNvCxnSpPr/>
          <p:nvPr/>
        </p:nvCxnSpPr>
        <p:spPr>
          <a:xfrm flipV="1">
            <a:off x="3643306" y="6131502"/>
            <a:ext cx="3500462" cy="47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/>
          <p:nvPr/>
        </p:nvCxnSpPr>
        <p:spPr>
          <a:xfrm>
            <a:off x="3643306" y="6250560"/>
            <a:ext cx="36433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101 Conector recto de flecha"/>
          <p:cNvCxnSpPr/>
          <p:nvPr/>
        </p:nvCxnSpPr>
        <p:spPr>
          <a:xfrm rot="10800000" flipV="1">
            <a:off x="6357950" y="4416990"/>
            <a:ext cx="1428760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102 CuadroTexto"/>
          <p:cNvSpPr txBox="1"/>
          <p:nvPr/>
        </p:nvSpPr>
        <p:spPr>
          <a:xfrm>
            <a:off x="7929586" y="4131238"/>
            <a:ext cx="1000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2800" dirty="0" smtClean="0"/>
              <a:t>0.95</a:t>
            </a:r>
            <a:endParaRPr lang="es-CR" sz="2800" dirty="0"/>
          </a:p>
        </p:txBody>
      </p:sp>
      <p:sp>
        <p:nvSpPr>
          <p:cNvPr id="104" name="103 CuadroTexto"/>
          <p:cNvSpPr txBox="1"/>
          <p:nvPr/>
        </p:nvSpPr>
        <p:spPr>
          <a:xfrm>
            <a:off x="3071802" y="300037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 smtClean="0"/>
              <a:t>0</a:t>
            </a:r>
            <a:endParaRPr lang="es-CR" dirty="0"/>
          </a:p>
        </p:txBody>
      </p:sp>
      <p:sp>
        <p:nvSpPr>
          <p:cNvPr id="105" name="104 CuadroTexto"/>
          <p:cNvSpPr txBox="1"/>
          <p:nvPr/>
        </p:nvSpPr>
        <p:spPr>
          <a:xfrm>
            <a:off x="5286380" y="642939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µ</a:t>
            </a:r>
            <a:endParaRPr lang="es-CR" dirty="0"/>
          </a:p>
        </p:txBody>
      </p:sp>
      <p:sp>
        <p:nvSpPr>
          <p:cNvPr id="106" name="105 CuadroTexto"/>
          <p:cNvSpPr txBox="1"/>
          <p:nvPr/>
        </p:nvSpPr>
        <p:spPr>
          <a:xfrm>
            <a:off x="6643702" y="6500834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µ-1.96*σ/</a:t>
            </a:r>
            <a:endParaRPr lang="es-CR" dirty="0"/>
          </a:p>
        </p:txBody>
      </p:sp>
      <p:pic>
        <p:nvPicPr>
          <p:cNvPr id="107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6247" y="6536551"/>
            <a:ext cx="214315" cy="250035"/>
          </a:xfrm>
          <a:prstGeom prst="rect">
            <a:avLst/>
          </a:prstGeom>
          <a:noFill/>
        </p:spPr>
      </p:pic>
      <p:pic>
        <p:nvPicPr>
          <p:cNvPr id="108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72396" y="6536551"/>
            <a:ext cx="214315" cy="250035"/>
          </a:xfrm>
          <a:prstGeom prst="rect">
            <a:avLst/>
          </a:prstGeom>
          <a:noFill/>
        </p:spPr>
      </p:pic>
      <p:pic>
        <p:nvPicPr>
          <p:cNvPr id="109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01090" y="6367482"/>
            <a:ext cx="163713" cy="419104"/>
          </a:xfrm>
          <a:prstGeom prst="rect">
            <a:avLst/>
          </a:prstGeom>
          <a:noFill/>
        </p:spPr>
      </p:pic>
      <p:sp>
        <p:nvSpPr>
          <p:cNvPr id="57" name="56 Rectángulo"/>
          <p:cNvSpPr/>
          <p:nvPr/>
        </p:nvSpPr>
        <p:spPr>
          <a:xfrm>
            <a:off x="6858016" y="785794"/>
            <a:ext cx="2000232" cy="1928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4000" dirty="0" smtClean="0"/>
              <a:t>Normal Estándar</a:t>
            </a:r>
            <a:endParaRPr lang="es-CR" sz="4000" dirty="0"/>
          </a:p>
        </p:txBody>
      </p:sp>
      <p:sp>
        <p:nvSpPr>
          <p:cNvPr id="58" name="57 Rectángulo"/>
          <p:cNvSpPr/>
          <p:nvPr/>
        </p:nvSpPr>
        <p:spPr>
          <a:xfrm>
            <a:off x="142844" y="4143380"/>
            <a:ext cx="2000232" cy="1928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4000" dirty="0" smtClean="0"/>
              <a:t>Normal con µ y σ  </a:t>
            </a: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857232"/>
            <a:ext cx="8501122" cy="5715040"/>
          </a:xfrm>
        </p:spPr>
        <p:txBody>
          <a:bodyPr/>
          <a:lstStyle/>
          <a:p>
            <a:r>
              <a:rPr lang="es-CR" dirty="0" smtClean="0"/>
              <a:t>La probabilidad de que    asuma un valor en el intervalo </a:t>
            </a:r>
          </a:p>
          <a:p>
            <a:pPr>
              <a:buNone/>
            </a:pPr>
            <a:r>
              <a:rPr lang="es-CR" dirty="0" smtClean="0"/>
              <a:t> µ ± 1.96*σ/      es de 0.95.</a:t>
            </a:r>
          </a:p>
          <a:p>
            <a:pPr>
              <a:buNone/>
            </a:pPr>
            <a:endParaRPr lang="es-CR" dirty="0" smtClean="0"/>
          </a:p>
          <a:p>
            <a:r>
              <a:rPr lang="es-CR" dirty="0" smtClean="0"/>
              <a:t>Esto puede expresarse simbólicamente en la siguiente forma:</a:t>
            </a:r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r>
              <a:rPr lang="es-CR" dirty="0" smtClean="0"/>
              <a:t>De la expresión anterior se deriva la fórmula para el cálculo de un intervalo de confianza del 95% para µ. Mediante a una sencilla </a:t>
            </a:r>
            <a:r>
              <a:rPr lang="es-CR" dirty="0" err="1" smtClean="0"/>
              <a:t>sencilla</a:t>
            </a:r>
            <a:r>
              <a:rPr lang="es-CR" dirty="0" smtClean="0"/>
              <a:t> manipulación algebraica obtendríamos los intervalos del confianza con un 95%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928670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Límites de confianza para µ </a:t>
            </a:r>
            <a:endParaRPr lang="es-CR" sz="4400" dirty="0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08155" y="857232"/>
            <a:ext cx="163713" cy="419104"/>
          </a:xfrm>
          <a:prstGeom prst="rect">
            <a:avLst/>
          </a:prstGeom>
          <a:noFill/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00232" y="1428736"/>
            <a:ext cx="285752" cy="333378"/>
          </a:xfrm>
          <a:prstGeom prst="rect">
            <a:avLst/>
          </a:prstGeom>
          <a:noFill/>
        </p:spPr>
      </p:pic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85852" y="3000372"/>
            <a:ext cx="5643602" cy="728707"/>
          </a:xfrm>
          <a:prstGeom prst="rect">
            <a:avLst/>
          </a:prstGeom>
          <a:noFill/>
        </p:spPr>
      </p:pic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2976" y="5857892"/>
            <a:ext cx="6143668" cy="793276"/>
          </a:xfrm>
          <a:prstGeom prst="rect">
            <a:avLst/>
          </a:prstGeom>
          <a:noFill/>
        </p:spPr>
      </p:pic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7772400" cy="4572000"/>
          </a:xfrm>
        </p:spPr>
        <p:txBody>
          <a:bodyPr/>
          <a:lstStyle/>
          <a:p>
            <a:r>
              <a:rPr lang="es-CR" dirty="0" smtClean="0"/>
              <a:t>Los límites de confianza se generan de la presente fórmula:</a:t>
            </a:r>
          </a:p>
          <a:p>
            <a:endParaRPr lang="es-CR" dirty="0" smtClean="0"/>
          </a:p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928670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Límites de confianza para µ </a:t>
            </a:r>
            <a:endParaRPr lang="es-CR" sz="44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1714488"/>
            <a:ext cx="6143668" cy="793276"/>
          </a:xfrm>
          <a:prstGeom prst="rect">
            <a:avLst/>
          </a:prstGeom>
          <a:noFill/>
        </p:spPr>
      </p:pic>
      <p:cxnSp>
        <p:nvCxnSpPr>
          <p:cNvPr id="7" name="6 Conector recto de flecha"/>
          <p:cNvCxnSpPr/>
          <p:nvPr/>
        </p:nvCxnSpPr>
        <p:spPr>
          <a:xfrm rot="5400000">
            <a:off x="1643836" y="3785396"/>
            <a:ext cx="142876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Cerrar llave"/>
          <p:cNvSpPr/>
          <p:nvPr/>
        </p:nvSpPr>
        <p:spPr>
          <a:xfrm rot="5400000">
            <a:off x="2035951" y="1678769"/>
            <a:ext cx="642942" cy="18573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8 Cerrar llave"/>
          <p:cNvSpPr/>
          <p:nvPr/>
        </p:nvSpPr>
        <p:spPr>
          <a:xfrm rot="5400000">
            <a:off x="4822033" y="1750207"/>
            <a:ext cx="642942" cy="18573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cxnSp>
        <p:nvCxnSpPr>
          <p:cNvPr id="10" name="9 Conector recto de flecha"/>
          <p:cNvCxnSpPr/>
          <p:nvPr/>
        </p:nvCxnSpPr>
        <p:spPr>
          <a:xfrm rot="5400000">
            <a:off x="4429918" y="3785396"/>
            <a:ext cx="142876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Rectángulo"/>
          <p:cNvSpPr/>
          <p:nvPr/>
        </p:nvSpPr>
        <p:spPr>
          <a:xfrm>
            <a:off x="1142976" y="4572008"/>
            <a:ext cx="2428892" cy="1000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LI: Límite Inferior</a:t>
            </a:r>
            <a:endParaRPr lang="es-CR" dirty="0"/>
          </a:p>
        </p:txBody>
      </p:sp>
      <p:sp>
        <p:nvSpPr>
          <p:cNvPr id="12" name="11 Rectángulo"/>
          <p:cNvSpPr/>
          <p:nvPr/>
        </p:nvSpPr>
        <p:spPr>
          <a:xfrm>
            <a:off x="3929058" y="4572008"/>
            <a:ext cx="2428892" cy="1000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LS: Límite Superior</a:t>
            </a:r>
            <a:endParaRPr lang="es-CR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14480" y="5786454"/>
            <a:ext cx="5143536" cy="710433"/>
          </a:xfrm>
          <a:prstGeom prst="rect">
            <a:avLst/>
          </a:prstGeom>
          <a:noFill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928670"/>
            <a:ext cx="8358246" cy="5572164"/>
          </a:xfrm>
        </p:spPr>
        <p:txBody>
          <a:bodyPr/>
          <a:lstStyle/>
          <a:p>
            <a:r>
              <a:rPr lang="es-CR" dirty="0" smtClean="0"/>
              <a:t>Tenemos entonces que: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r>
              <a:rPr lang="es-CR" dirty="0" smtClean="0"/>
              <a:t>LI = límite inferior   =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r>
              <a:rPr lang="es-CR" dirty="0" smtClean="0"/>
              <a:t>LS = límite superior =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r>
              <a:rPr lang="es-CR" dirty="0" smtClean="0"/>
              <a:t>Entonces, el objetivo de la estimación por intervalos es calcular los límites de confianza (el LI y LS), para decir que, con una probabilidad del 95%, el intervalo va a contener al verdadero </a:t>
            </a:r>
            <a:r>
              <a:rPr lang="es-CR" dirty="0" err="1" smtClean="0"/>
              <a:t>promedo</a:t>
            </a:r>
            <a:r>
              <a:rPr lang="es-CR" dirty="0" smtClean="0"/>
              <a:t> poblacional </a:t>
            </a:r>
            <a:r>
              <a:rPr lang="es-CR" sz="2400" dirty="0" smtClean="0"/>
              <a:t>µ.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928670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Límites de confianza para µ </a:t>
            </a:r>
            <a:endParaRPr lang="es-CR" sz="4400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48236" y="1785926"/>
            <a:ext cx="1509516" cy="642942"/>
          </a:xfrm>
          <a:prstGeom prst="rect">
            <a:avLst/>
          </a:prstGeom>
          <a:noFill/>
        </p:spPr>
      </p:pic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86116" y="2714619"/>
            <a:ext cx="1714512" cy="730255"/>
          </a:xfrm>
          <a:prstGeom prst="rect">
            <a:avLst/>
          </a:prstGeom>
          <a:noFill/>
        </p:spPr>
      </p:pic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01122" cy="928670"/>
          </a:xfrm>
        </p:spPr>
        <p:txBody>
          <a:bodyPr/>
          <a:lstStyle/>
          <a:p>
            <a:pPr algn="ctr"/>
            <a:r>
              <a:rPr lang="es-CR" dirty="0" smtClean="0"/>
              <a:t>Ejemplo de estimación por intervalos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857232"/>
            <a:ext cx="8286808" cy="5072098"/>
          </a:xfrm>
        </p:spPr>
        <p:txBody>
          <a:bodyPr/>
          <a:lstStyle/>
          <a:p>
            <a:r>
              <a:rPr lang="es-CR" sz="2400" dirty="0" smtClean="0"/>
              <a:t>Se quiere estimar el promedio de edad (µ) de todos las personas de la Universidad Z.</a:t>
            </a:r>
          </a:p>
          <a:p>
            <a:endParaRPr lang="es-CR" sz="2400" dirty="0" smtClean="0"/>
          </a:p>
          <a:p>
            <a:r>
              <a:rPr lang="es-CR" sz="2400" dirty="0" smtClean="0"/>
              <a:t> Se selecciona una  muestra (n) de tamaño 50 para estimar el promedio de edad (µ), y el resultado fue de 25.7 años (  ), con una desviación estándar de 12 (</a:t>
            </a:r>
            <a:r>
              <a:rPr lang="el-GR" sz="2400" dirty="0" smtClean="0">
                <a:latin typeface="Calibri"/>
                <a:cs typeface="Calibri"/>
              </a:rPr>
              <a:t>σ</a:t>
            </a:r>
            <a:r>
              <a:rPr lang="es-CR" sz="2400" dirty="0" smtClean="0"/>
              <a:t>).</a:t>
            </a:r>
          </a:p>
          <a:p>
            <a:endParaRPr lang="es-CR" sz="2400" dirty="0" smtClean="0"/>
          </a:p>
          <a:p>
            <a:r>
              <a:rPr lang="es-CR" sz="2400" dirty="0" smtClean="0"/>
              <a:t>Dado que no se seleccionó a todas las personas de la Universidad Z, para tener más confianza en las estimaciones, se quiere utilizar los intervalos de confianza con un 95% de confiabilidad, esto es, con 5% de aceptar un error.</a:t>
            </a:r>
          </a:p>
          <a:p>
            <a:endParaRPr lang="es-CR" sz="2400" dirty="0" smtClean="0"/>
          </a:p>
          <a:p>
            <a:pPr>
              <a:buNone/>
            </a:pPr>
            <a:endParaRPr lang="es-CR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72132" y="2500306"/>
            <a:ext cx="163713" cy="419104"/>
          </a:xfrm>
          <a:prstGeom prst="rect">
            <a:avLst/>
          </a:prstGeom>
          <a:noFill/>
        </p:spPr>
      </p:pic>
      <p:sp>
        <p:nvSpPr>
          <p:cNvPr id="5" name="4 Rectángulo"/>
          <p:cNvSpPr/>
          <p:nvPr/>
        </p:nvSpPr>
        <p:spPr>
          <a:xfrm>
            <a:off x="571472" y="5214950"/>
            <a:ext cx="8072494" cy="1643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 dirty="0"/>
          </a:p>
        </p:txBody>
      </p:sp>
      <p:sp>
        <p:nvSpPr>
          <p:cNvPr id="6" name="5 Rectángulo"/>
          <p:cNvSpPr/>
          <p:nvPr/>
        </p:nvSpPr>
        <p:spPr>
          <a:xfrm>
            <a:off x="928662" y="5286388"/>
            <a:ext cx="1785950" cy="7143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µ= ?????</a:t>
            </a:r>
            <a:endParaRPr lang="es-CR" dirty="0"/>
          </a:p>
        </p:txBody>
      </p:sp>
      <p:sp>
        <p:nvSpPr>
          <p:cNvPr id="7" name="6 Rectángulo"/>
          <p:cNvSpPr/>
          <p:nvPr/>
        </p:nvSpPr>
        <p:spPr>
          <a:xfrm>
            <a:off x="3571868" y="6072206"/>
            <a:ext cx="1785950" cy="7143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n= 50</a:t>
            </a:r>
            <a:endParaRPr lang="es-CR" dirty="0"/>
          </a:p>
        </p:txBody>
      </p:sp>
      <p:sp>
        <p:nvSpPr>
          <p:cNvPr id="8" name="7 Rectángulo"/>
          <p:cNvSpPr/>
          <p:nvPr/>
        </p:nvSpPr>
        <p:spPr>
          <a:xfrm>
            <a:off x="6215074" y="5286388"/>
            <a:ext cx="1785950" cy="7143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Confianza=95%</a:t>
            </a:r>
            <a:endParaRPr lang="es-CR" dirty="0"/>
          </a:p>
        </p:txBody>
      </p:sp>
      <p:sp>
        <p:nvSpPr>
          <p:cNvPr id="9" name="8 Rectángulo"/>
          <p:cNvSpPr/>
          <p:nvPr/>
        </p:nvSpPr>
        <p:spPr>
          <a:xfrm>
            <a:off x="928662" y="6072206"/>
            <a:ext cx="1785950" cy="7143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= 25.7</a:t>
            </a:r>
            <a:endParaRPr lang="es-CR" dirty="0"/>
          </a:p>
        </p:txBody>
      </p:sp>
      <p:sp>
        <p:nvSpPr>
          <p:cNvPr id="10" name="9 Rectángulo"/>
          <p:cNvSpPr/>
          <p:nvPr/>
        </p:nvSpPr>
        <p:spPr>
          <a:xfrm>
            <a:off x="3571868" y="5286388"/>
            <a:ext cx="1785950" cy="7143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dirty="0" smtClean="0">
                <a:latin typeface="Calibri"/>
                <a:cs typeface="Calibri"/>
              </a:rPr>
              <a:t>σ</a:t>
            </a:r>
            <a:r>
              <a:rPr lang="es-CR" dirty="0" smtClean="0">
                <a:latin typeface="Calibri"/>
                <a:cs typeface="Calibri"/>
              </a:rPr>
              <a:t> = 12 </a:t>
            </a:r>
            <a:endParaRPr lang="es-CR" dirty="0"/>
          </a:p>
        </p:txBody>
      </p:sp>
      <p:sp>
        <p:nvSpPr>
          <p:cNvPr id="11" name="10 Rectángulo"/>
          <p:cNvSpPr/>
          <p:nvPr/>
        </p:nvSpPr>
        <p:spPr>
          <a:xfrm>
            <a:off x="6215074" y="6072206"/>
            <a:ext cx="1785950" cy="7143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Error=5%</a:t>
            </a:r>
            <a:endParaRPr lang="es-CR" dirty="0"/>
          </a:p>
        </p:txBody>
      </p:sp>
      <p:pic>
        <p:nvPicPr>
          <p:cNvPr id="12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65015" y="6224606"/>
            <a:ext cx="163713" cy="419104"/>
          </a:xfrm>
          <a:prstGeom prst="rect">
            <a:avLst/>
          </a:prstGeom>
          <a:noFill/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857232"/>
            <a:ext cx="8501122" cy="5643602"/>
          </a:xfrm>
        </p:spPr>
        <p:txBody>
          <a:bodyPr/>
          <a:lstStyle/>
          <a:p>
            <a:r>
              <a:rPr lang="es-CR" dirty="0" smtClean="0"/>
              <a:t>Entonces necesitamos calcular los intervalos de confianza.</a:t>
            </a:r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pPr>
              <a:buNone/>
            </a:pPr>
            <a:endParaRPr lang="es-CR" dirty="0" smtClean="0"/>
          </a:p>
          <a:p>
            <a:r>
              <a:rPr lang="es-CR" dirty="0" smtClean="0"/>
              <a:t>Y sabemos que, este límite tiene un 95% de confianza, por la fórmula antes vista:</a:t>
            </a:r>
          </a:p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01122" cy="928670"/>
          </a:xfrm>
        </p:spPr>
        <p:txBody>
          <a:bodyPr/>
          <a:lstStyle/>
          <a:p>
            <a:pPr algn="ctr"/>
            <a:r>
              <a:rPr lang="es-CR" dirty="0" smtClean="0"/>
              <a:t>Ejemplo de estimación por intervalos</a:t>
            </a:r>
            <a:endParaRPr lang="es-CR" dirty="0"/>
          </a:p>
        </p:txBody>
      </p:sp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9153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282" y="1357298"/>
            <a:ext cx="5286412" cy="850262"/>
          </a:xfrm>
          <a:prstGeom prst="rect">
            <a:avLst/>
          </a:prstGeom>
          <a:noFill/>
        </p:spPr>
      </p:pic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2844" y="2373522"/>
            <a:ext cx="5357850" cy="841164"/>
          </a:xfrm>
          <a:prstGeom prst="rect">
            <a:avLst/>
          </a:prstGeom>
          <a:noFill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282" y="4786322"/>
            <a:ext cx="4500594" cy="581121"/>
          </a:xfrm>
          <a:prstGeom prst="rect">
            <a:avLst/>
          </a:prstGeom>
          <a:noFill/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67662" y="4429132"/>
            <a:ext cx="4531663" cy="1988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CuadroTexto"/>
          <p:cNvSpPr txBox="1"/>
          <p:nvPr/>
        </p:nvSpPr>
        <p:spPr>
          <a:xfrm>
            <a:off x="5000628" y="6488692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  -1.96*σ/</a:t>
            </a:r>
            <a:endParaRPr lang="es-CR" dirty="0"/>
          </a:p>
        </p:txBody>
      </p:sp>
      <p:cxnSp>
        <p:nvCxnSpPr>
          <p:cNvPr id="31" name="30 Conector recto de flecha"/>
          <p:cNvCxnSpPr/>
          <p:nvPr/>
        </p:nvCxnSpPr>
        <p:spPr>
          <a:xfrm rot="10800000" flipV="1">
            <a:off x="6357950" y="4416990"/>
            <a:ext cx="1428760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CuadroTexto"/>
          <p:cNvSpPr txBox="1"/>
          <p:nvPr/>
        </p:nvSpPr>
        <p:spPr>
          <a:xfrm>
            <a:off x="7929586" y="4131238"/>
            <a:ext cx="1000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2800" dirty="0" smtClean="0"/>
              <a:t>0.95</a:t>
            </a:r>
            <a:endParaRPr lang="es-CR" sz="2800" dirty="0"/>
          </a:p>
        </p:txBody>
      </p:sp>
      <p:sp>
        <p:nvSpPr>
          <p:cNvPr id="34" name="33 CuadroTexto"/>
          <p:cNvSpPr txBox="1"/>
          <p:nvPr/>
        </p:nvSpPr>
        <p:spPr>
          <a:xfrm>
            <a:off x="7286644" y="6488692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  -1.96*σ/</a:t>
            </a:r>
            <a:endParaRPr lang="es-CR" dirty="0"/>
          </a:p>
        </p:txBody>
      </p:sp>
      <p:pic>
        <p:nvPicPr>
          <p:cNvPr id="35" name="Picture 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29322" y="6536551"/>
            <a:ext cx="214315" cy="250035"/>
          </a:xfrm>
          <a:prstGeom prst="rect">
            <a:avLst/>
          </a:prstGeom>
          <a:noFill/>
        </p:spPr>
      </p:pic>
      <p:pic>
        <p:nvPicPr>
          <p:cNvPr id="36" name="Picture 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15338" y="6536551"/>
            <a:ext cx="214315" cy="250035"/>
          </a:xfrm>
          <a:prstGeom prst="rect">
            <a:avLst/>
          </a:prstGeom>
          <a:noFill/>
        </p:spPr>
      </p:pic>
      <p:pic>
        <p:nvPicPr>
          <p:cNvPr id="37" name="Picture 1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628" y="6429372"/>
            <a:ext cx="167433" cy="428628"/>
          </a:xfrm>
          <a:prstGeom prst="rect">
            <a:avLst/>
          </a:prstGeom>
          <a:noFill/>
        </p:spPr>
      </p:pic>
      <p:cxnSp>
        <p:nvCxnSpPr>
          <p:cNvPr id="39" name="38 Conector recto"/>
          <p:cNvCxnSpPr/>
          <p:nvPr/>
        </p:nvCxnSpPr>
        <p:spPr>
          <a:xfrm rot="5400000" flipH="1" flipV="1">
            <a:off x="5143504" y="6286520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 rot="5400000" flipH="1" flipV="1">
            <a:off x="7643834" y="6286520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6143636" y="5072074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 flipV="1">
            <a:off x="6072198" y="5214950"/>
            <a:ext cx="785818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flipV="1">
            <a:off x="6000760" y="5357826"/>
            <a:ext cx="928694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 flipV="1">
            <a:off x="5929322" y="5500702"/>
            <a:ext cx="1071570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 flipV="1">
            <a:off x="5857884" y="5643578"/>
            <a:ext cx="1214446" cy="38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5715008" y="5834074"/>
            <a:ext cx="1428760" cy="23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5643570" y="5986474"/>
            <a:ext cx="1643074" cy="14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5500694" y="6138874"/>
            <a:ext cx="2000264" cy="4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 flipV="1">
            <a:off x="5214942" y="6286520"/>
            <a:ext cx="2500330" cy="4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>
            <a:off x="6215074" y="4929198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>
            <a:off x="6286512" y="4786322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1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04831" y="6286520"/>
            <a:ext cx="167433" cy="428628"/>
          </a:xfrm>
          <a:prstGeom prst="rect">
            <a:avLst/>
          </a:prstGeom>
          <a:noFill/>
        </p:spPr>
      </p:pic>
      <p:pic>
        <p:nvPicPr>
          <p:cNvPr id="70" name="Picture 1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86644" y="6438920"/>
            <a:ext cx="167433" cy="428628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857232"/>
            <a:ext cx="8429684" cy="5715040"/>
          </a:xfrm>
        </p:spPr>
        <p:txBody>
          <a:bodyPr/>
          <a:lstStyle/>
          <a:p>
            <a:r>
              <a:rPr lang="es-CR" dirty="0" smtClean="0"/>
              <a:t>Solución:</a:t>
            </a:r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r>
              <a:rPr lang="es-CR" u="sng" dirty="0" smtClean="0"/>
              <a:t>Interpretación</a:t>
            </a:r>
            <a:r>
              <a:rPr lang="es-CR" dirty="0" smtClean="0"/>
              <a:t>:  Se tiene una confianza del 95% de que intervalo calculado contenga al verdadero valor de la edad promedio en la Universidad Santa Paula. </a:t>
            </a:r>
          </a:p>
          <a:p>
            <a:endParaRPr lang="es-CR" dirty="0" smtClean="0"/>
          </a:p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01122" cy="928670"/>
          </a:xfrm>
        </p:spPr>
        <p:txBody>
          <a:bodyPr/>
          <a:lstStyle/>
          <a:p>
            <a:pPr algn="ctr"/>
            <a:r>
              <a:rPr lang="es-CR" dirty="0" smtClean="0"/>
              <a:t>Ejemplo de estimación por intervalos</a:t>
            </a:r>
            <a:endParaRPr lang="es-CR" dirty="0"/>
          </a:p>
        </p:txBody>
      </p:sp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812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2" y="1428736"/>
            <a:ext cx="5014948" cy="642942"/>
          </a:xfrm>
          <a:prstGeom prst="rect">
            <a:avLst/>
          </a:prstGeom>
          <a:noFill/>
        </p:spPr>
      </p:pic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1" y="2285992"/>
            <a:ext cx="5040665" cy="642942"/>
          </a:xfrm>
          <a:prstGeom prst="rect">
            <a:avLst/>
          </a:prstGeom>
          <a:noFill/>
        </p:spPr>
      </p:pic>
      <p:sp>
        <p:nvSpPr>
          <p:cNvPr id="9" name="8 Cerrar llave"/>
          <p:cNvSpPr/>
          <p:nvPr/>
        </p:nvSpPr>
        <p:spPr>
          <a:xfrm>
            <a:off x="5715008" y="1357298"/>
            <a:ext cx="642942" cy="16430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0" name="9 Rectángulo"/>
          <p:cNvSpPr/>
          <p:nvPr/>
        </p:nvSpPr>
        <p:spPr>
          <a:xfrm>
            <a:off x="6429388" y="1214422"/>
            <a:ext cx="2571768" cy="192882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Corroborar:</a:t>
            </a:r>
            <a:br>
              <a:rPr lang="es-CR" dirty="0" smtClean="0"/>
            </a:br>
            <a:r>
              <a:rPr lang="es-CR" dirty="0" smtClean="0"/>
              <a:t/>
            </a:r>
            <a:br>
              <a:rPr lang="es-CR" dirty="0" smtClean="0"/>
            </a:br>
            <a:r>
              <a:rPr lang="es-CR" dirty="0" smtClean="0"/>
              <a:t/>
            </a:r>
            <a:br>
              <a:rPr lang="es-CR" dirty="0" smtClean="0"/>
            </a:br>
            <a:endParaRPr lang="es-CR" dirty="0"/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72264" y="2071678"/>
            <a:ext cx="2286016" cy="598086"/>
          </a:xfrm>
          <a:prstGeom prst="rect">
            <a:avLst/>
          </a:prstGeom>
          <a:noFill/>
        </p:spPr>
      </p:pic>
      <p:sp>
        <p:nvSpPr>
          <p:cNvPr id="4813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8137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33" y="3286124"/>
            <a:ext cx="2886095" cy="357190"/>
          </a:xfrm>
          <a:prstGeom prst="rect">
            <a:avLst/>
          </a:prstGeom>
          <a:noFill/>
        </p:spPr>
      </p:pic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8139" name="Picture 11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34" y="3786190"/>
            <a:ext cx="2786082" cy="348260"/>
          </a:xfrm>
          <a:prstGeom prst="rect">
            <a:avLst/>
          </a:prstGeom>
          <a:noFill/>
        </p:spPr>
      </p:pic>
      <p:sp>
        <p:nvSpPr>
          <p:cNvPr id="19" name="18 Cerrar llave"/>
          <p:cNvSpPr/>
          <p:nvPr/>
        </p:nvSpPr>
        <p:spPr>
          <a:xfrm>
            <a:off x="3357554" y="3214686"/>
            <a:ext cx="428628" cy="10001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20" name="19 Rectángulo"/>
          <p:cNvSpPr/>
          <p:nvPr/>
        </p:nvSpPr>
        <p:spPr>
          <a:xfrm>
            <a:off x="3857620" y="3214686"/>
            <a:ext cx="2500330" cy="107157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Intervalo de confianza:</a:t>
            </a:r>
            <a:br>
              <a:rPr lang="es-CR" sz="2000" dirty="0" smtClean="0"/>
            </a:br>
            <a:r>
              <a:rPr lang="es-CR" sz="2000" dirty="0" smtClean="0"/>
              <a:t/>
            </a:r>
            <a:br>
              <a:rPr lang="es-CR" sz="2000" dirty="0" smtClean="0"/>
            </a:br>
            <a:r>
              <a:rPr lang="es-CR" sz="2000" dirty="0" smtClean="0">
                <a:latin typeface="Arial"/>
                <a:cs typeface="Arial"/>
              </a:rPr>
              <a:t>[22.37 ; 29.03]</a:t>
            </a:r>
            <a:r>
              <a:rPr lang="es-CR" sz="2000" dirty="0" smtClean="0"/>
              <a:t> </a:t>
            </a:r>
            <a:endParaRPr lang="es-CR" sz="2000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116632"/>
            <a:ext cx="7772400" cy="936104"/>
          </a:xfrm>
        </p:spPr>
        <p:txBody>
          <a:bodyPr/>
          <a:lstStyle/>
          <a:p>
            <a:r>
              <a:rPr lang="es-CR" b="1" dirty="0" smtClean="0"/>
              <a:t>Ejercicios…</a:t>
            </a:r>
            <a:endParaRPr lang="es-CR" b="1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95536" y="1196752"/>
            <a:ext cx="8136904" cy="54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R" dirty="0" smtClean="0"/>
              <a:t>1. Se </a:t>
            </a:r>
            <a:r>
              <a:rPr lang="es-CR" dirty="0"/>
              <a:t>pretende estimar el numero promedio de latidos del </a:t>
            </a:r>
            <a:r>
              <a:rPr lang="es-CR" dirty="0" smtClean="0"/>
              <a:t>corazón </a:t>
            </a:r>
            <a:r>
              <a:rPr lang="es-CR" dirty="0"/>
              <a:t>por minuto para </a:t>
            </a:r>
            <a:r>
              <a:rPr lang="es-CR" dirty="0" smtClean="0"/>
              <a:t>cierta población</a:t>
            </a:r>
            <a:r>
              <a:rPr lang="es-CR" dirty="0"/>
              <a:t>. Se </a:t>
            </a:r>
            <a:r>
              <a:rPr lang="es-CR" dirty="0" smtClean="0"/>
              <a:t>encontró </a:t>
            </a:r>
            <a:r>
              <a:rPr lang="es-CR" dirty="0"/>
              <a:t>que el numero promedio de latidos por minuto para 49 personas </a:t>
            </a:r>
            <a:r>
              <a:rPr lang="es-CR" dirty="0" smtClean="0"/>
              <a:t>era de 90. </a:t>
            </a:r>
            <a:r>
              <a:rPr lang="es-CR" dirty="0"/>
              <a:t>Considere que esos 49 pacientes constituyen una muestra aleatoria y que la </a:t>
            </a:r>
            <a:r>
              <a:rPr lang="es-CR" dirty="0" smtClean="0"/>
              <a:t>población sigue </a:t>
            </a:r>
            <a:r>
              <a:rPr lang="es-CR" dirty="0"/>
              <a:t>una </a:t>
            </a:r>
            <a:r>
              <a:rPr lang="es-CR" dirty="0" smtClean="0"/>
              <a:t>distribución </a:t>
            </a:r>
            <a:r>
              <a:rPr lang="es-CR" dirty="0"/>
              <a:t>normal, con una </a:t>
            </a:r>
            <a:r>
              <a:rPr lang="es-CR" dirty="0" smtClean="0"/>
              <a:t>desviación estándar </a:t>
            </a:r>
            <a:r>
              <a:rPr lang="es-CR" dirty="0"/>
              <a:t>de 10</a:t>
            </a:r>
            <a:r>
              <a:rPr lang="es-CR" dirty="0" smtClean="0"/>
              <a:t>.</a:t>
            </a:r>
          </a:p>
          <a:p>
            <a:pPr marL="0" indent="0" algn="just">
              <a:buNone/>
            </a:pPr>
            <a:endParaRPr lang="es-CR" dirty="0" smtClean="0"/>
          </a:p>
          <a:p>
            <a:pPr marL="0" indent="0" algn="just">
              <a:buNone/>
            </a:pPr>
            <a:r>
              <a:rPr lang="es-CR" dirty="0" smtClean="0"/>
              <a:t>2. </a:t>
            </a:r>
            <a:r>
              <a:rPr lang="es-CR" dirty="0"/>
              <a:t>Se pretende estimar la </a:t>
            </a:r>
            <a:r>
              <a:rPr lang="es-CR" dirty="0" smtClean="0"/>
              <a:t>concentración </a:t>
            </a:r>
            <a:r>
              <a:rPr lang="es-CR" dirty="0"/>
              <a:t>media de bilirrubina indirecta en el suero en </a:t>
            </a:r>
            <a:r>
              <a:rPr lang="es-CR" dirty="0" smtClean="0"/>
              <a:t>niños de cuatro días </a:t>
            </a:r>
            <a:r>
              <a:rPr lang="es-CR" dirty="0"/>
              <a:t>de nacidos. La media para una muestra de 16 </a:t>
            </a:r>
            <a:r>
              <a:rPr lang="es-CR" dirty="0" smtClean="0"/>
              <a:t>niños </a:t>
            </a:r>
            <a:r>
              <a:rPr lang="es-CR" dirty="0"/>
              <a:t>es de 5.98 </a:t>
            </a:r>
            <a:r>
              <a:rPr lang="es-CR" dirty="0" smtClean="0"/>
              <a:t>mg/100 </a:t>
            </a:r>
            <a:r>
              <a:rPr lang="es-CR" dirty="0" err="1"/>
              <a:t>cc.</a:t>
            </a:r>
            <a:r>
              <a:rPr lang="es-CR" dirty="0"/>
              <a:t> </a:t>
            </a:r>
            <a:r>
              <a:rPr lang="es-CR" dirty="0" smtClean="0"/>
              <a:t>Considérese que </a:t>
            </a:r>
            <a:r>
              <a:rPr lang="es-CR" dirty="0"/>
              <a:t>la </a:t>
            </a:r>
            <a:r>
              <a:rPr lang="es-CR" dirty="0" smtClean="0"/>
              <a:t>concentración </a:t>
            </a:r>
            <a:r>
              <a:rPr lang="es-CR" dirty="0"/>
              <a:t>de bilirrubina en los </a:t>
            </a:r>
            <a:r>
              <a:rPr lang="es-CR" dirty="0" smtClean="0"/>
              <a:t>niños </a:t>
            </a:r>
            <a:r>
              <a:rPr lang="es-CR" dirty="0"/>
              <a:t>de cuatro </a:t>
            </a:r>
            <a:r>
              <a:rPr lang="es-CR" dirty="0" smtClean="0"/>
              <a:t>días </a:t>
            </a:r>
            <a:r>
              <a:rPr lang="es-CR" dirty="0"/>
              <a:t>de nacidos sigue </a:t>
            </a:r>
            <a:r>
              <a:rPr lang="es-CR" dirty="0" smtClean="0"/>
              <a:t>una distribución </a:t>
            </a:r>
            <a:r>
              <a:rPr lang="es-CR" dirty="0"/>
              <a:t>aproximadamente normal con una </a:t>
            </a:r>
            <a:r>
              <a:rPr lang="es-CR" dirty="0" smtClean="0"/>
              <a:t>desviación estándar </a:t>
            </a:r>
            <a:r>
              <a:rPr lang="es-CR" dirty="0"/>
              <a:t>de 3.5 mg/IOO </a:t>
            </a:r>
            <a:r>
              <a:rPr lang="es-CR" dirty="0" err="1"/>
              <a:t>cc.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3333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72400" cy="868958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467544" y="126876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467544" y="3284984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467544" y="522920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4716016" y="126876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8" name="7 Elipse"/>
          <p:cNvSpPr/>
          <p:nvPr/>
        </p:nvSpPr>
        <p:spPr>
          <a:xfrm>
            <a:off x="4716016" y="3284984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5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2051720" y="141277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2051720" y="3429000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Características de la muestra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051720" y="537321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Inferencia estadística</a:t>
            </a:r>
            <a:endParaRPr lang="es-CR" dirty="0"/>
          </a:p>
        </p:txBody>
      </p:sp>
      <p:sp>
        <p:nvSpPr>
          <p:cNvPr id="16" name="15 Rectángulo redondeado"/>
          <p:cNvSpPr/>
          <p:nvPr/>
        </p:nvSpPr>
        <p:spPr>
          <a:xfrm>
            <a:off x="6444208" y="141277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Estimación puntual y por intervalos</a:t>
            </a:r>
            <a:endParaRPr lang="es-CR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6444208" y="3429000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Límites de confianza</a:t>
            </a:r>
            <a:endParaRPr lang="es-CR" dirty="0"/>
          </a:p>
        </p:txBody>
      </p:sp>
      <p:sp>
        <p:nvSpPr>
          <p:cNvPr id="18" name="17 Elipse"/>
          <p:cNvSpPr/>
          <p:nvPr/>
        </p:nvSpPr>
        <p:spPr>
          <a:xfrm>
            <a:off x="4716016" y="5229200"/>
            <a:ext cx="1368152" cy="129614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6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6444208" y="5373216"/>
            <a:ext cx="2160240" cy="10081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Interpretación de los límites de confianza y otros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17664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7504" y="116632"/>
            <a:ext cx="9036496" cy="864096"/>
          </a:xfrm>
        </p:spPr>
        <p:txBody>
          <a:bodyPr>
            <a:normAutofit fontScale="90000"/>
          </a:bodyPr>
          <a:lstStyle/>
          <a:p>
            <a:r>
              <a:rPr lang="es-CR" dirty="0" smtClean="0"/>
              <a:t>Interpretación de los intervalos de confianza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196752"/>
            <a:ext cx="6696744" cy="5400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CR" dirty="0" smtClean="0"/>
              <a:t>¿Cómo se interpreta un intervalo de confianza?</a:t>
            </a:r>
          </a:p>
          <a:p>
            <a:pPr algn="just"/>
            <a:endParaRPr lang="es-CR" dirty="0"/>
          </a:p>
          <a:p>
            <a:pPr marL="0" indent="0" algn="just">
              <a:buNone/>
            </a:pPr>
            <a:r>
              <a:rPr lang="es-CR" dirty="0" smtClean="0"/>
              <a:t>¿Se entiende bien la definición anterior?</a:t>
            </a:r>
          </a:p>
          <a:p>
            <a:pPr algn="just"/>
            <a:endParaRPr lang="es-CR" dirty="0"/>
          </a:p>
          <a:p>
            <a:pPr marL="0" indent="0" algn="just">
              <a:buNone/>
            </a:pPr>
            <a:r>
              <a:rPr lang="es-CR" dirty="0" smtClean="0"/>
              <a:t>¿ Se entiende que se pone de manifiesto que el término aleatorio es el intervalo y no el parámetro?</a:t>
            </a:r>
          </a:p>
          <a:p>
            <a:pPr algn="just"/>
            <a:endParaRPr lang="es-CR" dirty="0"/>
          </a:p>
          <a:p>
            <a:pPr marL="0" indent="0" algn="just">
              <a:buNone/>
            </a:pPr>
            <a:r>
              <a:rPr lang="es-CR" dirty="0" smtClean="0"/>
              <a:t>¿Se entiende bien el término del nivel de confianza, por ejemplo el 95% de confianza?</a:t>
            </a:r>
          </a:p>
          <a:p>
            <a:pPr algn="just"/>
            <a:endParaRPr lang="es-CR" dirty="0"/>
          </a:p>
          <a:p>
            <a:pPr marL="0" indent="0" algn="just">
              <a:buNone/>
            </a:pPr>
            <a:r>
              <a:rPr lang="es-CR" dirty="0" smtClean="0"/>
              <a:t>El intervalo de confianza suele ser la interpretación más equivocada…</a:t>
            </a:r>
            <a:endParaRPr lang="es-CR" dirty="0"/>
          </a:p>
        </p:txBody>
      </p:sp>
      <p:pic>
        <p:nvPicPr>
          <p:cNvPr id="1028" name="Picture 4" descr="https://image.freepik.com/vector-gratis/trabajador-con-dudas_1012-193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1" t="6047" r="25097" b="5774"/>
          <a:stretch/>
        </p:blipFill>
        <p:spPr bwMode="auto">
          <a:xfrm>
            <a:off x="7308304" y="1325909"/>
            <a:ext cx="1440160" cy="261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losmercadosfinancieros.es/wp-content/uploads/Interrogante-duda-pregunta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292" y="4445668"/>
            <a:ext cx="1656184" cy="2007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26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29"/>
          <a:stretch/>
        </p:blipFill>
        <p:spPr bwMode="auto">
          <a:xfrm>
            <a:off x="1547664" y="1124744"/>
            <a:ext cx="5544616" cy="522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107504" y="116632"/>
            <a:ext cx="9036496" cy="792088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Interpretación de los intervalos de confianza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48556701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51520" y="836712"/>
                <a:ext cx="7772400" cy="6021288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s-CR" b="1" dirty="0" smtClean="0"/>
                  <a:t>Interpretación probabilística:</a:t>
                </a:r>
                <a:r>
                  <a:rPr lang="es-CR" dirty="0" smtClean="0"/>
                  <a:t> en la muestreo repetido, de una población con distribución normal y desviación estándar </a:t>
                </a:r>
                <a:r>
                  <a:rPr lang="es-CR" dirty="0"/>
                  <a:t>conocida 100(1-</a:t>
                </a:r>
                <a:r>
                  <a:rPr lang="el-GR" dirty="0"/>
                  <a:t>α</a:t>
                </a:r>
                <a:r>
                  <a:rPr lang="es-CR" dirty="0"/>
                  <a:t>) por ciento </a:t>
                </a:r>
                <a:r>
                  <a:rPr lang="es-CR" dirty="0" smtClean="0"/>
                  <a:t>de todos los intervalos de la forma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R" i="1">
                            <a:latin typeface="Cambria Math"/>
                          </a:rPr>
                        </m:ctrlPr>
                      </m:accPr>
                      <m:e>
                        <m:r>
                          <a:rPr lang="es-CR" i="1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s-CR" i="1">
                        <a:latin typeface="Cambria Math"/>
                      </a:rPr>
                      <m:t>±</m:t>
                    </m:r>
                    <m:sSub>
                      <m:sSubPr>
                        <m:ctrlPr>
                          <a:rPr lang="es-CR" i="1">
                            <a:latin typeface="Cambria Math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s-CR" i="1">
                            <a:latin typeface="Cambria Math"/>
                          </a:rPr>
                          <m:t>1−</m:t>
                        </m:r>
                        <m:f>
                          <m:fPr>
                            <m:ctrlPr>
                              <a:rPr lang="es-CR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CR" i="1">
                                <a:latin typeface="Cambria Math"/>
                              </a:rPr>
                              <m:t>𝛼</m:t>
                            </m:r>
                          </m:num>
                          <m:den>
                            <m:r>
                              <a:rPr lang="es-CR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s-CR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s-CR" i="1">
                            <a:latin typeface="Cambria Math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s-CR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s-CR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sub>
                    </m:sSub>
                    <m:r>
                      <a:rPr lang="es-CR" i="1">
                        <a:latin typeface="Cambria Math"/>
                      </a:rPr>
                      <m:t> </m:t>
                    </m:r>
                  </m:oMath>
                </a14:m>
                <a:r>
                  <a:rPr lang="es-CR" dirty="0" smtClean="0"/>
                  <a:t>incluyen a la larga la media de la población </a:t>
                </a:r>
                <a:r>
                  <a:rPr lang="el-GR" dirty="0" smtClean="0">
                    <a:latin typeface="Times New Roman"/>
                    <a:cs typeface="Times New Roman"/>
                  </a:rPr>
                  <a:t>μ</a:t>
                </a:r>
                <a:r>
                  <a:rPr lang="es-CR" dirty="0" smtClean="0"/>
                  <a:t>.</a:t>
                </a:r>
              </a:p>
              <a:p>
                <a:pPr marL="0" indent="0" algn="just">
                  <a:buNone/>
                </a:pPr>
                <a:endParaRPr lang="es-CR" dirty="0" smtClean="0"/>
              </a:p>
              <a:p>
                <a:pPr marL="0" indent="0" algn="just">
                  <a:buNone/>
                </a:pPr>
                <a:endParaRPr lang="es-CR" dirty="0"/>
              </a:p>
              <a:p>
                <a:pPr marL="0" indent="0" algn="just">
                  <a:buNone/>
                </a:pPr>
                <a:endParaRPr lang="es-CR" dirty="0"/>
              </a:p>
              <a:p>
                <a:pPr marL="0" indent="0" algn="just">
                  <a:buNone/>
                </a:pPr>
                <a:r>
                  <a:rPr lang="es-CR" b="1" dirty="0" smtClean="0"/>
                  <a:t>Interpretación práctica: </a:t>
                </a:r>
                <a:r>
                  <a:rPr lang="es-CR" dirty="0" smtClean="0"/>
                  <a:t>cuando se hace un muestreo a partir de poblaciones que siguen una distribución normal y con desviación estándar conocida, existe un </a:t>
                </a:r>
                <a:r>
                  <a:rPr lang="es-CR" dirty="0"/>
                  <a:t>100(1-</a:t>
                </a:r>
                <a:r>
                  <a:rPr lang="el-GR" dirty="0"/>
                  <a:t>α</a:t>
                </a:r>
                <a:r>
                  <a:rPr lang="es-CR" dirty="0"/>
                  <a:t>) por ciento </a:t>
                </a:r>
                <a:r>
                  <a:rPr lang="es-CR" dirty="0" smtClean="0"/>
                  <a:t> de confianza de que el intervalo calculado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R" i="1">
                            <a:latin typeface="Cambria Math"/>
                          </a:rPr>
                        </m:ctrlPr>
                      </m:accPr>
                      <m:e>
                        <m:r>
                          <a:rPr lang="es-CR" i="1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s-CR" i="1">
                        <a:latin typeface="Cambria Math"/>
                      </a:rPr>
                      <m:t>±</m:t>
                    </m:r>
                    <m:sSub>
                      <m:sSubPr>
                        <m:ctrlPr>
                          <a:rPr lang="es-CR" i="1">
                            <a:latin typeface="Cambria Math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s-CR" i="1">
                            <a:latin typeface="Cambria Math"/>
                          </a:rPr>
                          <m:t>1−</m:t>
                        </m:r>
                        <m:f>
                          <m:fPr>
                            <m:ctrlPr>
                              <a:rPr lang="es-CR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CR" i="1">
                                <a:latin typeface="Cambria Math"/>
                              </a:rPr>
                              <m:t>𝛼</m:t>
                            </m:r>
                          </m:num>
                          <m:den>
                            <m:r>
                              <a:rPr lang="es-CR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s-CR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s-CR" i="1">
                            <a:latin typeface="Cambria Math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s-CR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s-CR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sub>
                    </m:sSub>
                  </m:oMath>
                </a14:m>
                <a:r>
                  <a:rPr lang="es-CR" dirty="0" smtClean="0"/>
                  <a:t>, contiene la media de la población </a:t>
                </a:r>
                <a:r>
                  <a:rPr lang="el-GR" dirty="0">
                    <a:latin typeface="Times New Roman"/>
                    <a:cs typeface="Times New Roman"/>
                  </a:rPr>
                  <a:t>μ</a:t>
                </a:r>
                <a:r>
                  <a:rPr lang="es-CR" dirty="0" smtClean="0"/>
                  <a:t>.</a:t>
                </a:r>
                <a:endParaRPr lang="es-CR" b="1" dirty="0" smtClean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endParaRPr lang="es-CR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51520" y="836712"/>
                <a:ext cx="7772400" cy="6021288"/>
              </a:xfrm>
              <a:blipFill rotWithShape="1">
                <a:blip r:embed="rId2"/>
                <a:stretch>
                  <a:fillRect l="-1333" t="-810" r="-149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2008" y="-27384"/>
            <a:ext cx="9036496" cy="792088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Interpretación de los intervalos de confianza</a:t>
            </a:r>
            <a:endParaRPr lang="es-CR" dirty="0"/>
          </a:p>
        </p:txBody>
      </p:sp>
      <p:pic>
        <p:nvPicPr>
          <p:cNvPr id="3074" name="Picture 2" descr="http://thumb1.shutterstock.com/display_pic_with_logo/495346/232580698/stock-photo-probability-word-cloud-concept-232580698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62" b="30269"/>
          <a:stretch/>
        </p:blipFill>
        <p:spPr bwMode="auto">
          <a:xfrm>
            <a:off x="911622" y="2924944"/>
            <a:ext cx="3404419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mornarius.files.wordpress.com/2011/04/understand.gif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3"/>
          <a:stretch/>
        </p:blipFill>
        <p:spPr bwMode="auto">
          <a:xfrm>
            <a:off x="5868144" y="2739346"/>
            <a:ext cx="1512168" cy="17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025830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864096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Nivel de confianza y tamaño del intervalo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44016" y="1268760"/>
            <a:ext cx="7772400" cy="5256584"/>
          </a:xfrm>
        </p:spPr>
        <p:txBody>
          <a:bodyPr/>
          <a:lstStyle/>
          <a:p>
            <a:pPr marL="0" indent="0" algn="ctr">
              <a:buNone/>
            </a:pPr>
            <a:r>
              <a:rPr lang="es-CR" dirty="0" smtClean="0"/>
              <a:t>¿Cuándo se cambia el nivel de confianza, el intervalo  es más grande o más pequeño?</a:t>
            </a:r>
            <a:endParaRPr lang="es-CR" dirty="0"/>
          </a:p>
        </p:txBody>
      </p:sp>
      <p:pic>
        <p:nvPicPr>
          <p:cNvPr id="4" name="Picture 2" descr="https://elblogdeltaller.files.wordpress.com/2012/05/dud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636912"/>
            <a:ext cx="2402426" cy="365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://1.bp.blogspot.com/-aRWPfV2qUf4/U9olH7vErKI/AAAAAAAABNs/QV-k1B9h0Qc/s1600/stick_figure_question_mark_1600_clr_7059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852936"/>
            <a:ext cx="3214046" cy="369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2372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www2.cedarcrest.edu/academic/bio/hale/biostat/session17links/normal95trim_CL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40768"/>
            <a:ext cx="7128792" cy="5143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179512" y="44624"/>
            <a:ext cx="8784976" cy="864096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Nivel de confianza y tamaño del intervalo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1856612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7858180" cy="928670"/>
          </a:xfrm>
        </p:spPr>
        <p:txBody>
          <a:bodyPr>
            <a:normAutofit/>
          </a:bodyPr>
          <a:lstStyle/>
          <a:p>
            <a:pPr algn="ctr"/>
            <a:r>
              <a:rPr lang="es-CR" sz="4800" dirty="0" smtClean="0"/>
              <a:t>Reseñas finales</a:t>
            </a:r>
            <a:endParaRPr lang="es-CR" sz="48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142984"/>
            <a:ext cx="6085910" cy="5357850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dirty="0" smtClean="0"/>
              <a:t>La utilidad de la estimación por intervalos se utiliza en todos los campos en donde se aplica la estadística.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En general, está es la técnica más utilizada.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El conocer un rango de valores que podría tener cierto parámetro es de gran utilidad, ya que no siempre se puede der del todo preciso.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Gran parte de la teoría de probabilidades, la curva normal y la estandarización residen en la estimación por intervalos.</a:t>
            </a:r>
            <a:endParaRPr lang="es-CR" dirty="0"/>
          </a:p>
        </p:txBody>
      </p:sp>
      <p:pic>
        <p:nvPicPr>
          <p:cNvPr id="1026" name="Picture 2" descr="http://www.acphospitalist.org/archives/2009/03/discharge_l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979" y="1052736"/>
            <a:ext cx="2295847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montereywealth.org/wp-content/uploads/2012/03/Summary-Plan-Description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7" r="16285"/>
          <a:stretch/>
        </p:blipFill>
        <p:spPr bwMode="auto">
          <a:xfrm>
            <a:off x="6766499" y="4149080"/>
            <a:ext cx="1902806" cy="2048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50178" name="Picture 2" descr="http://www.zemos98.org/festivales/zemos987/fotogramas/the%20end%20(short%20version)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0"/>
            <a:ext cx="9144000" cy="6858022"/>
          </a:xfrm>
          <a:prstGeom prst="rect">
            <a:avLst/>
          </a:prstGeom>
          <a:noFill/>
        </p:spPr>
      </p:pic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dad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dad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dad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1587</TotalTime>
  <Words>2690</Words>
  <Application>Microsoft Office PowerPoint</Application>
  <PresentationFormat>Presentación en pantalla (4:3)</PresentationFormat>
  <Paragraphs>366</Paragraphs>
  <Slides>50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1" baseType="lpstr">
      <vt:lpstr>Equidad</vt:lpstr>
      <vt:lpstr>Estimación</vt:lpstr>
      <vt:lpstr>Índice</vt:lpstr>
      <vt:lpstr>Índice</vt:lpstr>
      <vt:lpstr>Introducción</vt:lpstr>
      <vt:lpstr>Introducción</vt:lpstr>
      <vt:lpstr>Introducción</vt:lpstr>
      <vt:lpstr>Introducción</vt:lpstr>
      <vt:lpstr>Introducción</vt:lpstr>
      <vt:lpstr>Índice</vt:lpstr>
      <vt:lpstr>Características de la muestra</vt:lpstr>
      <vt:lpstr>Características de la muestra</vt:lpstr>
      <vt:lpstr>El error asociado a la muestra</vt:lpstr>
      <vt:lpstr>El error asociado a la muestra</vt:lpstr>
      <vt:lpstr>Muestra no aleatorio o al azar</vt:lpstr>
      <vt:lpstr>Muestra no aleatorio o al azar</vt:lpstr>
      <vt:lpstr>Índice</vt:lpstr>
      <vt:lpstr>Inferencia estadística</vt:lpstr>
      <vt:lpstr>Inferencia estadística</vt:lpstr>
      <vt:lpstr>Parámetros y Estimadores</vt:lpstr>
      <vt:lpstr>Parámetros y Estimadores</vt:lpstr>
      <vt:lpstr>Parámetros y Estimadores</vt:lpstr>
      <vt:lpstr>Parámetros y Estimadores</vt:lpstr>
      <vt:lpstr>Índice</vt:lpstr>
      <vt:lpstr>Estimación puntual del parámetro µ </vt:lpstr>
      <vt:lpstr>Estimación puntual del parámetro µ </vt:lpstr>
      <vt:lpstr>Estimación puntual del parámetro µ </vt:lpstr>
      <vt:lpstr>Estimación puntual del parámetro µ </vt:lpstr>
      <vt:lpstr>Estimación puntual del parámetro µ </vt:lpstr>
      <vt:lpstr>Índice</vt:lpstr>
      <vt:lpstr>Límites de confianza para µ </vt:lpstr>
      <vt:lpstr>Límites de confianza para µ </vt:lpstr>
      <vt:lpstr>Límites de confianza para µ </vt:lpstr>
      <vt:lpstr>Límites de confianza para µ </vt:lpstr>
      <vt:lpstr>Límites de confianza para µ </vt:lpstr>
      <vt:lpstr>Presentación de PowerPoint</vt:lpstr>
      <vt:lpstr>Límites de confianza para µ </vt:lpstr>
      <vt:lpstr>Límites de confianza para µ </vt:lpstr>
      <vt:lpstr>Límites de confianza para µ </vt:lpstr>
      <vt:lpstr>Ejemplo de estimación por intervalos</vt:lpstr>
      <vt:lpstr>Ejemplo de estimación por intervalos</vt:lpstr>
      <vt:lpstr>Ejemplo de estimación por intervalos</vt:lpstr>
      <vt:lpstr>Ejercicios…</vt:lpstr>
      <vt:lpstr>Índice</vt:lpstr>
      <vt:lpstr>Interpretación de los intervalos de confianza</vt:lpstr>
      <vt:lpstr>Interpretación de los intervalos de confianza</vt:lpstr>
      <vt:lpstr>Interpretación de los intervalos de confianza</vt:lpstr>
      <vt:lpstr>Nivel de confianza y tamaño del intervalo</vt:lpstr>
      <vt:lpstr>Nivel de confianza y tamaño del intervalo</vt:lpstr>
      <vt:lpstr>Reseñas finales</vt:lpstr>
      <vt:lpstr>Presentación de PowerPoint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Estimación</dc:title>
  <dc:creator>Oscar</dc:creator>
  <cp:lastModifiedBy>Oscar</cp:lastModifiedBy>
  <cp:revision>114</cp:revision>
  <dcterms:created xsi:type="dcterms:W3CDTF">2010-04-01T03:49:47Z</dcterms:created>
  <dcterms:modified xsi:type="dcterms:W3CDTF">2016-05-26T01:19:32Z</dcterms:modified>
</cp:coreProperties>
</file>