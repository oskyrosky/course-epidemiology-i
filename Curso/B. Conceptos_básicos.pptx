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3" r:id="rId3"/>
    <p:sldId id="294" r:id="rId4"/>
    <p:sldId id="258" r:id="rId5"/>
    <p:sldId id="259" r:id="rId6"/>
    <p:sldId id="295" r:id="rId7"/>
    <p:sldId id="262" r:id="rId8"/>
    <p:sldId id="260" r:id="rId9"/>
    <p:sldId id="261" r:id="rId10"/>
    <p:sldId id="296" r:id="rId11"/>
    <p:sldId id="263" r:id="rId12"/>
    <p:sldId id="292" r:id="rId13"/>
    <p:sldId id="297" r:id="rId14"/>
    <p:sldId id="282" r:id="rId15"/>
    <p:sldId id="283" r:id="rId16"/>
    <p:sldId id="284" r:id="rId17"/>
    <p:sldId id="285" r:id="rId18"/>
    <p:sldId id="286" r:id="rId19"/>
    <p:sldId id="287" r:id="rId20"/>
    <p:sldId id="288" r:id="rId21"/>
    <p:sldId id="289" r:id="rId22"/>
    <p:sldId id="290" r:id="rId23"/>
    <p:sldId id="291" r:id="rId24"/>
    <p:sldId id="298" r:id="rId25"/>
    <p:sldId id="303" r:id="rId26"/>
    <p:sldId id="305" r:id="rId27"/>
    <p:sldId id="300" r:id="rId28"/>
    <p:sldId id="301" r:id="rId29"/>
    <p:sldId id="302" r:id="rId30"/>
    <p:sldId id="304" r:id="rId31"/>
    <p:sldId id="299" r:id="rId32"/>
    <p:sldId id="278"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81" r:id="rId46"/>
    <p:sldId id="279" r:id="rId47"/>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1761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17" name="16 Marcador de pie de página"/>
          <p:cNvSpPr>
            <a:spLocks noGrp="1"/>
          </p:cNvSpPr>
          <p:nvPr>
            <p:ph type="ftr" sz="quarter" idx="11"/>
          </p:nvPr>
        </p:nvSpPr>
        <p:spPr/>
        <p:txBody>
          <a:bodyPr/>
          <a:lstStyle/>
          <a:p>
            <a:endParaRPr lang="es-E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5" name="4 Marcador de pie de página"/>
          <p:cNvSpPr>
            <a:spLocks noGrp="1"/>
          </p:cNvSpPr>
          <p:nvPr>
            <p:ph type="ftr" sz="quarter" idx="11"/>
          </p:nvPr>
        </p:nvSpPr>
        <p:spPr>
          <a:xfrm>
            <a:off x="800100" y="6172200"/>
            <a:ext cx="4000500" cy="457200"/>
          </a:xfrm>
        </p:spPr>
        <p:txBody>
          <a:bodyPr/>
          <a:lstStyle/>
          <a:p>
            <a:endParaRPr lang="es-E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6" name="5 Marcador de pie de página"/>
          <p:cNvSpPr>
            <a:spLocks noGrp="1"/>
          </p:cNvSpPr>
          <p:nvPr>
            <p:ph type="ftr" sz="quarter" idx="11"/>
          </p:nvPr>
        </p:nvSpPr>
        <p:spPr>
          <a:xfrm>
            <a:off x="914400" y="6172200"/>
            <a:ext cx="3886200" cy="457200"/>
          </a:xfrm>
        </p:spPr>
        <p:txBody>
          <a:bodyPr/>
          <a:lstStyle/>
          <a:p>
            <a:endParaRPr lang="es-ES"/>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10/05/2016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10/05/2016</a:t>
            </a:fld>
            <a:endParaRPr lang="es-E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gif"/><Relationship Id="rId1" Type="http://schemas.openxmlformats.org/officeDocument/2006/relationships/slideLayout" Target="../slideLayouts/slideLayout2.xml"/><Relationship Id="rId6" Type="http://schemas.openxmlformats.org/officeDocument/2006/relationships/image" Target="../media/image26.gif"/><Relationship Id="rId5" Type="http://schemas.openxmlformats.org/officeDocument/2006/relationships/image" Target="../media/image25.jpeg"/><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image" Target="../media/image64.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611560" y="1519624"/>
            <a:ext cx="7920880" cy="1477328"/>
          </a:xfrm>
          <a:prstGeom prst="rect">
            <a:avLst/>
          </a:prstGeom>
          <a:noFill/>
        </p:spPr>
        <p:txBody>
          <a:bodyPr wrap="square" rtlCol="0">
            <a:spAutoFit/>
          </a:bodyPr>
          <a:lstStyle/>
          <a:p>
            <a:pPr algn="ctr"/>
            <a:r>
              <a:rPr lang="es-CR" sz="7200" dirty="0" smtClean="0">
                <a:solidFill>
                  <a:schemeClr val="bg1"/>
                </a:solidFill>
              </a:rPr>
              <a:t>Conceptos básicos</a:t>
            </a:r>
          </a:p>
          <a:p>
            <a:endParaRPr lang="es-CR" dirty="0" smtClean="0"/>
          </a:p>
        </p:txBody>
      </p:sp>
      <p:sp>
        <p:nvSpPr>
          <p:cNvPr id="5" name="4 CuadroTexto"/>
          <p:cNvSpPr txBox="1"/>
          <p:nvPr/>
        </p:nvSpPr>
        <p:spPr>
          <a:xfrm>
            <a:off x="3347864" y="5733256"/>
            <a:ext cx="5472608" cy="830997"/>
          </a:xfrm>
          <a:prstGeom prst="rect">
            <a:avLst/>
          </a:prstGeom>
          <a:noFill/>
        </p:spPr>
        <p:txBody>
          <a:bodyPr wrap="square" rtlCol="0">
            <a:spAutoFit/>
          </a:bodyPr>
          <a:lstStyle/>
          <a:p>
            <a:r>
              <a:rPr lang="es-CR" sz="4800" dirty="0" smtClean="0"/>
              <a:t>Oscar Centeno Mora</a:t>
            </a:r>
            <a:endParaRPr lang="es-CR" sz="4800"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5576" y="260648"/>
            <a:ext cx="7772400" cy="922114"/>
          </a:xfrm>
        </p:spPr>
        <p:txBody>
          <a:bodyPr/>
          <a:lstStyle/>
          <a:p>
            <a:pPr algn="ctr"/>
            <a:r>
              <a:rPr lang="es-CR" dirty="0" smtClean="0"/>
              <a:t>Índice</a:t>
            </a:r>
            <a:endParaRPr lang="es-ES" dirty="0"/>
          </a:p>
        </p:txBody>
      </p:sp>
      <p:sp>
        <p:nvSpPr>
          <p:cNvPr id="4" name="Elipse 3"/>
          <p:cNvSpPr/>
          <p:nvPr/>
        </p:nvSpPr>
        <p:spPr>
          <a:xfrm>
            <a:off x="755576"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755576"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755576" y="544522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4860032"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8" name="Rectángulo redondeado 7"/>
          <p:cNvSpPr/>
          <p:nvPr/>
        </p:nvSpPr>
        <p:spPr>
          <a:xfrm>
            <a:off x="2051720"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Definición de Estadística</a:t>
            </a:r>
            <a:endParaRPr lang="es-ES" dirty="0"/>
          </a:p>
        </p:txBody>
      </p:sp>
      <p:sp>
        <p:nvSpPr>
          <p:cNvPr id="9" name="Rectángulo redondeado 8"/>
          <p:cNvSpPr/>
          <p:nvPr/>
        </p:nvSpPr>
        <p:spPr>
          <a:xfrm>
            <a:off x="2051720"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Historia de la Estadística</a:t>
            </a:r>
            <a:endParaRPr lang="es-ES" dirty="0"/>
          </a:p>
        </p:txBody>
      </p:sp>
      <p:sp>
        <p:nvSpPr>
          <p:cNvPr id="10" name="Rectángulo redondeado 9"/>
          <p:cNvSpPr/>
          <p:nvPr/>
        </p:nvSpPr>
        <p:spPr>
          <a:xfrm>
            <a:off x="2051720" y="5445224"/>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Áreas de la Estadística</a:t>
            </a:r>
            <a:endParaRPr lang="es-ES" dirty="0"/>
          </a:p>
        </p:txBody>
      </p:sp>
      <p:sp>
        <p:nvSpPr>
          <p:cNvPr id="11" name="Rectángulo redondeado 10"/>
          <p:cNvSpPr/>
          <p:nvPr/>
        </p:nvSpPr>
        <p:spPr>
          <a:xfrm>
            <a:off x="6156176"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División de la Estadística</a:t>
            </a:r>
            <a:endParaRPr lang="es-ES" dirty="0"/>
          </a:p>
        </p:txBody>
      </p:sp>
      <p:sp>
        <p:nvSpPr>
          <p:cNvPr id="12" name="Elipse 11"/>
          <p:cNvSpPr/>
          <p:nvPr/>
        </p:nvSpPr>
        <p:spPr>
          <a:xfrm>
            <a:off x="4860032"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endParaRPr lang="es-ES" dirty="0"/>
          </a:p>
        </p:txBody>
      </p:sp>
      <p:sp>
        <p:nvSpPr>
          <p:cNvPr id="13" name="Rectángulo redondeado 12"/>
          <p:cNvSpPr/>
          <p:nvPr/>
        </p:nvSpPr>
        <p:spPr>
          <a:xfrm>
            <a:off x="6156176"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estadística en la actualidad</a:t>
            </a:r>
            <a:endParaRPr lang="es-ES" dirty="0"/>
          </a:p>
        </p:txBody>
      </p:sp>
      <p:sp>
        <p:nvSpPr>
          <p:cNvPr id="14" name="Elipse 13"/>
          <p:cNvSpPr/>
          <p:nvPr/>
        </p:nvSpPr>
        <p:spPr>
          <a:xfrm>
            <a:off x="4932040" y="544522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6</a:t>
            </a:r>
            <a:endParaRPr lang="es-ES" dirty="0"/>
          </a:p>
        </p:txBody>
      </p:sp>
      <p:sp>
        <p:nvSpPr>
          <p:cNvPr id="15" name="Rectángulo redondeado 14"/>
          <p:cNvSpPr/>
          <p:nvPr/>
        </p:nvSpPr>
        <p:spPr>
          <a:xfrm>
            <a:off x="6156176" y="5446814"/>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Conceptos básicos</a:t>
            </a:r>
            <a:endParaRPr lang="es-ES" dirty="0"/>
          </a:p>
        </p:txBody>
      </p:sp>
    </p:spTree>
    <p:extLst>
      <p:ext uri="{BB962C8B-B14F-4D97-AF65-F5344CB8AC3E}">
        <p14:creationId xmlns:p14="http://schemas.microsoft.com/office/powerpoint/2010/main" val="2953292674"/>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5576" y="260648"/>
            <a:ext cx="7772400" cy="922114"/>
          </a:xfrm>
        </p:spPr>
        <p:txBody>
          <a:bodyPr/>
          <a:lstStyle/>
          <a:p>
            <a:pPr algn="ctr"/>
            <a:r>
              <a:rPr lang="es-CR" dirty="0" smtClean="0"/>
              <a:t>Índice</a:t>
            </a:r>
            <a:endParaRPr lang="es-ES" dirty="0"/>
          </a:p>
        </p:txBody>
      </p:sp>
      <p:sp>
        <p:nvSpPr>
          <p:cNvPr id="4" name="Elipse 3"/>
          <p:cNvSpPr/>
          <p:nvPr/>
        </p:nvSpPr>
        <p:spPr>
          <a:xfrm>
            <a:off x="755576"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8" name="Rectángulo redondeado 7"/>
          <p:cNvSpPr/>
          <p:nvPr/>
        </p:nvSpPr>
        <p:spPr>
          <a:xfrm>
            <a:off x="2051720"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Definición de Estadística</a:t>
            </a:r>
            <a:endParaRPr lang="es-ES" dirty="0"/>
          </a:p>
        </p:txBody>
      </p:sp>
    </p:spTree>
    <p:extLst>
      <p:ext uri="{BB962C8B-B14F-4D97-AF65-F5344CB8AC3E}">
        <p14:creationId xmlns:p14="http://schemas.microsoft.com/office/powerpoint/2010/main" val="3205910470"/>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640960" cy="908720"/>
          </a:xfrm>
        </p:spPr>
        <p:txBody>
          <a:bodyPr/>
          <a:lstStyle/>
          <a:p>
            <a:pPr algn="ctr"/>
            <a:r>
              <a:rPr lang="es-CR" dirty="0" smtClean="0"/>
              <a:t>¿Qué es la Estadística?</a:t>
            </a:r>
            <a:endParaRPr lang="es-CR" dirty="0"/>
          </a:p>
        </p:txBody>
      </p:sp>
      <p:sp>
        <p:nvSpPr>
          <p:cNvPr id="3" name="2 Marcador de contenido"/>
          <p:cNvSpPr>
            <a:spLocks noGrp="1"/>
          </p:cNvSpPr>
          <p:nvPr>
            <p:ph sz="quarter" idx="1"/>
          </p:nvPr>
        </p:nvSpPr>
        <p:spPr>
          <a:xfrm>
            <a:off x="251520" y="1052736"/>
            <a:ext cx="6120680" cy="5328592"/>
          </a:xfrm>
        </p:spPr>
        <p:txBody>
          <a:bodyPr>
            <a:normAutofit/>
          </a:bodyPr>
          <a:lstStyle/>
          <a:p>
            <a:pPr algn="just"/>
            <a:r>
              <a:rPr lang="es-CR" sz="2400" dirty="0" smtClean="0"/>
              <a:t>La definición de </a:t>
            </a:r>
            <a:r>
              <a:rPr lang="es-CR" sz="2400" i="1" dirty="0" smtClean="0"/>
              <a:t>Estadística</a:t>
            </a:r>
            <a:r>
              <a:rPr lang="es-CR" sz="2400" dirty="0" smtClean="0"/>
              <a:t> se suele confundir muchas veces con lo que se entiende por “datos estadísticos”.</a:t>
            </a:r>
          </a:p>
          <a:p>
            <a:pPr algn="just"/>
            <a:endParaRPr lang="es-CR" sz="2400" dirty="0" smtClean="0"/>
          </a:p>
          <a:p>
            <a:pPr algn="just"/>
            <a:r>
              <a:rPr lang="es-CR" sz="2400" dirty="0" smtClean="0"/>
              <a:t>La palabra </a:t>
            </a:r>
            <a:r>
              <a:rPr lang="es-CR" sz="2400" i="1" dirty="0" smtClean="0"/>
              <a:t>Estadística</a:t>
            </a:r>
            <a:r>
              <a:rPr lang="es-CR" sz="2400" dirty="0" smtClean="0"/>
              <a:t> es utilizada en varios sentidos en el habla cotidiano.</a:t>
            </a:r>
          </a:p>
          <a:p>
            <a:pPr algn="just"/>
            <a:endParaRPr lang="es-CR" sz="2400" dirty="0" smtClean="0"/>
          </a:p>
          <a:p>
            <a:pPr algn="just"/>
            <a:r>
              <a:rPr lang="es-CR" sz="2400" dirty="0" smtClean="0"/>
              <a:t>Aún los propios estadísticos al definir su propia disciplina tienen  ciertos problemas, ya que ponen de relieve unos aspectos más que otros, lo cual parece que muchas veces la definición no sea tan clara.</a:t>
            </a:r>
            <a:endParaRPr lang="es-CR" sz="2400" dirty="0"/>
          </a:p>
        </p:txBody>
      </p:sp>
      <p:pic>
        <p:nvPicPr>
          <p:cNvPr id="21506" name="Picture 2" descr="http://www.ramontarrio.com/index_archivos/colegio_archivos/canciones_archivos/question.gif"/>
          <p:cNvPicPr>
            <a:picLocks noChangeAspect="1" noChangeArrowheads="1"/>
          </p:cNvPicPr>
          <p:nvPr/>
        </p:nvPicPr>
        <p:blipFill>
          <a:blip r:embed="rId2" cstate="print"/>
          <a:srcRect/>
          <a:stretch>
            <a:fillRect/>
          </a:stretch>
        </p:blipFill>
        <p:spPr bwMode="auto">
          <a:xfrm>
            <a:off x="6660232" y="1124744"/>
            <a:ext cx="2183636" cy="2016224"/>
          </a:xfrm>
          <a:prstGeom prst="rect">
            <a:avLst/>
          </a:prstGeom>
          <a:noFill/>
        </p:spPr>
      </p:pic>
      <p:pic>
        <p:nvPicPr>
          <p:cNvPr id="21508" name="Picture 4" descr="http://www.bakkersdrivingschool.com/images/yellow_sign.png"/>
          <p:cNvPicPr>
            <a:picLocks noChangeAspect="1" noChangeArrowheads="1"/>
          </p:cNvPicPr>
          <p:nvPr/>
        </p:nvPicPr>
        <p:blipFill>
          <a:blip r:embed="rId3" cstate="print"/>
          <a:srcRect/>
          <a:stretch>
            <a:fillRect/>
          </a:stretch>
        </p:blipFill>
        <p:spPr bwMode="auto">
          <a:xfrm>
            <a:off x="6767736" y="3717032"/>
            <a:ext cx="2376264" cy="2376264"/>
          </a:xfrm>
          <a:prstGeom prst="rect">
            <a:avLst/>
          </a:prstGeom>
          <a:noFill/>
        </p:spPr>
      </p:pic>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980728"/>
            <a:ext cx="6048672" cy="5472608"/>
          </a:xfrm>
        </p:spPr>
        <p:txBody>
          <a:bodyPr>
            <a:normAutofit/>
          </a:bodyPr>
          <a:lstStyle/>
          <a:p>
            <a:pPr algn="just"/>
            <a:r>
              <a:rPr lang="es-CR" sz="2400" dirty="0" smtClean="0"/>
              <a:t>La estadística no es simplemente un conjunto de datos estadísticos, ni está interesada solamente en recolectar información, resumirlos y presentarlos.</a:t>
            </a:r>
          </a:p>
          <a:p>
            <a:pPr algn="just"/>
            <a:endParaRPr lang="es-CR" sz="2400" dirty="0" smtClean="0"/>
          </a:p>
          <a:p>
            <a:pPr algn="just"/>
            <a:r>
              <a:rPr lang="es-CR" sz="2400" dirty="0" smtClean="0"/>
              <a:t>Por ahora brindaremos la siguiente definición de </a:t>
            </a:r>
            <a:r>
              <a:rPr lang="es-CR" sz="2400" i="1" dirty="0" smtClean="0"/>
              <a:t>Estadística</a:t>
            </a:r>
            <a:r>
              <a:rPr lang="es-CR" sz="2400" dirty="0" smtClean="0"/>
              <a:t>: </a:t>
            </a:r>
          </a:p>
          <a:p>
            <a:pPr algn="just"/>
            <a:endParaRPr lang="es-CR" sz="2400" dirty="0" smtClean="0"/>
          </a:p>
          <a:p>
            <a:pPr algn="just">
              <a:buNone/>
            </a:pPr>
            <a:r>
              <a:rPr lang="es-CR" sz="2400" dirty="0" smtClean="0"/>
              <a:t>“Es la disciplina científica dedicada al desarrollo y aplicación de la teoría y técnicas apropiadas para la recolección, clasificación, presentación, análisis e interpretación de información cuantitativa, obtenida por muestreo, observación o experimentación” (Gómez, M.) </a:t>
            </a:r>
            <a:endParaRPr lang="es-CR" sz="2400" dirty="0"/>
          </a:p>
        </p:txBody>
      </p:sp>
      <p:sp>
        <p:nvSpPr>
          <p:cNvPr id="4" name="1 Título"/>
          <p:cNvSpPr>
            <a:spLocks noGrp="1"/>
          </p:cNvSpPr>
          <p:nvPr>
            <p:ph type="title"/>
          </p:nvPr>
        </p:nvSpPr>
        <p:spPr>
          <a:xfrm>
            <a:off x="251520" y="0"/>
            <a:ext cx="8640960" cy="908720"/>
          </a:xfrm>
        </p:spPr>
        <p:txBody>
          <a:bodyPr/>
          <a:lstStyle/>
          <a:p>
            <a:pPr algn="ctr"/>
            <a:r>
              <a:rPr lang="es-CR" dirty="0" smtClean="0"/>
              <a:t>¿Qué es la Estadística?</a:t>
            </a:r>
            <a:endParaRPr lang="es-CR" dirty="0"/>
          </a:p>
        </p:txBody>
      </p:sp>
      <p:pic>
        <p:nvPicPr>
          <p:cNvPr id="20482" name="Picture 2" descr="http://www.uttyler.edu/faculty/jplacyk/images/statistics.jpg"/>
          <p:cNvPicPr>
            <a:picLocks noChangeAspect="1" noChangeArrowheads="1"/>
          </p:cNvPicPr>
          <p:nvPr/>
        </p:nvPicPr>
        <p:blipFill>
          <a:blip r:embed="rId2" cstate="print"/>
          <a:srcRect/>
          <a:stretch>
            <a:fillRect/>
          </a:stretch>
        </p:blipFill>
        <p:spPr bwMode="auto">
          <a:xfrm>
            <a:off x="6588224" y="980728"/>
            <a:ext cx="2354574" cy="1872208"/>
          </a:xfrm>
          <a:prstGeom prst="rect">
            <a:avLst/>
          </a:prstGeom>
          <a:noFill/>
        </p:spPr>
      </p:pic>
      <p:pic>
        <p:nvPicPr>
          <p:cNvPr id="20484" name="Picture 4" descr="http://freelanceswitch.com/wp-content/uploads/2008/02/statistics_p2.jpg"/>
          <p:cNvPicPr>
            <a:picLocks noChangeAspect="1" noChangeArrowheads="1"/>
          </p:cNvPicPr>
          <p:nvPr/>
        </p:nvPicPr>
        <p:blipFill>
          <a:blip r:embed="rId3" cstate="print"/>
          <a:srcRect/>
          <a:stretch>
            <a:fillRect/>
          </a:stretch>
        </p:blipFill>
        <p:spPr bwMode="auto">
          <a:xfrm>
            <a:off x="6444208" y="3212976"/>
            <a:ext cx="2328597" cy="324036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5576" y="260648"/>
            <a:ext cx="7772400" cy="922114"/>
          </a:xfrm>
        </p:spPr>
        <p:txBody>
          <a:bodyPr/>
          <a:lstStyle/>
          <a:p>
            <a:pPr algn="ctr"/>
            <a:r>
              <a:rPr lang="es-CR" dirty="0" smtClean="0"/>
              <a:t>Índice</a:t>
            </a:r>
            <a:endParaRPr lang="es-ES" dirty="0"/>
          </a:p>
        </p:txBody>
      </p:sp>
      <p:sp>
        <p:nvSpPr>
          <p:cNvPr id="4" name="Elipse 3"/>
          <p:cNvSpPr/>
          <p:nvPr/>
        </p:nvSpPr>
        <p:spPr>
          <a:xfrm>
            <a:off x="755576"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755576"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8" name="Rectángulo redondeado 7"/>
          <p:cNvSpPr/>
          <p:nvPr/>
        </p:nvSpPr>
        <p:spPr>
          <a:xfrm>
            <a:off x="2051720"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Definición de Estadística</a:t>
            </a:r>
            <a:endParaRPr lang="es-ES" dirty="0"/>
          </a:p>
        </p:txBody>
      </p:sp>
      <p:sp>
        <p:nvSpPr>
          <p:cNvPr id="9" name="Rectángulo redondeado 8"/>
          <p:cNvSpPr/>
          <p:nvPr/>
        </p:nvSpPr>
        <p:spPr>
          <a:xfrm>
            <a:off x="2051720"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Historia de la Estadística</a:t>
            </a:r>
            <a:endParaRPr lang="es-ES" dirty="0"/>
          </a:p>
        </p:txBody>
      </p:sp>
    </p:spTree>
    <p:extLst>
      <p:ext uri="{BB962C8B-B14F-4D97-AF65-F5344CB8AC3E}">
        <p14:creationId xmlns:p14="http://schemas.microsoft.com/office/powerpoint/2010/main" val="2032235400"/>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0" y="836712"/>
            <a:ext cx="6516216" cy="6021288"/>
          </a:xfrm>
        </p:spPr>
        <p:txBody>
          <a:bodyPr>
            <a:normAutofit fontScale="92500" lnSpcReduction="10000"/>
          </a:bodyPr>
          <a:lstStyle/>
          <a:p>
            <a:pPr algn="just"/>
            <a:r>
              <a:rPr lang="es-CR" dirty="0" smtClean="0"/>
              <a:t>Inicia en el antiguo Egipto (3050 </a:t>
            </a:r>
            <a:r>
              <a:rPr lang="es-CR" dirty="0" err="1" smtClean="0"/>
              <a:t>a.J.C</a:t>
            </a:r>
            <a:r>
              <a:rPr lang="es-CR" dirty="0" smtClean="0"/>
              <a:t>), con recopilación de datos a la población.</a:t>
            </a:r>
          </a:p>
          <a:p>
            <a:pPr algn="just"/>
            <a:endParaRPr lang="es-CR" dirty="0" smtClean="0"/>
          </a:p>
          <a:p>
            <a:pPr algn="just"/>
            <a:r>
              <a:rPr lang="es-CR" dirty="0" smtClean="0"/>
              <a:t>En la Biblia se habla sobre la Estadística.</a:t>
            </a:r>
          </a:p>
          <a:p>
            <a:pPr algn="just"/>
            <a:endParaRPr lang="es-CR" dirty="0" smtClean="0"/>
          </a:p>
          <a:p>
            <a:pPr algn="just"/>
            <a:r>
              <a:rPr lang="es-CR" dirty="0" smtClean="0"/>
              <a:t>Los chinos efectuaron censos hace más de 30 siglos atrás, al igual que los griegos, los cuales tenían fines tributarios, sociales y militares.</a:t>
            </a:r>
          </a:p>
          <a:p>
            <a:pPr algn="just"/>
            <a:endParaRPr lang="es-CR" dirty="0" smtClean="0"/>
          </a:p>
          <a:p>
            <a:pPr algn="just"/>
            <a:r>
              <a:rPr lang="es-CR" dirty="0" smtClean="0"/>
              <a:t>Fueron los romanos quienes mejor supieron emplear los recursos y técnicas en la recopilación de estadísticas.</a:t>
            </a:r>
          </a:p>
          <a:p>
            <a:pPr algn="just"/>
            <a:endParaRPr lang="es-CR" dirty="0" smtClean="0"/>
          </a:p>
          <a:p>
            <a:pPr algn="just"/>
            <a:r>
              <a:rPr lang="es-CR" dirty="0" smtClean="0"/>
              <a:t>Los mil años siguientes de la caída del imperio romano,  fueron una época oscura para la Estadística. </a:t>
            </a:r>
            <a:endParaRPr lang="es-CR" dirty="0"/>
          </a:p>
        </p:txBody>
      </p:sp>
      <p:sp>
        <p:nvSpPr>
          <p:cNvPr id="4" name="1 Título"/>
          <p:cNvSpPr>
            <a:spLocks noGrp="1"/>
          </p:cNvSpPr>
          <p:nvPr>
            <p:ph type="title"/>
          </p:nvPr>
        </p:nvSpPr>
        <p:spPr>
          <a:xfrm>
            <a:off x="323528" y="0"/>
            <a:ext cx="8424936" cy="764704"/>
          </a:xfrm>
        </p:spPr>
        <p:txBody>
          <a:bodyPr/>
          <a:lstStyle/>
          <a:p>
            <a:pPr algn="ctr"/>
            <a:r>
              <a:rPr lang="es-CR" dirty="0" smtClean="0"/>
              <a:t>Historia de la Estadística</a:t>
            </a:r>
            <a:endParaRPr lang="es-CR" dirty="0"/>
          </a:p>
        </p:txBody>
      </p:sp>
      <p:pic>
        <p:nvPicPr>
          <p:cNvPr id="19458" name="Picture 2" descr="http://www.blogdeturismo.com/wp-content/uploads/2007/06/egipto-imperios-antiguo-y-medio.jpg"/>
          <p:cNvPicPr>
            <a:picLocks noChangeAspect="1" noChangeArrowheads="1"/>
          </p:cNvPicPr>
          <p:nvPr/>
        </p:nvPicPr>
        <p:blipFill>
          <a:blip r:embed="rId2" cstate="print"/>
          <a:srcRect/>
          <a:stretch>
            <a:fillRect/>
          </a:stretch>
        </p:blipFill>
        <p:spPr bwMode="auto">
          <a:xfrm>
            <a:off x="6732240" y="764704"/>
            <a:ext cx="2049806" cy="3312368"/>
          </a:xfrm>
          <a:prstGeom prst="rect">
            <a:avLst/>
          </a:prstGeom>
          <a:noFill/>
        </p:spPr>
      </p:pic>
      <p:pic>
        <p:nvPicPr>
          <p:cNvPr id="19460" name="Picture 4" descr="http://farm4.static.flickr.com/3001/2412430213_1bb9e17196_o_d.jpg"/>
          <p:cNvPicPr>
            <a:picLocks noChangeAspect="1" noChangeArrowheads="1"/>
          </p:cNvPicPr>
          <p:nvPr/>
        </p:nvPicPr>
        <p:blipFill>
          <a:blip r:embed="rId3" cstate="print"/>
          <a:srcRect/>
          <a:stretch>
            <a:fillRect/>
          </a:stretch>
        </p:blipFill>
        <p:spPr bwMode="auto">
          <a:xfrm>
            <a:off x="6660232" y="4221088"/>
            <a:ext cx="2160240" cy="2160240"/>
          </a:xfrm>
          <a:prstGeom prst="rect">
            <a:avLst/>
          </a:prstGeom>
          <a:noFill/>
        </p:spPr>
      </p:pic>
    </p:spTree>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0"/>
            <a:ext cx="8424936" cy="908720"/>
          </a:xfrm>
        </p:spPr>
        <p:txBody>
          <a:bodyPr/>
          <a:lstStyle/>
          <a:p>
            <a:pPr algn="ctr"/>
            <a:r>
              <a:rPr lang="es-CR" dirty="0" smtClean="0"/>
              <a:t>Historia de la Estadística</a:t>
            </a:r>
            <a:endParaRPr lang="es-CR" dirty="0"/>
          </a:p>
        </p:txBody>
      </p:sp>
      <p:sp>
        <p:nvSpPr>
          <p:cNvPr id="3" name="2 Marcador de contenido"/>
          <p:cNvSpPr>
            <a:spLocks noGrp="1"/>
          </p:cNvSpPr>
          <p:nvPr>
            <p:ph sz="quarter" idx="1"/>
          </p:nvPr>
        </p:nvSpPr>
        <p:spPr>
          <a:xfrm>
            <a:off x="179512" y="980728"/>
            <a:ext cx="6120680" cy="5877272"/>
          </a:xfrm>
        </p:spPr>
        <p:txBody>
          <a:bodyPr>
            <a:normAutofit/>
          </a:bodyPr>
          <a:lstStyle/>
          <a:p>
            <a:pPr algn="just"/>
            <a:r>
              <a:rPr lang="es-CR" sz="2400" dirty="0" smtClean="0"/>
              <a:t>Los métodos y técnicas Estadísticas permanecieron en el olvido durante la Edad Media.</a:t>
            </a:r>
          </a:p>
          <a:p>
            <a:pPr algn="just"/>
            <a:endParaRPr lang="es-CR" sz="2400" dirty="0" smtClean="0"/>
          </a:p>
          <a:p>
            <a:pPr algn="just"/>
            <a:r>
              <a:rPr lang="es-CR" sz="2400" dirty="0" smtClean="0"/>
              <a:t>Las estadísticas renacen nuevamente en 1532 en Inglaterra (registros de defunciones), debido al temor de Enrique VII sobre la peste.</a:t>
            </a:r>
          </a:p>
          <a:p>
            <a:pPr algn="just"/>
            <a:endParaRPr lang="es-CR" sz="2400" dirty="0" smtClean="0"/>
          </a:p>
          <a:p>
            <a:pPr algn="just"/>
            <a:r>
              <a:rPr lang="es-CR" sz="2400" dirty="0" smtClean="0"/>
              <a:t>En toda Europa (especialmente en Francia e Inglaterra), se crearon leyes que obligaban a registrar todas las estadística demográficas.</a:t>
            </a:r>
          </a:p>
          <a:p>
            <a:pPr algn="just"/>
            <a:endParaRPr lang="es-CR" sz="2400" dirty="0" smtClean="0"/>
          </a:p>
          <a:p>
            <a:pPr algn="just"/>
            <a:r>
              <a:rPr lang="es-CR" sz="2400" dirty="0" smtClean="0"/>
              <a:t>Eruditos del siglo XVII demostraron especial interés sobre las </a:t>
            </a:r>
            <a:r>
              <a:rPr lang="es-CR" sz="2400" dirty="0"/>
              <a:t>e</a:t>
            </a:r>
            <a:r>
              <a:rPr lang="es-CR" sz="2400" dirty="0" smtClean="0"/>
              <a:t>stadísticas demográficas.</a:t>
            </a:r>
            <a:endParaRPr lang="es-CR" sz="2400" dirty="0"/>
          </a:p>
        </p:txBody>
      </p:sp>
      <p:pic>
        <p:nvPicPr>
          <p:cNvPr id="18434" name="Picture 2" descr="http://www.holiday-apartment-tuscany.net/images/tuscany_travel_guide/florencia_edad_media.jpg"/>
          <p:cNvPicPr>
            <a:picLocks noChangeAspect="1" noChangeArrowheads="1"/>
          </p:cNvPicPr>
          <p:nvPr/>
        </p:nvPicPr>
        <p:blipFill>
          <a:blip r:embed="rId2" cstate="print"/>
          <a:srcRect/>
          <a:stretch>
            <a:fillRect/>
          </a:stretch>
        </p:blipFill>
        <p:spPr bwMode="auto">
          <a:xfrm>
            <a:off x="6588224" y="980729"/>
            <a:ext cx="2168699" cy="2736304"/>
          </a:xfrm>
          <a:prstGeom prst="rect">
            <a:avLst/>
          </a:prstGeom>
          <a:noFill/>
        </p:spPr>
      </p:pic>
      <p:pic>
        <p:nvPicPr>
          <p:cNvPr id="18436" name="Picture 4" descr="http://buho.blogia.com/upload/pensador.gif"/>
          <p:cNvPicPr>
            <a:picLocks noChangeAspect="1" noChangeArrowheads="1"/>
          </p:cNvPicPr>
          <p:nvPr/>
        </p:nvPicPr>
        <p:blipFill>
          <a:blip r:embed="rId3" cstate="print"/>
          <a:srcRect/>
          <a:stretch>
            <a:fillRect/>
          </a:stretch>
        </p:blipFill>
        <p:spPr bwMode="auto">
          <a:xfrm>
            <a:off x="6732240" y="3855194"/>
            <a:ext cx="2016224" cy="2814166"/>
          </a:xfrm>
          <a:prstGeom prst="rect">
            <a:avLst/>
          </a:prstGeom>
          <a:noFill/>
        </p:spPr>
      </p:pic>
    </p:spTree>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1124744"/>
            <a:ext cx="5832648" cy="5544616"/>
          </a:xfrm>
        </p:spPr>
        <p:txBody>
          <a:bodyPr>
            <a:normAutofit fontScale="92500" lnSpcReduction="20000"/>
          </a:bodyPr>
          <a:lstStyle/>
          <a:p>
            <a:pPr algn="just"/>
            <a:r>
              <a:rPr lang="es-CR" dirty="0" smtClean="0"/>
              <a:t>En el siglo XVII y principios del XVIII, los matemáticos de la época (</a:t>
            </a:r>
            <a:r>
              <a:rPr lang="es-CR" dirty="0" err="1" smtClean="0"/>
              <a:t>Bernouilli</a:t>
            </a:r>
            <a:r>
              <a:rPr lang="es-CR" dirty="0" smtClean="0"/>
              <a:t>, </a:t>
            </a:r>
            <a:r>
              <a:rPr lang="es-CR" dirty="0" err="1" smtClean="0"/>
              <a:t>Lagrange</a:t>
            </a:r>
            <a:r>
              <a:rPr lang="es-CR" dirty="0" smtClean="0"/>
              <a:t>, </a:t>
            </a:r>
            <a:r>
              <a:rPr lang="es-CR" dirty="0" err="1" smtClean="0"/>
              <a:t>Laplace</a:t>
            </a:r>
            <a:r>
              <a:rPr lang="es-CR" dirty="0" smtClean="0"/>
              <a:t>), desarrollan la teoría de probabilidades.</a:t>
            </a:r>
          </a:p>
          <a:p>
            <a:pPr algn="just"/>
            <a:endParaRPr lang="es-CR" dirty="0" smtClean="0"/>
          </a:p>
          <a:p>
            <a:pPr algn="just"/>
            <a:r>
              <a:rPr lang="es-CR" dirty="0" smtClean="0"/>
              <a:t>Godofredo </a:t>
            </a:r>
            <a:r>
              <a:rPr lang="es-CR" dirty="0" err="1" smtClean="0"/>
              <a:t>Achenwall</a:t>
            </a:r>
            <a:r>
              <a:rPr lang="es-CR" dirty="0" smtClean="0"/>
              <a:t>, extrajo del término estadística la raíz «</a:t>
            </a:r>
            <a:r>
              <a:rPr lang="es-CR" b="1" i="1" dirty="0" err="1" smtClean="0"/>
              <a:t>statista</a:t>
            </a:r>
            <a:r>
              <a:rPr lang="es-CR" b="1" i="1" dirty="0" smtClean="0"/>
              <a:t>»</a:t>
            </a:r>
            <a:r>
              <a:rPr lang="es-CR" dirty="0" smtClean="0"/>
              <a:t> (estadista). Sobre esto se decía que los datos eran los aliado más eficaz del gobernante.</a:t>
            </a:r>
          </a:p>
          <a:p>
            <a:pPr algn="just"/>
            <a:endParaRPr lang="es-CR" dirty="0" smtClean="0"/>
          </a:p>
          <a:p>
            <a:pPr algn="just"/>
            <a:r>
              <a:rPr lang="es-CR" dirty="0" smtClean="0"/>
              <a:t>La </a:t>
            </a:r>
            <a:r>
              <a:rPr lang="es-CR" dirty="0"/>
              <a:t> </a:t>
            </a:r>
            <a:r>
              <a:rPr lang="es-CR" dirty="0" smtClean="0"/>
              <a:t>raíz latina</a:t>
            </a:r>
            <a:r>
              <a:rPr lang="es-CR" dirty="0"/>
              <a:t> </a:t>
            </a:r>
            <a:r>
              <a:rPr lang="es-CR" dirty="0" smtClean="0"/>
              <a:t> </a:t>
            </a:r>
            <a:r>
              <a:rPr lang="es-CR" i="1" dirty="0" smtClean="0"/>
              <a:t>status</a:t>
            </a:r>
            <a:r>
              <a:rPr lang="es-CR" dirty="0" smtClean="0"/>
              <a:t>, siendo situación o estado.</a:t>
            </a:r>
          </a:p>
          <a:p>
            <a:pPr algn="just"/>
            <a:endParaRPr lang="es-CR" dirty="0" smtClean="0"/>
          </a:p>
          <a:p>
            <a:pPr algn="just"/>
            <a:r>
              <a:rPr lang="es-CR" dirty="0" smtClean="0"/>
              <a:t>Fue hasta finales del siglo XX que Jaques </a:t>
            </a:r>
            <a:r>
              <a:rPr lang="es-CR" dirty="0" err="1" smtClean="0"/>
              <a:t>Quetelect</a:t>
            </a:r>
            <a:r>
              <a:rPr lang="es-CR" dirty="0" smtClean="0"/>
              <a:t> comenzó a aplicar la Estadística a las ciencias sociales, uniendo la teoría de probabilidades con las estadísticas descriptivas, creando la base de la </a:t>
            </a:r>
            <a:r>
              <a:rPr lang="es-CR" i="1" dirty="0" smtClean="0"/>
              <a:t>Estadística </a:t>
            </a:r>
            <a:r>
              <a:rPr lang="es-CR" i="1" dirty="0" err="1" smtClean="0"/>
              <a:t>Inferencial</a:t>
            </a:r>
            <a:r>
              <a:rPr lang="es-CR" dirty="0" smtClean="0"/>
              <a:t>.</a:t>
            </a:r>
            <a:endParaRPr lang="es-CR" dirty="0"/>
          </a:p>
        </p:txBody>
      </p:sp>
      <p:sp>
        <p:nvSpPr>
          <p:cNvPr id="4" name="1 Título"/>
          <p:cNvSpPr>
            <a:spLocks noGrp="1"/>
          </p:cNvSpPr>
          <p:nvPr>
            <p:ph type="title"/>
          </p:nvPr>
        </p:nvSpPr>
        <p:spPr>
          <a:xfrm>
            <a:off x="323528" y="0"/>
            <a:ext cx="8424936" cy="908720"/>
          </a:xfrm>
        </p:spPr>
        <p:txBody>
          <a:bodyPr/>
          <a:lstStyle/>
          <a:p>
            <a:pPr algn="ctr"/>
            <a:r>
              <a:rPr lang="es-CR" dirty="0" smtClean="0"/>
              <a:t>Historia de la Estadística</a:t>
            </a:r>
            <a:endParaRPr lang="es-CR" dirty="0"/>
          </a:p>
        </p:txBody>
      </p:sp>
      <p:pic>
        <p:nvPicPr>
          <p:cNvPr id="17410" name="Picture 2" descr="http://thales.cica.es/rd/Recursos/rd98/Matematicas/28/iejer7-2-arbol.gif"/>
          <p:cNvPicPr>
            <a:picLocks noChangeAspect="1" noChangeArrowheads="1"/>
          </p:cNvPicPr>
          <p:nvPr/>
        </p:nvPicPr>
        <p:blipFill rotWithShape="1">
          <a:blip r:embed="rId2" cstate="print"/>
          <a:srcRect l="12600"/>
          <a:stretch/>
        </p:blipFill>
        <p:spPr bwMode="auto">
          <a:xfrm>
            <a:off x="6444208" y="764704"/>
            <a:ext cx="2497460" cy="2381250"/>
          </a:xfrm>
          <a:prstGeom prst="rect">
            <a:avLst/>
          </a:prstGeom>
          <a:noFill/>
        </p:spPr>
      </p:pic>
      <p:pic>
        <p:nvPicPr>
          <p:cNvPr id="17412" name="Picture 4" descr="http://sitios.ingenieria-usac.edu.gt/estadistica/estadistica2/img/image002.gif"/>
          <p:cNvPicPr>
            <a:picLocks noChangeAspect="1" noChangeArrowheads="1"/>
          </p:cNvPicPr>
          <p:nvPr/>
        </p:nvPicPr>
        <p:blipFill>
          <a:blip r:embed="rId3" cstate="print"/>
          <a:srcRect/>
          <a:stretch>
            <a:fillRect/>
          </a:stretch>
        </p:blipFill>
        <p:spPr bwMode="auto">
          <a:xfrm>
            <a:off x="6444208" y="3861048"/>
            <a:ext cx="2487960" cy="2699559"/>
          </a:xfrm>
          <a:prstGeom prst="rect">
            <a:avLst/>
          </a:prstGeom>
          <a:noFill/>
        </p:spPr>
      </p:pic>
    </p:spTree>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5576" y="260648"/>
            <a:ext cx="7772400" cy="922114"/>
          </a:xfrm>
        </p:spPr>
        <p:txBody>
          <a:bodyPr/>
          <a:lstStyle/>
          <a:p>
            <a:pPr algn="ctr"/>
            <a:r>
              <a:rPr lang="es-CR" dirty="0" smtClean="0"/>
              <a:t>Índice</a:t>
            </a:r>
            <a:endParaRPr lang="es-ES" dirty="0"/>
          </a:p>
        </p:txBody>
      </p:sp>
      <p:sp>
        <p:nvSpPr>
          <p:cNvPr id="4" name="Elipse 3"/>
          <p:cNvSpPr/>
          <p:nvPr/>
        </p:nvSpPr>
        <p:spPr>
          <a:xfrm>
            <a:off x="755576"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755576"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755576" y="544522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8" name="Rectángulo redondeado 7"/>
          <p:cNvSpPr/>
          <p:nvPr/>
        </p:nvSpPr>
        <p:spPr>
          <a:xfrm>
            <a:off x="2051720"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Definición de Estadística</a:t>
            </a:r>
            <a:endParaRPr lang="es-ES" dirty="0"/>
          </a:p>
        </p:txBody>
      </p:sp>
      <p:sp>
        <p:nvSpPr>
          <p:cNvPr id="9" name="Rectángulo redondeado 8"/>
          <p:cNvSpPr/>
          <p:nvPr/>
        </p:nvSpPr>
        <p:spPr>
          <a:xfrm>
            <a:off x="2051720"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Historia de la Estadística</a:t>
            </a:r>
            <a:endParaRPr lang="es-ES" dirty="0"/>
          </a:p>
        </p:txBody>
      </p:sp>
      <p:sp>
        <p:nvSpPr>
          <p:cNvPr id="10" name="Rectángulo redondeado 9"/>
          <p:cNvSpPr/>
          <p:nvPr/>
        </p:nvSpPr>
        <p:spPr>
          <a:xfrm>
            <a:off x="2051720" y="5445224"/>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Áreas de la Estadística</a:t>
            </a:r>
            <a:endParaRPr lang="es-ES" dirty="0"/>
          </a:p>
        </p:txBody>
      </p:sp>
    </p:spTree>
    <p:extLst>
      <p:ext uri="{BB962C8B-B14F-4D97-AF65-F5344CB8AC3E}">
        <p14:creationId xmlns:p14="http://schemas.microsoft.com/office/powerpoint/2010/main" val="1294208995"/>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836712"/>
          </a:xfrm>
        </p:spPr>
        <p:txBody>
          <a:bodyPr/>
          <a:lstStyle/>
          <a:p>
            <a:pPr algn="ctr"/>
            <a:r>
              <a:rPr lang="es-CR" dirty="0" smtClean="0"/>
              <a:t>Áreas de la Estadística</a:t>
            </a:r>
            <a:endParaRPr lang="es-CR" dirty="0"/>
          </a:p>
        </p:txBody>
      </p:sp>
      <p:sp>
        <p:nvSpPr>
          <p:cNvPr id="3" name="2 Marcador de contenido"/>
          <p:cNvSpPr>
            <a:spLocks noGrp="1"/>
          </p:cNvSpPr>
          <p:nvPr>
            <p:ph sz="quarter" idx="1"/>
          </p:nvPr>
        </p:nvSpPr>
        <p:spPr>
          <a:xfrm>
            <a:off x="251520" y="1196752"/>
            <a:ext cx="7772400" cy="5112568"/>
          </a:xfrm>
        </p:spPr>
        <p:txBody>
          <a:bodyPr>
            <a:normAutofit/>
          </a:bodyPr>
          <a:lstStyle/>
          <a:p>
            <a:r>
              <a:rPr lang="es-CR" sz="2400" dirty="0" err="1" smtClean="0"/>
              <a:t>Bio</a:t>
            </a:r>
            <a:r>
              <a:rPr lang="es-CR" sz="2400" dirty="0" smtClean="0"/>
              <a:t> Estadística			  Estadístico social</a:t>
            </a:r>
          </a:p>
          <a:p>
            <a:r>
              <a:rPr lang="es-CR" sz="2400" dirty="0" smtClean="0"/>
              <a:t>Muestreo.	                           	  Informática</a:t>
            </a:r>
          </a:p>
          <a:p>
            <a:r>
              <a:rPr lang="es-CR" sz="2400" dirty="0" smtClean="0"/>
              <a:t>Teoría matemática y probabilidades.       Administración</a:t>
            </a:r>
          </a:p>
          <a:p>
            <a:r>
              <a:rPr lang="es-CR" sz="2400" dirty="0" smtClean="0"/>
              <a:t>Econometría</a:t>
            </a:r>
          </a:p>
          <a:p>
            <a:r>
              <a:rPr lang="es-CR" sz="2400" dirty="0" err="1" smtClean="0"/>
              <a:t>Psicometriá</a:t>
            </a:r>
            <a:endParaRPr lang="es-CR" sz="2400" dirty="0" smtClean="0"/>
          </a:p>
          <a:p>
            <a:r>
              <a:rPr lang="es-CR" sz="2400" dirty="0" err="1" smtClean="0"/>
              <a:t>Bibliometría</a:t>
            </a:r>
            <a:endParaRPr lang="es-CR" sz="2400" dirty="0" smtClean="0"/>
          </a:p>
          <a:p>
            <a:r>
              <a:rPr lang="es-CR" sz="2400" dirty="0" smtClean="0"/>
              <a:t>Demografía</a:t>
            </a:r>
          </a:p>
          <a:p>
            <a:r>
              <a:rPr lang="es-CR" sz="2400" dirty="0" smtClean="0"/>
              <a:t>Ciencias actuariales</a:t>
            </a:r>
          </a:p>
          <a:p>
            <a:r>
              <a:rPr lang="es-CR" sz="2400" dirty="0" smtClean="0"/>
              <a:t>Control de </a:t>
            </a:r>
            <a:r>
              <a:rPr lang="es-CR" sz="2400" dirty="0"/>
              <a:t>c</a:t>
            </a:r>
            <a:r>
              <a:rPr lang="es-CR" sz="2400" dirty="0" smtClean="0"/>
              <a:t>alidad</a:t>
            </a:r>
          </a:p>
          <a:p>
            <a:r>
              <a:rPr lang="es-CR" sz="2400" dirty="0" smtClean="0"/>
              <a:t>Riesgo bancario</a:t>
            </a:r>
          </a:p>
          <a:p>
            <a:pPr>
              <a:buNone/>
            </a:pPr>
            <a:endParaRPr lang="es-CR" sz="2400" dirty="0"/>
          </a:p>
        </p:txBody>
      </p:sp>
      <p:pic>
        <p:nvPicPr>
          <p:cNvPr id="16386" name="Picture 2" descr="http://www.gruposaffc.com/images/pruebaadmon.jpg"/>
          <p:cNvPicPr>
            <a:picLocks noChangeAspect="1" noChangeArrowheads="1"/>
          </p:cNvPicPr>
          <p:nvPr/>
        </p:nvPicPr>
        <p:blipFill>
          <a:blip r:embed="rId2" cstate="print"/>
          <a:srcRect/>
          <a:stretch>
            <a:fillRect/>
          </a:stretch>
        </p:blipFill>
        <p:spPr bwMode="auto">
          <a:xfrm>
            <a:off x="4283968" y="2636912"/>
            <a:ext cx="4392488" cy="396240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1026" name="Picture 2" descr="http://www.marketingdistillery.com/wp-content/uploads/2014/08/mds.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6030"/>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0714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5576" y="260648"/>
            <a:ext cx="7772400" cy="922114"/>
          </a:xfrm>
        </p:spPr>
        <p:txBody>
          <a:bodyPr/>
          <a:lstStyle/>
          <a:p>
            <a:pPr algn="ctr"/>
            <a:r>
              <a:rPr lang="es-CR" dirty="0" smtClean="0"/>
              <a:t>Índice</a:t>
            </a:r>
            <a:endParaRPr lang="es-ES" dirty="0"/>
          </a:p>
        </p:txBody>
      </p:sp>
      <p:sp>
        <p:nvSpPr>
          <p:cNvPr id="4" name="Elipse 3"/>
          <p:cNvSpPr/>
          <p:nvPr/>
        </p:nvSpPr>
        <p:spPr>
          <a:xfrm>
            <a:off x="755576"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755576"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755576" y="544522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4860032"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8" name="Rectángulo redondeado 7"/>
          <p:cNvSpPr/>
          <p:nvPr/>
        </p:nvSpPr>
        <p:spPr>
          <a:xfrm>
            <a:off x="2051720"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Definición de Estadística</a:t>
            </a:r>
            <a:endParaRPr lang="es-ES" dirty="0"/>
          </a:p>
        </p:txBody>
      </p:sp>
      <p:sp>
        <p:nvSpPr>
          <p:cNvPr id="9" name="Rectángulo redondeado 8"/>
          <p:cNvSpPr/>
          <p:nvPr/>
        </p:nvSpPr>
        <p:spPr>
          <a:xfrm>
            <a:off x="2051720"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Historia de la Estadística</a:t>
            </a:r>
            <a:endParaRPr lang="es-ES" dirty="0"/>
          </a:p>
        </p:txBody>
      </p:sp>
      <p:sp>
        <p:nvSpPr>
          <p:cNvPr id="10" name="Rectángulo redondeado 9"/>
          <p:cNvSpPr/>
          <p:nvPr/>
        </p:nvSpPr>
        <p:spPr>
          <a:xfrm>
            <a:off x="2051720" y="5445224"/>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Áreas de la Estadística</a:t>
            </a:r>
            <a:endParaRPr lang="es-ES" dirty="0"/>
          </a:p>
        </p:txBody>
      </p:sp>
      <p:sp>
        <p:nvSpPr>
          <p:cNvPr id="11" name="Rectángulo redondeado 10"/>
          <p:cNvSpPr/>
          <p:nvPr/>
        </p:nvSpPr>
        <p:spPr>
          <a:xfrm>
            <a:off x="6156176"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División de la Estadística</a:t>
            </a:r>
            <a:endParaRPr lang="es-ES" dirty="0"/>
          </a:p>
        </p:txBody>
      </p:sp>
    </p:spTree>
    <p:extLst>
      <p:ext uri="{BB962C8B-B14F-4D97-AF65-F5344CB8AC3E}">
        <p14:creationId xmlns:p14="http://schemas.microsoft.com/office/powerpoint/2010/main" val="1711455738"/>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908720"/>
          </a:xfrm>
        </p:spPr>
        <p:txBody>
          <a:bodyPr/>
          <a:lstStyle/>
          <a:p>
            <a:pPr algn="ctr"/>
            <a:r>
              <a:rPr lang="es-CR" dirty="0" smtClean="0"/>
              <a:t>División de la Estadística : antes</a:t>
            </a:r>
            <a:endParaRPr lang="es-CR" dirty="0"/>
          </a:p>
        </p:txBody>
      </p:sp>
      <p:sp>
        <p:nvSpPr>
          <p:cNvPr id="4" name="3 Triángulo isósceles"/>
          <p:cNvSpPr/>
          <p:nvPr/>
        </p:nvSpPr>
        <p:spPr>
          <a:xfrm>
            <a:off x="251520" y="1196752"/>
            <a:ext cx="7776864" cy="5400600"/>
          </a:xfrm>
          <a:prstGeom prst="triangl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CR"/>
          </a:p>
        </p:txBody>
      </p:sp>
      <p:cxnSp>
        <p:nvCxnSpPr>
          <p:cNvPr id="6" name="5 Conector recto"/>
          <p:cNvCxnSpPr/>
          <p:nvPr/>
        </p:nvCxnSpPr>
        <p:spPr>
          <a:xfrm>
            <a:off x="3779912" y="17008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2699792" y="3212976"/>
            <a:ext cx="288032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1835696" y="4797152"/>
            <a:ext cx="4248472" cy="646331"/>
          </a:xfrm>
          <a:prstGeom prst="rect">
            <a:avLst/>
          </a:prstGeom>
          <a:noFill/>
        </p:spPr>
        <p:txBody>
          <a:bodyPr wrap="square" rtlCol="0">
            <a:spAutoFit/>
          </a:bodyPr>
          <a:lstStyle/>
          <a:p>
            <a:pPr algn="ctr"/>
            <a:r>
              <a:rPr lang="es-CR" sz="3600" dirty="0" smtClean="0"/>
              <a:t>Estadística Inferencial</a:t>
            </a:r>
            <a:endParaRPr lang="es-CR" sz="3600" dirty="0"/>
          </a:p>
        </p:txBody>
      </p:sp>
      <p:sp>
        <p:nvSpPr>
          <p:cNvPr id="14" name="13 CuadroTexto"/>
          <p:cNvSpPr txBox="1"/>
          <p:nvPr/>
        </p:nvSpPr>
        <p:spPr>
          <a:xfrm>
            <a:off x="5580112" y="2189748"/>
            <a:ext cx="3168352" cy="523220"/>
          </a:xfrm>
          <a:prstGeom prst="rect">
            <a:avLst/>
          </a:prstGeom>
          <a:noFill/>
        </p:spPr>
        <p:txBody>
          <a:bodyPr wrap="square" rtlCol="0">
            <a:spAutoFit/>
          </a:bodyPr>
          <a:lstStyle/>
          <a:p>
            <a:pPr algn="ctr"/>
            <a:r>
              <a:rPr lang="es-CR" sz="2800" dirty="0" smtClean="0"/>
              <a:t>Probabilidades</a:t>
            </a:r>
            <a:endParaRPr lang="es-CR" sz="2800" dirty="0"/>
          </a:p>
        </p:txBody>
      </p:sp>
      <p:cxnSp>
        <p:nvCxnSpPr>
          <p:cNvPr id="16" name="15 Conector recto de flecha"/>
          <p:cNvCxnSpPr>
            <a:stCxn id="14" idx="1"/>
          </p:cNvCxnSpPr>
          <p:nvPr/>
        </p:nvCxnSpPr>
        <p:spPr>
          <a:xfrm flipH="1" flipV="1">
            <a:off x="4644008" y="2574470"/>
            <a:ext cx="936104" cy="76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2483768" y="1484784"/>
            <a:ext cx="165618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170511" y="1268760"/>
            <a:ext cx="2520280" cy="954107"/>
          </a:xfrm>
          <a:prstGeom prst="rect">
            <a:avLst/>
          </a:prstGeom>
          <a:noFill/>
        </p:spPr>
        <p:txBody>
          <a:bodyPr wrap="square" rtlCol="0">
            <a:spAutoFit/>
          </a:bodyPr>
          <a:lstStyle/>
          <a:p>
            <a:r>
              <a:rPr lang="es-CR" sz="2800" dirty="0" smtClean="0"/>
              <a:t>Estadística descriptiva</a:t>
            </a:r>
            <a:endParaRPr lang="es-CR" sz="2800" dirty="0"/>
          </a:p>
        </p:txBody>
      </p:sp>
    </p:spTree>
    <p:extLst>
      <p:ext uri="{BB962C8B-B14F-4D97-AF65-F5344CB8AC3E}">
        <p14:creationId xmlns:p14="http://schemas.microsoft.com/office/powerpoint/2010/main" val="4004237350"/>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 Título"/>
          <p:cNvSpPr txBox="1">
            <a:spLocks/>
          </p:cNvSpPr>
          <p:nvPr/>
        </p:nvSpPr>
        <p:spPr>
          <a:xfrm>
            <a:off x="244261" y="116632"/>
            <a:ext cx="8568952" cy="9087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R" dirty="0" smtClean="0"/>
              <a:t>División de la Estadística : ahora</a:t>
            </a:r>
            <a:endParaRPr lang="es-CR" dirty="0"/>
          </a:p>
        </p:txBody>
      </p:sp>
      <p:sp>
        <p:nvSpPr>
          <p:cNvPr id="7" name="6 Elipse"/>
          <p:cNvSpPr/>
          <p:nvPr/>
        </p:nvSpPr>
        <p:spPr>
          <a:xfrm>
            <a:off x="247164" y="1196752"/>
            <a:ext cx="7565195" cy="52668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7" name="16 CuadroTexto"/>
          <p:cNvSpPr txBox="1"/>
          <p:nvPr/>
        </p:nvSpPr>
        <p:spPr>
          <a:xfrm>
            <a:off x="1115616" y="4913347"/>
            <a:ext cx="2410961" cy="461665"/>
          </a:xfrm>
          <a:prstGeom prst="rect">
            <a:avLst/>
          </a:prstGeom>
          <a:noFill/>
        </p:spPr>
        <p:txBody>
          <a:bodyPr wrap="square" rtlCol="0">
            <a:spAutoFit/>
          </a:bodyPr>
          <a:lstStyle/>
          <a:p>
            <a:pPr algn="ctr"/>
            <a:r>
              <a:rPr lang="es-MX" sz="2400" dirty="0" smtClean="0"/>
              <a:t>Informática</a:t>
            </a:r>
            <a:endParaRPr lang="es-CR" sz="2400" dirty="0"/>
          </a:p>
        </p:txBody>
      </p:sp>
      <p:sp>
        <p:nvSpPr>
          <p:cNvPr id="20" name="19 CuadroTexto"/>
          <p:cNvSpPr txBox="1"/>
          <p:nvPr/>
        </p:nvSpPr>
        <p:spPr>
          <a:xfrm>
            <a:off x="4029761" y="4061021"/>
            <a:ext cx="3266782" cy="461665"/>
          </a:xfrm>
          <a:prstGeom prst="rect">
            <a:avLst/>
          </a:prstGeom>
          <a:noFill/>
        </p:spPr>
        <p:txBody>
          <a:bodyPr wrap="square" rtlCol="0">
            <a:spAutoFit/>
          </a:bodyPr>
          <a:lstStyle/>
          <a:p>
            <a:r>
              <a:rPr lang="es-CR" sz="2400" dirty="0" smtClean="0"/>
              <a:t>Estadística Descriptiva</a:t>
            </a:r>
            <a:endParaRPr lang="es-CR" sz="2400" dirty="0"/>
          </a:p>
        </p:txBody>
      </p:sp>
      <p:sp>
        <p:nvSpPr>
          <p:cNvPr id="21" name="20 CuadroTexto"/>
          <p:cNvSpPr txBox="1"/>
          <p:nvPr/>
        </p:nvSpPr>
        <p:spPr>
          <a:xfrm>
            <a:off x="3151366" y="1859632"/>
            <a:ext cx="3532022" cy="461665"/>
          </a:xfrm>
          <a:prstGeom prst="rect">
            <a:avLst/>
          </a:prstGeom>
          <a:noFill/>
        </p:spPr>
        <p:txBody>
          <a:bodyPr wrap="square" rtlCol="0">
            <a:spAutoFit/>
          </a:bodyPr>
          <a:lstStyle/>
          <a:p>
            <a:pPr algn="ctr"/>
            <a:r>
              <a:rPr lang="es-CR" sz="2400" dirty="0" smtClean="0"/>
              <a:t>Estadística</a:t>
            </a:r>
            <a:r>
              <a:rPr lang="es-CR" sz="2400" dirty="0"/>
              <a:t> </a:t>
            </a:r>
            <a:r>
              <a:rPr lang="es-CR" sz="2400" dirty="0" smtClean="0"/>
              <a:t>Inferencial</a:t>
            </a:r>
            <a:endParaRPr lang="es-CR" sz="2400" dirty="0"/>
          </a:p>
        </p:txBody>
      </p:sp>
      <p:sp>
        <p:nvSpPr>
          <p:cNvPr id="22" name="21 CuadroTexto"/>
          <p:cNvSpPr txBox="1"/>
          <p:nvPr/>
        </p:nvSpPr>
        <p:spPr>
          <a:xfrm>
            <a:off x="929789" y="2867744"/>
            <a:ext cx="3665149" cy="461665"/>
          </a:xfrm>
          <a:prstGeom prst="rect">
            <a:avLst/>
          </a:prstGeom>
          <a:noFill/>
        </p:spPr>
        <p:txBody>
          <a:bodyPr wrap="square" rtlCol="0">
            <a:spAutoFit/>
          </a:bodyPr>
          <a:lstStyle/>
          <a:p>
            <a:pPr algn="ctr"/>
            <a:r>
              <a:rPr lang="es-CR" sz="2400" dirty="0" smtClean="0"/>
              <a:t>Matemática -Probabilidades</a:t>
            </a:r>
            <a:endParaRPr lang="es-CR" sz="2400" dirty="0"/>
          </a:p>
        </p:txBody>
      </p:sp>
      <p:sp>
        <p:nvSpPr>
          <p:cNvPr id="8" name="7 Rectángulo redondeado"/>
          <p:cNvSpPr/>
          <p:nvPr/>
        </p:nvSpPr>
        <p:spPr>
          <a:xfrm>
            <a:off x="6266728" y="5144179"/>
            <a:ext cx="2546485" cy="145317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just"/>
            <a:r>
              <a:rPr lang="es-MX" dirty="0" smtClean="0"/>
              <a:t>Difícil determinar cual tiene un mayor peso en la labor de un estadístico. </a:t>
            </a:r>
            <a:endParaRPr lang="es-CR" dirty="0"/>
          </a:p>
        </p:txBody>
      </p:sp>
    </p:spTree>
    <p:extLst>
      <p:ext uri="{BB962C8B-B14F-4D97-AF65-F5344CB8AC3E}">
        <p14:creationId xmlns:p14="http://schemas.microsoft.com/office/powerpoint/2010/main" val="39534835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032" y="44624"/>
            <a:ext cx="7772400" cy="792088"/>
          </a:xfrm>
        </p:spPr>
        <p:txBody>
          <a:bodyPr/>
          <a:lstStyle/>
          <a:p>
            <a:pPr algn="ctr"/>
            <a:r>
              <a:rPr lang="es-MX" dirty="0" smtClean="0"/>
              <a:t>Estadística descriptiva</a:t>
            </a:r>
            <a:endParaRPr lang="es-CR" dirty="0"/>
          </a:p>
        </p:txBody>
      </p:sp>
      <p:sp>
        <p:nvSpPr>
          <p:cNvPr id="3" name="2 Marcador de contenido"/>
          <p:cNvSpPr>
            <a:spLocks noGrp="1"/>
          </p:cNvSpPr>
          <p:nvPr>
            <p:ph idx="1"/>
          </p:nvPr>
        </p:nvSpPr>
        <p:spPr>
          <a:xfrm>
            <a:off x="179512" y="1124744"/>
            <a:ext cx="6192688" cy="5616624"/>
          </a:xfrm>
        </p:spPr>
        <p:txBody>
          <a:bodyPr>
            <a:noAutofit/>
          </a:bodyPr>
          <a:lstStyle/>
          <a:p>
            <a:pPr algn="just"/>
            <a:r>
              <a:rPr lang="es-MX" sz="2400" dirty="0" smtClean="0"/>
              <a:t>Se entiende como la forma de presentar los datos.</a:t>
            </a:r>
          </a:p>
          <a:p>
            <a:pPr algn="just"/>
            <a:endParaRPr lang="es-MX" sz="2400" dirty="0"/>
          </a:p>
          <a:p>
            <a:pPr algn="just"/>
            <a:r>
              <a:rPr lang="es-MX" sz="2400" dirty="0" smtClean="0"/>
              <a:t>Análisis de los datos como promedio, media, desviación estándar, etc., son estadísticas descriptivas.</a:t>
            </a:r>
          </a:p>
          <a:p>
            <a:pPr marL="0" indent="0" algn="just">
              <a:buNone/>
            </a:pPr>
            <a:endParaRPr lang="es-MX" sz="2400" dirty="0"/>
          </a:p>
          <a:p>
            <a:pPr algn="just"/>
            <a:r>
              <a:rPr lang="es-MX" sz="2400" dirty="0" smtClean="0"/>
              <a:t>Los cuadros y gráficos son los más conocidos. Sin embargo, mapas y otras formas más novedosa de presentar la información son también </a:t>
            </a:r>
            <a:r>
              <a:rPr lang="es-MX" sz="2400" dirty="0"/>
              <a:t>estadísticas descriptivas </a:t>
            </a:r>
            <a:r>
              <a:rPr lang="es-MX" sz="2400" dirty="0" smtClean="0"/>
              <a:t>.</a:t>
            </a:r>
          </a:p>
          <a:p>
            <a:pPr algn="just"/>
            <a:endParaRPr lang="es-MX" sz="2400" dirty="0" smtClean="0"/>
          </a:p>
          <a:p>
            <a:pPr algn="just"/>
            <a:r>
              <a:rPr lang="es-MX" sz="2400" dirty="0" smtClean="0"/>
              <a:t>Análisis multivariados como componentes principales, conglomerados, análisis discriminantes, son también parte de las estadísticas descriptivas.</a:t>
            </a:r>
            <a:endParaRPr lang="es-CR" sz="2400" dirty="0"/>
          </a:p>
        </p:txBody>
      </p:sp>
      <p:pic>
        <p:nvPicPr>
          <p:cNvPr id="9218" name="Picture 2" descr="http://sixsi.com/images/Descriptive%20Statistic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44208" y="1664804"/>
            <a:ext cx="2484276" cy="2052228"/>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ttp://2.bp.blogspot.com/-ruaC6c6Bl1U/UHbS3CpXeSI/AAAAAAAAAQE/ohtJsCQzVY8/s1600/An%C3%A1lise+de+Clusters+analise+estatistica+sps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18143" y="4509120"/>
            <a:ext cx="2310341" cy="2079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1664732"/>
      </p:ext>
    </p:extLst>
  </p:cSld>
  <p:clrMapOvr>
    <a:masterClrMapping/>
  </p:clrMapOvr>
  <p:transition spd="slow">
    <p:randomBar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www.wipo.int/export/sites/www/pct/fr/activity/images/pct_2008_5_1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2971124"/>
            <a:ext cx="3528392" cy="167108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mediapub.be/medias-pwd/images/statistiqu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0398" y="2636912"/>
            <a:ext cx="2893959" cy="192742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lh5.ggpht.com/fhuebler/SCECHce60cI/AAAAAAAAASA/eqPU91Txri8/s800/20050522_PNER.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9672" y="404664"/>
            <a:ext cx="5334000" cy="2105026"/>
          </a:xfrm>
          <a:prstGeom prst="rect">
            <a:avLst/>
          </a:prstGeom>
          <a:noFill/>
          <a:extLst>
            <a:ext uri="{909E8E84-426E-40DD-AFC4-6F175D3DCCD1}">
              <a14:hiddenFill xmlns:a14="http://schemas.microsoft.com/office/drawing/2010/main">
                <a:solidFill>
                  <a:srgbClr val="FFFFFF"/>
                </a:solidFill>
              </a14:hiddenFill>
            </a:ext>
          </a:extLst>
        </p:spPr>
      </p:pic>
      <p:pic>
        <p:nvPicPr>
          <p:cNvPr id="4103" name="Picture 7"/>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23401" r="2504" b="7760"/>
          <a:stretch/>
        </p:blipFill>
        <p:spPr bwMode="auto">
          <a:xfrm>
            <a:off x="2555776" y="5085182"/>
            <a:ext cx="4604592" cy="16494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802099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196752"/>
            <a:ext cx="6120680" cy="5544616"/>
          </a:xfrm>
        </p:spPr>
        <p:txBody>
          <a:bodyPr>
            <a:noAutofit/>
          </a:bodyPr>
          <a:lstStyle/>
          <a:p>
            <a:pPr algn="just"/>
            <a:r>
              <a:rPr lang="es-MX" sz="2400" dirty="0" smtClean="0"/>
              <a:t>La Estadística </a:t>
            </a:r>
            <a:r>
              <a:rPr lang="es-MX" sz="2400" dirty="0"/>
              <a:t>i</a:t>
            </a:r>
            <a:r>
              <a:rPr lang="es-MX" sz="2400" dirty="0" smtClean="0"/>
              <a:t>nferencial tiene sus fundamentos en la Estadística- matemática.</a:t>
            </a:r>
          </a:p>
          <a:p>
            <a:pPr marL="0" indent="0" algn="just">
              <a:buNone/>
            </a:pPr>
            <a:endParaRPr lang="es-MX" sz="2400" dirty="0"/>
          </a:p>
          <a:p>
            <a:pPr algn="just"/>
            <a:r>
              <a:rPr lang="es-MX" sz="2400" dirty="0"/>
              <a:t>La </a:t>
            </a:r>
            <a:r>
              <a:rPr lang="es-MX" sz="2400" dirty="0" smtClean="0"/>
              <a:t>Estadística-matemática se desarrolla tanto en las evoluciones de la teoría de las probabilidades, espacios vectoriales, cálculo de matriz, y otros desarrollos complejos de la matemática.</a:t>
            </a:r>
          </a:p>
          <a:p>
            <a:pPr marL="0" indent="0" algn="just">
              <a:buNone/>
            </a:pPr>
            <a:endParaRPr lang="es-MX" sz="2400" dirty="0" smtClean="0"/>
          </a:p>
          <a:p>
            <a:pPr algn="just"/>
            <a:r>
              <a:rPr lang="es-MX" sz="2400" dirty="0" smtClean="0"/>
              <a:t>Nuevas técnicas de Estadísticas están relacionadas con los avances en la estadística y la informática.</a:t>
            </a:r>
            <a:endParaRPr lang="es-MX" sz="2400" dirty="0"/>
          </a:p>
        </p:txBody>
      </p:sp>
      <p:sp>
        <p:nvSpPr>
          <p:cNvPr id="4" name="1 Título"/>
          <p:cNvSpPr>
            <a:spLocks noGrp="1"/>
          </p:cNvSpPr>
          <p:nvPr>
            <p:ph type="title"/>
          </p:nvPr>
        </p:nvSpPr>
        <p:spPr>
          <a:xfrm>
            <a:off x="446856" y="44624"/>
            <a:ext cx="8229600" cy="864096"/>
          </a:xfrm>
        </p:spPr>
        <p:txBody>
          <a:bodyPr>
            <a:normAutofit/>
          </a:bodyPr>
          <a:lstStyle/>
          <a:p>
            <a:pPr algn="ctr"/>
            <a:r>
              <a:rPr lang="es-MX" dirty="0" smtClean="0"/>
              <a:t>Estadística-matemática</a:t>
            </a:r>
            <a:endParaRPr lang="es-CR" dirty="0"/>
          </a:p>
        </p:txBody>
      </p:sp>
      <p:pic>
        <p:nvPicPr>
          <p:cNvPr id="10242" name="Picture 2" descr="http://www.bu.edu/math/files/2009/09/equations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268760"/>
            <a:ext cx="2444534" cy="1870339"/>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www.maths.leeds.ac.uk/uploads/tx_templavoila/dice_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82126" y="4005064"/>
            <a:ext cx="2310021" cy="18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420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oko.com.ar/imagenes/Matematica/limite/Limite13.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868" y="5080368"/>
            <a:ext cx="2590800" cy="13239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upload.wikimedia.org/wikipedia/commons/e/e6/Integral_de_funci%C3%B3n_par.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547" y="2424460"/>
            <a:ext cx="2762250" cy="200025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www.vuzs.net/attachments/article/5382/mth601-midterm-fall-2006-paper-pic.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8506" y="4801701"/>
            <a:ext cx="3240360" cy="1881308"/>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http://www.monografias.com/trabajos83/integrales-multiples/image010.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5536" y="2256089"/>
            <a:ext cx="3669082" cy="233699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http://www.cqeweb.com/Chapters-HTML/Chap5_html/Image256.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59832" y="472755"/>
            <a:ext cx="3096344" cy="1757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993089"/>
      </p:ext>
    </p:extLst>
  </p:cSld>
  <p:clrMapOvr>
    <a:masterClrMapping/>
  </p:clrMapOvr>
  <p:transition spd="slow">
    <p:randomBar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7504" y="1556792"/>
            <a:ext cx="5940152" cy="4925144"/>
          </a:xfrm>
        </p:spPr>
        <p:txBody>
          <a:bodyPr>
            <a:normAutofit/>
          </a:bodyPr>
          <a:lstStyle/>
          <a:p>
            <a:pPr algn="just"/>
            <a:r>
              <a:rPr lang="es-MX" sz="2400" dirty="0"/>
              <a:t>E</a:t>
            </a:r>
            <a:r>
              <a:rPr lang="es-MX" sz="2400" dirty="0" smtClean="0"/>
              <a:t>l objetivo es inferior a una población a </a:t>
            </a:r>
            <a:r>
              <a:rPr lang="es-MX" sz="2400" dirty="0"/>
              <a:t>partir de un conjunto de </a:t>
            </a:r>
            <a:r>
              <a:rPr lang="es-MX" sz="2400" dirty="0" smtClean="0"/>
              <a:t>datos.</a:t>
            </a:r>
          </a:p>
          <a:p>
            <a:pPr marL="0" indent="0" algn="just">
              <a:buNone/>
            </a:pPr>
            <a:endParaRPr lang="es-MX" sz="2400" dirty="0"/>
          </a:p>
          <a:p>
            <a:pPr algn="just"/>
            <a:r>
              <a:rPr lang="es-MX" sz="2400" dirty="0" smtClean="0"/>
              <a:t>También se busca establecer relaciones causales o  relaciones asimétricas entre las variables.</a:t>
            </a:r>
          </a:p>
          <a:p>
            <a:pPr marL="0" indent="0" algn="just">
              <a:buNone/>
            </a:pPr>
            <a:endParaRPr lang="es-MX" sz="2400" dirty="0"/>
          </a:p>
          <a:p>
            <a:pPr algn="just"/>
            <a:r>
              <a:rPr lang="es-MX" sz="2400" dirty="0" smtClean="0"/>
              <a:t>Dependiendo del campo, se pueden utilizar un innumerable técnicas para apoyar los resultados.</a:t>
            </a:r>
          </a:p>
          <a:p>
            <a:pPr marL="0" indent="0" algn="just">
              <a:buNone/>
            </a:pPr>
            <a:endParaRPr lang="es-MX" sz="2400" dirty="0"/>
          </a:p>
          <a:p>
            <a:pPr algn="just"/>
            <a:r>
              <a:rPr lang="es-MX" sz="2400" dirty="0" smtClean="0"/>
              <a:t>El calculo de una muestra pertenece a la Estadística inferencial.</a:t>
            </a:r>
            <a:endParaRPr lang="es-CR" sz="2400" dirty="0"/>
          </a:p>
        </p:txBody>
      </p:sp>
      <p:sp>
        <p:nvSpPr>
          <p:cNvPr id="4" name="1 Título"/>
          <p:cNvSpPr>
            <a:spLocks noGrp="1"/>
          </p:cNvSpPr>
          <p:nvPr>
            <p:ph type="title"/>
          </p:nvPr>
        </p:nvSpPr>
        <p:spPr>
          <a:xfrm>
            <a:off x="963351" y="188640"/>
            <a:ext cx="7772400" cy="994122"/>
          </a:xfrm>
        </p:spPr>
        <p:txBody>
          <a:bodyPr/>
          <a:lstStyle/>
          <a:p>
            <a:pPr algn="ctr"/>
            <a:r>
              <a:rPr lang="es-MX" dirty="0" smtClean="0"/>
              <a:t>Estadística Inferencial</a:t>
            </a:r>
            <a:endParaRPr lang="es-CR" dirty="0"/>
          </a:p>
        </p:txBody>
      </p:sp>
      <p:pic>
        <p:nvPicPr>
          <p:cNvPr id="11266" name="Picture 2" descr="http://bolt.mph.ufl.edu/files/2012/07/mod10-big_picture_inference.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8275" y="1700808"/>
            <a:ext cx="2653392" cy="187220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ttp://www.fao.org/docrep/009/a0198e/A0198E01.gif"/>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196" t="12952" r="5607" b="7224"/>
          <a:stretch/>
        </p:blipFill>
        <p:spPr bwMode="auto">
          <a:xfrm>
            <a:off x="6516216" y="4437112"/>
            <a:ext cx="2219535" cy="1836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658018"/>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www.xlstat.com/uploads/assets/screenshots/pro/modelling-data/linear-regression/linear-regression-predicted-vs-measured.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080" y="3717032"/>
            <a:ext cx="3168352" cy="27089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www.eviews.com/EViews8/images/ets.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25" t="10781" r="6996" b="21296"/>
          <a:stretch/>
        </p:blipFill>
        <p:spPr bwMode="auto">
          <a:xfrm>
            <a:off x="539552" y="4149080"/>
            <a:ext cx="3096344" cy="206861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ttp://www.dkfz.de/de/biostatistics/images/Principle_of_statistical_inference-we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7637" y="1556792"/>
            <a:ext cx="2400174" cy="168961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ttp://www.talyarkoni.org/blog/wp-content/uploads/2013/04/coauthorship_graph.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30050" y="482543"/>
            <a:ext cx="2892411" cy="2763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501953"/>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1550" y="1052736"/>
            <a:ext cx="6498682" cy="5616624"/>
          </a:xfrm>
        </p:spPr>
        <p:txBody>
          <a:bodyPr>
            <a:noAutofit/>
          </a:bodyPr>
          <a:lstStyle/>
          <a:p>
            <a:pPr algn="just"/>
            <a:r>
              <a:rPr lang="es-MX" sz="2200" dirty="0" smtClean="0"/>
              <a:t>La materia prima de la Estadística, los datos</a:t>
            </a:r>
            <a:r>
              <a:rPr lang="es-MX" sz="2200" dirty="0"/>
              <a:t>, en la actualidad  </a:t>
            </a:r>
            <a:r>
              <a:rPr lang="es-MX" sz="2200" dirty="0" smtClean="0"/>
              <a:t>se manipulan mediante la informática.</a:t>
            </a:r>
          </a:p>
          <a:p>
            <a:pPr algn="just"/>
            <a:endParaRPr lang="es-MX" sz="2200" dirty="0" smtClean="0"/>
          </a:p>
          <a:p>
            <a:pPr algn="just"/>
            <a:r>
              <a:rPr lang="es-MX" sz="2200" dirty="0" smtClean="0"/>
              <a:t>La información se trabaja de principio a fin mediante diversas herramientas informáticas.</a:t>
            </a:r>
          </a:p>
          <a:p>
            <a:pPr algn="just"/>
            <a:endParaRPr lang="es-MX" sz="2200" dirty="0"/>
          </a:p>
          <a:p>
            <a:pPr algn="just"/>
            <a:r>
              <a:rPr lang="es-MX" sz="2200" dirty="0" smtClean="0"/>
              <a:t>Lenguajes de programación (C, Visual Basic, etc.), como  paquetes de manejo de datos (Oracle, </a:t>
            </a:r>
            <a:r>
              <a:rPr lang="es-MX" sz="2200" dirty="0" err="1" smtClean="0"/>
              <a:t>Qlikview</a:t>
            </a:r>
            <a:r>
              <a:rPr lang="es-MX" sz="2200" dirty="0" smtClean="0"/>
              <a:t>, etc.) y </a:t>
            </a:r>
            <a:r>
              <a:rPr lang="es-MX" sz="2200" dirty="0" err="1" smtClean="0"/>
              <a:t>softwares</a:t>
            </a:r>
            <a:r>
              <a:rPr lang="es-MX" sz="2200" dirty="0" smtClean="0"/>
              <a:t> para el análisis de la información  (SAS, R, STATA, etc.), son herramientas informáticas fundamentales para un estadístico o analista de datos.</a:t>
            </a:r>
          </a:p>
          <a:p>
            <a:pPr algn="just"/>
            <a:endParaRPr lang="es-MX" sz="2200" dirty="0"/>
          </a:p>
          <a:p>
            <a:pPr algn="just"/>
            <a:r>
              <a:rPr lang="es-MX" sz="2200" dirty="0" smtClean="0"/>
              <a:t>De igual forma, la mejor forma de presentar los datos requiere de adecuados conocimientos de la informática (sistemas de información, plataforma de análisis, etc.).</a:t>
            </a:r>
            <a:endParaRPr lang="es-MX" sz="2200" dirty="0"/>
          </a:p>
          <a:p>
            <a:endParaRPr lang="es-CR" sz="2200" dirty="0"/>
          </a:p>
        </p:txBody>
      </p:sp>
      <p:sp>
        <p:nvSpPr>
          <p:cNvPr id="4" name="1 Título"/>
          <p:cNvSpPr>
            <a:spLocks noGrp="1"/>
          </p:cNvSpPr>
          <p:nvPr>
            <p:ph type="title"/>
          </p:nvPr>
        </p:nvSpPr>
        <p:spPr>
          <a:xfrm>
            <a:off x="457200" y="130622"/>
            <a:ext cx="8229600" cy="778098"/>
          </a:xfrm>
        </p:spPr>
        <p:txBody>
          <a:bodyPr/>
          <a:lstStyle/>
          <a:p>
            <a:pPr algn="ctr"/>
            <a:r>
              <a:rPr lang="es-MX" dirty="0" smtClean="0"/>
              <a:t>Informática</a:t>
            </a:r>
            <a:endParaRPr lang="es-CR" dirty="0"/>
          </a:p>
        </p:txBody>
      </p:sp>
      <p:pic>
        <p:nvPicPr>
          <p:cNvPr id="12290" name="Picture 2" descr="http://static.itpro.co.uk/sites/itpro/files/styles/gallery_wide/public/images/dir_247/it_photo_123715.jpg?itok=L12F1MM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1052737"/>
            <a:ext cx="2016224" cy="198992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s://static-secure.guim.co.uk/sys-images/Guardian/Pix/pictures/2012/10/26/1351261539392/Global-Pulse-screengrab---00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264" y="3861048"/>
            <a:ext cx="1872208" cy="1875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88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data:image/jpeg;base64,/9j/4AAQSkZJRgABAQAAAQABAAD/2wCEAAkGBxQTEhUUExQWFhUWGR4bFxgYFxwfHxodHCEdGB0eHhwbHCggHB0lHBwdITEhJSksLi4uFx8zODMsNygtLisBCgoKDg0OGxAQGywkICQsLCwsLCwsLCwsLCwsLDQsNCwsLCwsLCwsLCwsNCwsLCwsLCwsLCwsLCwsLCwsLCwsLP/AABEIAMIBAwMBIgACEQEDEQH/xAAbAAACAwEBAQAAAAAAAAAAAAADBAACBQEGB//EAD8QAAICAAUCBAMFBwMDAwUAAAECAxEABBIhMSJBBRNRYTJCcQYUI4GhUmKRscHR8DNy4RUkgjSi8QdDc5KT/8QAGQEAAwEBAQAAAAAAAAAAAAAAAAECAwUE/8QAIxEBAQEAAgMAAwACAwAAAAAAAAERAiESMUEDUWEigRMyQv/aAAwDAQACEQMRAD8A+TZXLBV1NhLOZkuedvTDck7qKYah6jCcsqkbLRxtfWMuPvVcvmWTjg8j1wzpV9x0N+hwbwvLCjI3AxQ+IqTTICv64J/St29LysGGmTpYcN2OO5bw0L1OwocUecWmFIHA1xk1R5GFWywYXG1/unkf3wfSnpzxHM636e2wwcqQF83b9lhz+eLeFxoFJJHmdlPbCfiAfV1n6UcL+n9w5nM6WoSrfowPOJF4UAoeVwgPA5JH0wDKsShVgTGO/wCyfXD08aSaRI+gqKDUSHA7j3xU7K9dRGgChQH1ITcb/st6H0wVoYZZNTllc7NGBZZv3T6HB81kVSALqCIxDan+JvcKNwMCgBjkRjTOgu1O0sfej+0BisRu+ls9CxKaPLUxjpj1Wx7ke+E8t4fHJKNT+XG4JUn25Wz3B2xpeF+Hw62mWRnCHUL6dO+2tj39hgR8OaUN1R6JXZoypJUSgX5fGxYcXsdsOz6JfhTxKaKPVFHCQ37btbetgDYYZy7xtayawuYClTGtkSLsRp72fT1xqxZeUJCchClPGNcr6SyuNnUljS0R6cYD4hL5cpaILqh0Zjp+EMNKyhSeVsg7e+Ab8dl8G+7xSeWJZGYD4lChdJuytknDkGXEpeKRPwjpzCsrgaBIBsCdqN8eowp4WsInGZj+9ytqLCNYSeeVZrojetu2Aw5pyoRomZWVo2QfEAj617WNJat8VKz5StHOLHEsaRBiolDlmZTvsK6cP5HKfeI6GpDGzANR0mzfI74wUCqpVI5QWZfjqhRv05ONvKZi10CUxFHcqd6bUb3I7424sOfo6qVpjZg7LrJN8Cvfvh2LwaIwxuZgHf5ewPoT2wjmW1aNTB3CtqZTz+z9cNZeFKCvqHve1kemNo83Kk5cmYpBqo1uCDsaw74V4n5UTg8lrqvi9d6wvJlNLMpOwYLf8/0xpy5h0bS8atGdlFdu1Ed8OzU70WzzZaYDykdZiQNNCvc2P7YFLkpXk1xrqSI0K9uaxMwqxPI0f+1fYnn+GGPEDJEIniJ0BRxxfe8LP0e/sp/1yRJGJHSeUPGEmkDM8irV7AD1ONPx1hIsTadMjDce3rgXg+X1yaV4jBP1OFTgEMcmXUl1PVwcNZPxlHiKTbkDY4P4f4l5rNDNvZNe3tjDlyH4xQcA8+2GJ25BGEDP27YnhElzBm2w7FErHU3+mn6/8Yez2Sjlh1wiiMI7VpvtGVYgNxiY8e4N747gPHi4cyy8H8jgxeN+RpPqOMLzRaTyD9Mdy8epgMcx2bntowEopUjWh7jtgIySselxXodjjmdqMjQSD3xT7yr/ABj/AMl5xX8qJvuNVtLARIekcnCbzQq2nSRXzA74mRtCSnWp5HBxFycTHV5mkDlW5w7dKSRbOotgObDC1kH9RhQZOnAc0p4bsfzwwwM7hV2Re/oPXA5MyqsVUao/Q/zHphU5vox4oGUCNdOj90g39awWDw1wulwGFXpB6072B/MYr4YqRuJV603B/ajvuR3r1w5kPDh52oTLK3xAqTVftPfA9sVJqLcgb+VMyGZn1ABRoF+aBsKv4T64YzccTSRxCTyip0xgAtpYn5m9zzisCoVkCStIsZ8xl01RveSM9q7g8jGv4bM7Ss0MOXWXR5jZogta/Drjjbhie1Xd4oqzswqxrNHMjKusCZIyNUcq7BhexRh/AnAc0dMXlqFy0RIcCQkyuVHSaHG/sBvgX3mJp6BlKyalnlkNsxY7OV+UK1H1xM1RUPmH82QEp5alVYUT8ZrU3GxAPbfAfocTqPMk1xxSTJHIh0kr3WQADVpbUL3/AExaXNStGqt5jDy5gJJFIvUuoqt7kDTeJ4KraoqqMh5E0urHSjL5o02QbNOBVG/rg0UUXmKxOYMhJUCcrbq6OppBbLRqrJ5w56K5okrSSGCCfONHJojUIiyMKcKU1UwW9JHGJl/DpFZVjkj1RJIZC7UrDzXQkbWRSg78Y5lMw3kwhDm3JQAqJFjqtgFOgsy+lH+GGfDMuroCqprEcagy6tNMHdltNy3WOewxUjPlchfK5d0kTXKroDr6ZNQ6Bq/pj0GTzGZihVTF0gk2VBBDb0feyTd98ZRyyKxGkISER9IYgMzaiVDb/Ao/jjXy6sD+HOSRSAbqSPhA22P1vjG/CPL+Tkvl0EjWFCFjQCjaq3O/c8Y2ssAFKlSCqluoWNv19vriZHw09VR61AAQg0SFJBYC7omzweMcnYtSgsV26Sb37D3xtnTzW9lctHqcXWogt1cFjuL/ACrDLu4R7BjZRdj4TZoc7WfbBfJ0J1x6gSSWBB9O429dsBnbawzMo/01buwG5r0X+f54MT5dlMrGesqLZB036n4m9zgyZ8mN32Vl+IEdLfl64bgkZPLKjVGQBsNwx597vGd4rMSzL06VbehWo9gcJUulIw0rjUep/wD2qPQY0/CZYS2mIaHXg38WBZBUSQAk+d6n4Tfy/wAMDzEcSSeaGog/6ffV6fTCw1vEJ4A/mbiUbaff1xlMrnpUW77n2xbNT9RdqLtvXZcOeUyZbzVNsx3PpgMU5AnLFKphvXrhf7MzFQ4b4cP5bxC4fMO9bMMZc+dD3pGlO/vgEZmaiJdiBsTtiYP95PyqSO22Jg6Vj59L4aw3WmHqDg3hWlSdex7XiZfJELrL6PT3wfSxUUUkvt3xzZPrr270TzcIstrB9BhnwvLKEaVxYHAwtIsZNENGffcYbiVgmjaRP3TuME9i+sCizCuwBSiTsy7EYIYWLMjxtJp+ZRuP747lWhiYPbFhwrDvhnxbPvGqhCVL9bMO98C8V87T9yBZQmNH0KJUPJ3DD6jnCeSyhnlpF0rya4UDnGlLli4R9QjdVuRxtt2uuTikyBQJNYptvOisH6Om2+DBL+gs1KzTKsC6Ai6V2okd2b1s+vbGiMv5bBtMduKZQ9xTDuoYfA3thWCH8OXXJsxAWYAspA7MfiS/cd8OxiFIoY1j88MxIBJVXb4WbbcKo2+tnjDhUJWuKRUiMUKH8VA1yORuAzGiFHoMWTwuR46kVVGoGKNWXUjNvoYHqVZAponhq23wdAvnpLo1FWYwaiPx41tau78xflf5tPqMDaLVEPL0hWJZtUyl7FjzJ2B1LRulAAs9yRh5pbgjqJQscYkihcA+VGourILSP3Ar5ieOBjseXLMxIAYqQ7AaX1RaV6dRAXWjI9n9440VbSpj8w2aJ8tyLYbuI0I1lpA6MVAUhg4ujhfL6yxYhgymTspK6Y4FA12VhYA1qJJB2Nk4tG0snhqnoVW1sULB3JBIZmFOFBNxrJekcjbBngAto7DKSywiNbs0sdlbYnzGXZqJCsaFYP4Zk6DMyrWtidepwSoCAlnQnUC8pvTzH+eG2ZI3Y6jaEWS7sdWlghCqD07uSuwGqO9yVCG9kGytMum2EYVFnCICAq6qq2YNpBA2HVVHe8VMZpVeKTqIOh4Nlc0ulb0nhVA/LveNdlGm3UKg6TYkAvdlYKE01eknijGgJuwDw5MfGSV1Eqza9Nk2S2lmIVtJAG/DljR03pxjLny/Zfw7c/6iXup3I3oC1YAhQANANVQPrjVgyTNQQFiCfRiexNgfDfB7m/TBAruwR7YDbSyKGGkDYMLrYbke+1nGrl8oqAXve+1FSw5GxBWr/lj0cY8XPmtBSgWASlBbBVtuBY5/OjiQqL1lgGvYkbMTeq/Qdv4YOiq56yygDkC64A78VZvHZJEQEDfajRtD6GiLBHNc7dsWw0rM4TUoBXUKamBWuen1J7XxZwF2kiIlAFFaFbhAaIH+c2cNR5MksBp1Lvpbt632s7b9uLGFs2dBOhtIZfxBYYKT2HYmu3a/bY6PsnmM1fVHcbH46NL9fb6YFl0UIXKa1Ugab4vlj7nDD5coscpUGOwa7+2r3OO5jPqR5q0JPhkjPDj1AwK9dK+KmLockg1akC9QHY+hGMfN5glmcjqPb9kf3wzKGcgUq6RsvyoPU33wxlNMRMUoBMh3btRGxB+uEr0p4P5RTS4BaQnfuMUyeZEJeCa9B4OM7NZdopCvcHav0wXOzFm1S0WrZR/XCpzsWWRNJSOxHyWPfC2TTzpAo2UdvXFvDozPKFb4BuR7Ye8QgEEiyxfBwcIy+Y8SKMUCbLtiY9D9yik69urfEw+i8q+O+JQMyKU3Uc1hbweAmUbEVvjWMcY4SaL1rcYXlJ3CTr6dQ0k45v3XZl6xneKya5TX0xfORrGFA2fkkHEgybq+orqAO5U3gviE0R30vq99gMI/siuVaSQG1Eijm+354bRylLflnssotfyPbFZQfukaxgm2JeufQXh2DLAwoklmrlf1CjYD2xUibQ7LQyJMxUuwKyAakIHYkcDFss6RwPoqTy6NgWNRsA/Qc74r4enmpI0KNEykBdLEqxPCkHvW94JGpRXktLTaRoHplF11RkaWF1hp/iRs7+QRoimOpmcKADGBep1+E7XvXfHclm/MUImoR6iXy60NYNFxC5FrY3Md+tXxgXmMyTMv/ctIAC1lXRRvRjAuuONsFzWXVtCRHzocvFqYIG6pG3YkgXu3ccKgwGbJ1SJmGjVkkBCqxHQFtFiQKRoYEXe2kC/UlzJ5dmN1qaTdnCDreMFo5V1EFQw8wFhuxjsAE2F8rDTK0ja5Qra2VRbqtiRCWBDuoGrWNyI3Bs1j0MGQKH97Y0R2F6WpgGJOth9JGOnubjLlcKw5NVGxJZlYturfGUVvkoKFjut+bthiBVFEqmrsBVAlVWrDbWqLyNyg23w0uQYgqCe53okm6+L1PqPTBIvCT6E/FwLJ7b3XqdybxbK8oQERLBiSdzfG7XwxU23STWq/hBN0QzcBQ1vemiFMgZgGvgodQAJu2F2TZ7jYyvhwBs86rDHqOw9R0myaPHfY7Ydj8K4HHAa997JIp7BoewOKnBny/LGdFkOrelY2pYqFc1QUvSg6RQA7Cu50lXY4WN6ejUAb1MADfCn5R7Cu/HfQy/hyrwNXJPoLreu312+mG3g4uuy8C69LAvjbbbGkjz8vyaz4o62AbnY2L9txsw9q2vnfBmO9vv7Vx6c9u9ew5w4sYA2HB3uq9gbP6XjkuXFEsbK0ACxA78Nx9OO9jFeUZWWlZsyzGlVQwGnVWnnatzV16/lxgEg0At0uPhZSKK+1ci/2hvtg7Tcqqqa2uqBUCyGX251EqffC88RvUasUdI5aMAbqwNAVttZ2bc4cosDnzZ7dhpBIGtQ21M3A7gFt67YoYBGX1ASaOl0qtIJFst8jtq2O47Yr94C0Uoxv8aHYA8EFjxxam/8AnrGRgoIJVqXURpAUnp1PQdl+lXXJwxJpPzTGziNw8TCiWuqPFj9oegwHL5Al4xRVZLKseWoXt+zf9cayZWuUWanXVS8wuBpMa/KLu6F33wnmMxQmhJZ/LcGJ1qlK7bngDSMPdP0DkkjeOQaRGRs25O17E33BwjnaZEXUCUu3HAHYX3ODnMPM2hQHZviCDSGruzcn+WAiGkaSRdWh9JS6C+9DfAeBQZaSTdO+2tzufYXhvwXyoiVmAMjNpIPyj1wz4p4frijaEEslFR+6dwfyxn/aIh5E07uFGvTv1YR6T8YyzQTMqkgHivQ47ls8pgaJtzyuC+KTGUqZSAVFUu5P1wLw2DzH0RjT6scCvnZNFkA2Yj2xMM5vw51dhqJo845gw/KPm48Rk1WHN/XGh4qLhRmA1HvjkkNWWy7AniuMKZ+d3oFSAooCscz47HuzDHhEC6JHYsKG1Gt8JR55x3sejAHD+UzEQiKOWXvsOcZ0pVm6BS8bnCvw53bp5Z9IVium+8bEH+GG/DMx1Fg+rUCriZWK6ed2XjAvGssorrUBVAC8knvxxh+eSaI5aKAslotlRsxY2e29Yue2d7hnwvOeWw8uEeTbMTG/mEEgoDR3oE8H1wjFDGi+QJNUkzr5lqy6UG5B1VuTh3x0xQsZfKSRpXKgNYFKAGI0kUS3fC2emYCVgSY1MarHJUg1N1FbYXQAPBvfDpTsEZVmaeWizh1jhKMaViedS9kUAelsMbUEQpZSwejZlUBCWjauqO6zK2L2pqHN7YTYCFUo6aYl1hYsiyIAW1xyVdCvhettsaqIrogHSgQ0yawEjcruySDzFHSfxAWW15s4qFaf8F8HeeVPL0qyaTSsdNfEroTuY2o9z8KBjeoY+iZX7MIg012+nGw+lD07AYY+w3gX3bLi1AZt6BJAvc1ZIFmyQOnewN8eiKf5/LB5Y83OXlWB/wBGT9kf8juPQ1i33AckCufTjvQ4r8/7a7j057f2+uBhr/z/AA3vipzrz3izfuwvjTt2/jz798ckgFc+lWfX+npxh+cDez6cbfqPTC8q80Cwvcb8cntse4Hvi5yZ3gVJFdtu24IPp7fUbbYFmF7KCb4u9/Xb19xx+uLyIRyR036HUo5BBPxAA3RsA/TFc0u2gkbnSDbAl04G4obEDUObHvi97LxJGQ0LalbbVsa46TXbg0eKur2xU1vfxBeo3elh01oAsj05FfpcxKerdlci9NHdhevTRrQdQI25FHFPPTSS1XpAsEFozVMdzdXRHfetrw/I5xc+/EVoHK6QLtCRuSARQrfkjY797VaPUUVqTqZEWiQG21DY7EkigSw39MXzsDsGDbJ0m2GkKRQJOoroLFt13+K+2ATO6DUz6esJL1sWQgFVJEYXqKqd7N1ud8Es+Hl+rSrHGVDoSrMY+vfpIsPHQHqCaGxWu+AyZoddg63j8tgeGI2V9ABkugDWkb98Egya2RuVYobUiP8ACkGz9NXpOzaif645miAGaDQSGHktGgsKw61YhaAHZibO/qcPRhLLxPIqBeqtSR6yEDfMVAUln3Pcgb1g2XyKsYmL6wbjIIAWOUi1Gniu3HIx2TOBmKhbBkEiKr9SvXVXlq+xNmtvywKTLOzSBukSyAkORGpc2VC7Mx7/ALPvik9g+IB0gWRh5cwcxnpCl1HUDVDgirGK53PAuZES1kjAlDWq6u5B/qMGkyMhy8soZVkiNMijUwWyts7Etdg7XxhZYIpMuzKGaSLS7sx3YH4huTsP6YqUui765CtIxvpULapXpqO5wxF4cXDKsyjQetEFUL337408m7CeRt/KZA6kklRW4A7A9sKwSwpO83mp5bqegbtZ7V9cB6XzOYGXzAiCLo2skWSD3vC3j15aVhH8L02DyZpZtBaGQsmwI2BA4vC3iyvMwaQogAoAte2Hg1rZdldVY9xiYwUhiArz/wCGJgwPC5Z4ZDpRpUJ4s2MQZbMeaY/M+Hck8AY74R4Y0c6NIVCg2TqGHctnkd8z1bsKU3zjmyft2LcvRdXshRPGTxRXvhWaVhL5Twws11xV37gjEj8AmV0LqApIOrUKrn+WOFvMzYo3vQP0wsqtnwHMSQhirQspBo6ZL/Rh/XDmX8Q8tQFlzEaMNvhI/IE7flhLxfJ6HbUwL6t1G9fnh7xTw6oIm1KAEvc7sT2A+g5wSXsWy4aykzCIBZNcaklTLlmOkmyaYA1vvziZSZggUPlpPxvNJaQKzfDYHmAAfDV+5xrQwSrnI2GtcqsQJIPRpEe99uf54WnSQlYip8jXAIQRsfmYr67Xf1xeM/KK/dL1jyMwyMNtGlyTIwZyxjvagKAFkDtePSfZrKLNmgokDsrEb6kZQz2CqtpkTSL3FbbfNv5vI+FkR6TEvW5uQLZV/NSNUWQccnpB9ce6/wDpvl5TnI/MWTQiMetiy6qvUPM1Fdm0jQVHHPc7kFyvraxAAAfKNv6Ae22KMlfrt+QNYORXoP8Ak7f1wvLJ7jZq3P129vrjOJ5yQJk9QNztv3I/w4EOxNb1VjayNv77cG8MsQBv2vuNqJW9/Sx/DCeblrVTBdBX02vbcWAVJIPpi52w5STtR49QvcAruPW7IAJ5ZTxvthWVihGzPTUenUdgdLA99tie3G+NFG3NbnUaFbH4ZP0B23GxrAZ4yVoHnUoJB3bey21EjRsTQ25N4c5FeBPQDu/y6rb3vSDRBNFaJa72IwmxAO42TQxKuNlOzLW1KLsEgXXvh5ulqLAsdR31jU0SaH2+a1F77HGXHTtF+IT5sbLux6/iWm/DNuNRF8Cu/e5UXivmMu1iwpOndnUr1qwKnewvKqVsXq4wvmWOpBbKH8xTrYEEb9LkspAQP02L6tu2GJJR5epiQr+W0pKgq/mDY35fWwoWABv9LxkeIaCs2tr0ZipAQ2xbWNfTp3Og9I243w5oskPQIzEJ0h5bVr2L+VcbagVdLAs7UTV4XXJCQB+plmkVD0sCrWygyKr6aVlIoDg/lg65cszqGZg8iglfN282MSeY4E2ym6Neh3xTN5Q1I9SuyWoXYtKLj6kLq5KU5NU3HODR4s6CND5ZuiGeJ9QRQHCakplAYIXtfi7drwPNywkSxvoDvCJFLSFykgr8IFmNXTbXfUB2w/nPCUj1hQSBHI3nCOEBWRmAQ1EACQBybJbbAcnIhzMKFpvLmiBUecQFYht201ZteBQs40l+s7PgWS8SJWF2hYmMvGVjiP8ApOtCjVdJ7XveOS5lVgTLsHKqb1sUiYEG1oOx7Eg/XbCGSkiky0nmqSyPEWdnYsQz6WA9AFrYe5+mh4sUiEj6IaSZTl9IWihButG7AbHfuBi/qKT/AOpMZp2Xy/8AuFKsgDybeo0LueTfucZvh0ZJZYWlclSGCRgdPeyzY9Bks+kXijUY/Lkbd7HBXVs10BqIv6DGR4FnVizegsoi8xrO1dwDfp+mLlQBksvrUBU6SaXzZqBPoFGxwx93dNPmNFBqJChUs7GucdgkjdEXzEUwzMeogWpN2p74c8az8GZK1KieW53buvNjDH+imd8NaJHeeVnCtQCtV4vlfBIZ0jlUFQWpgTeGPEvGMvN5sRk0g6SrVsSOcLp41FBAI0cOQ9msA7L+ITiKRkVFpTQ2xMN5jxXJSMXZiC3IrEw/8S/yfG3miGxib/8Ac4kbxk0sLE/7zgediJkaheGPCV+P1Axyp7d63Joz5ev/ALLf/wBD/fA8vCrkhYOObciv1wpGzaxzd49Fm4w33hUHVSkDv2vFSam3GXNldIB8gEE0CJGO/wCRww/h5Gr8GNiosqJmLADna8dyCvDHcoKgupUH2resNeSEzMmY8yPyiWI6xZDDgLz3w8heVLjKHSF0RWV1CIzSWQRfF1x2wKGUFoV8pKk+C3lOmzp/b9R2weOWN5Ypg5tUooEYtaggDYVvtvisGWcxxHySGR9WpyEAXVqoFiOT39sA39j+DHzSiiKJFMjA35x0lVMmqhKATQofTH0D/wCluYI8QRAqaSrAFFkHSEUqTqlYDmgK7Y8h4fNo80xmAAyK40LJMYwNiDoTT17AsWB5A5x6f7D57y89Cra10nTTUi9RNKsa6mPJ3d9ttsPOk29vtoYEevP6d/1GByR7mwOR/Ufzx0yaeewH88DD7gbGtyPXVx35xnIm2fVGA3uqsEj/ANp29C3/AM4FJELNha6QdjZpgG2324HffuMMvMNNEAgC9xdVyavfe/TCs8t0COiyzj90mx29bP5Yqaz5eMR4RRAAuiGGk7kChQvaiRfxYRzEbjWWAC+WLN8NxdsKIu+fTjDyTECzs1Ej11HdhdbC64v6YSzqqQQLpgi9IPGq6AFaQPi1bA4qajleOCPlgWPShZTe/aMnv1ag2m99lxmLAOnUkStpJAcqQesb9G9+XZ6drO+GZMwFBYkmmtSeAU/CXjeyNwKb174FPmGZ5QjUVLRkKSbaagTuRwexNDQdtsOaVvEj5atQ0Cg8tWFIK6SYr0r0gsQDW+xs74H91RnIMRA8yPq8oUVKkyVcVhdYrUbPV2xoSSljG6UyeYGXUV0kqGQJGG+EUrHYE7c4zZY+mOPQrMwRtJjOwUnW4tQSWbs1DajeLidjpyEVRl44gxKiZfwwI16rZSRbmtOwLb9sYmXWBnyqkLUm0g0QWDrK7/h9Ioaqq6r6428u0JIYhUR3k1BKLFW6Y/LKE6Qo6jVGwecK5mZQw8wuoCSM2mWVV2vy1Gs9TUBxXxb3WKiaB4f4THIqdAp0dvO8qHTGQxVEP4VXsLBN9W2LL4NE00UbK0YkaVaMMBLCOqazENII1Hg8CvXC+RywljiJc63dgxZIn6I01uVBQm+ALPN4bj8Os5dtWlp6CAxLqTYkktG0XSEKnYX1YdT7I5LwxGCK1B3y7T6vKgCqBekaTCS10LOoc4FlPC1dI2V1IIkaQ/d4RtGFJ0gpfLabP1rDGXimMCKmh0lfy1jinmHILH4mZQKFkdr374rFFJEY9CyOAZEURSRzLZrzFKtEpIO3Jr3xpKzqmW8JWWSBUkVFmUtpeCIsKJG2mMA7C+2FPuCoGeVx5YlaJBHDFqYqTvuKw5lvECMws1sDCCnlnKkKg3FfhM1VZ7YplM3GY/LkMEoEhkQrMY2BPIIdaIxfaO3c39nkhYGeWo2oIVhXVZF9Q9vbCp+zcvnPGGipTQYoBdjVsPpjczeeWejmYJRok1IYWV1IqqYg+vpjGyPiIOeeVwUXqIDfSh+eHNLaxosrK8hRVjJBIJ07bbXgviXhc0LIhEZL8UMKwTnzNiw1Nv7749T4tIDn4FsbBRvhn5Vnx/ZeYgEmFT6EcfriY2vGctmPOfTGxF7EDbgYmCYj/k5PimbkkYfCEv3F4Viy7Kb1qPzxzzYr3DH88E8T8OCIki/C36Y5n9d6fod87tRmH/im/wDHAI3Qtt5rsfQ1eGooRJk7AGpGN+tc4S8MtHViCA3Bw+ymZT0mXai3kaqHzyFiB9AcHVNIXU8MRkAKhYtRF8We2AeHZOVMxq0nTvqY8FTi+YMUwUayrxkrQUsWF2KrDkTprNAworZhpXYyMrKj6AAN7FDuDeM3MeGsSyKC7KQyk8lGF3v6Y1M9mS5dZIx5R0kGVtBBUabob7+lYpmJPxVZtYMiCNUjUxrp+HTrkBNEdwDh3BLWj4O9MhEyRDMPHKFLFVYx9MiNQNhtTUK5XGnk5gkwYdBZy9SIA41MWYBHPSpYA+Y4AAoAMTWMDw+Wo7jBhkZnRBHQ3QBtDyH8S2BoaSMaUDLHXUPKkZ5o0LdcitpIAuy8oIMdHkm+xxUTY+9+FZ8SwowIJApgP2l2N2AffgYYc/Tb9a/ud/7Y+bfY37QeXIVk26QGUbgV1GjVuybs7WfjIF6LP0Xzbqj7jE+Lzc+ee1ZQO9EbX71/z/LA9A3O+qh+lbccA1/DFj/n+f1xS/5dvTFSMbzDacggDa2J4HTydRrub/zbFXdq1GgB1733s9/iXi1HsMUlAOx4sGjwa9fQVwBgLNVt2qtj8x9Bd/kOBi/FP/IXbzFK7Bgqsm17vV2wXsBV3dV6nC0LDpB2kXTq4ssTubokaV3FVZf2wzrFMNIFcqyjjYkUdtRajXtucDY2G3LCydyD1EbtuNI0biwKF+uLxPkXfM6mWMM1yM46r1IgBUHk6SVu9hteEYSTUkZI2MKAEGlCnqroVaXq3JotfcYbmVTqUrTc0CaIoBFo9iOosVF173gU8ATdW6dBB26LagUF7WxHGmwACfZ5D1d5yFelZVaNdLA6ljCrpUpxGvSSbMlgkHCuezaaXdFIUx/IvUZCa1GVAVACjs257b4J97ZXOpdRiUqSAdKKd62GmwaBsKKWj64GuajIiYndD+LK/UxXk6WUsAWJIrVYpffC8T8nBAruCltpMSdJVz5j2zN5jKxCqNrFWR2wCWV1jDJJr82V0TSzBjtpLapdYFigdIA352xTy9ZhRT+JNZIkJNKT0jWgEm9HlqqiedlpoC/7bRZckA0GjKhrNEBXAJ9mO4xU4pvI7lPOgkiRQW8gM2kJrFSju8ZJuuCE/jgGTzwSSJVUiKAOSquWZnO/WulWrUF5X5cdOdEqSeYdnmEkjRDVaKKVCLDJXYla4w34vmEcTSkL5HldHwkvK++pTza8cj4cVImh+G5u/upEwRULyZj8QK2onUQy3ZB/Mb4X8PzMUkebneGMgaiCwslnJ0gA/DVjjA/HckqJllQszyqWImKmga03fw9+/bCXiGReJVjJIWXrCxMWBI76SL/gcVMpY0cn4NAJY8vpfzGj1vIrlShIsCuMRPDpRIsBzCmVhYSRbHrzzeA5fxtkYyeWryMFV3UnVpFX0HcGsFGZjOZlzZmUgC0X5rqqIPGHNKysmRxrZHywLISCYyRuPpikhgZtRkmjccFt6r3xp/ZDOu8rEkBRbsa5J9TjFaeObNM0ppGY7jFaMeoh+0+ZCgDMwsB3ZNz9aOJgUP2dyrAMNdHjExGcf0f+3xNvDGHJUD1vDGczI8lYh1EG7GKxQ6qKrt6udsFSJmJVXUH0Axzs/Tt7+1PCJXjDdNq3qaGBZmmNvIBXCrvQwqCQ4D70d8OeMZSnQoNnUUB68HB8P6tHKGUkKz6Bvrbb8gMH8GzDSMQxpUUtpSlLVtVjfjGfkZNDlW4PScMFhC6eUdTi9Vcf7f4Ycv1NnxseCtDMxk8sRtEwJ3JtWtbOrkqxBvASkvlzidjSnWjs19YO2mzZBHpgbz6VcaY8uJBTcs5B5AHYHA/DVjOpgKSMDW7jW2+w0p8I/PFfxOfT2XzdaZEWOOOgztMtjzQSdUajdiAdqHreC5JlCyaS8bJoHmMAX/FJOrmoorIvRv1DffEyrt5TTRnziSLDqCxRdmjAo6ex6e30x3MJ5MkkaLZj0rqlHQsLjUEmo7EWFrm1FYZNXw7OlEpnrSpH7RjiS/MokEAj/TA7mQEbmx7XwD7SSMgBpSvSR2U1YAN//IKkfFj5rDnVZ2etSOxuT4S0w6k1gf6cV/Cv7oJujjVin8tRrUovQNL2oGttbbi6UJGVBro800aIxcv1jz4S9PpkP2iF0wo88jtjTi8SVhz/AJ/nrj5suaY6QVuxuAAWWwQGvfpIUm+q6ar5JMt4lobY6OPiJ72LF0dqrTR9ffFyz68nL8P6fSTOP678YG1cm/Yj/O2PNZTxBtr47E16XuO1gjGnFmzxuvej39Nv+MazjHmvGw69m6323PFAVXtf9cKbcDax1Ei/oAO+9fzrF2mB9j6Yq0gN6rPp/nYYqRPk7oYIQdwDvsGpvU3sxAvbgc4rLGrsoTZ+nQd+1WxqgiiuVIs78YjK10BqAo6SCePTav8AOOTheaRW2O29k0LJPYKu3/kTfuMT461nLC0IEZYgaole3aiVY/LZ5oMdQUiiRucXOYjKxliSyli0jvTFTROjQ+9npAUkLRvnEE+lQNVKOAtNTGuocAtW3UduxO4wHOBW1EE0QBbEfiP2sdz2L7Eeo4w/HR5ANknSmXZyhLEBUMavsNeqksg7bKx5vAvDwI9MTpa+YGmr4iqi1UpV6b3JFgjF5ZmFrLbEsJCjPuxqhbb6hXymj6XiIwmVmkaMSNbM2n/SVdh7htgFX0w8GirIs7RpJJqkZ2kLxMKiQCgoatlqyR7DGaMn5xkdY9UaEnzAyK+kdyPhfb1H54FnLUBgzDzVI1VRZb31gc3XxDc97wKTOeVljCoIaRrd+zKOACO3rhyBM/rzMolaTzRsGCjS4Ufuf2sY05PFdbZiWMNaIsUK1uoO2quRgf3Qfd4Y/LQTzEFSBRRR8xPNnCU/R1+bqAOnzksMp9GHzD3wxjb8U8NRcuk2YLF41AbSQGLE7An2GMTP+HGo2UNKkgtSRTD6kYu04kjWPMSMF1ahIOoNfr6HGt4h4qq5VniPTtHGfpyf89MA7jz+WlkhV0j21iiGFH8sY6wHWFYVZHOPVjLM3h7STdTX+Ge+M6Lwqfyy7UygXRO/8cJUsei/6rHHSAghQB+mO48SREd9RHteJgLweJ8UsotcemFvC0bzAQD74mVzElUBY9xgrlj8T1+6vP6Y5v8AXa9TAvGCPMNHDcPiDlFUJZF0x7XgSwsBaRX7t/bBcrCWjaVyTpNaeME3RcwmYUXd21H0X+p4wdZW8tmjARQd6+L8zguR8SDOFZECNtQGKj8CZ42+A7H6Hg4ILv1TwHOKkwMm6OCjk77Ntf5Gj+WHGy5ybNrplkLIUHdOzf2wlnI1YgR7RqK1sKv1+uGspTWyt8AGqZ7JX00L2N8YcK/s1EwEaJHriGrVd6pXO4GhBWkAdycDzQlZXVQYzEdZiYdbA7+azHeQ3V3wKrDmQyylHeOVvxOlnag0b8i6+VvXHWM6RRq9feYn/A3BYp84c3/p+hPqe2LxEvYPhk5jk1R6VkLFZopPgUAWWb0AbcHtx7HW8LhjIRUkTqRvIDltTEEK7vXBYKVCgkqtbHfGF4jmC3meWVclg+YZRs7XdKvPlKf4nf0wTw/MhRaBdetGWGQEqDzrXvQ2P0Buxh8aXKdPQ5eQxWtJuAABICF0qT2YRk/ii01AHVexIGGlzgDUFYHSgOhWLWwlYlmcFjaoLavQdicYcebfXpQnQ/TW8bN1azKpqjqcliN9qFbDF/OUNsoJ1iOpSi26JMGZbOhdPmIR2LVtvi9Z3i9NB4midI1MpC0oYMaYF6cqGJJ0k1vtpsnUa18tn7IWiTsbpgSaLA1V8Xv+4dyQSfGZ9W0jWjatJJ81WC9Dj99j8LuTTcURzjQyMrAAABaBHTKW3HUvS1kWNS/+W/vpwrzfk4fXs4ZSdiQD9P5AD/Kw2k/ymv4c/U8489lJTpBCuq82wAFGt9gL4B27Y1oSGG1/wqj9bx6J28XKYclOkbUQeef+LHOAS0RaruLLNdD2odq/X0xElG+o2fp/fjAGkQHcFh6XXPH67YeI2pFPtpCBnbYFqoD2XgH3OIYmGlo1Z2FgPo4Pp3D1yCNxXcbC2aGoE1wN+mlFbgWdy3off0xp+ETJ5ZlkRpJIVTywDYomlZVqloiid6I4vEc7nbb8fHbjz0kiULN7DoAtnY82SKKnkEevrhLMxmJqJUkjexdDsrj+FdxhrO2jAjobfa9WgntfuN/UHHVl2B1hIl3Ycs7dww59RvtiiUyGeYFmvVO50InyqOxI4IA4wsMspLojM5AJfUBoJHNVup9GwKSB1AlApL6WBsrfAruO1YayPiIRJAsYsUdt9ROwPsvthKzCOVzNEtqbSUMZJ3aIHjbuvvjWSSCHKHSVko7WNmc+x7AYQ8Ril0oxBac2SANwh7MBhLLzqth0LR3bJwUPt7YDzT02Rk0RyRx7yWXiHFetdsKZdytqg/3wSf0xseKeO/8AbB4+kyHSP3VHa8Vn8GlkysZfeYnoPevc4Q1jeOePvKqxBfLRfl98Oxs0WUok65OMI57KOpCTrTfK4/kcBWZ2mjWXhTt6HD08+N/KfY4MilrsiziYdzH2hZWICmhiYEbyfBXzDNtdD2xp5tfJRdA3I3bGZ93OnVwMPR55WjCP2745cd3l/Ashn3EgJJONCTOCJyDur8jCkTqu8ab/ALTYBMyg2Trb9MPchZLTMBiDWiFj21bAYrJJqcuw81z2A6R9fX6Ypkh5rkHYDfSNscm8QdWpQEC9gP54BnZkNUXmONTXSr8qfljRyGbRo2k0DYaZkAoFezD3wvNnFVFcrayfEv8AUYBrGnSFKI3yD4n+vti50izRYDGiSCJiVcU7uKCj0A+ZsMeG5QllVo2WFgdyaMp+UM3yqTiuTyriRGcIwjNmIGyo+nc98XWKZZzJr1xMbdmO2nuCDwQO2HhWuZdS7PG8awyxqzrIo0gBRdN2YHscDE7yAEBRNJH5agECoxsdiPifgb3QPqMTN5p9wWdkJuGMjlRwzVvQ7A4t4iQGX8ASq1XJuWkY8mx8J7BfbADmYzqtqklEkerUGgZdSM4XbyzzGbIP8jgaTGMGNlbSqiMyqobTJet7B5BJ0m62UYJLO8btG0peDLMsqhq1eZp6EDckgmtuwONHIwQjygYMxUgX/u8vISS7bt5kbakIDE7dJ2w9LGbIqhW0OLRdD9LKgd3oUrfCdCkkgVscaySysGkcauobiQOqlmFOvJUX2B78VjF8TGgkyOJVadxanSXEX4YcqL03Zq/Q4YyJgBj8sS6vMU04FMtixYNGq9MXxrLnHpfD0GkdSJu1AhbYaiLB1A+35Y1MnNVjcUe/1P8ASsYfgWcsAM8BUknTIgJWzZolfzq8b+QLO5pgzXKfw9i9eXsNuDdj6HHp414fycfZgyHnf++CSEVtvXO2LZ7LSaQzqybgDW1k3f8AKsTKQq1bSSMOUUUB7Fv7Y03ph4iZbNpGbcO7Lui6qWiAQT33B4x3xSBlAktKmtozHa6W5K6TRAN16WMAlzsibBNBVasizoY2ASdjR2Dfli2Yy0rgyZlym3QSQOOKUD6cViLO9VOuiz+IKF8qFfj2Zn3Jv2GFJ8kYmUSgG9xR+Iem+4P1xbw7NOr/AIekFz8RHw1zX88dzDRuTo1yOASZGOxI349MVRJiZnMqyhpeq/8AThXYAcWaxmyFo5KQlWAtfUXuVPrjR8PzaqygqCKLI55VeSvuQbwtPKMwX0ppABIfvY9frhLnVW8MatWancmjQF7sfQ+2ELmndpVW9969PSsKTnUuof8AkPf1x6PwiNMpD58jW7DoQH+eA8xlZXNeXZ0B0vrjb5T6jHpoPtEGgkmqtPSi+mPNt4dmZCcxooNv6WPpgOWnVDbD8NtnHocSeae8MV5opWlNryCex9sZEOYD9D8/K2NjxnxmJYliy/w98HyOSimhLFNNDn3wyZgzUo2oGu/riYznz7KSoo13xMCsrwkoaTeqUcYoSicdR/TBMxlX0hidj2wjjl3p2Z2ZSfUw1fD6DB/EMoANS/DhAisaPh+eAGlxY9MOZ6ouzuFo1aPS/HphwZhJDfl2/wCn54Fmuo6n6R2Uc1jrRSFehCq/5zhxN79rz5itz1svAHwrjnhef0zB33va/S+4xXwzOhNSOLRufUe+GvuCANJqBWjQ98ObeyuTqrR+HukodXGi78y+39/bFfEZl1tLXSx6Ev8A9xHpfbCUI0rqff8AZW+/qR6YYyrRS2spKuTs/b2BHYYN+DPtPxSymJWy7dfxS1WuxxX7oHYYNms9I0aEExzuTr0bAoPmYcKcIZzw1svGr6qcvSlW5FdqwrmJdAom5G3kJ9Oy/wB8VuJyX01PDc6mplQhWVCIWY8yE9Tn94jj0xpnO5jyX8/ZyAsMqNpd2J+YoaZQOSRjIgXKS6WvyXBGpGso49j8v0xzIw/iMY6LOxSIHgA3b77UBipU8o08vD8DedFFGq+XGXS/Mo25Io7FyRqPoMabZ90+7xNHGqxyeckkTEr0i20gnpBIBPuMZ2QhikVYiVlKWFolW9SAeDvijyqVGhGVQfLRSbJ3tz9TsMaSMqb8OhBRW0SXyaW1P0rtjSyji73CBqvuLHH6HEeBg+sZgxp2BDDSPSsNZeZXlZgVGsuyXtvsoJ/njbj083PtpiWLyyPxC3YkAUfrfGC5JtdrrZR8XSNtwLvcYSlZkU65Q1gjSCd74/vimVljIdXZl3BBAvgVX641YY0c/IFKhTa6WU72aNk3XHqMDgdgFqMyOwsMdwO1flWEzIivHpDab5b5ux/TDHh/iAhj6wzgsQFDUBXvgLAvEHKSEigy6WIXgGurGhN4nEkQVlGphehNhv6nCGclDKjmMIWLKa7qeD9QcH8FnRx1RrrjFGRuABxt64k7OmfmuhgVB0kB1U9gdmXFJPEtemONNKHkLyfzw74qY3JeOQu6DqFbae9YRymfGX1FVtm3RvQf3GCGL4t4YIArgmm5RuQMLeHx6p41ckp8t+nNYWQSZlzbW3ucXWN0PluKZepcJUjW8U8ZllnEcNhVNADv9cJ+MRiOcqdg439jj0f2emy7nUg/Fb4vbAvtAmWLGM7yH5sBS9vHZfIXMqHYE8+2PS/arPrDEsEfpucYEqMLW+pODjKzM7MbY74NX46ssJO9YmOR5lgKGO4SmG3wYyssPxPzxMTHP5e46XD1XM/8ZwTw8c45iYn6v/yJlN5De+NXwlyZSCTXpeOYmL4M+bM8ZUCU1timQ3ZQdxeOYmJ+rn/VTOHrOADHcTBT4+jfh7EugJsC6vthaQ7n64mJg+D6h4x6Pw4dY/8AwH+WJiYvgz/J6KeA/wDqY/8Adjd8P+KL/bIfzs7/AFxMTG3D0w/J7b3gkzOjh2LDQ2zEnt74B9nxufZFr2x3ExvHlpzxJzpO55GM7ufriYmNJ7ZX00R/pp/vGNH7PoGR7ANOasXiYmEGd9oG/FA7A7D0wuD+FP8A7hiYmAT054GOpv8Aa2EZ/gH1xMTCvs4v4N/rL9cbX2s/9Qn+3HMTBR9V+y20kte+MWVicxufmxMTB8H094n/AKy/TGH4h8Zx3ExNXDmVUaBtiYmJjQq//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data:image/jpeg;base64,/9j/4AAQSkZJRgABAQAAAQABAAD/2wCEAAkGBxQTEhUUExQWFhUWGR4bFxgYFxwfHxodHCEdGB0eHhwbHCggHB0lHBwdITEhJSksLi4uFx8zODMsNygtLisBCgoKDg0OGxAQGywkICQsLCwsLCwsLCwsLCwsLDQsNCwsLCwsLCwsLCwsNCwsLCwsLCwsLCwsLCwsLCwsLCwsLP/AABEIAMIBAwMBIgACEQEDEQH/xAAbAAACAwEBAQAAAAAAAAAAAAADBAACBQEGB//EAD8QAAICAAUCBAMFBwMDAwUAAAECAxEABBIhMSJBBRNRYTJCcQYUI4GhUmKRscHR8DNy4RUkgjSi8QdDc5KT/8QAGQEAAwEBAQAAAAAAAAAAAAAAAAECAwUE/8QAIxEBAQEAAgMAAwACAwAAAAAAAAERAiESMUEDUWEigRMyQv/aAAwDAQACEQMRAD8A+TZXLBV1NhLOZkuedvTDck7qKYah6jCcsqkbLRxtfWMuPvVcvmWTjg8j1wzpV9x0N+hwbwvLCjI3AxQ+IqTTICv64J/St29LysGGmTpYcN2OO5bw0L1OwocUecWmFIHA1xk1R5GFWywYXG1/unkf3wfSnpzxHM636e2wwcqQF83b9lhz+eLeFxoFJJHmdlPbCfiAfV1n6UcL+n9w5nM6WoSrfowPOJF4UAoeVwgPA5JH0wDKsShVgTGO/wCyfXD08aSaRI+gqKDUSHA7j3xU7K9dRGgChQH1ITcb/st6H0wVoYZZNTllc7NGBZZv3T6HB81kVSALqCIxDan+JvcKNwMCgBjkRjTOgu1O0sfej+0BisRu+ls9CxKaPLUxjpj1Wx7ke+E8t4fHJKNT+XG4JUn25Wz3B2xpeF+Hw62mWRnCHUL6dO+2tj39hgR8OaUN1R6JXZoypJUSgX5fGxYcXsdsOz6JfhTxKaKPVFHCQ37btbetgDYYZy7xtayawuYClTGtkSLsRp72fT1xqxZeUJCchClPGNcr6SyuNnUljS0R6cYD4hL5cpaILqh0Zjp+EMNKyhSeVsg7e+Ab8dl8G+7xSeWJZGYD4lChdJuytknDkGXEpeKRPwjpzCsrgaBIBsCdqN8eowp4WsInGZj+9ytqLCNYSeeVZrojetu2Aw5pyoRomZWVo2QfEAj617WNJat8VKz5StHOLHEsaRBiolDlmZTvsK6cP5HKfeI6GpDGzANR0mzfI74wUCqpVI5QWZfjqhRv05ONvKZi10CUxFHcqd6bUb3I7424sOfo6qVpjZg7LrJN8Cvfvh2LwaIwxuZgHf5ewPoT2wjmW1aNTB3CtqZTz+z9cNZeFKCvqHve1kemNo83Kk5cmYpBqo1uCDsaw74V4n5UTg8lrqvi9d6wvJlNLMpOwYLf8/0xpy5h0bS8atGdlFdu1Ed8OzU70WzzZaYDykdZiQNNCvc2P7YFLkpXk1xrqSI0K9uaxMwqxPI0f+1fYnn+GGPEDJEIniJ0BRxxfe8LP0e/sp/1yRJGJHSeUPGEmkDM8irV7AD1ONPx1hIsTadMjDce3rgXg+X1yaV4jBP1OFTgEMcmXUl1PVwcNZPxlHiKTbkDY4P4f4l5rNDNvZNe3tjDlyH4xQcA8+2GJ25BGEDP27YnhElzBm2w7FErHU3+mn6/8Yez2Sjlh1wiiMI7VpvtGVYgNxiY8e4N747gPHi4cyy8H8jgxeN+RpPqOMLzRaTyD9Mdy8epgMcx2bntowEopUjWh7jtgIySselxXodjjmdqMjQSD3xT7yr/ABj/AMl5xX8qJvuNVtLARIekcnCbzQq2nSRXzA74mRtCSnWp5HBxFycTHV5mkDlW5w7dKSRbOotgObDC1kH9RhQZOnAc0p4bsfzwwwM7hV2Re/oPXA5MyqsVUao/Q/zHphU5vox4oGUCNdOj90g39awWDw1wulwGFXpB6072B/MYr4YqRuJV603B/ajvuR3r1w5kPDh52oTLK3xAqTVftPfA9sVJqLcgb+VMyGZn1ABRoF+aBsKv4T64YzccTSRxCTyip0xgAtpYn5m9zzisCoVkCStIsZ8xl01RveSM9q7g8jGv4bM7Ss0MOXWXR5jZogta/Drjjbhie1Xd4oqzswqxrNHMjKusCZIyNUcq7BhexRh/AnAc0dMXlqFy0RIcCQkyuVHSaHG/sBvgX3mJp6BlKyalnlkNsxY7OV+UK1H1xM1RUPmH82QEp5alVYUT8ZrU3GxAPbfAfocTqPMk1xxSTJHIh0kr3WQADVpbUL3/AExaXNStGqt5jDy5gJJFIvUuoqt7kDTeJ4KraoqqMh5E0urHSjL5o02QbNOBVG/rg0UUXmKxOYMhJUCcrbq6OppBbLRqrJ5w56K5okrSSGCCfONHJojUIiyMKcKU1UwW9JHGJl/DpFZVjkj1RJIZC7UrDzXQkbWRSg78Y5lMw3kwhDm3JQAqJFjqtgFOgsy+lH+GGfDMuroCqprEcagy6tNMHdltNy3WOewxUjPlchfK5d0kTXKroDr6ZNQ6Bq/pj0GTzGZihVTF0gk2VBBDb0feyTd98ZRyyKxGkISER9IYgMzaiVDb/Ao/jjXy6sD+HOSRSAbqSPhA22P1vjG/CPL+Tkvl0EjWFCFjQCjaq3O/c8Y2ssAFKlSCqluoWNv19vriZHw09VR61AAQg0SFJBYC7omzweMcnYtSgsV26Sb37D3xtnTzW9lctHqcXWogt1cFjuL/ACrDLu4R7BjZRdj4TZoc7WfbBfJ0J1x6gSSWBB9O429dsBnbawzMo/01buwG5r0X+f54MT5dlMrGesqLZB036n4m9zgyZ8mN32Vl+IEdLfl64bgkZPLKjVGQBsNwx597vGd4rMSzL06VbehWo9gcJUulIw0rjUep/wD2qPQY0/CZYS2mIaHXg38WBZBUSQAk+d6n4Tfy/wAMDzEcSSeaGog/6ffV6fTCw1vEJ4A/mbiUbaff1xlMrnpUW77n2xbNT9RdqLtvXZcOeUyZbzVNsx3PpgMU5AnLFKphvXrhf7MzFQ4b4cP5bxC4fMO9bMMZc+dD3pGlO/vgEZmaiJdiBsTtiYP95PyqSO22Jg6Vj59L4aw3WmHqDg3hWlSdex7XiZfJELrL6PT3wfSxUUUkvt3xzZPrr270TzcIstrB9BhnwvLKEaVxYHAwtIsZNENGffcYbiVgmjaRP3TuME9i+sCizCuwBSiTsy7EYIYWLMjxtJp+ZRuP747lWhiYPbFhwrDvhnxbPvGqhCVL9bMO98C8V87T9yBZQmNH0KJUPJ3DD6jnCeSyhnlpF0rya4UDnGlLli4R9QjdVuRxtt2uuTikyBQJNYptvOisH6Om2+DBL+gs1KzTKsC6Ai6V2okd2b1s+vbGiMv5bBtMduKZQ9xTDuoYfA3thWCH8OXXJsxAWYAspA7MfiS/cd8OxiFIoY1j88MxIBJVXb4WbbcKo2+tnjDhUJWuKRUiMUKH8VA1yORuAzGiFHoMWTwuR46kVVGoGKNWXUjNvoYHqVZAponhq23wdAvnpLo1FWYwaiPx41tau78xflf5tPqMDaLVEPL0hWJZtUyl7FjzJ2B1LRulAAs9yRh5pbgjqJQscYkihcA+VGourILSP3Ar5ieOBjseXLMxIAYqQ7AaX1RaV6dRAXWjI9n9440VbSpj8w2aJ8tyLYbuI0I1lpA6MVAUhg4ujhfL6yxYhgymTspK6Y4FA12VhYA1qJJB2Nk4tG0snhqnoVW1sULB3JBIZmFOFBNxrJekcjbBngAto7DKSywiNbs0sdlbYnzGXZqJCsaFYP4Zk6DMyrWtidepwSoCAlnQnUC8pvTzH+eG2ZI3Y6jaEWS7sdWlghCqD07uSuwGqO9yVCG9kGytMum2EYVFnCICAq6qq2YNpBA2HVVHe8VMZpVeKTqIOh4Nlc0ulb0nhVA/LveNdlGm3UKg6TYkAvdlYKE01eknijGgJuwDw5MfGSV1Eqza9Nk2S2lmIVtJAG/DljR03pxjLny/Zfw7c/6iXup3I3oC1YAhQANANVQPrjVgyTNQQFiCfRiexNgfDfB7m/TBAruwR7YDbSyKGGkDYMLrYbke+1nGrl8oqAXve+1FSw5GxBWr/lj0cY8XPmtBSgWASlBbBVtuBY5/OjiQqL1lgGvYkbMTeq/Qdv4YOiq56yygDkC64A78VZvHZJEQEDfajRtD6GiLBHNc7dsWw0rM4TUoBXUKamBWuen1J7XxZwF2kiIlAFFaFbhAaIH+c2cNR5MksBp1Lvpbt632s7b9uLGFs2dBOhtIZfxBYYKT2HYmu3a/bY6PsnmM1fVHcbH46NL9fb6YFl0UIXKa1Ugab4vlj7nDD5coscpUGOwa7+2r3OO5jPqR5q0JPhkjPDj1AwK9dK+KmLockg1akC9QHY+hGMfN5glmcjqPb9kf3wzKGcgUq6RsvyoPU33wxlNMRMUoBMh3btRGxB+uEr0p4P5RTS4BaQnfuMUyeZEJeCa9B4OM7NZdopCvcHav0wXOzFm1S0WrZR/XCpzsWWRNJSOxHyWPfC2TTzpAo2UdvXFvDozPKFb4BuR7Ye8QgEEiyxfBwcIy+Y8SKMUCbLtiY9D9yik69urfEw+i8q+O+JQMyKU3Uc1hbweAmUbEVvjWMcY4SaL1rcYXlJ3CTr6dQ0k45v3XZl6xneKya5TX0xfORrGFA2fkkHEgybq+orqAO5U3gviE0R30vq99gMI/siuVaSQG1Eijm+354bRylLflnssotfyPbFZQfukaxgm2JeufQXh2DLAwoklmrlf1CjYD2xUibQ7LQyJMxUuwKyAakIHYkcDFss6RwPoqTy6NgWNRsA/Qc74r4enmpI0KNEykBdLEqxPCkHvW94JGpRXktLTaRoHplF11RkaWF1hp/iRs7+QRoimOpmcKADGBep1+E7XvXfHclm/MUImoR6iXy60NYNFxC5FrY3Md+tXxgXmMyTMv/ctIAC1lXRRvRjAuuONsFzWXVtCRHzocvFqYIG6pG3YkgXu3ccKgwGbJ1SJmGjVkkBCqxHQFtFiQKRoYEXe2kC/UlzJ5dmN1qaTdnCDreMFo5V1EFQw8wFhuxjsAE2F8rDTK0ja5Qra2VRbqtiRCWBDuoGrWNyI3Bs1j0MGQKH97Y0R2F6WpgGJOth9JGOnubjLlcKw5NVGxJZlYturfGUVvkoKFjut+bthiBVFEqmrsBVAlVWrDbWqLyNyg23w0uQYgqCe53okm6+L1PqPTBIvCT6E/FwLJ7b3XqdybxbK8oQERLBiSdzfG7XwxU23STWq/hBN0QzcBQ1vemiFMgZgGvgodQAJu2F2TZ7jYyvhwBs86rDHqOw9R0myaPHfY7Ydj8K4HHAa997JIp7BoewOKnBny/LGdFkOrelY2pYqFc1QUvSg6RQA7Cu50lXY4WN6ejUAb1MADfCn5R7Cu/HfQy/hyrwNXJPoLreu312+mG3g4uuy8C69LAvjbbbGkjz8vyaz4o62AbnY2L9txsw9q2vnfBmO9vv7Vx6c9u9ew5w4sYA2HB3uq9gbP6XjkuXFEsbK0ACxA78Nx9OO9jFeUZWWlZsyzGlVQwGnVWnnatzV16/lxgEg0At0uPhZSKK+1ci/2hvtg7Tcqqqa2uqBUCyGX251EqffC88RvUasUdI5aMAbqwNAVttZ2bc4cosDnzZ7dhpBIGtQ21M3A7gFt67YoYBGX1ASaOl0qtIJFst8jtq2O47Yr94C0Uoxv8aHYA8EFjxxam/8AnrGRgoIJVqXURpAUnp1PQdl+lXXJwxJpPzTGziNw8TCiWuqPFj9oegwHL5Al4xRVZLKseWoXt+zf9cayZWuUWanXVS8wuBpMa/KLu6F33wnmMxQmhJZ/LcGJ1qlK7bngDSMPdP0DkkjeOQaRGRs25O17E33BwjnaZEXUCUu3HAHYX3ODnMPM2hQHZviCDSGruzcn+WAiGkaSRdWh9JS6C+9DfAeBQZaSTdO+2tzufYXhvwXyoiVmAMjNpIPyj1wz4p4frijaEEslFR+6dwfyxn/aIh5E07uFGvTv1YR6T8YyzQTMqkgHivQ47ls8pgaJtzyuC+KTGUqZSAVFUu5P1wLw2DzH0RjT6scCvnZNFkA2Yj2xMM5vw51dhqJo845gw/KPm48Rk1WHN/XGh4qLhRmA1HvjkkNWWy7AniuMKZ+d3oFSAooCscz47HuzDHhEC6JHYsKG1Gt8JR55x3sejAHD+UzEQiKOWXvsOcZ0pVm6BS8bnCvw53bp5Z9IVium+8bEH+GG/DMx1Fg+rUCriZWK6ed2XjAvGssorrUBVAC8knvxxh+eSaI5aKAslotlRsxY2e29Yue2d7hnwvOeWw8uEeTbMTG/mEEgoDR3oE8H1wjFDGi+QJNUkzr5lqy6UG5B1VuTh3x0xQsZfKSRpXKgNYFKAGI0kUS3fC2emYCVgSY1MarHJUg1N1FbYXQAPBvfDpTsEZVmaeWizh1jhKMaViedS9kUAelsMbUEQpZSwejZlUBCWjauqO6zK2L2pqHN7YTYCFUo6aYl1hYsiyIAW1xyVdCvhettsaqIrogHSgQ0yawEjcruySDzFHSfxAWW15s4qFaf8F8HeeVPL0qyaTSsdNfEroTuY2o9z8KBjeoY+iZX7MIg012+nGw+lD07AYY+w3gX3bLi1AZt6BJAvc1ZIFmyQOnewN8eiKf5/LB5Y83OXlWB/wBGT9kf8juPQ1i33AckCufTjvQ4r8/7a7j057f2+uBhr/z/AA3vipzrz3izfuwvjTt2/jz798ckgFc+lWfX+npxh+cDez6cbfqPTC8q80Cwvcb8cntse4Hvi5yZ3gVJFdtu24IPp7fUbbYFmF7KCb4u9/Xb19xx+uLyIRyR036HUo5BBPxAA3RsA/TFc0u2gkbnSDbAl04G4obEDUObHvi97LxJGQ0LalbbVsa46TXbg0eKur2xU1vfxBeo3elh01oAsj05FfpcxKerdlci9NHdhevTRrQdQI25FHFPPTSS1XpAsEFozVMdzdXRHfetrw/I5xc+/EVoHK6QLtCRuSARQrfkjY797VaPUUVqTqZEWiQG21DY7EkigSw39MXzsDsGDbJ0m2GkKRQJOoroLFt13+K+2ATO6DUz6esJL1sWQgFVJEYXqKqd7N1ud8Es+Hl+rSrHGVDoSrMY+vfpIsPHQHqCaGxWu+AyZoddg63j8tgeGI2V9ABkugDWkb98Egya2RuVYobUiP8ACkGz9NXpOzaif645miAGaDQSGHktGgsKw61YhaAHZibO/qcPRhLLxPIqBeqtSR6yEDfMVAUln3Pcgb1g2XyKsYmL6wbjIIAWOUi1Gniu3HIx2TOBmKhbBkEiKr9SvXVXlq+xNmtvywKTLOzSBukSyAkORGpc2VC7Mx7/ALPvik9g+IB0gWRh5cwcxnpCl1HUDVDgirGK53PAuZES1kjAlDWq6u5B/qMGkyMhy8soZVkiNMijUwWyts7Etdg7XxhZYIpMuzKGaSLS7sx3YH4huTsP6YqUui765CtIxvpULapXpqO5wxF4cXDKsyjQetEFUL337408m7CeRt/KZA6kklRW4A7A9sKwSwpO83mp5bqegbtZ7V9cB6XzOYGXzAiCLo2skWSD3vC3j15aVhH8L02DyZpZtBaGQsmwI2BA4vC3iyvMwaQogAoAte2Hg1rZdldVY9xiYwUhiArz/wCGJgwPC5Z4ZDpRpUJ4s2MQZbMeaY/M+Hck8AY74R4Y0c6NIVCg2TqGHctnkd8z1bsKU3zjmyft2LcvRdXshRPGTxRXvhWaVhL5Twws11xV37gjEj8AmV0LqApIOrUKrn+WOFvMzYo3vQP0wsqtnwHMSQhirQspBo6ZL/Rh/XDmX8Q8tQFlzEaMNvhI/IE7flhLxfJ6HbUwL6t1G9fnh7xTw6oIm1KAEvc7sT2A+g5wSXsWy4aykzCIBZNcaklTLlmOkmyaYA1vvziZSZggUPlpPxvNJaQKzfDYHmAAfDV+5xrQwSrnI2GtcqsQJIPRpEe99uf54WnSQlYip8jXAIQRsfmYr67Xf1xeM/KK/dL1jyMwyMNtGlyTIwZyxjvagKAFkDtePSfZrKLNmgokDsrEb6kZQz2CqtpkTSL3FbbfNv5vI+FkR6TEvW5uQLZV/NSNUWQccnpB9ce6/wDpvl5TnI/MWTQiMetiy6qvUPM1Fdm0jQVHHPc7kFyvraxAAAfKNv6Ae22KMlfrt+QNYORXoP8Ak7f1wvLJ7jZq3P129vrjOJ5yQJk9QNztv3I/w4EOxNb1VjayNv77cG8MsQBv2vuNqJW9/Sx/DCeblrVTBdBX02vbcWAVJIPpi52w5STtR49QvcAruPW7IAJ5ZTxvthWVihGzPTUenUdgdLA99tie3G+NFG3NbnUaFbH4ZP0B23GxrAZ4yVoHnUoJB3bey21EjRsTQ25N4c5FeBPQDu/y6rb3vSDRBNFaJa72IwmxAO42TQxKuNlOzLW1KLsEgXXvh5ulqLAsdR31jU0SaH2+a1F77HGXHTtF+IT5sbLux6/iWm/DNuNRF8Cu/e5UXivmMu1iwpOndnUr1qwKnewvKqVsXq4wvmWOpBbKH8xTrYEEb9LkspAQP02L6tu2GJJR5epiQr+W0pKgq/mDY35fWwoWABv9LxkeIaCs2tr0ZipAQ2xbWNfTp3Og9I243w5oskPQIzEJ0h5bVr2L+VcbagVdLAs7UTV4XXJCQB+plmkVD0sCrWygyKr6aVlIoDg/lg65cszqGZg8iglfN282MSeY4E2ym6Neh3xTN5Q1I9SuyWoXYtKLj6kLq5KU5NU3HODR4s6CND5ZuiGeJ9QRQHCakplAYIXtfi7drwPNywkSxvoDvCJFLSFykgr8IFmNXTbXfUB2w/nPCUj1hQSBHI3nCOEBWRmAQ1EACQBybJbbAcnIhzMKFpvLmiBUecQFYht201ZteBQs40l+s7PgWS8SJWF2hYmMvGVjiP8ApOtCjVdJ7XveOS5lVgTLsHKqb1sUiYEG1oOx7Eg/XbCGSkiky0nmqSyPEWdnYsQz6WA9AFrYe5+mh4sUiEj6IaSZTl9IWihButG7AbHfuBi/qKT/AOpMZp2Xy/8AuFKsgDybeo0LueTfucZvh0ZJZYWlclSGCRgdPeyzY9Bks+kXijUY/Lkbd7HBXVs10BqIv6DGR4FnVizegsoi8xrO1dwDfp+mLlQBksvrUBU6SaXzZqBPoFGxwx93dNPmNFBqJChUs7GucdgkjdEXzEUwzMeogWpN2p74c8az8GZK1KieW53buvNjDH+imd8NaJHeeVnCtQCtV4vlfBIZ0jlUFQWpgTeGPEvGMvN5sRk0g6SrVsSOcLp41FBAI0cOQ9msA7L+ITiKRkVFpTQ2xMN5jxXJSMXZiC3IrEw/8S/yfG3miGxib/8Ac4kbxk0sLE/7zgediJkaheGPCV+P1Axyp7d63Joz5ev/ALLf/wBD/fA8vCrkhYOObciv1wpGzaxzd49Fm4w33hUHVSkDv2vFSam3GXNldIB8gEE0CJGO/wCRww/h5Gr8GNiosqJmLADna8dyCvDHcoKgupUH2resNeSEzMmY8yPyiWI6xZDDgLz3w8heVLjKHSF0RWV1CIzSWQRfF1x2wKGUFoV8pKk+C3lOmzp/b9R2weOWN5Ypg5tUooEYtaggDYVvtvisGWcxxHySGR9WpyEAXVqoFiOT39sA39j+DHzSiiKJFMjA35x0lVMmqhKATQofTH0D/wCluYI8QRAqaSrAFFkHSEUqTqlYDmgK7Y8h4fNo80xmAAyK40LJMYwNiDoTT17AsWB5A5x6f7D57y89Cra10nTTUi9RNKsa6mPJ3d9ttsPOk29vtoYEevP6d/1GByR7mwOR/Ufzx0yaeewH88DD7gbGtyPXVx35xnIm2fVGA3uqsEj/ANp29C3/AM4FJELNha6QdjZpgG2324HffuMMvMNNEAgC9xdVyavfe/TCs8t0COiyzj90mx29bP5Yqaz5eMR4RRAAuiGGk7kChQvaiRfxYRzEbjWWAC+WLN8NxdsKIu+fTjDyTECzs1Ej11HdhdbC64v6YSzqqQQLpgi9IPGq6AFaQPi1bA4qajleOCPlgWPShZTe/aMnv1ag2m99lxmLAOnUkStpJAcqQesb9G9+XZ6drO+GZMwFBYkmmtSeAU/CXjeyNwKb174FPmGZ5QjUVLRkKSbaagTuRwexNDQdtsOaVvEj5atQ0Cg8tWFIK6SYr0r0gsQDW+xs74H91RnIMRA8yPq8oUVKkyVcVhdYrUbPV2xoSSljG6UyeYGXUV0kqGQJGG+EUrHYE7c4zZY+mOPQrMwRtJjOwUnW4tQSWbs1DajeLidjpyEVRl44gxKiZfwwI16rZSRbmtOwLb9sYmXWBnyqkLUm0g0QWDrK7/h9Ioaqq6r6428u0JIYhUR3k1BKLFW6Y/LKE6Qo6jVGwecK5mZQw8wuoCSM2mWVV2vy1Gs9TUBxXxb3WKiaB4f4THIqdAp0dvO8qHTGQxVEP4VXsLBN9W2LL4NE00UbK0YkaVaMMBLCOqazENII1Hg8CvXC+RywljiJc63dgxZIn6I01uVBQm+ALPN4bj8Os5dtWlp6CAxLqTYkktG0XSEKnYX1YdT7I5LwxGCK1B3y7T6vKgCqBekaTCS10LOoc4FlPC1dI2V1IIkaQ/d4RtGFJ0gpfLabP1rDGXimMCKmh0lfy1jinmHILH4mZQKFkdr374rFFJEY9CyOAZEURSRzLZrzFKtEpIO3Jr3xpKzqmW8JWWSBUkVFmUtpeCIsKJG2mMA7C+2FPuCoGeVx5YlaJBHDFqYqTvuKw5lvECMws1sDCCnlnKkKg3FfhM1VZ7YplM3GY/LkMEoEhkQrMY2BPIIdaIxfaO3c39nkhYGeWo2oIVhXVZF9Q9vbCp+zcvnPGGipTQYoBdjVsPpjczeeWejmYJRok1IYWV1IqqYg+vpjGyPiIOeeVwUXqIDfSh+eHNLaxosrK8hRVjJBIJ07bbXgviXhc0LIhEZL8UMKwTnzNiw1Nv7749T4tIDn4FsbBRvhn5Vnx/ZeYgEmFT6EcfriY2vGctmPOfTGxF7EDbgYmCYj/k5PimbkkYfCEv3F4Viy7Kb1qPzxzzYr3DH88E8T8OCIki/C36Y5n9d6fod87tRmH/im/wDHAI3Qtt5rsfQ1eGooRJk7AGpGN+tc4S8MtHViCA3Bw+ymZT0mXai3kaqHzyFiB9AcHVNIXU8MRkAKhYtRF8We2AeHZOVMxq0nTvqY8FTi+YMUwUayrxkrQUsWF2KrDkTprNAworZhpXYyMrKj6AAN7FDuDeM3MeGsSyKC7KQyk8lGF3v6Y1M9mS5dZIx5R0kGVtBBUabob7+lYpmJPxVZtYMiCNUjUxrp+HTrkBNEdwDh3BLWj4O9MhEyRDMPHKFLFVYx9MiNQNhtTUK5XGnk5gkwYdBZy9SIA41MWYBHPSpYA+Y4AAoAMTWMDw+Wo7jBhkZnRBHQ3QBtDyH8S2BoaSMaUDLHXUPKkZ5o0LdcitpIAuy8oIMdHkm+xxUTY+9+FZ8SwowIJApgP2l2N2AffgYYc/Tb9a/ud/7Y+bfY37QeXIVk26QGUbgV1GjVuybs7WfjIF6LP0Xzbqj7jE+Lzc+ee1ZQO9EbX71/z/LA9A3O+qh+lbccA1/DFj/n+f1xS/5dvTFSMbzDacggDa2J4HTydRrub/zbFXdq1GgB1733s9/iXi1HsMUlAOx4sGjwa9fQVwBgLNVt2qtj8x9Bd/kOBi/FP/IXbzFK7Bgqsm17vV2wXsBV3dV6nC0LDpB2kXTq4ssTubokaV3FVZf2wzrFMNIFcqyjjYkUdtRajXtucDY2G3LCydyD1EbtuNI0biwKF+uLxPkXfM6mWMM1yM46r1IgBUHk6SVu9hteEYSTUkZI2MKAEGlCnqroVaXq3JotfcYbmVTqUrTc0CaIoBFo9iOosVF173gU8ATdW6dBB26LagUF7WxHGmwACfZ5D1d5yFelZVaNdLA6ljCrpUpxGvSSbMlgkHCuezaaXdFIUx/IvUZCa1GVAVACjs257b4J97ZXOpdRiUqSAdKKd62GmwaBsKKWj64GuajIiYndD+LK/UxXk6WUsAWJIrVYpffC8T8nBAruCltpMSdJVz5j2zN5jKxCqNrFWR2wCWV1jDJJr82V0TSzBjtpLapdYFigdIA352xTy9ZhRT+JNZIkJNKT0jWgEm9HlqqiedlpoC/7bRZckA0GjKhrNEBXAJ9mO4xU4pvI7lPOgkiRQW8gM2kJrFSju8ZJuuCE/jgGTzwSSJVUiKAOSquWZnO/WulWrUF5X5cdOdEqSeYdnmEkjRDVaKKVCLDJXYla4w34vmEcTSkL5HldHwkvK++pTza8cj4cVImh+G5u/upEwRULyZj8QK2onUQy3ZB/Mb4X8PzMUkebneGMgaiCwslnJ0gA/DVjjA/HckqJllQszyqWImKmga03fw9+/bCXiGReJVjJIWXrCxMWBI76SL/gcVMpY0cn4NAJY8vpfzGj1vIrlShIsCuMRPDpRIsBzCmVhYSRbHrzzeA5fxtkYyeWryMFV3UnVpFX0HcGsFGZjOZlzZmUgC0X5rqqIPGHNKysmRxrZHywLISCYyRuPpikhgZtRkmjccFt6r3xp/ZDOu8rEkBRbsa5J9TjFaeObNM0ppGY7jFaMeoh+0+ZCgDMwsB3ZNz9aOJgUP2dyrAMNdHjExGcf0f+3xNvDGHJUD1vDGczI8lYh1EG7GKxQ6qKrt6udsFSJmJVXUH0Axzs/Tt7+1PCJXjDdNq3qaGBZmmNvIBXCrvQwqCQ4D70d8OeMZSnQoNnUUB68HB8P6tHKGUkKz6Bvrbb8gMH8GzDSMQxpUUtpSlLVtVjfjGfkZNDlW4PScMFhC6eUdTi9Vcf7f4Ycv1NnxseCtDMxk8sRtEwJ3JtWtbOrkqxBvASkvlzidjSnWjs19YO2mzZBHpgbz6VcaY8uJBTcs5B5AHYHA/DVjOpgKSMDW7jW2+w0p8I/PFfxOfT2XzdaZEWOOOgztMtjzQSdUajdiAdqHreC5JlCyaS8bJoHmMAX/FJOrmoorIvRv1DffEyrt5TTRnziSLDqCxRdmjAo6ex6e30x3MJ5MkkaLZj0rqlHQsLjUEmo7EWFrm1FYZNXw7OlEpnrSpH7RjiS/MokEAj/TA7mQEbmx7XwD7SSMgBpSvSR2U1YAN//IKkfFj5rDnVZ2etSOxuT4S0w6k1gf6cV/Cv7oJujjVin8tRrUovQNL2oGttbbi6UJGVBro800aIxcv1jz4S9PpkP2iF0wo88jtjTi8SVhz/AJ/nrj5suaY6QVuxuAAWWwQGvfpIUm+q6ar5JMt4lobY6OPiJ72LF0dqrTR9ffFyz68nL8P6fSTOP678YG1cm/Yj/O2PNZTxBtr47E16XuO1gjGnFmzxuvej39Nv+MazjHmvGw69m6323PFAVXtf9cKbcDax1Ei/oAO+9fzrF2mB9j6Yq0gN6rPp/nYYqRPk7oYIQdwDvsGpvU3sxAvbgc4rLGrsoTZ+nQd+1WxqgiiuVIs78YjK10BqAo6SCePTav8AOOTheaRW2O29k0LJPYKu3/kTfuMT461nLC0IEZYgaole3aiVY/LZ5oMdQUiiRucXOYjKxliSyli0jvTFTROjQ+9npAUkLRvnEE+lQNVKOAtNTGuocAtW3UduxO4wHOBW1EE0QBbEfiP2sdz2L7Eeo4w/HR5ANknSmXZyhLEBUMavsNeqksg7bKx5vAvDwI9MTpa+YGmr4iqi1UpV6b3JFgjF5ZmFrLbEsJCjPuxqhbb6hXymj6XiIwmVmkaMSNbM2n/SVdh7htgFX0w8GirIs7RpJJqkZ2kLxMKiQCgoatlqyR7DGaMn5xkdY9UaEnzAyK+kdyPhfb1H54FnLUBgzDzVI1VRZb31gc3XxDc97wKTOeVljCoIaRrd+zKOACO3rhyBM/rzMolaTzRsGCjS4Ufuf2sY05PFdbZiWMNaIsUK1uoO2quRgf3Qfd4Y/LQTzEFSBRRR8xPNnCU/R1+bqAOnzksMp9GHzD3wxjb8U8NRcuk2YLF41AbSQGLE7An2GMTP+HGo2UNKkgtSRTD6kYu04kjWPMSMF1ahIOoNfr6HGt4h4qq5VniPTtHGfpyf89MA7jz+WlkhV0j21iiGFH8sY6wHWFYVZHOPVjLM3h7STdTX+Ge+M6Lwqfyy7UygXRO/8cJUsei/6rHHSAghQB+mO48SREd9RHteJgLweJ8UsotcemFvC0bzAQD74mVzElUBY9xgrlj8T1+6vP6Y5v8AXa9TAvGCPMNHDcPiDlFUJZF0x7XgSwsBaRX7t/bBcrCWjaVyTpNaeME3RcwmYUXd21H0X+p4wdZW8tmjARQd6+L8zguR8SDOFZECNtQGKj8CZ42+A7H6Hg4ILv1TwHOKkwMm6OCjk77Ntf5Gj+WHGy5ybNrplkLIUHdOzf2wlnI1YgR7RqK1sKv1+uGspTWyt8AGqZ7JX00L2N8YcK/s1EwEaJHriGrVd6pXO4GhBWkAdycDzQlZXVQYzEdZiYdbA7+azHeQ3V3wKrDmQyylHeOVvxOlnag0b8i6+VvXHWM6RRq9feYn/A3BYp84c3/p+hPqe2LxEvYPhk5jk1R6VkLFZopPgUAWWb0AbcHtx7HW8LhjIRUkTqRvIDltTEEK7vXBYKVCgkqtbHfGF4jmC3meWVclg+YZRs7XdKvPlKf4nf0wTw/MhRaBdetGWGQEqDzrXvQ2P0Buxh8aXKdPQ5eQxWtJuAABICF0qT2YRk/ii01AHVexIGGlzgDUFYHSgOhWLWwlYlmcFjaoLavQdicYcebfXpQnQ/TW8bN1azKpqjqcliN9qFbDF/OUNsoJ1iOpSi26JMGZbOhdPmIR2LVtvi9Z3i9NB4midI1MpC0oYMaYF6cqGJJ0k1vtpsnUa18tn7IWiTsbpgSaLA1V8Xv+4dyQSfGZ9W0jWjatJJ81WC9Dj99j8LuTTcURzjQyMrAAABaBHTKW3HUvS1kWNS/+W/vpwrzfk4fXs4ZSdiQD9P5AD/Kw2k/ymv4c/U8489lJTpBCuq82wAFGt9gL4B27Y1oSGG1/wqj9bx6J28XKYclOkbUQeef+LHOAS0RaruLLNdD2odq/X0xElG+o2fp/fjAGkQHcFh6XXPH67YeI2pFPtpCBnbYFqoD2XgH3OIYmGlo1Z2FgPo4Pp3D1yCNxXcbC2aGoE1wN+mlFbgWdy3off0xp+ETJ5ZlkRpJIVTywDYomlZVqloiid6I4vEc7nbb8fHbjz0kiULN7DoAtnY82SKKnkEevrhLMxmJqJUkjexdDsrj+FdxhrO2jAjobfa9WgntfuN/UHHVl2B1hIl3Ycs7dww59RvtiiUyGeYFmvVO50InyqOxI4IA4wsMspLojM5AJfUBoJHNVup9GwKSB1AlApL6WBsrfAruO1YayPiIRJAsYsUdt9ROwPsvthKzCOVzNEtqbSUMZJ3aIHjbuvvjWSSCHKHSVko7WNmc+x7AYQ8Ril0oxBac2SANwh7MBhLLzqth0LR3bJwUPt7YDzT02Rk0RyRx7yWXiHFetdsKZdytqg/3wSf0xseKeO/8AbB4+kyHSP3VHa8Vn8GlkysZfeYnoPevc4Q1jeOePvKqxBfLRfl98Oxs0WUok65OMI57KOpCTrTfK4/kcBWZ2mjWXhTt6HD08+N/KfY4MilrsiziYdzH2hZWICmhiYEbyfBXzDNtdD2xp5tfJRdA3I3bGZ93OnVwMPR55WjCP2745cd3l/Ashn3EgJJONCTOCJyDur8jCkTqu8ab/ALTYBMyg2Trb9MPchZLTMBiDWiFj21bAYrJJqcuw81z2A6R9fX6Ypkh5rkHYDfSNscm8QdWpQEC9gP54BnZkNUXmONTXSr8qfljRyGbRo2k0DYaZkAoFezD3wvNnFVFcrayfEv8AUYBrGnSFKI3yD4n+vti50izRYDGiSCJiVcU7uKCj0A+ZsMeG5QllVo2WFgdyaMp+UM3yqTiuTyriRGcIwjNmIGyo+nc98XWKZZzJr1xMbdmO2nuCDwQO2HhWuZdS7PG8awyxqzrIo0gBRdN2YHscDE7yAEBRNJH5agECoxsdiPifgb3QPqMTN5p9wWdkJuGMjlRwzVvQ7A4t4iQGX8ASq1XJuWkY8mx8J7BfbADmYzqtqklEkerUGgZdSM4XbyzzGbIP8jgaTGMGNlbSqiMyqobTJet7B5BJ0m62UYJLO8btG0peDLMsqhq1eZp6EDckgmtuwONHIwQjygYMxUgX/u8vISS7bt5kbakIDE7dJ2w9LGbIqhW0OLRdD9LKgd3oUrfCdCkkgVscaySysGkcauobiQOqlmFOvJUX2B78VjF8TGgkyOJVadxanSXEX4YcqL03Zq/Q4YyJgBj8sS6vMU04FMtixYNGq9MXxrLnHpfD0GkdSJu1AhbYaiLB1A+35Y1MnNVjcUe/1P8ASsYfgWcsAM8BUknTIgJWzZolfzq8b+QLO5pgzXKfw9i9eXsNuDdj6HHp414fycfZgyHnf++CSEVtvXO2LZ7LSaQzqybgDW1k3f8AKsTKQq1bSSMOUUUB7Fv7Y03ph4iZbNpGbcO7Lui6qWiAQT33B4x3xSBlAktKmtozHa6W5K6TRAN16WMAlzsibBNBVasizoY2ASdjR2Dfli2Yy0rgyZlym3QSQOOKUD6cViLO9VOuiz+IKF8qFfj2Zn3Jv2GFJ8kYmUSgG9xR+Iem+4P1xbw7NOr/AIekFz8RHw1zX88dzDRuTo1yOASZGOxI349MVRJiZnMqyhpeq/8AThXYAcWaxmyFo5KQlWAtfUXuVPrjR8PzaqygqCKLI55VeSvuQbwtPKMwX0ppABIfvY9frhLnVW8MatWancmjQF7sfQ+2ELmndpVW9969PSsKTnUuof8AkPf1x6PwiNMpD58jW7DoQH+eA8xlZXNeXZ0B0vrjb5T6jHpoPtEGgkmqtPSi+mPNt4dmZCcxooNv6WPpgOWnVDbD8NtnHocSeae8MV5opWlNryCex9sZEOYD9D8/K2NjxnxmJYliy/w98HyOSimhLFNNDn3wyZgzUo2oGu/riYznz7KSoo13xMCsrwkoaTeqUcYoSicdR/TBMxlX0hidj2wjjl3p2Z2ZSfUw1fD6DB/EMoANS/DhAisaPh+eAGlxY9MOZ6ouzuFo1aPS/HphwZhJDfl2/wCn54Fmuo6n6R2Uc1jrRSFehCq/5zhxN79rz5itz1svAHwrjnhef0zB33va/S+4xXwzOhNSOLRufUe+GvuCANJqBWjQ98ObeyuTqrR+HukodXGi78y+39/bFfEZl1tLXSx6Ev8A9xHpfbCUI0rqff8AZW+/qR6YYyrRS2spKuTs/b2BHYYN+DPtPxSymJWy7dfxS1WuxxX7oHYYNms9I0aEExzuTr0bAoPmYcKcIZzw1svGr6qcvSlW5FdqwrmJdAom5G3kJ9Oy/wB8VuJyX01PDc6mplQhWVCIWY8yE9Tn94jj0xpnO5jyX8/ZyAsMqNpd2J+YoaZQOSRjIgXKS6WvyXBGpGso49j8v0xzIw/iMY6LOxSIHgA3b77UBipU8o08vD8DedFFGq+XGXS/Mo25Io7FyRqPoMabZ90+7xNHGqxyeckkTEr0i20gnpBIBPuMZ2QhikVYiVlKWFolW9SAeDvijyqVGhGVQfLRSbJ3tz9TsMaSMqb8OhBRW0SXyaW1P0rtjSyji73CBqvuLHH6HEeBg+sZgxp2BDDSPSsNZeZXlZgVGsuyXtvsoJ/njbj083PtpiWLyyPxC3YkAUfrfGC5JtdrrZR8XSNtwLvcYSlZkU65Q1gjSCd74/vimVljIdXZl3BBAvgVX641YY0c/IFKhTa6WU72aNk3XHqMDgdgFqMyOwsMdwO1flWEzIivHpDab5b5ux/TDHh/iAhj6wzgsQFDUBXvgLAvEHKSEigy6WIXgGurGhN4nEkQVlGphehNhv6nCGclDKjmMIWLKa7qeD9QcH8FnRx1RrrjFGRuABxt64k7OmfmuhgVB0kB1U9gdmXFJPEtemONNKHkLyfzw74qY3JeOQu6DqFbae9YRymfGX1FVtm3RvQf3GCGL4t4YIArgmm5RuQMLeHx6p41ckp8t+nNYWQSZlzbW3ucXWN0PluKZepcJUjW8U8ZllnEcNhVNADv9cJ+MRiOcqdg439jj0f2emy7nUg/Fb4vbAvtAmWLGM7yH5sBS9vHZfIXMqHYE8+2PS/arPrDEsEfpucYEqMLW+pODjKzM7MbY74NX46ssJO9YmOR5lgKGO4SmG3wYyssPxPzxMTHP5e46XD1XM/8ZwTw8c45iYn6v/yJlN5De+NXwlyZSCTXpeOYmL4M+bM8ZUCU1timQ3ZQdxeOYmJ+rn/VTOHrOADHcTBT4+jfh7EugJsC6vthaQ7n64mJg+D6h4x6Pw4dY/8AwH+WJiYvgz/J6KeA/wDqY/8Adjd8P+KL/bIfzs7/AFxMTG3D0w/J7b3gkzOjh2LDQ2zEnt74B9nxufZFr2x3ExvHlpzxJzpO55GM7ufriYmNJ7ZX00R/pp/vGNH7PoGR7ANOasXiYmEGd9oG/FA7A7D0wuD+FP8A7hiYmAT054GOpv8Aa2EZ/gH1xMTCvs4v4N/rL9cbX2s/9Qn+3HMTBR9V+y20kte+MWVicxufmxMTB8H094n/AKy/TGH4h8Zx3ExNXDmVUaBtiYmJjQq//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7174" name="Picture 6" descr="http://ad-exchange.fr/wp-content/uploads/2013/06/big-dat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8144" y="4437112"/>
            <a:ext cx="2880320" cy="216024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http://www.alternative-energy-action-now.com/images/Investing_Financial_Data_Small.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931" y="692696"/>
            <a:ext cx="3810000" cy="2219326"/>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http://datawarehouse4u.info/images/data_warehouse_architecture.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515" t="6514" r="4147" b="6268"/>
          <a:stretch/>
        </p:blipFill>
        <p:spPr bwMode="auto">
          <a:xfrm>
            <a:off x="4860032" y="654936"/>
            <a:ext cx="3677029" cy="2980782"/>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http://cdn.ttgtmedia.com/rms/onlineImages/120127_004_290x230.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2774" y="3657925"/>
            <a:ext cx="3671193" cy="2911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973754"/>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5576" y="260648"/>
            <a:ext cx="7772400" cy="922114"/>
          </a:xfrm>
        </p:spPr>
        <p:txBody>
          <a:bodyPr/>
          <a:lstStyle/>
          <a:p>
            <a:pPr algn="ctr"/>
            <a:r>
              <a:rPr lang="es-CR" dirty="0" smtClean="0"/>
              <a:t>Índice</a:t>
            </a:r>
            <a:endParaRPr lang="es-ES" dirty="0"/>
          </a:p>
        </p:txBody>
      </p:sp>
      <p:sp>
        <p:nvSpPr>
          <p:cNvPr id="4" name="Elipse 3"/>
          <p:cNvSpPr/>
          <p:nvPr/>
        </p:nvSpPr>
        <p:spPr>
          <a:xfrm>
            <a:off x="755576"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755576"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755576" y="544522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4860032"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8" name="Rectángulo redondeado 7"/>
          <p:cNvSpPr/>
          <p:nvPr/>
        </p:nvSpPr>
        <p:spPr>
          <a:xfrm>
            <a:off x="2051720"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Definición de Estadística</a:t>
            </a:r>
            <a:endParaRPr lang="es-ES" dirty="0"/>
          </a:p>
        </p:txBody>
      </p:sp>
      <p:sp>
        <p:nvSpPr>
          <p:cNvPr id="9" name="Rectángulo redondeado 8"/>
          <p:cNvSpPr/>
          <p:nvPr/>
        </p:nvSpPr>
        <p:spPr>
          <a:xfrm>
            <a:off x="2051720"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Historia de la Estadística</a:t>
            </a:r>
            <a:endParaRPr lang="es-ES" dirty="0"/>
          </a:p>
        </p:txBody>
      </p:sp>
      <p:sp>
        <p:nvSpPr>
          <p:cNvPr id="10" name="Rectángulo redondeado 9"/>
          <p:cNvSpPr/>
          <p:nvPr/>
        </p:nvSpPr>
        <p:spPr>
          <a:xfrm>
            <a:off x="2051720" y="5445224"/>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Áreas de la Estadística</a:t>
            </a:r>
            <a:endParaRPr lang="es-ES" dirty="0"/>
          </a:p>
        </p:txBody>
      </p:sp>
      <p:sp>
        <p:nvSpPr>
          <p:cNvPr id="11" name="Rectángulo redondeado 10"/>
          <p:cNvSpPr/>
          <p:nvPr/>
        </p:nvSpPr>
        <p:spPr>
          <a:xfrm>
            <a:off x="6156176"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División de la Estadística</a:t>
            </a:r>
            <a:endParaRPr lang="es-ES" dirty="0"/>
          </a:p>
        </p:txBody>
      </p:sp>
      <p:sp>
        <p:nvSpPr>
          <p:cNvPr id="12" name="Elipse 11"/>
          <p:cNvSpPr/>
          <p:nvPr/>
        </p:nvSpPr>
        <p:spPr>
          <a:xfrm>
            <a:off x="4860032"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endParaRPr lang="es-ES" dirty="0"/>
          </a:p>
        </p:txBody>
      </p:sp>
      <p:sp>
        <p:nvSpPr>
          <p:cNvPr id="13" name="Rectángulo redondeado 12"/>
          <p:cNvSpPr/>
          <p:nvPr/>
        </p:nvSpPr>
        <p:spPr>
          <a:xfrm>
            <a:off x="6156176"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estadística en la actualidad</a:t>
            </a:r>
            <a:endParaRPr lang="es-ES" dirty="0"/>
          </a:p>
        </p:txBody>
      </p:sp>
    </p:spTree>
    <p:extLst>
      <p:ext uri="{BB962C8B-B14F-4D97-AF65-F5344CB8AC3E}">
        <p14:creationId xmlns:p14="http://schemas.microsoft.com/office/powerpoint/2010/main" val="2727370348"/>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971600" y="260648"/>
            <a:ext cx="7772400" cy="922114"/>
          </a:xfrm>
        </p:spPr>
        <p:txBody>
          <a:bodyPr/>
          <a:lstStyle/>
          <a:p>
            <a:pPr algn="ctr"/>
            <a:r>
              <a:rPr lang="es-CR" dirty="0" smtClean="0"/>
              <a:t>La estadística en nuestros días</a:t>
            </a:r>
            <a:endParaRPr lang="es-ES" dirty="0"/>
          </a:p>
        </p:txBody>
      </p:sp>
      <p:pic>
        <p:nvPicPr>
          <p:cNvPr id="5" name="Imagen 4"/>
          <p:cNvPicPr>
            <a:picLocks noChangeAspect="1"/>
          </p:cNvPicPr>
          <p:nvPr/>
        </p:nvPicPr>
        <p:blipFill>
          <a:blip r:embed="rId2"/>
          <a:stretch>
            <a:fillRect/>
          </a:stretch>
        </p:blipFill>
        <p:spPr>
          <a:xfrm>
            <a:off x="251520" y="1700808"/>
            <a:ext cx="8582073" cy="4608512"/>
          </a:xfrm>
          <a:prstGeom prst="rect">
            <a:avLst/>
          </a:prstGeom>
        </p:spPr>
      </p:pic>
    </p:spTree>
    <p:extLst>
      <p:ext uri="{BB962C8B-B14F-4D97-AF65-F5344CB8AC3E}">
        <p14:creationId xmlns:p14="http://schemas.microsoft.com/office/powerpoint/2010/main" val="598781478"/>
      </p:ext>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467544" y="1700808"/>
            <a:ext cx="8077200" cy="4324350"/>
          </a:xfrm>
          <a:prstGeom prst="rect">
            <a:avLst/>
          </a:prstGeom>
        </p:spPr>
      </p:pic>
      <p:sp>
        <p:nvSpPr>
          <p:cNvPr id="5" name="Título 1"/>
          <p:cNvSpPr>
            <a:spLocks noGrp="1"/>
          </p:cNvSpPr>
          <p:nvPr>
            <p:ph type="title"/>
          </p:nvPr>
        </p:nvSpPr>
        <p:spPr>
          <a:xfrm>
            <a:off x="619944" y="332656"/>
            <a:ext cx="7772400" cy="922114"/>
          </a:xfrm>
        </p:spPr>
        <p:txBody>
          <a:bodyPr/>
          <a:lstStyle/>
          <a:p>
            <a:pPr algn="ctr"/>
            <a:r>
              <a:rPr lang="es-CR" dirty="0" smtClean="0"/>
              <a:t>La estadística en nuestros días</a:t>
            </a:r>
            <a:endParaRPr lang="es-ES" dirty="0"/>
          </a:p>
        </p:txBody>
      </p:sp>
    </p:spTree>
    <p:extLst>
      <p:ext uri="{BB962C8B-B14F-4D97-AF65-F5344CB8AC3E}">
        <p14:creationId xmlns:p14="http://schemas.microsoft.com/office/powerpoint/2010/main" val="2498305394"/>
      </p:ext>
    </p:extLst>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22114"/>
          </a:xfrm>
        </p:spPr>
        <p:txBody>
          <a:bodyPr/>
          <a:lstStyle/>
          <a:p>
            <a:pPr algn="ctr"/>
            <a:r>
              <a:rPr lang="es-CR" dirty="0" smtClean="0"/>
              <a:t>La estadística en nuestros días</a:t>
            </a:r>
            <a:endParaRPr lang="es-ES" dirty="0"/>
          </a:p>
        </p:txBody>
      </p:sp>
      <p:pic>
        <p:nvPicPr>
          <p:cNvPr id="1026" name="Picture 2" descr="http://d287f0h5fel5hu.cloudfront.net/blog/wp-content/uploads/2013/06/Roles-of-a-Data-Scientist.jp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51520" y="1700808"/>
            <a:ext cx="3907896" cy="39604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www.proscenium.fr/wp-content/uploads/2015/01/big-data-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6408" y="1700808"/>
            <a:ext cx="3571597" cy="39604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169849"/>
      </p:ext>
    </p:extLst>
  </p:cSld>
  <p:clrMapOvr>
    <a:masterClrMapping/>
  </p:clrMapOvr>
  <p:transition spd="slow">
    <p:randomBa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p:txBody>
          <a:bodyPr/>
          <a:lstStyle/>
          <a:p>
            <a:endParaRPr lang="es-ES" dirty="0"/>
          </a:p>
        </p:txBody>
      </p:sp>
      <p:sp>
        <p:nvSpPr>
          <p:cNvPr id="4" name="Título 1"/>
          <p:cNvSpPr>
            <a:spLocks noGrp="1"/>
          </p:cNvSpPr>
          <p:nvPr>
            <p:ph type="title"/>
          </p:nvPr>
        </p:nvSpPr>
        <p:spPr>
          <a:xfrm>
            <a:off x="251520" y="274638"/>
            <a:ext cx="8784976" cy="922114"/>
          </a:xfrm>
        </p:spPr>
        <p:txBody>
          <a:bodyPr>
            <a:normAutofit fontScale="90000"/>
          </a:bodyPr>
          <a:lstStyle/>
          <a:p>
            <a:pPr algn="ctr"/>
            <a:r>
              <a:rPr lang="es-CR" dirty="0" smtClean="0"/>
              <a:t>La estadística en nuestros días: academia</a:t>
            </a:r>
            <a:endParaRPr lang="es-ES" dirty="0"/>
          </a:p>
        </p:txBody>
      </p:sp>
      <p:pic>
        <p:nvPicPr>
          <p:cNvPr id="2050" name="Picture 2" descr="http://retail360solutions.com/wp-content/uploads/2013/08/data-scientist-only-w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543" y="1415074"/>
            <a:ext cx="4434057" cy="51822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media3.cdn.builtinla.com/sites/www.builtinla.com/files/imagecache/Original/images/software_engineer_test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1466806"/>
            <a:ext cx="3903882" cy="4914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4356"/>
      </p:ext>
    </p:extLst>
  </p:cSld>
  <p:clrMapOvr>
    <a:masterClrMapping/>
  </p:clrMapOvr>
  <p:transition spd="slow">
    <p:randomBa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251520" y="274638"/>
            <a:ext cx="8784976" cy="922114"/>
          </a:xfrm>
        </p:spPr>
        <p:txBody>
          <a:bodyPr>
            <a:normAutofit fontScale="90000"/>
          </a:bodyPr>
          <a:lstStyle/>
          <a:p>
            <a:pPr algn="ctr"/>
            <a:r>
              <a:rPr lang="es-CR" dirty="0" smtClean="0"/>
              <a:t>La estadística en nuestros días: profesional</a:t>
            </a:r>
            <a:endParaRPr lang="es-ES" dirty="0"/>
          </a:p>
        </p:txBody>
      </p:sp>
      <p:pic>
        <p:nvPicPr>
          <p:cNvPr id="4098" name="Picture 2" descr="http://www.kdnuggets.com/wp-content/uploads/data-scientist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378" y="1412776"/>
            <a:ext cx="8527260" cy="5112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933324"/>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520" y="274638"/>
            <a:ext cx="8640960" cy="778098"/>
          </a:xfrm>
        </p:spPr>
        <p:txBody>
          <a:bodyPr>
            <a:normAutofit fontScale="90000"/>
          </a:bodyPr>
          <a:lstStyle/>
          <a:p>
            <a:pPr algn="ctr"/>
            <a:r>
              <a:rPr lang="es-CR" dirty="0"/>
              <a:t>La estadística en nuestros días</a:t>
            </a:r>
            <a:r>
              <a:rPr lang="es-CR" dirty="0" smtClean="0"/>
              <a:t>: Big data</a:t>
            </a:r>
            <a:endParaRPr lang="es-ES" dirty="0"/>
          </a:p>
        </p:txBody>
      </p:sp>
      <p:pic>
        <p:nvPicPr>
          <p:cNvPr id="5122" name="Picture 2" descr="http://blogs.sciences-po.fr/prospectibles/files/2014/07/big-data-318x211.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95536" y="3789040"/>
            <a:ext cx="3986664" cy="264523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dialoguesdescontinents.com/wp-content/uploads/2014/11/bigdata.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51" t="7766" r="4555" b="8365"/>
          <a:stretch/>
        </p:blipFill>
        <p:spPr bwMode="auto">
          <a:xfrm>
            <a:off x="3122060" y="1340768"/>
            <a:ext cx="2520280" cy="1944216"/>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zendata.ca/wp-content/uploads/2014/09/big-data.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5954"/>
          <a:stretch/>
        </p:blipFill>
        <p:spPr bwMode="auto">
          <a:xfrm>
            <a:off x="5364088" y="4113075"/>
            <a:ext cx="3106124" cy="1997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768662"/>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5576" y="260648"/>
            <a:ext cx="7772400" cy="922114"/>
          </a:xfrm>
        </p:spPr>
        <p:txBody>
          <a:bodyPr/>
          <a:lstStyle/>
          <a:p>
            <a:pPr algn="ctr"/>
            <a:r>
              <a:rPr lang="es-CR" dirty="0" smtClean="0"/>
              <a:t>Índice</a:t>
            </a:r>
            <a:endParaRPr lang="es-ES" dirty="0"/>
          </a:p>
        </p:txBody>
      </p:sp>
      <p:sp>
        <p:nvSpPr>
          <p:cNvPr id="4" name="Elipse 3"/>
          <p:cNvSpPr/>
          <p:nvPr/>
        </p:nvSpPr>
        <p:spPr>
          <a:xfrm>
            <a:off x="755576"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755576"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755576" y="544522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4860032" y="1556792"/>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8" name="Rectángulo redondeado 7"/>
          <p:cNvSpPr/>
          <p:nvPr/>
        </p:nvSpPr>
        <p:spPr>
          <a:xfrm>
            <a:off x="2051720"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Definición de Estadística</a:t>
            </a:r>
            <a:endParaRPr lang="es-ES" dirty="0"/>
          </a:p>
        </p:txBody>
      </p:sp>
      <p:sp>
        <p:nvSpPr>
          <p:cNvPr id="9" name="Rectángulo redondeado 8"/>
          <p:cNvSpPr/>
          <p:nvPr/>
        </p:nvSpPr>
        <p:spPr>
          <a:xfrm>
            <a:off x="2051720"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Historia de la Estadística</a:t>
            </a:r>
            <a:endParaRPr lang="es-ES" dirty="0"/>
          </a:p>
        </p:txBody>
      </p:sp>
      <p:sp>
        <p:nvSpPr>
          <p:cNvPr id="10" name="Rectángulo redondeado 9"/>
          <p:cNvSpPr/>
          <p:nvPr/>
        </p:nvSpPr>
        <p:spPr>
          <a:xfrm>
            <a:off x="2051720" y="5445224"/>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Áreas de la Estadística</a:t>
            </a:r>
            <a:endParaRPr lang="es-ES" dirty="0"/>
          </a:p>
        </p:txBody>
      </p:sp>
      <p:sp>
        <p:nvSpPr>
          <p:cNvPr id="11" name="Rectángulo redondeado 10"/>
          <p:cNvSpPr/>
          <p:nvPr/>
        </p:nvSpPr>
        <p:spPr>
          <a:xfrm>
            <a:off x="6156176" y="1556792"/>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División de la Estadística</a:t>
            </a:r>
            <a:endParaRPr lang="es-ES" dirty="0"/>
          </a:p>
        </p:txBody>
      </p:sp>
      <p:sp>
        <p:nvSpPr>
          <p:cNvPr id="12" name="Elipse 11"/>
          <p:cNvSpPr/>
          <p:nvPr/>
        </p:nvSpPr>
        <p:spPr>
          <a:xfrm>
            <a:off x="4860032" y="350100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endParaRPr lang="es-ES" dirty="0"/>
          </a:p>
        </p:txBody>
      </p:sp>
      <p:sp>
        <p:nvSpPr>
          <p:cNvPr id="13" name="Rectángulo redondeado 12"/>
          <p:cNvSpPr/>
          <p:nvPr/>
        </p:nvSpPr>
        <p:spPr>
          <a:xfrm>
            <a:off x="6156176" y="3501008"/>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estadística en la actualidad</a:t>
            </a:r>
            <a:endParaRPr lang="es-ES" dirty="0"/>
          </a:p>
        </p:txBody>
      </p:sp>
      <p:sp>
        <p:nvSpPr>
          <p:cNvPr id="14" name="Elipse 13"/>
          <p:cNvSpPr/>
          <p:nvPr/>
        </p:nvSpPr>
        <p:spPr>
          <a:xfrm>
            <a:off x="4932040" y="544522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6</a:t>
            </a:r>
            <a:endParaRPr lang="es-ES" dirty="0"/>
          </a:p>
        </p:txBody>
      </p:sp>
      <p:sp>
        <p:nvSpPr>
          <p:cNvPr id="15" name="Rectángulo redondeado 14"/>
          <p:cNvSpPr/>
          <p:nvPr/>
        </p:nvSpPr>
        <p:spPr>
          <a:xfrm>
            <a:off x="6156176" y="5446814"/>
            <a:ext cx="2520280"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Conceptos básicos</a:t>
            </a:r>
            <a:endParaRPr lang="es-ES" dirty="0"/>
          </a:p>
        </p:txBody>
      </p:sp>
    </p:spTree>
    <p:extLst>
      <p:ext uri="{BB962C8B-B14F-4D97-AF65-F5344CB8AC3E}">
        <p14:creationId xmlns:p14="http://schemas.microsoft.com/office/powerpoint/2010/main" val="1987310091"/>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Elipse"/>
          <p:cNvSpPr/>
          <p:nvPr/>
        </p:nvSpPr>
        <p:spPr>
          <a:xfrm>
            <a:off x="2051720" y="476672"/>
            <a:ext cx="5112568" cy="2448272"/>
          </a:xfrm>
          <a:prstGeom prst="ellipse">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sz="4800" dirty="0" smtClean="0"/>
              <a:t>Conceptos Básicos</a:t>
            </a:r>
            <a:endParaRPr lang="es-CR" sz="4800" dirty="0"/>
          </a:p>
        </p:txBody>
      </p:sp>
      <p:sp>
        <p:nvSpPr>
          <p:cNvPr id="6" name="5 Rectángulo redondeado"/>
          <p:cNvSpPr/>
          <p:nvPr/>
        </p:nvSpPr>
        <p:spPr>
          <a:xfrm>
            <a:off x="179512" y="3356992"/>
            <a:ext cx="2016224" cy="8640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UE, característica y observación</a:t>
            </a:r>
            <a:endParaRPr lang="es-CR" dirty="0"/>
          </a:p>
        </p:txBody>
      </p:sp>
      <p:sp>
        <p:nvSpPr>
          <p:cNvPr id="7" name="6 Rectángulo redondeado"/>
          <p:cNvSpPr/>
          <p:nvPr/>
        </p:nvSpPr>
        <p:spPr>
          <a:xfrm>
            <a:off x="1403648" y="4725144"/>
            <a:ext cx="2016224" cy="8640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Población finita e infinita</a:t>
            </a:r>
            <a:endParaRPr lang="es-CR" dirty="0"/>
          </a:p>
        </p:txBody>
      </p:sp>
      <p:sp>
        <p:nvSpPr>
          <p:cNvPr id="8" name="7 Rectángulo redondeado"/>
          <p:cNvSpPr/>
          <p:nvPr/>
        </p:nvSpPr>
        <p:spPr>
          <a:xfrm>
            <a:off x="3779912" y="4797152"/>
            <a:ext cx="2016224" cy="8640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Datos estadísticos y análisis estadísticos</a:t>
            </a:r>
            <a:endParaRPr lang="es-CR" dirty="0"/>
          </a:p>
        </p:txBody>
      </p:sp>
      <p:sp>
        <p:nvSpPr>
          <p:cNvPr id="9" name="8 Rectángulo redondeado"/>
          <p:cNvSpPr/>
          <p:nvPr/>
        </p:nvSpPr>
        <p:spPr>
          <a:xfrm>
            <a:off x="6084168" y="4797152"/>
            <a:ext cx="2016224" cy="8640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Clasificación de la naturaleza de los datos </a:t>
            </a:r>
            <a:endParaRPr lang="es-CR" dirty="0"/>
          </a:p>
        </p:txBody>
      </p:sp>
      <p:sp>
        <p:nvSpPr>
          <p:cNvPr id="10" name="9 Rectángulo redondeado"/>
          <p:cNvSpPr/>
          <p:nvPr/>
        </p:nvSpPr>
        <p:spPr>
          <a:xfrm>
            <a:off x="6948264" y="3356992"/>
            <a:ext cx="2016224" cy="8640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Escala de medición</a:t>
            </a:r>
            <a:endParaRPr lang="es-CR" dirty="0"/>
          </a:p>
        </p:txBody>
      </p:sp>
      <p:cxnSp>
        <p:nvCxnSpPr>
          <p:cNvPr id="12" name="11 Conector recto de flecha"/>
          <p:cNvCxnSpPr>
            <a:stCxn id="4" idx="2"/>
          </p:cNvCxnSpPr>
          <p:nvPr/>
        </p:nvCxnSpPr>
        <p:spPr>
          <a:xfrm rot="10800000" flipV="1">
            <a:off x="1115616" y="1700808"/>
            <a:ext cx="936104" cy="15121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a:stCxn id="4" idx="3"/>
          </p:cNvCxnSpPr>
          <p:nvPr/>
        </p:nvCxnSpPr>
        <p:spPr>
          <a:xfrm rot="5400000">
            <a:off x="1598738" y="3523442"/>
            <a:ext cx="2158741" cy="2446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a:endCxn id="8" idx="0"/>
          </p:cNvCxnSpPr>
          <p:nvPr/>
        </p:nvCxnSpPr>
        <p:spPr>
          <a:xfrm rot="16200000" flipH="1">
            <a:off x="3815916" y="3825044"/>
            <a:ext cx="1872208"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a:stCxn id="4" idx="5"/>
          </p:cNvCxnSpPr>
          <p:nvPr/>
        </p:nvCxnSpPr>
        <p:spPr>
          <a:xfrm rot="16200000" flipH="1">
            <a:off x="5494534" y="3487437"/>
            <a:ext cx="2230749" cy="3886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20 Conector recto de flecha"/>
          <p:cNvCxnSpPr>
            <a:stCxn id="4" idx="6"/>
            <a:endCxn id="10" idx="0"/>
          </p:cNvCxnSpPr>
          <p:nvPr/>
        </p:nvCxnSpPr>
        <p:spPr>
          <a:xfrm>
            <a:off x="7164288" y="1700808"/>
            <a:ext cx="792088" cy="16561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125760"/>
            <a:ext cx="9144000" cy="1143000"/>
          </a:xfrm>
        </p:spPr>
        <p:txBody>
          <a:bodyPr>
            <a:normAutofit fontScale="90000"/>
          </a:bodyPr>
          <a:lstStyle/>
          <a:p>
            <a:pPr algn="ctr"/>
            <a:r>
              <a:rPr lang="es-CR" dirty="0" smtClean="0"/>
              <a:t>Unidad Estadística (UE), característica y observación</a:t>
            </a:r>
            <a:endParaRPr lang="es-CR" dirty="0"/>
          </a:p>
        </p:txBody>
      </p:sp>
      <p:sp>
        <p:nvSpPr>
          <p:cNvPr id="3" name="2 Marcador de contenido"/>
          <p:cNvSpPr>
            <a:spLocks noGrp="1"/>
          </p:cNvSpPr>
          <p:nvPr>
            <p:ph sz="quarter" idx="1"/>
          </p:nvPr>
        </p:nvSpPr>
        <p:spPr>
          <a:xfrm>
            <a:off x="179512" y="1340768"/>
            <a:ext cx="8352928" cy="5328592"/>
          </a:xfrm>
        </p:spPr>
        <p:txBody>
          <a:bodyPr>
            <a:normAutofit fontScale="92500" lnSpcReduction="10000"/>
          </a:bodyPr>
          <a:lstStyle/>
          <a:p>
            <a:r>
              <a:rPr lang="es-CR" sz="2400" dirty="0" smtClean="0"/>
              <a:t>En el análisis básico estadístico, se debe siempre conocer tres cosas:</a:t>
            </a:r>
          </a:p>
          <a:p>
            <a:pPr>
              <a:buNone/>
            </a:pPr>
            <a:r>
              <a:rPr lang="es-CR" sz="2400" dirty="0" smtClean="0"/>
              <a:t>	-</a:t>
            </a:r>
            <a:r>
              <a:rPr lang="es-CR" sz="2400" b="1" i="1" dirty="0" smtClean="0"/>
              <a:t>La unidad de estudio </a:t>
            </a:r>
            <a:r>
              <a:rPr lang="es-CR" sz="2400" dirty="0" smtClean="0"/>
              <a:t>que se quiere estudiar (</a:t>
            </a:r>
            <a:r>
              <a:rPr lang="es-CR" sz="2400" b="1" dirty="0" smtClean="0"/>
              <a:t>UE</a:t>
            </a:r>
            <a:r>
              <a:rPr lang="es-CR" sz="2400" dirty="0" smtClean="0"/>
              <a:t>).</a:t>
            </a:r>
          </a:p>
          <a:p>
            <a:pPr>
              <a:buNone/>
            </a:pPr>
            <a:r>
              <a:rPr lang="es-CR" sz="2400" dirty="0" smtClean="0"/>
              <a:t>	-Qué es lo que se quiere saber de la unidad de estudio (</a:t>
            </a:r>
            <a:r>
              <a:rPr lang="es-CR" sz="2400" b="1" i="1" dirty="0" smtClean="0"/>
              <a:t>característica</a:t>
            </a:r>
            <a:r>
              <a:rPr lang="es-CR" sz="2400" dirty="0" smtClean="0"/>
              <a:t>).</a:t>
            </a:r>
          </a:p>
          <a:p>
            <a:pPr>
              <a:buNone/>
            </a:pPr>
            <a:r>
              <a:rPr lang="es-CR" sz="2400" dirty="0" smtClean="0"/>
              <a:t>	-Qué es lo que vamos a obtener de la característica de la unidad de estudio (</a:t>
            </a:r>
            <a:r>
              <a:rPr lang="es-CR" sz="2400" b="1" i="1" dirty="0" smtClean="0"/>
              <a:t>la observación</a:t>
            </a:r>
            <a:r>
              <a:rPr lang="es-CR" sz="2400" dirty="0" smtClean="0"/>
              <a:t>).</a:t>
            </a:r>
          </a:p>
          <a:p>
            <a:pPr>
              <a:buNone/>
            </a:pPr>
            <a:endParaRPr lang="es-CR" sz="2400" dirty="0" smtClean="0"/>
          </a:p>
          <a:p>
            <a:r>
              <a:rPr lang="es-CR" sz="2400" dirty="0" smtClean="0"/>
              <a:t>Ejemplo 1:</a:t>
            </a:r>
          </a:p>
          <a:p>
            <a:pPr>
              <a:buNone/>
            </a:pPr>
            <a:r>
              <a:rPr lang="es-CR" sz="2400" dirty="0" smtClean="0"/>
              <a:t>“Una oficina gubernamental desea conocer para cierta zona del país, el salario semanal promedio de los trabajadores industriales. Se llevó a cabo una encuesta telefónica para dicho fin.”  Determine: </a:t>
            </a:r>
          </a:p>
          <a:p>
            <a:pPr>
              <a:buNone/>
            </a:pPr>
            <a:endParaRPr lang="es-CR" sz="2400" dirty="0" smtClean="0"/>
          </a:p>
          <a:p>
            <a:pPr>
              <a:buNone/>
            </a:pPr>
            <a:r>
              <a:rPr lang="es-CR" sz="2400" dirty="0" smtClean="0"/>
              <a:t>	La UE:</a:t>
            </a:r>
          </a:p>
          <a:p>
            <a:pPr>
              <a:buNone/>
            </a:pPr>
            <a:r>
              <a:rPr lang="es-CR" sz="2400" dirty="0" smtClean="0"/>
              <a:t>	Característica:</a:t>
            </a:r>
          </a:p>
          <a:p>
            <a:pPr>
              <a:buNone/>
            </a:pPr>
            <a:r>
              <a:rPr lang="es-CR" sz="2400" dirty="0" smtClean="0"/>
              <a:t>	Observación:</a:t>
            </a:r>
            <a:endParaRPr lang="es-CR" sz="2400" dirty="0"/>
          </a:p>
        </p:txBody>
      </p:sp>
      <p:sp>
        <p:nvSpPr>
          <p:cNvPr id="4" name="AutoShape 2" descr="http://images.clipartpanda.com/person-thinking-clipart-thinking.sv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http://images.clipartpanda.com/person-thinking-clipart-thinking.sv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1030" name="Picture 6" descr="http://cdn.playbuzz.com/cdn/aa7a3e30-25e1-49d0-89e2-fd40a989ed66/d44b9443-52b5-419f-aa21-b9fed984957d.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9832" y="4941168"/>
            <a:ext cx="1296144" cy="16451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1412776"/>
            <a:ext cx="6408712" cy="5040560"/>
          </a:xfrm>
        </p:spPr>
        <p:txBody>
          <a:bodyPr>
            <a:normAutofit/>
          </a:bodyPr>
          <a:lstStyle/>
          <a:p>
            <a:r>
              <a:rPr lang="es-CR" sz="2400" dirty="0" smtClean="0"/>
              <a:t>Ejemplo 2:</a:t>
            </a:r>
          </a:p>
          <a:p>
            <a:pPr marL="0" indent="0">
              <a:buNone/>
            </a:pPr>
            <a:endParaRPr lang="es-CR" sz="2400" dirty="0" smtClean="0"/>
          </a:p>
          <a:p>
            <a:pPr>
              <a:buNone/>
            </a:pPr>
            <a:r>
              <a:rPr lang="es-CR" sz="2400" dirty="0" smtClean="0"/>
              <a:t>	“Un Ingeniero desea verificar la calidad de una parida de bombillos producidos el día anterior. Para hacerlo, toma una muestra de 50 bombillos y determina, para cada uno, si enciente o no”</a:t>
            </a:r>
          </a:p>
          <a:p>
            <a:pPr>
              <a:buNone/>
            </a:pPr>
            <a:endParaRPr lang="es-CR" sz="2400" dirty="0" smtClean="0"/>
          </a:p>
          <a:p>
            <a:pPr>
              <a:buNone/>
            </a:pPr>
            <a:r>
              <a:rPr lang="es-CR" sz="2400" dirty="0" smtClean="0"/>
              <a:t>	UE:</a:t>
            </a:r>
          </a:p>
          <a:p>
            <a:pPr>
              <a:buNone/>
            </a:pPr>
            <a:r>
              <a:rPr lang="es-CR" sz="2400" dirty="0" smtClean="0"/>
              <a:t>	Característica:</a:t>
            </a:r>
          </a:p>
          <a:p>
            <a:pPr>
              <a:buNone/>
            </a:pPr>
            <a:r>
              <a:rPr lang="es-CR" sz="2400" dirty="0" smtClean="0"/>
              <a:t>	Observación:</a:t>
            </a:r>
          </a:p>
        </p:txBody>
      </p:sp>
      <p:sp>
        <p:nvSpPr>
          <p:cNvPr id="4" name="1 Título"/>
          <p:cNvSpPr>
            <a:spLocks noGrp="1"/>
          </p:cNvSpPr>
          <p:nvPr>
            <p:ph type="title"/>
          </p:nvPr>
        </p:nvSpPr>
        <p:spPr>
          <a:xfrm>
            <a:off x="10007" y="188640"/>
            <a:ext cx="9144000" cy="1032949"/>
          </a:xfrm>
        </p:spPr>
        <p:txBody>
          <a:bodyPr>
            <a:normAutofit fontScale="90000"/>
          </a:bodyPr>
          <a:lstStyle/>
          <a:p>
            <a:pPr algn="ctr"/>
            <a:r>
              <a:rPr lang="es-CR" dirty="0" smtClean="0"/>
              <a:t>Unidad Estadística (UE), característica y observación</a:t>
            </a:r>
            <a:endParaRPr lang="es-CR" dirty="0"/>
          </a:p>
        </p:txBody>
      </p:sp>
      <p:pic>
        <p:nvPicPr>
          <p:cNvPr id="12290" name="Picture 2" descr="http://www.hispanicsofamerica.com/sitebuilder/images/bombillo-210x226.jpg"/>
          <p:cNvPicPr>
            <a:picLocks noChangeAspect="1" noChangeArrowheads="1"/>
          </p:cNvPicPr>
          <p:nvPr/>
        </p:nvPicPr>
        <p:blipFill>
          <a:blip r:embed="rId2" cstate="print"/>
          <a:srcRect/>
          <a:stretch>
            <a:fillRect/>
          </a:stretch>
        </p:blipFill>
        <p:spPr bwMode="auto">
          <a:xfrm>
            <a:off x="5652120" y="3429000"/>
            <a:ext cx="3008362" cy="32375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23912"/>
            <a:ext cx="8136904" cy="836712"/>
          </a:xfrm>
        </p:spPr>
        <p:txBody>
          <a:bodyPr>
            <a:normAutofit/>
          </a:bodyPr>
          <a:lstStyle/>
          <a:p>
            <a:pPr algn="ctr"/>
            <a:r>
              <a:rPr lang="es-CR" sz="3600" dirty="0" smtClean="0"/>
              <a:t>Población finita e infinita</a:t>
            </a:r>
            <a:endParaRPr lang="es-CR" sz="3600" dirty="0"/>
          </a:p>
        </p:txBody>
      </p:sp>
      <p:sp>
        <p:nvSpPr>
          <p:cNvPr id="3" name="2 Marcador de contenido"/>
          <p:cNvSpPr>
            <a:spLocks noGrp="1"/>
          </p:cNvSpPr>
          <p:nvPr>
            <p:ph sz="quarter" idx="1"/>
          </p:nvPr>
        </p:nvSpPr>
        <p:spPr>
          <a:xfrm>
            <a:off x="179512" y="1052736"/>
            <a:ext cx="6120680" cy="5184576"/>
          </a:xfrm>
        </p:spPr>
        <p:txBody>
          <a:bodyPr>
            <a:normAutofit/>
          </a:bodyPr>
          <a:lstStyle/>
          <a:p>
            <a:pPr algn="just"/>
            <a:r>
              <a:rPr lang="es-CR" sz="2400" dirty="0" smtClean="0"/>
              <a:t>Todo estudio o investigación tiene como referencia un conjunto de unidades de estudio o elementos (personas, animales, empresas, bombillos, etc.). El estudio pretende conocer las características y generalizar los elementos de una la </a:t>
            </a:r>
            <a:r>
              <a:rPr lang="es-CR" sz="2400" b="1" i="1" dirty="0"/>
              <a:t>P</a:t>
            </a:r>
            <a:r>
              <a:rPr lang="es-CR" sz="2400" b="1" i="1" dirty="0" smtClean="0"/>
              <a:t>oblación</a:t>
            </a:r>
            <a:r>
              <a:rPr lang="es-CR" sz="2400" dirty="0" smtClean="0"/>
              <a:t>.</a:t>
            </a:r>
          </a:p>
          <a:p>
            <a:pPr algn="just"/>
            <a:endParaRPr lang="es-CR" sz="2400" b="1" dirty="0" smtClean="0"/>
          </a:p>
          <a:p>
            <a:pPr algn="just"/>
            <a:r>
              <a:rPr lang="es-CR" sz="2400" dirty="0" smtClean="0"/>
              <a:t>Una forma de definir </a:t>
            </a:r>
            <a:r>
              <a:rPr lang="es-CR" sz="2400" b="1" i="1" dirty="0" smtClean="0"/>
              <a:t>la Población </a:t>
            </a:r>
            <a:r>
              <a:rPr lang="es-CR" sz="2400" dirty="0" smtClean="0"/>
              <a:t>es: “el total o agregado de todas las unidades de estudio”.</a:t>
            </a:r>
          </a:p>
          <a:p>
            <a:pPr algn="just"/>
            <a:endParaRPr lang="es-CR" sz="2400" dirty="0" smtClean="0"/>
          </a:p>
          <a:p>
            <a:pPr algn="just"/>
            <a:r>
              <a:rPr lang="es-CR" sz="2400" dirty="0" smtClean="0"/>
              <a:t>Ejemplo: todas las personas de un país, todos los peces de un estanque, todos los pacientes de un hospital.</a:t>
            </a:r>
          </a:p>
          <a:p>
            <a:pPr marL="0" indent="0" algn="just">
              <a:buNone/>
            </a:pPr>
            <a:endParaRPr lang="es-CR" sz="2400" dirty="0" smtClean="0"/>
          </a:p>
          <a:p>
            <a:endParaRPr lang="es-CR" sz="2400" dirty="0"/>
          </a:p>
        </p:txBody>
      </p:sp>
      <p:pic>
        <p:nvPicPr>
          <p:cNvPr id="11266" name="Picture 2" descr="http://www.dipucadiz.es/opencms/export/sites/default/dipucadiz/multimedia/galeriaImagenes/population.jpg"/>
          <p:cNvPicPr>
            <a:picLocks noChangeAspect="1" noChangeArrowheads="1"/>
          </p:cNvPicPr>
          <p:nvPr/>
        </p:nvPicPr>
        <p:blipFill>
          <a:blip r:embed="rId2" cstate="print"/>
          <a:srcRect/>
          <a:stretch>
            <a:fillRect/>
          </a:stretch>
        </p:blipFill>
        <p:spPr bwMode="auto">
          <a:xfrm>
            <a:off x="6552728" y="3645024"/>
            <a:ext cx="2282920" cy="2880320"/>
          </a:xfrm>
          <a:prstGeom prst="rect">
            <a:avLst/>
          </a:prstGeom>
          <a:noFill/>
        </p:spPr>
      </p:pic>
      <p:pic>
        <p:nvPicPr>
          <p:cNvPr id="11268" name="Picture 4" descr="http://blogs.clarin.com/blogfiles/el-rincon-de-fredy-clarin/aumentopoblacion.jpg"/>
          <p:cNvPicPr>
            <a:picLocks noChangeAspect="1" noChangeArrowheads="1"/>
          </p:cNvPicPr>
          <p:nvPr/>
        </p:nvPicPr>
        <p:blipFill>
          <a:blip r:embed="rId3" cstate="print"/>
          <a:srcRect/>
          <a:stretch>
            <a:fillRect/>
          </a:stretch>
        </p:blipFill>
        <p:spPr bwMode="auto">
          <a:xfrm>
            <a:off x="6444208" y="836712"/>
            <a:ext cx="2627784" cy="252028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980728"/>
            <a:ext cx="6480720" cy="5616624"/>
          </a:xfrm>
        </p:spPr>
        <p:txBody>
          <a:bodyPr>
            <a:normAutofit fontScale="92500" lnSpcReduction="20000"/>
          </a:bodyPr>
          <a:lstStyle/>
          <a:p>
            <a:r>
              <a:rPr lang="es-CR" sz="2400" dirty="0" smtClean="0"/>
              <a:t>A su vez, se pueden definir el término de </a:t>
            </a:r>
            <a:r>
              <a:rPr lang="es-CR" sz="2400" b="1" i="1" dirty="0" smtClean="0"/>
              <a:t>Población </a:t>
            </a:r>
            <a:r>
              <a:rPr lang="es-CR" sz="2400" dirty="0" smtClean="0"/>
              <a:t>como:</a:t>
            </a:r>
          </a:p>
          <a:p>
            <a:endParaRPr lang="es-CR" sz="2400" dirty="0" smtClean="0"/>
          </a:p>
          <a:p>
            <a:pPr marL="514350" indent="-514350">
              <a:buAutoNum type="arabicPeriod"/>
            </a:pPr>
            <a:r>
              <a:rPr lang="es-CR" sz="2400" b="1" i="1" dirty="0" smtClean="0"/>
              <a:t>Población finita</a:t>
            </a:r>
            <a:r>
              <a:rPr lang="es-CR" sz="2400" dirty="0" smtClean="0"/>
              <a:t>: posee un número limitado de elementos, especificada en el tiempo, y los elementos son contables.</a:t>
            </a:r>
          </a:p>
          <a:p>
            <a:pPr marL="514350" indent="-514350">
              <a:buAutoNum type="arabicPeriod"/>
            </a:pPr>
            <a:r>
              <a:rPr lang="es-CR" sz="2400" b="1" i="1" dirty="0" smtClean="0"/>
              <a:t>Población infinita</a:t>
            </a:r>
            <a:r>
              <a:rPr lang="es-CR" sz="2400" dirty="0" smtClean="0"/>
              <a:t>: hay un número ilimitado de elementos, no está especificada en el tiempo, y los no pueden ser contabilizados.</a:t>
            </a:r>
          </a:p>
          <a:p>
            <a:pPr marL="514350" indent="-514350">
              <a:buNone/>
            </a:pPr>
            <a:endParaRPr lang="es-CR" sz="2400" dirty="0" smtClean="0"/>
          </a:p>
          <a:p>
            <a:pPr marL="514350" indent="-514350">
              <a:buNone/>
            </a:pPr>
            <a:r>
              <a:rPr lang="es-CR" sz="2400" b="1" i="1" dirty="0" smtClean="0"/>
              <a:t>Ejemplo de PF</a:t>
            </a:r>
            <a:r>
              <a:rPr lang="es-CR" sz="2400" dirty="0" smtClean="0"/>
              <a:t>: población a una cierta fecha, alumnos de </a:t>
            </a:r>
          </a:p>
          <a:p>
            <a:pPr marL="514350" indent="-514350">
              <a:buNone/>
            </a:pPr>
            <a:r>
              <a:rPr lang="es-CR" sz="2400" dirty="0"/>
              <a:t> </a:t>
            </a:r>
            <a:r>
              <a:rPr lang="es-CR" sz="2400" dirty="0" smtClean="0"/>
              <a:t>                           un curso, animales de cierto parque. Todo lo  </a:t>
            </a:r>
          </a:p>
          <a:p>
            <a:pPr marL="514350" indent="-514350">
              <a:buNone/>
            </a:pPr>
            <a:r>
              <a:rPr lang="es-CR" sz="2400" dirty="0"/>
              <a:t> </a:t>
            </a:r>
            <a:r>
              <a:rPr lang="es-CR" sz="2400" dirty="0" smtClean="0"/>
              <a:t>                           anterior definido en tiempo, espacio.</a:t>
            </a:r>
          </a:p>
          <a:p>
            <a:pPr marL="514350" indent="-514350">
              <a:buNone/>
            </a:pPr>
            <a:endParaRPr lang="es-CR" sz="2400" dirty="0" smtClean="0"/>
          </a:p>
          <a:p>
            <a:pPr marL="514350" indent="-514350">
              <a:buNone/>
            </a:pPr>
            <a:r>
              <a:rPr lang="es-CR" sz="2400" b="1" i="1" dirty="0" smtClean="0"/>
              <a:t>Ejemplo de PI</a:t>
            </a:r>
            <a:r>
              <a:rPr lang="es-CR" sz="2400" dirty="0" smtClean="0"/>
              <a:t>: población actual y futura que no es</a:t>
            </a:r>
          </a:p>
          <a:p>
            <a:pPr marL="514350" indent="-514350">
              <a:buNone/>
            </a:pPr>
            <a:r>
              <a:rPr lang="es-CR" sz="2400" dirty="0"/>
              <a:t> </a:t>
            </a:r>
            <a:r>
              <a:rPr lang="es-CR" sz="2400" dirty="0" smtClean="0"/>
              <a:t>                          limitada en el tiempo, poblaciones que </a:t>
            </a:r>
            <a:endParaRPr lang="es-CR" sz="2400" dirty="0"/>
          </a:p>
          <a:p>
            <a:pPr marL="514350" indent="-514350">
              <a:buNone/>
            </a:pPr>
            <a:r>
              <a:rPr lang="es-CR" sz="2400" dirty="0" smtClean="0"/>
              <a:t>                           realmente no se pudieron contabilizar.</a:t>
            </a:r>
          </a:p>
        </p:txBody>
      </p:sp>
      <p:sp>
        <p:nvSpPr>
          <p:cNvPr id="4" name="1 Título"/>
          <p:cNvSpPr>
            <a:spLocks noGrp="1"/>
          </p:cNvSpPr>
          <p:nvPr>
            <p:ph type="title"/>
          </p:nvPr>
        </p:nvSpPr>
        <p:spPr>
          <a:xfrm>
            <a:off x="251520" y="0"/>
            <a:ext cx="8136904" cy="836712"/>
          </a:xfrm>
        </p:spPr>
        <p:txBody>
          <a:bodyPr>
            <a:normAutofit/>
          </a:bodyPr>
          <a:lstStyle/>
          <a:p>
            <a:pPr algn="ctr"/>
            <a:r>
              <a:rPr lang="es-CR" sz="3600" dirty="0" smtClean="0"/>
              <a:t>Población finita e infinita</a:t>
            </a:r>
            <a:endParaRPr lang="es-CR" sz="3600" dirty="0"/>
          </a:p>
        </p:txBody>
      </p:sp>
      <p:pic>
        <p:nvPicPr>
          <p:cNvPr id="1026" name="Picture 2" descr="http://news.statetimes.in/wp-content/uploads/2015/06/Steady-rise-in-literacy-rate-among-Delhis-SC-popul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1340768"/>
            <a:ext cx="1728192" cy="1584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Ba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9144000" cy="908720"/>
          </a:xfrm>
        </p:spPr>
        <p:txBody>
          <a:bodyPr>
            <a:normAutofit/>
          </a:bodyPr>
          <a:lstStyle/>
          <a:p>
            <a:pPr algn="ctr"/>
            <a:r>
              <a:rPr lang="es-CR" sz="3600" dirty="0" smtClean="0"/>
              <a:t>Datos Estadística y Análisis Estadísticos</a:t>
            </a:r>
            <a:endParaRPr lang="es-CR" sz="3600" dirty="0"/>
          </a:p>
        </p:txBody>
      </p:sp>
      <p:sp>
        <p:nvSpPr>
          <p:cNvPr id="3" name="2 Marcador de contenido"/>
          <p:cNvSpPr>
            <a:spLocks noGrp="1"/>
          </p:cNvSpPr>
          <p:nvPr>
            <p:ph sz="quarter" idx="1"/>
          </p:nvPr>
        </p:nvSpPr>
        <p:spPr>
          <a:xfrm>
            <a:off x="18030" y="1163688"/>
            <a:ext cx="5724128" cy="5760640"/>
          </a:xfrm>
        </p:spPr>
        <p:txBody>
          <a:bodyPr>
            <a:normAutofit/>
          </a:bodyPr>
          <a:lstStyle/>
          <a:p>
            <a:pPr algn="just"/>
            <a:r>
              <a:rPr lang="es-CR" sz="2400" b="1" dirty="0" smtClean="0"/>
              <a:t>Datos estadísticos</a:t>
            </a:r>
            <a:r>
              <a:rPr lang="es-CR" sz="2400" dirty="0" smtClean="0"/>
              <a:t>: son representativo crudas de los datos. Los cuadros, los gráficos, y datos sin un fin de aplicación de una técnica </a:t>
            </a:r>
            <a:r>
              <a:rPr lang="es-CR" sz="2400" dirty="0" err="1" smtClean="0"/>
              <a:t>inferencial</a:t>
            </a:r>
            <a:r>
              <a:rPr lang="es-CR" sz="2400" dirty="0" smtClean="0"/>
              <a:t> de por medio, son considerados como datos estadísticos.</a:t>
            </a:r>
          </a:p>
          <a:p>
            <a:pPr algn="just"/>
            <a:endParaRPr lang="es-CR" sz="2400" dirty="0" smtClean="0"/>
          </a:p>
          <a:p>
            <a:pPr algn="just"/>
            <a:r>
              <a:rPr lang="es-CR" sz="2400" b="1" dirty="0" smtClean="0"/>
              <a:t>Análisis estadísticos</a:t>
            </a:r>
            <a:r>
              <a:rPr lang="es-CR" sz="2400" dirty="0" smtClean="0"/>
              <a:t>: son todas las técnicas estadísticas que utilizan la matemática (probabilidades) y teoría estadística, para ser aplicada en la solución de un problema (en su mayoría inferencial). </a:t>
            </a:r>
            <a:endParaRPr lang="es-CR" sz="2400" dirty="0"/>
          </a:p>
        </p:txBody>
      </p:sp>
      <p:pic>
        <p:nvPicPr>
          <p:cNvPr id="9218" name="Picture 2" descr="http://plus.maths.org/issue23/features/data/data.jpg"/>
          <p:cNvPicPr>
            <a:picLocks noChangeAspect="1" noChangeArrowheads="1"/>
          </p:cNvPicPr>
          <p:nvPr/>
        </p:nvPicPr>
        <p:blipFill>
          <a:blip r:embed="rId2" cstate="print"/>
          <a:srcRect/>
          <a:stretch>
            <a:fillRect/>
          </a:stretch>
        </p:blipFill>
        <p:spPr bwMode="auto">
          <a:xfrm>
            <a:off x="6091225" y="980728"/>
            <a:ext cx="2757686" cy="2662313"/>
          </a:xfrm>
          <a:prstGeom prst="rect">
            <a:avLst/>
          </a:prstGeom>
          <a:noFill/>
        </p:spPr>
      </p:pic>
      <p:pic>
        <p:nvPicPr>
          <p:cNvPr id="9220" name="Picture 4" descr="http://www.vaticgroup.com/uploads/investigacion%20operaciones%20graf.jpg"/>
          <p:cNvPicPr>
            <a:picLocks noChangeAspect="1" noChangeArrowheads="1"/>
          </p:cNvPicPr>
          <p:nvPr/>
        </p:nvPicPr>
        <p:blipFill>
          <a:blip r:embed="rId3" cstate="print"/>
          <a:srcRect/>
          <a:stretch>
            <a:fillRect/>
          </a:stretch>
        </p:blipFill>
        <p:spPr bwMode="auto">
          <a:xfrm>
            <a:off x="6156176" y="3935986"/>
            <a:ext cx="2771800" cy="2413497"/>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9144000" cy="836712"/>
          </a:xfrm>
        </p:spPr>
        <p:txBody>
          <a:bodyPr>
            <a:normAutofit fontScale="90000"/>
          </a:bodyPr>
          <a:lstStyle/>
          <a:p>
            <a:pPr algn="ctr"/>
            <a:r>
              <a:rPr lang="es-CR" dirty="0" smtClean="0"/>
              <a:t>Clasificación de la naturaleza de los datos</a:t>
            </a:r>
            <a:endParaRPr lang="es-CR" dirty="0"/>
          </a:p>
        </p:txBody>
      </p:sp>
      <p:sp>
        <p:nvSpPr>
          <p:cNvPr id="3" name="2 Marcador de contenido"/>
          <p:cNvSpPr>
            <a:spLocks noGrp="1"/>
          </p:cNvSpPr>
          <p:nvPr>
            <p:ph sz="quarter" idx="1"/>
          </p:nvPr>
        </p:nvSpPr>
        <p:spPr>
          <a:xfrm>
            <a:off x="179512" y="1052736"/>
            <a:ext cx="5796136" cy="5688632"/>
          </a:xfrm>
        </p:spPr>
        <p:txBody>
          <a:bodyPr>
            <a:normAutofit/>
          </a:bodyPr>
          <a:lstStyle/>
          <a:p>
            <a:pPr algn="just"/>
            <a:r>
              <a:rPr lang="es-CR" sz="2400" dirty="0" smtClean="0"/>
              <a:t>En </a:t>
            </a:r>
            <a:r>
              <a:rPr lang="es-CR" sz="2400" i="1" dirty="0" smtClean="0"/>
              <a:t>Estadística</a:t>
            </a:r>
            <a:r>
              <a:rPr lang="es-CR" sz="2400" dirty="0" smtClean="0"/>
              <a:t>, normalmente la información o datos son de dos tipos:</a:t>
            </a:r>
          </a:p>
          <a:p>
            <a:pPr algn="just"/>
            <a:endParaRPr lang="es-CR" sz="2400" dirty="0" smtClean="0"/>
          </a:p>
          <a:p>
            <a:pPr algn="just"/>
            <a:r>
              <a:rPr lang="es-CR" sz="2400" b="1" i="1" dirty="0" smtClean="0"/>
              <a:t>Datos cualitativos</a:t>
            </a:r>
            <a:r>
              <a:rPr lang="es-CR" sz="2400" dirty="0" smtClean="0"/>
              <a:t>: es toda la información que no se expresa necesariamente por números, y por lo tanto se suele denominar como características. Son muy comunes en estudios cualitativos (psicología, mercadeo, estudios de opinión, etc.).</a:t>
            </a:r>
          </a:p>
          <a:p>
            <a:pPr algn="just"/>
            <a:endParaRPr lang="es-CR" sz="2400" dirty="0" smtClean="0"/>
          </a:p>
          <a:p>
            <a:pPr algn="just"/>
            <a:r>
              <a:rPr lang="es-CR" sz="2400" b="1" i="1" dirty="0" smtClean="0"/>
              <a:t>Datos Cuantitativos</a:t>
            </a:r>
            <a:r>
              <a:rPr lang="es-CR" sz="2400" dirty="0" smtClean="0"/>
              <a:t>: involucra necesariamente datos numéricos. Muchos ejemplos se hayan en campos como la economía, demografía, y por supuesto en  el área de la salud.</a:t>
            </a:r>
            <a:endParaRPr lang="es-CR" sz="2400" dirty="0"/>
          </a:p>
        </p:txBody>
      </p:sp>
      <p:pic>
        <p:nvPicPr>
          <p:cNvPr id="8194" name="Picture 2" descr="http://www.negociosgt.com/fotos/imagenmercados/clip_image002.jpg?0.8613720602410446"/>
          <p:cNvPicPr>
            <a:picLocks noChangeAspect="1" noChangeArrowheads="1"/>
          </p:cNvPicPr>
          <p:nvPr/>
        </p:nvPicPr>
        <p:blipFill>
          <a:blip r:embed="rId2" cstate="print"/>
          <a:srcRect/>
          <a:stretch>
            <a:fillRect/>
          </a:stretch>
        </p:blipFill>
        <p:spPr bwMode="auto">
          <a:xfrm>
            <a:off x="6516216" y="1196752"/>
            <a:ext cx="2376264" cy="2304256"/>
          </a:xfrm>
          <a:prstGeom prst="rect">
            <a:avLst/>
          </a:prstGeom>
          <a:noFill/>
        </p:spPr>
      </p:pic>
      <p:pic>
        <p:nvPicPr>
          <p:cNvPr id="8198" name="Picture 6" descr="http://www.cienladrillos.com/images/2008/02/datos.jpg"/>
          <p:cNvPicPr>
            <a:picLocks noChangeAspect="1" noChangeArrowheads="1"/>
          </p:cNvPicPr>
          <p:nvPr/>
        </p:nvPicPr>
        <p:blipFill>
          <a:blip r:embed="rId3" cstate="print"/>
          <a:srcRect/>
          <a:stretch>
            <a:fillRect/>
          </a:stretch>
        </p:blipFill>
        <p:spPr bwMode="auto">
          <a:xfrm>
            <a:off x="6372200" y="3645024"/>
            <a:ext cx="2592287" cy="288032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0"/>
            <a:ext cx="8784976" cy="908720"/>
          </a:xfrm>
        </p:spPr>
        <p:txBody>
          <a:bodyPr>
            <a:normAutofit/>
          </a:bodyPr>
          <a:lstStyle/>
          <a:p>
            <a:pPr algn="ctr"/>
            <a:r>
              <a:rPr lang="es-CR" sz="3600" dirty="0" smtClean="0"/>
              <a:t>Escala de medición: nominal</a:t>
            </a:r>
            <a:endParaRPr lang="es-CR" sz="3600" dirty="0"/>
          </a:p>
        </p:txBody>
      </p:sp>
      <p:sp>
        <p:nvSpPr>
          <p:cNvPr id="3" name="2 Marcador de contenido"/>
          <p:cNvSpPr>
            <a:spLocks noGrp="1"/>
          </p:cNvSpPr>
          <p:nvPr>
            <p:ph sz="quarter" idx="1"/>
          </p:nvPr>
        </p:nvSpPr>
        <p:spPr>
          <a:xfrm>
            <a:off x="179512" y="1196752"/>
            <a:ext cx="5688632" cy="5184576"/>
          </a:xfrm>
        </p:spPr>
        <p:txBody>
          <a:bodyPr>
            <a:normAutofit/>
          </a:bodyPr>
          <a:lstStyle/>
          <a:p>
            <a:pPr algn="just"/>
            <a:r>
              <a:rPr lang="es-CR" sz="2400" dirty="0" smtClean="0"/>
              <a:t>La información o los datos (cualitativos como cuantitativos) se encuentran siempre en una de las siguientes 4 escalas de medición:</a:t>
            </a:r>
          </a:p>
          <a:p>
            <a:pPr algn="just"/>
            <a:endParaRPr lang="es-CR" sz="2400" dirty="0" smtClean="0"/>
          </a:p>
          <a:p>
            <a:pPr algn="just">
              <a:buNone/>
            </a:pPr>
            <a:r>
              <a:rPr lang="es-CR" sz="2400" dirty="0"/>
              <a:t> </a:t>
            </a:r>
            <a:r>
              <a:rPr lang="es-CR" sz="2400" dirty="0" smtClean="0"/>
              <a:t>  </a:t>
            </a:r>
            <a:r>
              <a:rPr lang="es-CR" sz="2400" b="1" i="1" dirty="0" smtClean="0"/>
              <a:t>Nominal</a:t>
            </a:r>
            <a:r>
              <a:rPr lang="es-CR" sz="2400" dirty="0" smtClean="0"/>
              <a:t>: cuando se tiene una característica para la cual se pueden definir categorías diferentes, pero no es posible ordenar esas categorías, ni decir de qué manera una es superior a la otra. En este caso se tendría una escala </a:t>
            </a:r>
            <a:r>
              <a:rPr lang="es-CR" sz="2400" b="1" dirty="0" smtClean="0"/>
              <a:t>nominal</a:t>
            </a:r>
            <a:r>
              <a:rPr lang="es-CR" sz="2400" dirty="0" smtClean="0"/>
              <a:t>.</a:t>
            </a:r>
          </a:p>
          <a:p>
            <a:pPr algn="just">
              <a:buNone/>
            </a:pPr>
            <a:endParaRPr lang="es-CR" sz="2400" dirty="0" smtClean="0"/>
          </a:p>
          <a:p>
            <a:pPr algn="just">
              <a:buNone/>
            </a:pPr>
            <a:r>
              <a:rPr lang="es-CR" sz="2400" dirty="0" smtClean="0"/>
              <a:t>Ejemplos: sexo, estado civil, país de nacimiento, color del pelo, etc.</a:t>
            </a:r>
            <a:endParaRPr lang="es-CR" sz="2400" dirty="0"/>
          </a:p>
        </p:txBody>
      </p:sp>
      <p:pic>
        <p:nvPicPr>
          <p:cNvPr id="7170" name="Picture 2" descr="http://4.bp.blogspot.com/_kkxda0Gkgzw/Sp7AlTlS5TI/AAAAAAAAAUQ/69SQAeGz63Y/s400/hombre-mujer.jpg"/>
          <p:cNvPicPr>
            <a:picLocks noChangeAspect="1" noChangeArrowheads="1"/>
          </p:cNvPicPr>
          <p:nvPr/>
        </p:nvPicPr>
        <p:blipFill>
          <a:blip r:embed="rId2" cstate="print"/>
          <a:srcRect/>
          <a:stretch>
            <a:fillRect/>
          </a:stretch>
        </p:blipFill>
        <p:spPr bwMode="auto">
          <a:xfrm>
            <a:off x="6191672" y="1052736"/>
            <a:ext cx="2952328" cy="2214246"/>
          </a:xfrm>
          <a:prstGeom prst="rect">
            <a:avLst/>
          </a:prstGeom>
          <a:noFill/>
        </p:spPr>
      </p:pic>
      <p:pic>
        <p:nvPicPr>
          <p:cNvPr id="7172" name="Picture 4" descr="http://3.bp.blogspot.com/_DJquP9vsjD8/R1ND217uVgI/AAAAAAAAAzA/lC5hlT9NvKA/s400/PAISES+RICOS.jpg"/>
          <p:cNvPicPr>
            <a:picLocks noChangeAspect="1" noChangeArrowheads="1"/>
          </p:cNvPicPr>
          <p:nvPr/>
        </p:nvPicPr>
        <p:blipFill>
          <a:blip r:embed="rId3" cstate="print"/>
          <a:srcRect/>
          <a:stretch>
            <a:fillRect/>
          </a:stretch>
        </p:blipFill>
        <p:spPr bwMode="auto">
          <a:xfrm>
            <a:off x="6228184" y="3645024"/>
            <a:ext cx="2736304" cy="2952328"/>
          </a:xfrm>
          <a:prstGeom prst="rect">
            <a:avLst/>
          </a:prstGeom>
          <a:noFill/>
        </p:spPr>
      </p:pic>
    </p:spTree>
  </p:cSld>
  <p:clrMapOvr>
    <a:masterClrMapping/>
  </p:clrMapOvr>
  <p:transition spd="slow">
    <p:pull/>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836712"/>
            <a:ext cx="5832648" cy="5688631"/>
          </a:xfrm>
        </p:spPr>
        <p:txBody>
          <a:bodyPr>
            <a:normAutofit/>
          </a:bodyPr>
          <a:lstStyle/>
          <a:p>
            <a:pPr algn="just">
              <a:buNone/>
            </a:pPr>
            <a:r>
              <a:rPr lang="es-CR" sz="2400" dirty="0"/>
              <a:t> </a:t>
            </a:r>
            <a:r>
              <a:rPr lang="es-CR" sz="2400" b="1" i="1" dirty="0" smtClean="0"/>
              <a:t>Ordinal</a:t>
            </a:r>
            <a:r>
              <a:rPr lang="es-CR" sz="2400" dirty="0" smtClean="0"/>
              <a:t>: en un sistema de medición nominal, no es posible decir si dos características son iguales o diferentes. En los datos cualitativos hay situaciones en donde no se tiene una unidad de medida numérica, pero estamos en capacidad de determinar si los objetos tienen más o menos de la característica de interés, y por lo tanto es posible ordenarlos. Cuando tenemos datos cualitativos pero se pueden de cierta forma ordena, estamos en presencia de una escala de medición </a:t>
            </a:r>
            <a:r>
              <a:rPr lang="es-CR" sz="2400" b="1" i="1" dirty="0" smtClean="0"/>
              <a:t>ordinal</a:t>
            </a:r>
            <a:r>
              <a:rPr lang="es-CR" sz="2400" dirty="0" smtClean="0"/>
              <a:t>.</a:t>
            </a:r>
          </a:p>
          <a:p>
            <a:pPr>
              <a:buNone/>
            </a:pPr>
            <a:endParaRPr lang="es-CR" sz="2400" dirty="0" smtClean="0"/>
          </a:p>
          <a:p>
            <a:pPr algn="just">
              <a:buNone/>
            </a:pPr>
            <a:r>
              <a:rPr lang="es-CR" sz="2400" dirty="0" smtClean="0"/>
              <a:t>Ejemplos: grado académico, intensidad del dolor, posición militar, etc. </a:t>
            </a:r>
          </a:p>
          <a:p>
            <a:pPr>
              <a:buNone/>
            </a:pPr>
            <a:endParaRPr lang="es-CR" sz="2400" dirty="0" smtClean="0"/>
          </a:p>
          <a:p>
            <a:pPr>
              <a:buNone/>
            </a:pPr>
            <a:endParaRPr lang="es-CR" sz="2400" dirty="0"/>
          </a:p>
        </p:txBody>
      </p:sp>
      <p:sp>
        <p:nvSpPr>
          <p:cNvPr id="4" name="1 Título"/>
          <p:cNvSpPr>
            <a:spLocks noGrp="1"/>
          </p:cNvSpPr>
          <p:nvPr>
            <p:ph type="title"/>
          </p:nvPr>
        </p:nvSpPr>
        <p:spPr>
          <a:xfrm>
            <a:off x="179512" y="0"/>
            <a:ext cx="8784976" cy="764704"/>
          </a:xfrm>
        </p:spPr>
        <p:txBody>
          <a:bodyPr>
            <a:normAutofit/>
          </a:bodyPr>
          <a:lstStyle/>
          <a:p>
            <a:pPr algn="ctr"/>
            <a:r>
              <a:rPr lang="es-CR" sz="3600" dirty="0" smtClean="0"/>
              <a:t>Escala de medición: ordinal</a:t>
            </a:r>
            <a:endParaRPr lang="es-CR" sz="3600" dirty="0"/>
          </a:p>
        </p:txBody>
      </p:sp>
      <p:pic>
        <p:nvPicPr>
          <p:cNvPr id="6146" name="Picture 2" descr="http://deconceptos.com/wp-content/uploads/2009/12/concepto-de-jerarquia.jpg"/>
          <p:cNvPicPr>
            <a:picLocks noChangeAspect="1" noChangeArrowheads="1"/>
          </p:cNvPicPr>
          <p:nvPr/>
        </p:nvPicPr>
        <p:blipFill>
          <a:blip r:embed="rId2" cstate="print"/>
          <a:srcRect/>
          <a:stretch>
            <a:fillRect/>
          </a:stretch>
        </p:blipFill>
        <p:spPr bwMode="auto">
          <a:xfrm>
            <a:off x="6516216" y="980728"/>
            <a:ext cx="2381250" cy="2562226"/>
          </a:xfrm>
          <a:prstGeom prst="rect">
            <a:avLst/>
          </a:prstGeom>
          <a:noFill/>
        </p:spPr>
      </p:pic>
      <p:pic>
        <p:nvPicPr>
          <p:cNvPr id="6148" name="Picture 4" descr="http://www.linternaute.com/histoire/magazine/dossier/06/portraits-revolution/images/napoleon.png"/>
          <p:cNvPicPr>
            <a:picLocks noChangeAspect="1" noChangeArrowheads="1"/>
          </p:cNvPicPr>
          <p:nvPr/>
        </p:nvPicPr>
        <p:blipFill>
          <a:blip r:embed="rId3" cstate="print"/>
          <a:srcRect/>
          <a:stretch>
            <a:fillRect/>
          </a:stretch>
        </p:blipFill>
        <p:spPr bwMode="auto">
          <a:xfrm>
            <a:off x="6660232" y="3745835"/>
            <a:ext cx="2287895" cy="2898001"/>
          </a:xfrm>
          <a:prstGeom prst="rect">
            <a:avLst/>
          </a:prstGeom>
          <a:noFill/>
        </p:spPr>
      </p:pic>
    </p:spTree>
  </p:cSld>
  <p:clrMapOvr>
    <a:masterClrMapping/>
  </p:clrMapOvr>
  <p:transition spd="slow">
    <p:cove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80729"/>
            <a:ext cx="5112568" cy="5688631"/>
          </a:xfrm>
        </p:spPr>
        <p:txBody>
          <a:bodyPr>
            <a:normAutofit/>
          </a:bodyPr>
          <a:lstStyle/>
          <a:p>
            <a:pPr algn="just">
              <a:buNone/>
            </a:pPr>
            <a:r>
              <a:rPr lang="es-CR" sz="2400" b="1" i="1" dirty="0" smtClean="0"/>
              <a:t>Intervalo</a:t>
            </a:r>
            <a:r>
              <a:rPr lang="es-CR" sz="2400" dirty="0" smtClean="0"/>
              <a:t>: a partir de esta escala ya se tienen informaciones numéricas. La diferencia entre la escala de medición por </a:t>
            </a:r>
            <a:r>
              <a:rPr lang="es-CR" sz="2400" b="1" i="1" dirty="0" smtClean="0"/>
              <a:t>intervalos</a:t>
            </a:r>
            <a:r>
              <a:rPr lang="es-CR" sz="2400" dirty="0" smtClean="0"/>
              <a:t> y la de </a:t>
            </a:r>
            <a:r>
              <a:rPr lang="es-CR" sz="2400" b="1" dirty="0" smtClean="0"/>
              <a:t>razón</a:t>
            </a:r>
            <a:r>
              <a:rPr lang="es-CR" sz="2400" dirty="0" smtClean="0"/>
              <a:t>, es que en la de intervalos el “cero” (0) es fijado arbitrariamente, por lo que no se indica ausencia de lo que se mide.  De igual forma, información proveniente de hechos subjetivos o valoraciones se pueden clasificar como escalas por </a:t>
            </a:r>
            <a:r>
              <a:rPr lang="es-CR" sz="2400" b="1" i="1" dirty="0" smtClean="0"/>
              <a:t>intervalo</a:t>
            </a:r>
            <a:r>
              <a:rPr lang="es-CR" sz="2400" dirty="0" smtClean="0"/>
              <a:t>. </a:t>
            </a:r>
          </a:p>
          <a:p>
            <a:pPr algn="just">
              <a:buNone/>
            </a:pPr>
            <a:endParaRPr lang="es-CR" sz="2400" dirty="0" smtClean="0"/>
          </a:p>
          <a:p>
            <a:pPr algn="just">
              <a:buNone/>
            </a:pPr>
            <a:r>
              <a:rPr lang="es-CR" sz="2400" dirty="0" smtClean="0"/>
              <a:t>Ejemplos: la temperatura, el tiempo, la medición del IQ, las escalas Likert, etc.</a:t>
            </a:r>
          </a:p>
          <a:p>
            <a:pPr>
              <a:buNone/>
            </a:pPr>
            <a:endParaRPr lang="es-CR" sz="2400" dirty="0" smtClean="0"/>
          </a:p>
          <a:p>
            <a:pPr>
              <a:buNone/>
            </a:pPr>
            <a:endParaRPr lang="es-CR" sz="2400" dirty="0" smtClean="0"/>
          </a:p>
          <a:p>
            <a:pPr>
              <a:buNone/>
            </a:pPr>
            <a:endParaRPr lang="es-CR" sz="2400" dirty="0"/>
          </a:p>
        </p:txBody>
      </p:sp>
      <p:sp>
        <p:nvSpPr>
          <p:cNvPr id="4" name="1 Título"/>
          <p:cNvSpPr>
            <a:spLocks noGrp="1"/>
          </p:cNvSpPr>
          <p:nvPr>
            <p:ph type="title"/>
          </p:nvPr>
        </p:nvSpPr>
        <p:spPr>
          <a:xfrm>
            <a:off x="179512" y="0"/>
            <a:ext cx="8784976" cy="908720"/>
          </a:xfrm>
        </p:spPr>
        <p:txBody>
          <a:bodyPr>
            <a:normAutofit/>
          </a:bodyPr>
          <a:lstStyle/>
          <a:p>
            <a:pPr algn="ctr"/>
            <a:r>
              <a:rPr lang="es-CR" sz="3600" dirty="0" smtClean="0"/>
              <a:t>Escala de medición: intervalo</a:t>
            </a:r>
            <a:endParaRPr lang="es-CR" sz="3600" dirty="0"/>
          </a:p>
        </p:txBody>
      </p:sp>
      <p:pic>
        <p:nvPicPr>
          <p:cNvPr id="5122" name="Picture 2" descr="http://www.plantasyjardines.es/wp-content/uploads/2010/01/temperatura.jpg"/>
          <p:cNvPicPr>
            <a:picLocks noChangeAspect="1" noChangeArrowheads="1"/>
          </p:cNvPicPr>
          <p:nvPr/>
        </p:nvPicPr>
        <p:blipFill>
          <a:blip r:embed="rId2" cstate="print"/>
          <a:srcRect/>
          <a:stretch>
            <a:fillRect/>
          </a:stretch>
        </p:blipFill>
        <p:spPr bwMode="auto">
          <a:xfrm>
            <a:off x="5678363" y="980729"/>
            <a:ext cx="3286125" cy="3456383"/>
          </a:xfrm>
          <a:prstGeom prst="rect">
            <a:avLst/>
          </a:prstGeom>
          <a:noFill/>
        </p:spPr>
      </p:pic>
      <p:pic>
        <p:nvPicPr>
          <p:cNvPr id="5124" name="Picture 4" descr="http://www.ocompras.com/images/2008/01/reloj-izquierdas.jpg"/>
          <p:cNvPicPr>
            <a:picLocks noChangeAspect="1" noChangeArrowheads="1"/>
          </p:cNvPicPr>
          <p:nvPr/>
        </p:nvPicPr>
        <p:blipFill>
          <a:blip r:embed="rId3" cstate="print"/>
          <a:srcRect/>
          <a:stretch>
            <a:fillRect/>
          </a:stretch>
        </p:blipFill>
        <p:spPr bwMode="auto">
          <a:xfrm>
            <a:off x="6372200" y="4581128"/>
            <a:ext cx="2088232" cy="2088232"/>
          </a:xfrm>
          <a:prstGeom prst="rect">
            <a:avLst/>
          </a:prstGeom>
          <a:noFill/>
        </p:spPr>
      </p:pic>
    </p:spTree>
  </p:cSld>
  <p:clrMapOvr>
    <a:masterClrMapping/>
  </p:clrMapOvr>
  <p:transition spd="slow">
    <p:wheel spokes="1"/>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268760"/>
            <a:ext cx="5616624" cy="5328592"/>
          </a:xfrm>
        </p:spPr>
        <p:txBody>
          <a:bodyPr>
            <a:normAutofit/>
          </a:bodyPr>
          <a:lstStyle/>
          <a:p>
            <a:pPr algn="just">
              <a:buNone/>
            </a:pPr>
            <a:r>
              <a:rPr lang="es-CR" sz="2400" dirty="0"/>
              <a:t> </a:t>
            </a:r>
            <a:r>
              <a:rPr lang="es-CR" sz="2400" b="1" i="1" dirty="0" smtClean="0"/>
              <a:t>Razón:</a:t>
            </a:r>
            <a:r>
              <a:rPr lang="es-CR" sz="2400" dirty="0" smtClean="0"/>
              <a:t> al igual que en la escala de intervalo, las observaciones derivadas de esta contienen observaciones numéricas. Sin embargo en este caso el “cero”  (0) si es verdadero y absoluto, e indica ausencia de la característica de interés. Así, por ejemplo, si tenemos una observación de cero, entonces es que no hay nada.</a:t>
            </a:r>
          </a:p>
          <a:p>
            <a:pPr>
              <a:buNone/>
            </a:pPr>
            <a:endParaRPr lang="es-CR" sz="2400" dirty="0" smtClean="0"/>
          </a:p>
          <a:p>
            <a:pPr>
              <a:buNone/>
            </a:pPr>
            <a:r>
              <a:rPr lang="es-CR" sz="2400" dirty="0" smtClean="0"/>
              <a:t>Ejemplo: peso, volumen, cantidad de glóbulos rojos, dinero, altura, etc.  	</a:t>
            </a:r>
            <a:endParaRPr lang="es-CR" sz="2400" dirty="0"/>
          </a:p>
        </p:txBody>
      </p:sp>
      <p:sp>
        <p:nvSpPr>
          <p:cNvPr id="4" name="1 Título"/>
          <p:cNvSpPr>
            <a:spLocks noGrp="1"/>
          </p:cNvSpPr>
          <p:nvPr>
            <p:ph type="title"/>
          </p:nvPr>
        </p:nvSpPr>
        <p:spPr>
          <a:xfrm>
            <a:off x="179512" y="0"/>
            <a:ext cx="8784976" cy="908720"/>
          </a:xfrm>
        </p:spPr>
        <p:txBody>
          <a:bodyPr/>
          <a:lstStyle/>
          <a:p>
            <a:pPr algn="ctr"/>
            <a:r>
              <a:rPr lang="es-CR" dirty="0" smtClean="0"/>
              <a:t>Escala de medición</a:t>
            </a:r>
            <a:endParaRPr lang="es-CR" dirty="0"/>
          </a:p>
        </p:txBody>
      </p:sp>
      <p:pic>
        <p:nvPicPr>
          <p:cNvPr id="4098" name="Picture 2" descr="http://www.vitadelia.com/images/2008/05/obesidad.gif"/>
          <p:cNvPicPr>
            <a:picLocks noChangeAspect="1" noChangeArrowheads="1"/>
          </p:cNvPicPr>
          <p:nvPr/>
        </p:nvPicPr>
        <p:blipFill>
          <a:blip r:embed="rId2" cstate="print"/>
          <a:srcRect/>
          <a:stretch>
            <a:fillRect/>
          </a:stretch>
        </p:blipFill>
        <p:spPr bwMode="auto">
          <a:xfrm>
            <a:off x="6156176" y="1124744"/>
            <a:ext cx="2808312" cy="2808312"/>
          </a:xfrm>
          <a:prstGeom prst="rect">
            <a:avLst/>
          </a:prstGeom>
          <a:noFill/>
        </p:spPr>
      </p:pic>
      <p:pic>
        <p:nvPicPr>
          <p:cNvPr id="4100" name="Picture 4" descr="http://vanesasg.files.wordpress.com/2009/01/dinero.gif?w=390&amp;h=352"/>
          <p:cNvPicPr>
            <a:picLocks noChangeAspect="1" noChangeArrowheads="1"/>
          </p:cNvPicPr>
          <p:nvPr/>
        </p:nvPicPr>
        <p:blipFill>
          <a:blip r:embed="rId3" cstate="print"/>
          <a:srcRect/>
          <a:stretch>
            <a:fillRect/>
          </a:stretch>
        </p:blipFill>
        <p:spPr bwMode="auto">
          <a:xfrm>
            <a:off x="6084168" y="4077072"/>
            <a:ext cx="2736304" cy="2448272"/>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5904656" cy="5616624"/>
          </a:xfrm>
        </p:spPr>
        <p:txBody>
          <a:bodyPr>
            <a:normAutofit/>
          </a:bodyPr>
          <a:lstStyle/>
          <a:p>
            <a:pPr algn="just"/>
            <a:r>
              <a:rPr lang="es-CR" sz="2400" dirty="0" smtClean="0"/>
              <a:t>En estadística solemos llamar a las dos primeras escalas de medición como datos categóricos o cualitativos, mientras que las últimas escalas se denominan como mediciones métrica o datos cuantitativos.</a:t>
            </a:r>
          </a:p>
          <a:p>
            <a:pPr algn="just"/>
            <a:endParaRPr lang="es-CR" sz="2400" dirty="0" smtClean="0"/>
          </a:p>
          <a:p>
            <a:pPr algn="just"/>
            <a:r>
              <a:rPr lang="es-CR" sz="2400" dirty="0" smtClean="0"/>
              <a:t>¿Para qué sirven los niveles de medición en estadística?</a:t>
            </a:r>
          </a:p>
          <a:p>
            <a:pPr algn="just"/>
            <a:endParaRPr lang="es-CR" sz="2400" dirty="0" smtClean="0"/>
          </a:p>
          <a:p>
            <a:pPr algn="just"/>
            <a:r>
              <a:rPr lang="es-CR" sz="2400" dirty="0" smtClean="0"/>
              <a:t>Esto ayuda a saber que tipo de pruebas o análisis estadístico se debe llevar a cabo. </a:t>
            </a:r>
            <a:endParaRPr lang="es-CR" sz="2400" dirty="0"/>
          </a:p>
        </p:txBody>
      </p:sp>
      <p:sp>
        <p:nvSpPr>
          <p:cNvPr id="4" name="1 Título"/>
          <p:cNvSpPr>
            <a:spLocks noGrp="1"/>
          </p:cNvSpPr>
          <p:nvPr>
            <p:ph type="title"/>
          </p:nvPr>
        </p:nvSpPr>
        <p:spPr>
          <a:xfrm>
            <a:off x="179512" y="0"/>
            <a:ext cx="8784976" cy="908720"/>
          </a:xfrm>
        </p:spPr>
        <p:txBody>
          <a:bodyPr/>
          <a:lstStyle/>
          <a:p>
            <a:pPr algn="ctr"/>
            <a:r>
              <a:rPr lang="es-CR" dirty="0" smtClean="0"/>
              <a:t>Escala de medición</a:t>
            </a:r>
            <a:endParaRPr lang="es-CR" dirty="0"/>
          </a:p>
        </p:txBody>
      </p:sp>
      <p:pic>
        <p:nvPicPr>
          <p:cNvPr id="3074" name="Picture 2" descr="http://t2.gstatic.com/images?q=tbn:olOqYTG_ZGpc5M:http://mobile-brain-trainer.kitmaker.com/images/imagen_profe.jpg&amp;t=1"/>
          <p:cNvPicPr>
            <a:picLocks noChangeAspect="1" noChangeArrowheads="1"/>
          </p:cNvPicPr>
          <p:nvPr/>
        </p:nvPicPr>
        <p:blipFill>
          <a:blip r:embed="rId2" cstate="print"/>
          <a:srcRect/>
          <a:stretch>
            <a:fillRect/>
          </a:stretch>
        </p:blipFill>
        <p:spPr bwMode="auto">
          <a:xfrm>
            <a:off x="6671445" y="1052736"/>
            <a:ext cx="2232248" cy="2520280"/>
          </a:xfrm>
          <a:prstGeom prst="rect">
            <a:avLst/>
          </a:prstGeom>
          <a:noFill/>
        </p:spPr>
      </p:pic>
      <p:pic>
        <p:nvPicPr>
          <p:cNvPr id="3076" name="Picture 4" descr="http://comps.fotosearch.com/comp/UNC/UNC182/uno-experimento-bioingenieria_~u15868598.jpg"/>
          <p:cNvPicPr>
            <a:picLocks noChangeAspect="1" noChangeArrowheads="1"/>
          </p:cNvPicPr>
          <p:nvPr/>
        </p:nvPicPr>
        <p:blipFill>
          <a:blip r:embed="rId3" cstate="print"/>
          <a:srcRect/>
          <a:stretch>
            <a:fillRect/>
          </a:stretch>
        </p:blipFill>
        <p:spPr bwMode="auto">
          <a:xfrm>
            <a:off x="6826052" y="4077072"/>
            <a:ext cx="2317948" cy="2410667"/>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179512" y="0"/>
            <a:ext cx="8784976" cy="908720"/>
          </a:xfrm>
        </p:spPr>
        <p:txBody>
          <a:bodyPr/>
          <a:lstStyle/>
          <a:p>
            <a:pPr algn="ctr"/>
            <a:r>
              <a:rPr lang="es-CR" dirty="0" smtClean="0"/>
              <a:t>Escala de medición</a:t>
            </a:r>
            <a:endParaRPr lang="es-CR" dirty="0"/>
          </a:p>
        </p:txBody>
      </p:sp>
      <p:sp>
        <p:nvSpPr>
          <p:cNvPr id="6" name="5 Flecha arriba"/>
          <p:cNvSpPr/>
          <p:nvPr/>
        </p:nvSpPr>
        <p:spPr>
          <a:xfrm>
            <a:off x="1259632" y="1052736"/>
            <a:ext cx="1080120" cy="5472608"/>
          </a:xfrm>
          <a:prstGeom prst="up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s-CR"/>
          </a:p>
        </p:txBody>
      </p:sp>
      <p:cxnSp>
        <p:nvCxnSpPr>
          <p:cNvPr id="8" name="7 Conector recto"/>
          <p:cNvCxnSpPr/>
          <p:nvPr/>
        </p:nvCxnSpPr>
        <p:spPr>
          <a:xfrm>
            <a:off x="2267744" y="1700808"/>
            <a:ext cx="27363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2339752" y="3140968"/>
            <a:ext cx="27363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a:off x="2339752" y="4725144"/>
            <a:ext cx="27363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2339752" y="6165304"/>
            <a:ext cx="2736304"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11 Rectángulo redondeado"/>
          <p:cNvSpPr/>
          <p:nvPr/>
        </p:nvSpPr>
        <p:spPr>
          <a:xfrm>
            <a:off x="5292080" y="1124744"/>
            <a:ext cx="2736304" cy="108012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Razón</a:t>
            </a:r>
            <a:endParaRPr lang="es-CR" dirty="0"/>
          </a:p>
        </p:txBody>
      </p:sp>
      <p:sp>
        <p:nvSpPr>
          <p:cNvPr id="13" name="12 Rectángulo redondeado"/>
          <p:cNvSpPr/>
          <p:nvPr/>
        </p:nvSpPr>
        <p:spPr>
          <a:xfrm>
            <a:off x="5292080" y="2636912"/>
            <a:ext cx="2736304" cy="108012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Intervalo</a:t>
            </a:r>
            <a:endParaRPr lang="es-CR" dirty="0"/>
          </a:p>
        </p:txBody>
      </p:sp>
      <p:sp>
        <p:nvSpPr>
          <p:cNvPr id="14" name="13 Rectángulo redondeado"/>
          <p:cNvSpPr/>
          <p:nvPr/>
        </p:nvSpPr>
        <p:spPr>
          <a:xfrm>
            <a:off x="5292080" y="4149080"/>
            <a:ext cx="2736304" cy="108012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Ordinal</a:t>
            </a:r>
            <a:endParaRPr lang="es-CR" dirty="0"/>
          </a:p>
        </p:txBody>
      </p:sp>
      <p:sp>
        <p:nvSpPr>
          <p:cNvPr id="15" name="14 Rectángulo redondeado"/>
          <p:cNvSpPr/>
          <p:nvPr/>
        </p:nvSpPr>
        <p:spPr>
          <a:xfrm>
            <a:off x="5292080" y="5661248"/>
            <a:ext cx="2736304" cy="108012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Nominal</a:t>
            </a:r>
            <a:endParaRPr lang="es-CR" dirty="0"/>
          </a:p>
        </p:txBody>
      </p:sp>
      <p:sp>
        <p:nvSpPr>
          <p:cNvPr id="17" name="16 Rectángulo redondeado"/>
          <p:cNvSpPr/>
          <p:nvPr/>
        </p:nvSpPr>
        <p:spPr>
          <a:xfrm rot="16200000">
            <a:off x="-1620688" y="3645024"/>
            <a:ext cx="4824536" cy="93610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R" sz="3200" dirty="0" smtClean="0"/>
              <a:t>Ganancia de información</a:t>
            </a:r>
            <a:endParaRPr lang="es-CR" sz="3200" dirty="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bonjourdefrance.com/image/passe-compose-ou-imparfait-grammaire-bdf-1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2" y="-3561"/>
            <a:ext cx="9144992" cy="6861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207077"/>
      </p:ext>
    </p:extLst>
  </p:cSld>
  <p:clrMapOvr>
    <a:masterClrMapping/>
  </p:clrMapOvr>
  <p:transition spd="slow">
    <p:wheel spokes="1"/>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dirty="0"/>
          </a:p>
        </p:txBody>
      </p:sp>
      <p:sp>
        <p:nvSpPr>
          <p:cNvPr id="3" name="2 Marcador de contenido"/>
          <p:cNvSpPr>
            <a:spLocks noGrp="1"/>
          </p:cNvSpPr>
          <p:nvPr>
            <p:ph sz="quarter" idx="1"/>
          </p:nvPr>
        </p:nvSpPr>
        <p:spPr/>
        <p:txBody>
          <a:bodyPr/>
          <a:lstStyle/>
          <a:p>
            <a:endParaRPr lang="es-CR"/>
          </a:p>
        </p:txBody>
      </p:sp>
      <p:pic>
        <p:nvPicPr>
          <p:cNvPr id="52226" name="Picture 2" descr="http://www.granadablogs.com/pateandoelmundo/wp-content/uploads/2009/10/_074.jpg"/>
          <p:cNvPicPr>
            <a:picLocks noChangeAspect="1" noChangeArrowheads="1"/>
          </p:cNvPicPr>
          <p:nvPr/>
        </p:nvPicPr>
        <p:blipFill>
          <a:blip r:embed="rId2" cstate="print"/>
          <a:srcRect/>
          <a:stretch>
            <a:fillRect/>
          </a:stretch>
        </p:blipFill>
        <p:spPr bwMode="auto">
          <a:xfrm>
            <a:off x="0" y="0"/>
            <a:ext cx="9144000" cy="6891240"/>
          </a:xfrm>
          <a:prstGeom prst="rect">
            <a:avLst/>
          </a:prstGeom>
          <a:noFill/>
        </p:spPr>
      </p:pic>
    </p:spTree>
  </p:cSld>
  <p:clrMapOvr>
    <a:masterClrMapping/>
  </p:clrMapOvr>
  <p:transition>
    <p:cut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789</TotalTime>
  <Words>1849</Words>
  <Application>Microsoft Office PowerPoint</Application>
  <PresentationFormat>Presentación en pantalla (4:3)</PresentationFormat>
  <Paragraphs>244</Paragraphs>
  <Slides>46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46</vt:i4>
      </vt:variant>
    </vt:vector>
  </HeadingPairs>
  <TitlesOfParts>
    <vt:vector size="50" baseType="lpstr">
      <vt:lpstr>Franklin Gothic Book</vt:lpstr>
      <vt:lpstr>Perpetua</vt:lpstr>
      <vt:lpstr>Wingdings 2</vt:lpstr>
      <vt:lpstr>Equidad</vt:lpstr>
      <vt:lpstr>Presentación de PowerPoint</vt:lpstr>
      <vt:lpstr>Índice</vt:lpstr>
      <vt:lpstr>Índice</vt:lpstr>
      <vt:lpstr>¿Qué es la Estadística?</vt:lpstr>
      <vt:lpstr>¿Qué es la Estadística?</vt:lpstr>
      <vt:lpstr>Índice</vt:lpstr>
      <vt:lpstr>Historia de la Estadística</vt:lpstr>
      <vt:lpstr>Historia de la Estadística</vt:lpstr>
      <vt:lpstr>Historia de la Estadística</vt:lpstr>
      <vt:lpstr>Índice</vt:lpstr>
      <vt:lpstr>Áreas de la Estadística</vt:lpstr>
      <vt:lpstr>Presentación de PowerPoint</vt:lpstr>
      <vt:lpstr>Índice</vt:lpstr>
      <vt:lpstr>División de la Estadística : antes</vt:lpstr>
      <vt:lpstr>Presentación de PowerPoint</vt:lpstr>
      <vt:lpstr>Estadística descriptiva</vt:lpstr>
      <vt:lpstr>Presentación de PowerPoint</vt:lpstr>
      <vt:lpstr>Estadística-matemática</vt:lpstr>
      <vt:lpstr>Presentación de PowerPoint</vt:lpstr>
      <vt:lpstr>Estadística Inferencial</vt:lpstr>
      <vt:lpstr>Presentación de PowerPoint</vt:lpstr>
      <vt:lpstr>Informática</vt:lpstr>
      <vt:lpstr>Presentación de PowerPoint</vt:lpstr>
      <vt:lpstr>Índice</vt:lpstr>
      <vt:lpstr>La estadística en nuestros días</vt:lpstr>
      <vt:lpstr>La estadística en nuestros días</vt:lpstr>
      <vt:lpstr>La estadística en nuestros días</vt:lpstr>
      <vt:lpstr>La estadística en nuestros días: academia</vt:lpstr>
      <vt:lpstr>La estadística en nuestros días: profesional</vt:lpstr>
      <vt:lpstr>La estadística en nuestros días: Big data</vt:lpstr>
      <vt:lpstr>Índice</vt:lpstr>
      <vt:lpstr>Presentación de PowerPoint</vt:lpstr>
      <vt:lpstr>Unidad Estadística (UE), característica y observación</vt:lpstr>
      <vt:lpstr>Unidad Estadística (UE), característica y observación</vt:lpstr>
      <vt:lpstr>Población finita e infinita</vt:lpstr>
      <vt:lpstr>Población finita e infinita</vt:lpstr>
      <vt:lpstr>Datos Estadística y Análisis Estadísticos</vt:lpstr>
      <vt:lpstr>Clasificación de la naturaleza de los datos</vt:lpstr>
      <vt:lpstr>Escala de medición: nominal</vt:lpstr>
      <vt:lpstr>Escala de medición: ordinal</vt:lpstr>
      <vt:lpstr>Escala de medición: intervalo</vt:lpstr>
      <vt:lpstr>Escala de medición</vt:lpstr>
      <vt:lpstr>Escala de medición</vt:lpstr>
      <vt:lpstr>Escala de medición</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Oscar</dc:creator>
  <cp:lastModifiedBy>Oscar</cp:lastModifiedBy>
  <cp:revision>103</cp:revision>
  <dcterms:created xsi:type="dcterms:W3CDTF">2010-08-29T04:49:54Z</dcterms:created>
  <dcterms:modified xsi:type="dcterms:W3CDTF">2016-05-10T21:13:08Z</dcterms:modified>
</cp:coreProperties>
</file>