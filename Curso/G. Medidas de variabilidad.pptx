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04" r:id="rId3"/>
    <p:sldId id="297" r:id="rId4"/>
    <p:sldId id="305" r:id="rId5"/>
    <p:sldId id="298" r:id="rId6"/>
    <p:sldId id="257" r:id="rId7"/>
    <p:sldId id="258" r:id="rId8"/>
    <p:sldId id="259" r:id="rId9"/>
    <p:sldId id="260" r:id="rId10"/>
    <p:sldId id="299" r:id="rId11"/>
    <p:sldId id="263" r:id="rId12"/>
    <p:sldId id="264" r:id="rId13"/>
    <p:sldId id="265" r:id="rId14"/>
    <p:sldId id="266" r:id="rId15"/>
    <p:sldId id="267" r:id="rId16"/>
    <p:sldId id="269" r:id="rId17"/>
    <p:sldId id="270" r:id="rId18"/>
    <p:sldId id="271" r:id="rId19"/>
    <p:sldId id="300" r:id="rId20"/>
    <p:sldId id="272" r:id="rId21"/>
    <p:sldId id="273" r:id="rId22"/>
    <p:sldId id="274" r:id="rId23"/>
    <p:sldId id="275" r:id="rId24"/>
    <p:sldId id="306" r:id="rId25"/>
    <p:sldId id="308" r:id="rId26"/>
    <p:sldId id="310" r:id="rId27"/>
    <p:sldId id="307" r:id="rId28"/>
    <p:sldId id="276" r:id="rId29"/>
    <p:sldId id="277" r:id="rId30"/>
    <p:sldId id="268" r:id="rId31"/>
    <p:sldId id="278" r:id="rId32"/>
    <p:sldId id="279" r:id="rId33"/>
    <p:sldId id="280" r:id="rId34"/>
    <p:sldId id="281" r:id="rId35"/>
    <p:sldId id="302"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6" r:id="rId49"/>
    <p:sldId id="312" r:id="rId50"/>
    <p:sldId id="311" r:id="rId51"/>
    <p:sldId id="313" r:id="rId52"/>
    <p:sldId id="315" r:id="rId53"/>
    <p:sldId id="314" r:id="rId54"/>
    <p:sldId id="294" r:id="rId55"/>
    <p:sldId id="303"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03" autoAdjust="0"/>
    <p:restoredTop sz="94660"/>
  </p:normalViewPr>
  <p:slideViewPr>
    <p:cSldViewPr>
      <p:cViewPr varScale="1">
        <p:scale>
          <a:sx n="110" d="100"/>
          <a:sy n="110"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370297462817154E-2"/>
          <c:y val="2.6527777777777799E-2"/>
          <c:w val="0.88918525809273863"/>
          <c:h val="0.80466061533974942"/>
        </c:manualLayout>
      </c:layout>
      <c:barChart>
        <c:barDir val="col"/>
        <c:grouping val="clustered"/>
        <c:varyColors val="0"/>
        <c:ser>
          <c:idx val="0"/>
          <c:order val="0"/>
          <c:spPr>
            <a:solidFill>
              <a:srgbClr val="0070C0"/>
            </a:solidFill>
          </c:spPr>
          <c:invertIfNegative val="0"/>
          <c:val>
            <c:numRef>
              <c:f>Sheet1!$C$2:$C$12</c:f>
              <c:numCache>
                <c:formatCode>General</c:formatCode>
                <c:ptCount val="11"/>
                <c:pt idx="0">
                  <c:v>0</c:v>
                </c:pt>
                <c:pt idx="1">
                  <c:v>0</c:v>
                </c:pt>
                <c:pt idx="2">
                  <c:v>0</c:v>
                </c:pt>
                <c:pt idx="3">
                  <c:v>0</c:v>
                </c:pt>
                <c:pt idx="4">
                  <c:v>0</c:v>
                </c:pt>
                <c:pt idx="5">
                  <c:v>10</c:v>
                </c:pt>
                <c:pt idx="6">
                  <c:v>0</c:v>
                </c:pt>
                <c:pt idx="7">
                  <c:v>0</c:v>
                </c:pt>
                <c:pt idx="8">
                  <c:v>0</c:v>
                </c:pt>
                <c:pt idx="9">
                  <c:v>0</c:v>
                </c:pt>
                <c:pt idx="10">
                  <c:v>0</c:v>
                </c:pt>
              </c:numCache>
            </c:numRef>
          </c:val>
        </c:ser>
        <c:dLbls>
          <c:showLegendKey val="0"/>
          <c:showVal val="0"/>
          <c:showCatName val="0"/>
          <c:showSerName val="0"/>
          <c:showPercent val="0"/>
          <c:showBubbleSize val="0"/>
        </c:dLbls>
        <c:gapWidth val="150"/>
        <c:axId val="271593464"/>
        <c:axId val="271596240"/>
      </c:barChart>
      <c:catAx>
        <c:axId val="271593464"/>
        <c:scaling>
          <c:orientation val="minMax"/>
        </c:scaling>
        <c:delete val="0"/>
        <c:axPos val="b"/>
        <c:majorTickMark val="out"/>
        <c:minorTickMark val="none"/>
        <c:tickLblPos val="nextTo"/>
        <c:crossAx val="271596240"/>
        <c:crosses val="autoZero"/>
        <c:auto val="1"/>
        <c:lblAlgn val="ctr"/>
        <c:lblOffset val="100"/>
        <c:noMultiLvlLbl val="0"/>
      </c:catAx>
      <c:valAx>
        <c:axId val="271596240"/>
        <c:scaling>
          <c:orientation val="minMax"/>
        </c:scaling>
        <c:delete val="0"/>
        <c:axPos val="l"/>
        <c:majorGridlines/>
        <c:numFmt formatCode="General" sourceLinked="1"/>
        <c:majorTickMark val="out"/>
        <c:minorTickMark val="none"/>
        <c:tickLblPos val="nextTo"/>
        <c:crossAx val="271593464"/>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Sheet1!$D$2:$D$12</c:f>
              <c:numCache>
                <c:formatCode>General</c:formatCode>
                <c:ptCount val="11"/>
                <c:pt idx="0">
                  <c:v>0</c:v>
                </c:pt>
                <c:pt idx="1">
                  <c:v>0</c:v>
                </c:pt>
                <c:pt idx="2">
                  <c:v>0</c:v>
                </c:pt>
                <c:pt idx="3">
                  <c:v>0</c:v>
                </c:pt>
                <c:pt idx="4">
                  <c:v>3</c:v>
                </c:pt>
                <c:pt idx="5">
                  <c:v>6</c:v>
                </c:pt>
                <c:pt idx="6">
                  <c:v>3</c:v>
                </c:pt>
                <c:pt idx="7">
                  <c:v>0</c:v>
                </c:pt>
                <c:pt idx="8">
                  <c:v>0</c:v>
                </c:pt>
                <c:pt idx="9">
                  <c:v>0</c:v>
                </c:pt>
                <c:pt idx="10">
                  <c:v>0</c:v>
                </c:pt>
              </c:numCache>
            </c:numRef>
          </c:val>
        </c:ser>
        <c:dLbls>
          <c:showLegendKey val="0"/>
          <c:showVal val="0"/>
          <c:showCatName val="0"/>
          <c:showSerName val="0"/>
          <c:showPercent val="0"/>
          <c:showBubbleSize val="0"/>
        </c:dLbls>
        <c:gapWidth val="150"/>
        <c:axId val="271595064"/>
        <c:axId val="271595456"/>
      </c:barChart>
      <c:catAx>
        <c:axId val="271595064"/>
        <c:scaling>
          <c:orientation val="minMax"/>
        </c:scaling>
        <c:delete val="0"/>
        <c:axPos val="b"/>
        <c:majorTickMark val="out"/>
        <c:minorTickMark val="none"/>
        <c:tickLblPos val="nextTo"/>
        <c:crossAx val="271595456"/>
        <c:crosses val="autoZero"/>
        <c:auto val="1"/>
        <c:lblAlgn val="ctr"/>
        <c:lblOffset val="100"/>
        <c:noMultiLvlLbl val="0"/>
      </c:catAx>
      <c:valAx>
        <c:axId val="271595456"/>
        <c:scaling>
          <c:orientation val="minMax"/>
        </c:scaling>
        <c:delete val="0"/>
        <c:axPos val="l"/>
        <c:majorGridlines/>
        <c:numFmt formatCode="General" sourceLinked="1"/>
        <c:majorTickMark val="out"/>
        <c:minorTickMark val="none"/>
        <c:tickLblPos val="nextTo"/>
        <c:crossAx val="271595064"/>
        <c:crosses val="autoZero"/>
        <c:crossBetween val="between"/>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Sheet1!$E$2:$E$12</c:f>
              <c:numCache>
                <c:formatCode>General</c:formatCode>
                <c:ptCount val="11"/>
                <c:pt idx="0">
                  <c:v>0</c:v>
                </c:pt>
                <c:pt idx="1">
                  <c:v>1</c:v>
                </c:pt>
                <c:pt idx="2">
                  <c:v>1</c:v>
                </c:pt>
                <c:pt idx="3">
                  <c:v>2</c:v>
                </c:pt>
                <c:pt idx="4">
                  <c:v>2</c:v>
                </c:pt>
                <c:pt idx="5">
                  <c:v>3</c:v>
                </c:pt>
                <c:pt idx="6">
                  <c:v>2</c:v>
                </c:pt>
                <c:pt idx="7">
                  <c:v>2</c:v>
                </c:pt>
                <c:pt idx="8">
                  <c:v>1</c:v>
                </c:pt>
                <c:pt idx="9">
                  <c:v>1</c:v>
                </c:pt>
                <c:pt idx="10">
                  <c:v>0</c:v>
                </c:pt>
              </c:numCache>
            </c:numRef>
          </c:val>
        </c:ser>
        <c:dLbls>
          <c:showLegendKey val="0"/>
          <c:showVal val="0"/>
          <c:showCatName val="0"/>
          <c:showSerName val="0"/>
          <c:showPercent val="0"/>
          <c:showBubbleSize val="0"/>
        </c:dLbls>
        <c:gapWidth val="150"/>
        <c:axId val="271594280"/>
        <c:axId val="271597024"/>
      </c:barChart>
      <c:catAx>
        <c:axId val="271594280"/>
        <c:scaling>
          <c:orientation val="minMax"/>
        </c:scaling>
        <c:delete val="0"/>
        <c:axPos val="b"/>
        <c:majorTickMark val="out"/>
        <c:minorTickMark val="none"/>
        <c:tickLblPos val="nextTo"/>
        <c:crossAx val="271597024"/>
        <c:crosses val="autoZero"/>
        <c:auto val="1"/>
        <c:lblAlgn val="ctr"/>
        <c:lblOffset val="100"/>
        <c:noMultiLvlLbl val="0"/>
      </c:catAx>
      <c:valAx>
        <c:axId val="271597024"/>
        <c:scaling>
          <c:orientation val="minMax"/>
        </c:scaling>
        <c:delete val="0"/>
        <c:axPos val="l"/>
        <c:majorGridlines/>
        <c:numFmt formatCode="General" sourceLinked="1"/>
        <c:majorTickMark val="out"/>
        <c:minorTickMark val="none"/>
        <c:tickLblPos val="nextTo"/>
        <c:crossAx val="271594280"/>
        <c:crosses val="autoZero"/>
        <c:crossBetween val="between"/>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Sheet1!$F$2:$F$12</c:f>
              <c:numCache>
                <c:formatCode>General</c:formatCode>
                <c:ptCount val="11"/>
                <c:pt idx="0">
                  <c:v>1</c:v>
                </c:pt>
                <c:pt idx="1">
                  <c:v>1</c:v>
                </c:pt>
                <c:pt idx="2">
                  <c:v>3</c:v>
                </c:pt>
                <c:pt idx="3">
                  <c:v>2</c:v>
                </c:pt>
                <c:pt idx="4">
                  <c:v>2</c:v>
                </c:pt>
                <c:pt idx="5">
                  <c:v>2</c:v>
                </c:pt>
                <c:pt idx="6">
                  <c:v>2</c:v>
                </c:pt>
                <c:pt idx="7">
                  <c:v>2</c:v>
                </c:pt>
                <c:pt idx="8">
                  <c:v>3</c:v>
                </c:pt>
                <c:pt idx="9">
                  <c:v>1</c:v>
                </c:pt>
                <c:pt idx="10">
                  <c:v>1</c:v>
                </c:pt>
              </c:numCache>
            </c:numRef>
          </c:val>
        </c:ser>
        <c:dLbls>
          <c:showLegendKey val="0"/>
          <c:showVal val="0"/>
          <c:showCatName val="0"/>
          <c:showSerName val="0"/>
          <c:showPercent val="0"/>
          <c:showBubbleSize val="0"/>
        </c:dLbls>
        <c:gapWidth val="150"/>
        <c:axId val="271594672"/>
        <c:axId val="271593888"/>
      </c:barChart>
      <c:catAx>
        <c:axId val="271594672"/>
        <c:scaling>
          <c:orientation val="minMax"/>
        </c:scaling>
        <c:delete val="0"/>
        <c:axPos val="b"/>
        <c:majorTickMark val="out"/>
        <c:minorTickMark val="none"/>
        <c:tickLblPos val="nextTo"/>
        <c:crossAx val="271593888"/>
        <c:crosses val="autoZero"/>
        <c:auto val="1"/>
        <c:lblAlgn val="ctr"/>
        <c:lblOffset val="100"/>
        <c:noMultiLvlLbl val="0"/>
      </c:catAx>
      <c:valAx>
        <c:axId val="271593888"/>
        <c:scaling>
          <c:orientation val="minMax"/>
        </c:scaling>
        <c:delete val="0"/>
        <c:axPos val="l"/>
        <c:majorGridlines/>
        <c:numFmt formatCode="General" sourceLinked="1"/>
        <c:majorTickMark val="out"/>
        <c:minorTickMark val="none"/>
        <c:tickLblPos val="nextTo"/>
        <c:crossAx val="271594672"/>
        <c:crosses val="autoZero"/>
        <c:crossBetween val="between"/>
      </c:valAx>
    </c:plotArea>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Sheet1!$H$2:$H$12</c:f>
              <c:numCache>
                <c:formatCode>General</c:formatCode>
                <c:ptCount val="11"/>
                <c:pt idx="0">
                  <c:v>0</c:v>
                </c:pt>
                <c:pt idx="1">
                  <c:v>1</c:v>
                </c:pt>
                <c:pt idx="2">
                  <c:v>1</c:v>
                </c:pt>
                <c:pt idx="3">
                  <c:v>0</c:v>
                </c:pt>
                <c:pt idx="4">
                  <c:v>0</c:v>
                </c:pt>
                <c:pt idx="5">
                  <c:v>0</c:v>
                </c:pt>
                <c:pt idx="6">
                  <c:v>1</c:v>
                </c:pt>
                <c:pt idx="7">
                  <c:v>1</c:v>
                </c:pt>
                <c:pt idx="8">
                  <c:v>0</c:v>
                </c:pt>
                <c:pt idx="9">
                  <c:v>1</c:v>
                </c:pt>
                <c:pt idx="10">
                  <c:v>0</c:v>
                </c:pt>
              </c:numCache>
            </c:numRef>
          </c:val>
        </c:ser>
        <c:dLbls>
          <c:showLegendKey val="0"/>
          <c:showVal val="0"/>
          <c:showCatName val="0"/>
          <c:showSerName val="0"/>
          <c:showPercent val="0"/>
          <c:showBubbleSize val="0"/>
        </c:dLbls>
        <c:gapWidth val="150"/>
        <c:axId val="271077040"/>
        <c:axId val="271079392"/>
      </c:barChart>
      <c:catAx>
        <c:axId val="271077040"/>
        <c:scaling>
          <c:orientation val="minMax"/>
        </c:scaling>
        <c:delete val="0"/>
        <c:axPos val="b"/>
        <c:majorTickMark val="out"/>
        <c:minorTickMark val="none"/>
        <c:tickLblPos val="nextTo"/>
        <c:crossAx val="271079392"/>
        <c:crosses val="autoZero"/>
        <c:auto val="1"/>
        <c:lblAlgn val="ctr"/>
        <c:lblOffset val="100"/>
        <c:noMultiLvlLbl val="0"/>
      </c:catAx>
      <c:valAx>
        <c:axId val="271079392"/>
        <c:scaling>
          <c:orientation val="minMax"/>
          <c:max val="3"/>
        </c:scaling>
        <c:delete val="0"/>
        <c:axPos val="l"/>
        <c:majorGridlines/>
        <c:numFmt formatCode="General" sourceLinked="1"/>
        <c:majorTickMark val="out"/>
        <c:minorTickMark val="none"/>
        <c:tickLblPos val="nextTo"/>
        <c:crossAx val="271077040"/>
        <c:crosses val="autoZero"/>
        <c:crossBetween val="between"/>
      </c:valAx>
    </c:plotArea>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6.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5/12/2016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‹Nº›</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5/12/2016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‹Nº›</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5/12/2016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5/12/2016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5/12/2016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‹Nº›</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5/12/2016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8.jpeg"/><Relationship Id="rId5" Type="http://schemas.openxmlformats.org/officeDocument/2006/relationships/image" Target="../media/image26.emf"/><Relationship Id="rId4" Type="http://schemas.openxmlformats.org/officeDocument/2006/relationships/package" Target="../embeddings/Hoja_de_c_lculo_de_Microsoft_Excel1.xlsx"/></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5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90800" y="5486400"/>
            <a:ext cx="6400800" cy="914400"/>
          </a:xfrm>
        </p:spPr>
        <p:txBody>
          <a:bodyPr>
            <a:normAutofit/>
          </a:bodyPr>
          <a:lstStyle/>
          <a:p>
            <a:pPr algn="r"/>
            <a:r>
              <a:rPr lang="es-CR" sz="4000" dirty="0" smtClean="0"/>
              <a:t>Oscar Centeno Mora</a:t>
            </a:r>
            <a:endParaRPr lang="es-CR" sz="4000" dirty="0"/>
          </a:p>
        </p:txBody>
      </p:sp>
      <p:sp>
        <p:nvSpPr>
          <p:cNvPr id="2" name="Title 1"/>
          <p:cNvSpPr>
            <a:spLocks noGrp="1"/>
          </p:cNvSpPr>
          <p:nvPr>
            <p:ph type="ctrTitle"/>
          </p:nvPr>
        </p:nvSpPr>
        <p:spPr/>
        <p:txBody>
          <a:bodyPr>
            <a:normAutofit/>
          </a:bodyPr>
          <a:lstStyle/>
          <a:p>
            <a:r>
              <a:rPr lang="es-CR" sz="6000" dirty="0" smtClean="0"/>
              <a:t>Medidas de variabilidad</a:t>
            </a:r>
            <a:endParaRPr lang="es-CR" sz="6000" dirty="0"/>
          </a:p>
        </p:txBody>
      </p:sp>
    </p:spTree>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76200"/>
            <a:ext cx="7772400" cy="792162"/>
          </a:xfrm>
        </p:spPr>
        <p:txBody>
          <a:bodyPr/>
          <a:lstStyle/>
          <a:p>
            <a:pPr algn="ctr"/>
            <a:r>
              <a:rPr lang="es-CR" dirty="0" smtClean="0"/>
              <a:t>Recapitulando…..</a:t>
            </a:r>
            <a:endParaRPr lang="es-ES" dirty="0"/>
          </a:p>
        </p:txBody>
      </p:sp>
      <p:sp>
        <p:nvSpPr>
          <p:cNvPr id="3" name="Marcador de contenido 2"/>
          <p:cNvSpPr>
            <a:spLocks noGrp="1"/>
          </p:cNvSpPr>
          <p:nvPr>
            <p:ph sz="quarter" idx="1"/>
          </p:nvPr>
        </p:nvSpPr>
        <p:spPr>
          <a:xfrm>
            <a:off x="18197" y="934872"/>
            <a:ext cx="6400800" cy="5791200"/>
          </a:xfrm>
        </p:spPr>
        <p:txBody>
          <a:bodyPr/>
          <a:lstStyle/>
          <a:p>
            <a:pPr algn="just"/>
            <a:r>
              <a:rPr lang="es-CR" dirty="0" smtClean="0"/>
              <a:t>En capítulos anteriores se estudiaron temas como los números relativos y medidas de posición con formas de resumir la información.</a:t>
            </a:r>
          </a:p>
          <a:p>
            <a:pPr algn="just"/>
            <a:endParaRPr lang="es-CR" dirty="0"/>
          </a:p>
          <a:p>
            <a:pPr algn="just"/>
            <a:r>
              <a:rPr lang="es-CR" dirty="0" smtClean="0"/>
              <a:t>El presente cierra el ciclo de medidas de estadísticas descriptivas para una variable.</a:t>
            </a:r>
          </a:p>
          <a:p>
            <a:pPr algn="just"/>
            <a:endParaRPr lang="es-CR" dirty="0"/>
          </a:p>
          <a:p>
            <a:pPr algn="just"/>
            <a:r>
              <a:rPr lang="es-CR" dirty="0" smtClean="0"/>
              <a:t>Como se señaló en el tema de medidas de posición, una medida de este tipo SIEMPRE debe estar acompañada de una medida de variabilidad.</a:t>
            </a:r>
          </a:p>
          <a:p>
            <a:pPr algn="just"/>
            <a:endParaRPr lang="es-CR" dirty="0"/>
          </a:p>
          <a:p>
            <a:pPr algn="just"/>
            <a:r>
              <a:rPr lang="es-CR" dirty="0" smtClean="0"/>
              <a:t>Se expondrán las principales medidas de variabilidad.</a:t>
            </a:r>
            <a:endParaRPr lang="es-ES" dirty="0"/>
          </a:p>
        </p:txBody>
      </p:sp>
      <p:pic>
        <p:nvPicPr>
          <p:cNvPr id="20482" name="Picture 2" descr="http://www.socialresearchmethods.net/kb/Assets/images/statsim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3409" y="1546558"/>
            <a:ext cx="1981200" cy="2066330"/>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fisioeducacion.net/images/articulos/fisios/hombre-ante-tres-opcion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1773" y="4343400"/>
            <a:ext cx="1544472"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88134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smtClean="0"/>
              <a:t>Índice</a:t>
            </a:r>
            <a:endParaRPr lang="es-CR" dirty="0"/>
          </a:p>
        </p:txBody>
      </p:sp>
      <p:sp>
        <p:nvSpPr>
          <p:cNvPr id="4"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concepto de variabilidad</a:t>
            </a:r>
            <a:endParaRPr lang="es-CR" dirty="0"/>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Recorrido o amplitud</a:t>
            </a:r>
            <a:endParaRPr lang="es-CR" dirty="0"/>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Intervalo de cuartiles</a:t>
            </a:r>
            <a:endParaRPr lang="es-CR" dirty="0"/>
          </a:p>
        </p:txBody>
      </p:sp>
      <p:sp>
        <p:nvSpPr>
          <p:cNvPr id="13" name="12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a:t>
            </a:r>
            <a:r>
              <a:rPr lang="es-CR" dirty="0" smtClean="0"/>
              <a:t>desviación media</a:t>
            </a:r>
            <a:endParaRPr lang="es-CR" dirty="0"/>
          </a:p>
        </p:txBody>
      </p:sp>
      <p:sp>
        <p:nvSpPr>
          <p:cNvPr id="14" name="12 Rectángulo redondeado"/>
          <p:cNvSpPr/>
          <p:nvPr/>
        </p:nvSpPr>
        <p:spPr>
          <a:xfrm>
            <a:off x="5868144"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desviación estándar</a:t>
            </a:r>
            <a:endParaRPr lang="es-CR" dirty="0"/>
          </a:p>
        </p:txBody>
      </p:sp>
      <p:sp>
        <p:nvSpPr>
          <p:cNvPr id="15" name="7 Elipse"/>
          <p:cNvSpPr/>
          <p:nvPr/>
        </p:nvSpPr>
        <p:spPr>
          <a:xfrm>
            <a:off x="4572000"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6</a:t>
            </a:r>
            <a:endParaRPr lang="es-CR" dirty="0"/>
          </a:p>
        </p:txBody>
      </p:sp>
    </p:spTree>
    <p:extLst>
      <p:ext uri="{BB962C8B-B14F-4D97-AF65-F5344CB8AC3E}">
        <p14:creationId xmlns:p14="http://schemas.microsoft.com/office/powerpoint/2010/main" val="3238613410"/>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762000" y="228600"/>
            <a:ext cx="7772400" cy="868362"/>
          </a:xfrm>
        </p:spPr>
        <p:txBody>
          <a:bodyPr/>
          <a:lstStyle/>
          <a:p>
            <a:pPr algn="ctr"/>
            <a:r>
              <a:rPr lang="es-CR" dirty="0" smtClean="0"/>
              <a:t>Índice</a:t>
            </a:r>
            <a:endParaRPr lang="es-CR" dirty="0"/>
          </a:p>
        </p:txBody>
      </p:sp>
      <p:sp>
        <p:nvSpPr>
          <p:cNvPr id="7"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7</a:t>
            </a:r>
            <a:endParaRPr lang="es-CR" dirty="0"/>
          </a:p>
        </p:txBody>
      </p:sp>
      <p:sp>
        <p:nvSpPr>
          <p:cNvPr id="8"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Coeficiente de variación</a:t>
            </a:r>
            <a:endParaRPr lang="es-CR" dirty="0"/>
          </a:p>
        </p:txBody>
      </p:sp>
    </p:spTree>
    <p:extLst>
      <p:ext uri="{BB962C8B-B14F-4D97-AF65-F5344CB8AC3E}">
        <p14:creationId xmlns:p14="http://schemas.microsoft.com/office/powerpoint/2010/main" val="829926831"/>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smtClean="0"/>
              <a:t>Índice</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Tree>
    <p:extLst>
      <p:ext uri="{BB962C8B-B14F-4D97-AF65-F5344CB8AC3E}">
        <p14:creationId xmlns:p14="http://schemas.microsoft.com/office/powerpoint/2010/main" val="35503671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pPr algn="ctr"/>
            <a:r>
              <a:rPr lang="es-CR" dirty="0" smtClean="0"/>
              <a:t>Introducción</a:t>
            </a:r>
            <a:endParaRPr lang="es-CR" dirty="0"/>
          </a:p>
        </p:txBody>
      </p:sp>
      <p:sp>
        <p:nvSpPr>
          <p:cNvPr id="3" name="Content Placeholder 2"/>
          <p:cNvSpPr>
            <a:spLocks noGrp="1"/>
          </p:cNvSpPr>
          <p:nvPr>
            <p:ph sz="quarter" idx="1"/>
          </p:nvPr>
        </p:nvSpPr>
        <p:spPr>
          <a:xfrm>
            <a:off x="304800" y="1371600"/>
            <a:ext cx="6248400" cy="5029200"/>
          </a:xfrm>
        </p:spPr>
        <p:txBody>
          <a:bodyPr/>
          <a:lstStyle/>
          <a:p>
            <a:pPr algn="just"/>
            <a:r>
              <a:rPr lang="es-CR" dirty="0" smtClean="0"/>
              <a:t>El concepto de variabilidad juega un papel clave dentro de la Estadística como en cualquier ciencia.</a:t>
            </a:r>
          </a:p>
          <a:p>
            <a:pPr algn="just"/>
            <a:endParaRPr lang="es-CR" dirty="0" smtClean="0"/>
          </a:p>
          <a:p>
            <a:pPr algn="just"/>
            <a:r>
              <a:rPr lang="es-CR" dirty="0" smtClean="0"/>
              <a:t>La razón de ser de la estadística reside en que los datos son variables de mayor a menor intensidad.</a:t>
            </a:r>
          </a:p>
          <a:p>
            <a:pPr algn="just"/>
            <a:endParaRPr lang="es-CR" dirty="0" smtClean="0"/>
          </a:p>
          <a:p>
            <a:pPr algn="just"/>
            <a:r>
              <a:rPr lang="es-CR" dirty="0" smtClean="0"/>
              <a:t>La importancia de la Estadística es suministrar procedimientos válidos y confiables para analizar los hechos variables.</a:t>
            </a:r>
            <a:endParaRPr lang="es-CR" dirty="0"/>
          </a:p>
        </p:txBody>
      </p:sp>
      <p:pic>
        <p:nvPicPr>
          <p:cNvPr id="37890" name="Picture 2" descr="http://www.netmba.com/images/statistics/plot/scatter/scatterplot.gif"/>
          <p:cNvPicPr>
            <a:picLocks noChangeAspect="1" noChangeArrowheads="1"/>
          </p:cNvPicPr>
          <p:nvPr/>
        </p:nvPicPr>
        <p:blipFill>
          <a:blip r:embed="rId2" cstate="print"/>
          <a:srcRect/>
          <a:stretch>
            <a:fillRect/>
          </a:stretch>
        </p:blipFill>
        <p:spPr bwMode="auto">
          <a:xfrm>
            <a:off x="6591300" y="1447800"/>
            <a:ext cx="2552700" cy="2066925"/>
          </a:xfrm>
          <a:prstGeom prst="rect">
            <a:avLst/>
          </a:prstGeom>
          <a:noFill/>
        </p:spPr>
      </p:pic>
      <p:pic>
        <p:nvPicPr>
          <p:cNvPr id="37892" name="Picture 4" descr="http://www.prosolva.org/spip/local/cache-vignettes/L320xH243/analyse-117e1.jpg"/>
          <p:cNvPicPr>
            <a:picLocks noChangeAspect="1" noChangeArrowheads="1"/>
          </p:cNvPicPr>
          <p:nvPr/>
        </p:nvPicPr>
        <p:blipFill>
          <a:blip r:embed="rId3" cstate="print"/>
          <a:srcRect/>
          <a:stretch>
            <a:fillRect/>
          </a:stretch>
        </p:blipFill>
        <p:spPr bwMode="auto">
          <a:xfrm>
            <a:off x="6705601" y="3962400"/>
            <a:ext cx="2286000" cy="2362200"/>
          </a:xfrm>
          <a:prstGeom prst="rect">
            <a:avLst/>
          </a:prstGeom>
          <a:noFill/>
        </p:spPr>
      </p:pic>
    </p:spTree>
  </p:cSld>
  <p:clrMapOvr>
    <a:masterClrMapping/>
  </p:clrMapOvr>
  <p:transition>
    <p:wipe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371600"/>
            <a:ext cx="7772400" cy="4572000"/>
          </a:xfrm>
        </p:spPr>
        <p:txBody>
          <a:bodyPr/>
          <a:lstStyle/>
          <a:p>
            <a:r>
              <a:rPr lang="es-CR" dirty="0" smtClean="0"/>
              <a:t>El objetivo está en poder explicar y mediar la variabilidad con tal de realizar inferencias fidedignas.</a:t>
            </a:r>
          </a:p>
          <a:p>
            <a:endParaRPr lang="es-CR" dirty="0" smtClean="0"/>
          </a:p>
          <a:p>
            <a:pPr>
              <a:buNone/>
            </a:pPr>
            <a:endParaRPr lang="es-CR" dirty="0" smtClean="0"/>
          </a:p>
          <a:p>
            <a:pPr>
              <a:buNone/>
            </a:pPr>
            <a:endParaRPr lang="es-CR" dirty="0" smtClean="0"/>
          </a:p>
        </p:txBody>
      </p:sp>
      <p:sp>
        <p:nvSpPr>
          <p:cNvPr id="5" name="Title 1"/>
          <p:cNvSpPr>
            <a:spLocks noGrp="1"/>
          </p:cNvSpPr>
          <p:nvPr>
            <p:ph type="title"/>
          </p:nvPr>
        </p:nvSpPr>
        <p:spPr>
          <a:xfrm>
            <a:off x="533400" y="0"/>
            <a:ext cx="7772400" cy="1143000"/>
          </a:xfrm>
        </p:spPr>
        <p:txBody>
          <a:bodyPr/>
          <a:lstStyle/>
          <a:p>
            <a:pPr algn="ctr"/>
            <a:r>
              <a:rPr lang="es-CR" dirty="0" smtClean="0"/>
              <a:t>Introducción</a:t>
            </a:r>
            <a:endParaRPr lang="es-CR" dirty="0"/>
          </a:p>
        </p:txBody>
      </p:sp>
      <p:sp>
        <p:nvSpPr>
          <p:cNvPr id="4" name="Oval 3"/>
          <p:cNvSpPr/>
          <p:nvPr/>
        </p:nvSpPr>
        <p:spPr>
          <a:xfrm>
            <a:off x="2590800" y="2971800"/>
            <a:ext cx="609600" cy="6096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E</a:t>
            </a:r>
            <a:endParaRPr lang="es-CR" dirty="0"/>
          </a:p>
        </p:txBody>
      </p:sp>
      <p:sp>
        <p:nvSpPr>
          <p:cNvPr id="6" name="Oval 5"/>
          <p:cNvSpPr/>
          <p:nvPr/>
        </p:nvSpPr>
        <p:spPr>
          <a:xfrm>
            <a:off x="2590800" y="5105400"/>
            <a:ext cx="609600" cy="6096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R</a:t>
            </a:r>
            <a:endParaRPr lang="es-CR" dirty="0"/>
          </a:p>
        </p:txBody>
      </p:sp>
      <p:cxnSp>
        <p:nvCxnSpPr>
          <p:cNvPr id="9" name="Straight Connector 8"/>
          <p:cNvCxnSpPr>
            <a:endCxn id="6" idx="0"/>
          </p:cNvCxnSpPr>
          <p:nvPr/>
        </p:nvCxnSpPr>
        <p:spPr>
          <a:xfrm rot="5400000">
            <a:off x="2133600" y="4343400"/>
            <a:ext cx="1524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2" name="Right Brace 11"/>
          <p:cNvSpPr/>
          <p:nvPr/>
        </p:nvSpPr>
        <p:spPr>
          <a:xfrm>
            <a:off x="3048000" y="3581400"/>
            <a:ext cx="3048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13" name="Right Arrow 12"/>
          <p:cNvSpPr/>
          <p:nvPr/>
        </p:nvSpPr>
        <p:spPr>
          <a:xfrm>
            <a:off x="4648200" y="4038600"/>
            <a:ext cx="838200" cy="533400"/>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s-CR"/>
          </a:p>
        </p:txBody>
      </p:sp>
      <p:sp>
        <p:nvSpPr>
          <p:cNvPr id="14" name="Rounded Rectangle 13"/>
          <p:cNvSpPr/>
          <p:nvPr/>
        </p:nvSpPr>
        <p:spPr>
          <a:xfrm>
            <a:off x="5867400" y="3429000"/>
            <a:ext cx="2819400" cy="22098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just"/>
            <a:r>
              <a:rPr lang="es-CR" sz="2000" dirty="0" smtClean="0"/>
              <a:t>El objetivo en la estadística es poder explicar con cierto grado de confianza la diferencia entre el valor estimado y el verdadero</a:t>
            </a:r>
            <a:endParaRPr lang="es-CR" sz="2000" dirty="0"/>
          </a:p>
        </p:txBody>
      </p:sp>
      <p:cxnSp>
        <p:nvCxnSpPr>
          <p:cNvPr id="16" name="Straight Arrow Connector 15"/>
          <p:cNvCxnSpPr/>
          <p:nvPr/>
        </p:nvCxnSpPr>
        <p:spPr>
          <a:xfrm rot="10800000">
            <a:off x="1600200" y="32766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10800000">
            <a:off x="1524000" y="54102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9600" y="3048000"/>
            <a:ext cx="1143000" cy="707886"/>
          </a:xfrm>
          <a:prstGeom prst="rect">
            <a:avLst/>
          </a:prstGeom>
          <a:noFill/>
        </p:spPr>
        <p:txBody>
          <a:bodyPr wrap="square" rtlCol="0">
            <a:spAutoFit/>
          </a:bodyPr>
          <a:lstStyle/>
          <a:p>
            <a:r>
              <a:rPr lang="es-CR" sz="2000" dirty="0" smtClean="0"/>
              <a:t>Valor estimado</a:t>
            </a:r>
            <a:endParaRPr lang="es-CR" sz="2000" dirty="0"/>
          </a:p>
        </p:txBody>
      </p:sp>
      <p:sp>
        <p:nvSpPr>
          <p:cNvPr id="19" name="TextBox 18"/>
          <p:cNvSpPr txBox="1"/>
          <p:nvPr/>
        </p:nvSpPr>
        <p:spPr>
          <a:xfrm>
            <a:off x="381000" y="5181600"/>
            <a:ext cx="1143000" cy="400110"/>
          </a:xfrm>
          <a:prstGeom prst="rect">
            <a:avLst/>
          </a:prstGeom>
          <a:noFill/>
        </p:spPr>
        <p:txBody>
          <a:bodyPr wrap="square" rtlCol="0">
            <a:spAutoFit/>
          </a:bodyPr>
          <a:lstStyle/>
          <a:p>
            <a:r>
              <a:rPr lang="es-CR" sz="2000" dirty="0" smtClean="0"/>
              <a:t>Valor real </a:t>
            </a:r>
            <a:endParaRPr lang="es-CR" sz="2000" dirty="0"/>
          </a:p>
        </p:txBody>
      </p:sp>
      <p:sp>
        <p:nvSpPr>
          <p:cNvPr id="20" name="Oval 19"/>
          <p:cNvSpPr/>
          <p:nvPr/>
        </p:nvSpPr>
        <p:spPr>
          <a:xfrm>
            <a:off x="3505200" y="3962400"/>
            <a:ext cx="914400" cy="838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Error</a:t>
            </a:r>
            <a:endParaRPr lang="es-CR" dirty="0"/>
          </a:p>
        </p:txBody>
      </p:sp>
    </p:spTree>
  </p:cSld>
  <p:clrMapOvr>
    <a:masterClrMapping/>
  </p:clrMapOvr>
  <p:transition>
    <p:wipe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447800"/>
            <a:ext cx="6629400" cy="5105400"/>
          </a:xfrm>
        </p:spPr>
        <p:txBody>
          <a:bodyPr/>
          <a:lstStyle/>
          <a:p>
            <a:r>
              <a:rPr lang="es-CR" dirty="0" smtClean="0"/>
              <a:t>Para los investigadores, la variabilidad es un fenómeno natural y corriente del cual hay clara conciencia:</a:t>
            </a:r>
          </a:p>
          <a:p>
            <a:endParaRPr lang="es-CR" dirty="0" smtClean="0"/>
          </a:p>
          <a:p>
            <a:pPr>
              <a:buNone/>
            </a:pPr>
            <a:r>
              <a:rPr lang="es-CR" dirty="0" smtClean="0"/>
              <a:t>-Odontólogo: erupción de una pieza dental (herencia, alimentación, genética, salud).</a:t>
            </a:r>
          </a:p>
          <a:p>
            <a:pPr>
              <a:buNone/>
            </a:pPr>
            <a:endParaRPr lang="es-CR" dirty="0" smtClean="0"/>
          </a:p>
          <a:p>
            <a:pPr>
              <a:buNone/>
            </a:pPr>
            <a:endParaRPr lang="es-CR" dirty="0" smtClean="0"/>
          </a:p>
          <a:p>
            <a:pPr>
              <a:buNone/>
            </a:pPr>
            <a:r>
              <a:rPr lang="es-CR" dirty="0" smtClean="0"/>
              <a:t>-Ingeniero Industrial: control y calibración de un proceso de producción de carros.</a:t>
            </a:r>
            <a:endParaRPr lang="es-CR" dirty="0"/>
          </a:p>
        </p:txBody>
      </p:sp>
      <p:pic>
        <p:nvPicPr>
          <p:cNvPr id="35842" name="Picture 2" descr="http://odontologiaintegra.com/main/wp-content/uploads/2009/02/dentistagif.gif"/>
          <p:cNvPicPr>
            <a:picLocks noChangeAspect="1" noChangeArrowheads="1"/>
          </p:cNvPicPr>
          <p:nvPr/>
        </p:nvPicPr>
        <p:blipFill>
          <a:blip r:embed="rId2" cstate="print"/>
          <a:srcRect/>
          <a:stretch>
            <a:fillRect/>
          </a:stretch>
        </p:blipFill>
        <p:spPr bwMode="auto">
          <a:xfrm>
            <a:off x="6553200" y="3581400"/>
            <a:ext cx="2186608" cy="1524000"/>
          </a:xfrm>
          <a:prstGeom prst="rect">
            <a:avLst/>
          </a:prstGeom>
          <a:noFill/>
        </p:spPr>
      </p:pic>
      <p:pic>
        <p:nvPicPr>
          <p:cNvPr id="35844" name="Picture 4" descr="http://www.tiar.cl/tiar/test/catalogo/images/control_calidad.jpg"/>
          <p:cNvPicPr>
            <a:picLocks noChangeAspect="1" noChangeArrowheads="1"/>
          </p:cNvPicPr>
          <p:nvPr/>
        </p:nvPicPr>
        <p:blipFill>
          <a:blip r:embed="rId3" cstate="print"/>
          <a:srcRect/>
          <a:stretch>
            <a:fillRect/>
          </a:stretch>
        </p:blipFill>
        <p:spPr bwMode="auto">
          <a:xfrm>
            <a:off x="6096000" y="5410200"/>
            <a:ext cx="2743200" cy="1252220"/>
          </a:xfrm>
          <a:prstGeom prst="rect">
            <a:avLst/>
          </a:prstGeom>
          <a:noFill/>
        </p:spPr>
      </p:pic>
      <p:sp>
        <p:nvSpPr>
          <p:cNvPr id="7" name="Title 1"/>
          <p:cNvSpPr txBox="1">
            <a:spLocks/>
          </p:cNvSpPr>
          <p:nvPr/>
        </p:nvSpPr>
        <p:spPr>
          <a:xfrm>
            <a:off x="533400" y="0"/>
            <a:ext cx="7772400" cy="1143000"/>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mtClean="0"/>
              <a:t>Introducción</a:t>
            </a:r>
            <a:endParaRPr lang="es-CR" dirty="0"/>
          </a:p>
        </p:txBody>
      </p:sp>
    </p:spTree>
  </p:cSld>
  <p:clrMapOvr>
    <a:masterClrMapping/>
  </p:clrMapOvr>
  <p:transition>
    <p:pull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06437" y="1363394"/>
            <a:ext cx="6122963" cy="4572000"/>
          </a:xfrm>
        </p:spPr>
        <p:txBody>
          <a:bodyPr/>
          <a:lstStyle/>
          <a:p>
            <a:pPr>
              <a:buNone/>
            </a:pPr>
            <a:r>
              <a:rPr lang="es-CR" dirty="0" smtClean="0"/>
              <a:t>-Profesor: rendimiento académico de los alumnos.</a:t>
            </a:r>
          </a:p>
          <a:p>
            <a:pPr>
              <a:buNone/>
            </a:pPr>
            <a:endParaRPr lang="es-CR" dirty="0" smtClean="0"/>
          </a:p>
          <a:p>
            <a:pPr>
              <a:buNone/>
            </a:pPr>
            <a:endParaRPr lang="es-CR" dirty="0" smtClean="0"/>
          </a:p>
          <a:p>
            <a:pPr>
              <a:buNone/>
            </a:pPr>
            <a:r>
              <a:rPr lang="es-CR" dirty="0" smtClean="0"/>
              <a:t>-Agrónomo: cuál de dos variedades fertilizante contiene un mayor rendimiento .</a:t>
            </a:r>
          </a:p>
          <a:p>
            <a:pPr>
              <a:buNone/>
            </a:pPr>
            <a:endParaRPr lang="es-CR" dirty="0" smtClean="0"/>
          </a:p>
          <a:p>
            <a:pPr>
              <a:buNone/>
            </a:pPr>
            <a:endParaRPr lang="es-CR" dirty="0" smtClean="0"/>
          </a:p>
          <a:p>
            <a:pPr>
              <a:buNone/>
            </a:pPr>
            <a:r>
              <a:rPr lang="es-CR" dirty="0" smtClean="0"/>
              <a:t>-Médico: establece cuál tratamiento es mejor para la rehabilitación del paciente. </a:t>
            </a:r>
          </a:p>
          <a:p>
            <a:pPr>
              <a:buNone/>
            </a:pPr>
            <a:endParaRPr lang="es-CR" dirty="0"/>
          </a:p>
        </p:txBody>
      </p:sp>
      <p:pic>
        <p:nvPicPr>
          <p:cNvPr id="34818" name="Picture 2" descr="http://www.cosasquecontar.com/wp-content/uploads/2009/09/profesor.jpg"/>
          <p:cNvPicPr>
            <a:picLocks noChangeAspect="1" noChangeArrowheads="1"/>
          </p:cNvPicPr>
          <p:nvPr/>
        </p:nvPicPr>
        <p:blipFill>
          <a:blip r:embed="rId2" cstate="print"/>
          <a:srcRect/>
          <a:stretch>
            <a:fillRect/>
          </a:stretch>
        </p:blipFill>
        <p:spPr bwMode="auto">
          <a:xfrm>
            <a:off x="6553200" y="1295400"/>
            <a:ext cx="2270124" cy="1981200"/>
          </a:xfrm>
          <a:prstGeom prst="rect">
            <a:avLst/>
          </a:prstGeom>
          <a:noFill/>
        </p:spPr>
      </p:pic>
      <p:pic>
        <p:nvPicPr>
          <p:cNvPr id="34820" name="Picture 4" descr="http://elenajorreto.files.wordpress.com/2009/03/medico.jpg"/>
          <p:cNvPicPr>
            <a:picLocks noChangeAspect="1" noChangeArrowheads="1"/>
          </p:cNvPicPr>
          <p:nvPr/>
        </p:nvPicPr>
        <p:blipFill>
          <a:blip r:embed="rId3" cstate="print"/>
          <a:srcRect/>
          <a:stretch>
            <a:fillRect/>
          </a:stretch>
        </p:blipFill>
        <p:spPr bwMode="auto">
          <a:xfrm>
            <a:off x="6553200" y="3810000"/>
            <a:ext cx="2286000" cy="1828800"/>
          </a:xfrm>
          <a:prstGeom prst="rect">
            <a:avLst/>
          </a:prstGeom>
          <a:noFill/>
        </p:spPr>
      </p:pic>
      <p:sp>
        <p:nvSpPr>
          <p:cNvPr id="8" name="Title 1"/>
          <p:cNvSpPr>
            <a:spLocks noGrp="1"/>
          </p:cNvSpPr>
          <p:nvPr>
            <p:ph type="title"/>
          </p:nvPr>
        </p:nvSpPr>
        <p:spPr>
          <a:xfrm>
            <a:off x="533400" y="0"/>
            <a:ext cx="7772400" cy="1143000"/>
          </a:xfrm>
        </p:spPr>
        <p:txBody>
          <a:bodyPr/>
          <a:lstStyle/>
          <a:p>
            <a:pPr algn="ctr"/>
            <a:r>
              <a:rPr lang="es-CR" dirty="0" smtClean="0"/>
              <a:t>Introducción</a:t>
            </a:r>
            <a:endParaRPr lang="es-CR" dirty="0"/>
          </a:p>
        </p:txBody>
      </p:sp>
    </p:spTree>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smtClean="0"/>
              <a:t>Índice</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concepto de variabilidad</a:t>
            </a:r>
            <a:endParaRPr lang="es-CR" dirty="0"/>
          </a:p>
        </p:txBody>
      </p:sp>
    </p:spTree>
    <p:extLst>
      <p:ext uri="{BB962C8B-B14F-4D97-AF65-F5344CB8AC3E}">
        <p14:creationId xmlns:p14="http://schemas.microsoft.com/office/powerpoint/2010/main" val="32390511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pPr algn="ctr"/>
            <a:r>
              <a:rPr lang="es-CR" dirty="0" smtClean="0"/>
              <a:t>El concepto de variabilidad</a:t>
            </a:r>
            <a:endParaRPr lang="es-CR" dirty="0"/>
          </a:p>
        </p:txBody>
      </p:sp>
      <p:sp>
        <p:nvSpPr>
          <p:cNvPr id="3" name="Content Placeholder 2"/>
          <p:cNvSpPr>
            <a:spLocks noGrp="1"/>
          </p:cNvSpPr>
          <p:nvPr>
            <p:ph sz="quarter" idx="1"/>
          </p:nvPr>
        </p:nvSpPr>
        <p:spPr>
          <a:xfrm>
            <a:off x="228600" y="1371600"/>
            <a:ext cx="6248400" cy="5105400"/>
          </a:xfrm>
        </p:spPr>
        <p:txBody>
          <a:bodyPr>
            <a:normAutofit fontScale="92500" lnSpcReduction="10000"/>
          </a:bodyPr>
          <a:lstStyle/>
          <a:p>
            <a:pPr algn="just"/>
            <a:r>
              <a:rPr lang="es-CR" dirty="0" smtClean="0"/>
              <a:t>Cuando se analizan los datos, se debe tener en mente 2 objetivos:</a:t>
            </a:r>
          </a:p>
          <a:p>
            <a:pPr marL="0" indent="0" algn="just">
              <a:buNone/>
            </a:pPr>
            <a:endParaRPr lang="es-CR" dirty="0" smtClean="0"/>
          </a:p>
          <a:p>
            <a:pPr algn="just">
              <a:buNone/>
            </a:pPr>
            <a:r>
              <a:rPr lang="es-CR" dirty="0" smtClean="0"/>
              <a:t>	1. Se quiere conocer el fenómeno en cuestión, y la mayoría de veces se utilizan medidas de posición (MDP).</a:t>
            </a:r>
          </a:p>
          <a:p>
            <a:pPr algn="just">
              <a:buNone/>
            </a:pPr>
            <a:r>
              <a:rPr lang="es-CR" dirty="0" smtClean="0"/>
              <a:t>	2. Se utilizan  medidas para poder medir la variabilidad en los dato. Por lo tanto se quiere saber tanto la concentración como la dispersión de estos.</a:t>
            </a:r>
          </a:p>
          <a:p>
            <a:pPr algn="just">
              <a:buNone/>
            </a:pPr>
            <a:endParaRPr lang="es-CR" dirty="0" smtClean="0"/>
          </a:p>
          <a:p>
            <a:pPr algn="just"/>
            <a:r>
              <a:rPr lang="es-CR" dirty="0" smtClean="0"/>
              <a:t>De acuerdo con el segundo objetivo, si existe la presencia de mucha variabilidad, entonces la confianza de los datos estará en juego.</a:t>
            </a:r>
          </a:p>
          <a:p>
            <a:pPr algn="just">
              <a:buNone/>
            </a:pPr>
            <a:endParaRPr lang="es-CR" dirty="0" smtClean="0"/>
          </a:p>
          <a:p>
            <a:pPr>
              <a:buNone/>
            </a:pPr>
            <a:endParaRPr lang="es-CR" dirty="0"/>
          </a:p>
        </p:txBody>
      </p:sp>
      <p:pic>
        <p:nvPicPr>
          <p:cNvPr id="20482" name="Picture 2" descr="http://www.toqi.es/wp-content/uploads/2010/12/control_estadistico_de_procesos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74069" y="1559309"/>
            <a:ext cx="2286000" cy="3990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6553200" cy="5029200"/>
          </a:xfrm>
        </p:spPr>
        <p:txBody>
          <a:bodyPr>
            <a:normAutofit fontScale="92500" lnSpcReduction="10000"/>
          </a:bodyPr>
          <a:lstStyle/>
          <a:p>
            <a:pPr algn="just"/>
            <a:r>
              <a:rPr lang="es-CR" dirty="0" smtClean="0"/>
              <a:t>A la hora de analizar un conjunto de datos, es tan importante conocer las MDP (preferiblemente el promedio), como las medidas de variabilidad (la </a:t>
            </a:r>
            <a:r>
              <a:rPr lang="es-CR" i="1" dirty="0" smtClean="0"/>
              <a:t>desviación estándar</a:t>
            </a:r>
            <a:r>
              <a:rPr lang="es-CR" dirty="0" smtClean="0"/>
              <a:t>). </a:t>
            </a:r>
          </a:p>
          <a:p>
            <a:pPr algn="just"/>
            <a:endParaRPr lang="es-CR" dirty="0" smtClean="0"/>
          </a:p>
          <a:p>
            <a:pPr algn="just"/>
            <a:r>
              <a:rPr lang="es-CR" dirty="0" smtClean="0"/>
              <a:t>Obligatoriamente se deben conocer siempre estas dos medidas, ya que la confianza de todo análisis está en función de la medida de tendencia </a:t>
            </a:r>
            <a:r>
              <a:rPr lang="es-CR" dirty="0"/>
              <a:t>y la medida </a:t>
            </a:r>
            <a:r>
              <a:rPr lang="es-CR" dirty="0" smtClean="0"/>
              <a:t>de variabilidad.</a:t>
            </a:r>
          </a:p>
          <a:p>
            <a:pPr algn="just"/>
            <a:endParaRPr lang="es-CR" dirty="0" smtClean="0"/>
          </a:p>
          <a:p>
            <a:pPr algn="just"/>
            <a:r>
              <a:rPr lang="es-CR" dirty="0" smtClean="0"/>
              <a:t>A continuación se detalla lo que es la variabilidad de una forma más práctica. Supóngase que el ejemplo es la cantidad de dinero que </a:t>
            </a:r>
            <a:r>
              <a:rPr lang="es-CR" dirty="0" smtClean="0"/>
              <a:t>las </a:t>
            </a:r>
            <a:r>
              <a:rPr lang="es-CR" dirty="0" smtClean="0"/>
              <a:t>personas </a:t>
            </a:r>
            <a:r>
              <a:rPr lang="es-CR" dirty="0" smtClean="0"/>
              <a:t>reciben </a:t>
            </a:r>
            <a:r>
              <a:rPr lang="es-CR" dirty="0" smtClean="0"/>
              <a:t>por semana (</a:t>
            </a:r>
            <a:r>
              <a:rPr lang="es-CR" dirty="0" smtClean="0"/>
              <a:t>1=100 </a:t>
            </a:r>
            <a:r>
              <a:rPr lang="es-CR" dirty="0" smtClean="0"/>
              <a:t>000 ¢).</a:t>
            </a:r>
            <a:endParaRPr lang="es-CR" dirty="0"/>
          </a:p>
        </p:txBody>
      </p:sp>
      <p:sp>
        <p:nvSpPr>
          <p:cNvPr id="4" name="Title 1"/>
          <p:cNvSpPr>
            <a:spLocks noGrp="1"/>
          </p:cNvSpPr>
          <p:nvPr>
            <p:ph type="title"/>
          </p:nvPr>
        </p:nvSpPr>
        <p:spPr>
          <a:xfrm>
            <a:off x="533400" y="0"/>
            <a:ext cx="7772400" cy="1143000"/>
          </a:xfrm>
        </p:spPr>
        <p:txBody>
          <a:bodyPr/>
          <a:lstStyle/>
          <a:p>
            <a:pPr algn="ctr"/>
            <a:r>
              <a:rPr lang="es-CR" dirty="0" smtClean="0"/>
              <a:t>El concepto de variabilidad</a:t>
            </a:r>
            <a:endParaRPr lang="es-CR" dirty="0"/>
          </a:p>
        </p:txBody>
      </p:sp>
      <p:pic>
        <p:nvPicPr>
          <p:cNvPr id="21506" name="Picture 2" descr="http://www.monografias.com/trabajos15/estadistica-apoyo/estadistica-apoyo_archivos/distr_5.gif"/>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363" t="17571" r="8066"/>
          <a:stretch/>
        </p:blipFill>
        <p:spPr bwMode="auto">
          <a:xfrm>
            <a:off x="7239000" y="1371599"/>
            <a:ext cx="1600200" cy="2465333"/>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adegboyegailori.com/wp-content/uploads/2015/07/Bag-of-Mone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4495800"/>
            <a:ext cx="1752600" cy="18661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371600"/>
            <a:ext cx="8077200" cy="5029200"/>
          </a:xfrm>
        </p:spPr>
        <p:txBody>
          <a:bodyPr>
            <a:normAutofit lnSpcReduction="10000"/>
          </a:bodyPr>
          <a:lstStyle/>
          <a:p>
            <a:r>
              <a:rPr lang="es-CR" dirty="0" smtClean="0"/>
              <a:t>Variabilidad “nula”.</a:t>
            </a:r>
          </a:p>
          <a:p>
            <a:pPr>
              <a:buNone/>
            </a:pPr>
            <a:endParaRPr lang="es-CR" dirty="0" smtClean="0"/>
          </a:p>
          <a:p>
            <a:pPr>
              <a:buNone/>
            </a:pPr>
            <a:endParaRPr lang="es-CR" dirty="0" smtClean="0"/>
          </a:p>
          <a:p>
            <a:pPr>
              <a:buNone/>
            </a:pPr>
            <a:endParaRPr lang="es-CR" dirty="0" smtClean="0"/>
          </a:p>
          <a:p>
            <a:pPr>
              <a:buNone/>
            </a:pPr>
            <a:endParaRPr lang="es-CR" dirty="0" smtClean="0"/>
          </a:p>
          <a:p>
            <a:pPr>
              <a:buNone/>
            </a:pPr>
            <a:endParaRPr lang="es-CR" dirty="0" smtClean="0"/>
          </a:p>
          <a:p>
            <a:pPr>
              <a:buNone/>
            </a:pPr>
            <a:endParaRPr lang="es-CR" dirty="0" smtClean="0"/>
          </a:p>
          <a:p>
            <a:pPr>
              <a:buNone/>
            </a:pPr>
            <a:endParaRPr lang="es-CR" dirty="0" smtClean="0"/>
          </a:p>
          <a:p>
            <a:r>
              <a:rPr lang="es-CR" dirty="0" smtClean="0"/>
              <a:t>Cuanto más concentrados estén los datos alrededor del promedio, se tendrá más confianza para caracterizar o representar el conjunto de datos. </a:t>
            </a:r>
            <a:endParaRPr lang="es-CR" dirty="0"/>
          </a:p>
        </p:txBody>
      </p:sp>
      <p:sp>
        <p:nvSpPr>
          <p:cNvPr id="4" name="Title 1"/>
          <p:cNvSpPr>
            <a:spLocks noGrp="1"/>
          </p:cNvSpPr>
          <p:nvPr>
            <p:ph type="title"/>
          </p:nvPr>
        </p:nvSpPr>
        <p:spPr>
          <a:xfrm>
            <a:off x="533400" y="0"/>
            <a:ext cx="7772400" cy="1143000"/>
          </a:xfrm>
        </p:spPr>
        <p:txBody>
          <a:bodyPr/>
          <a:lstStyle/>
          <a:p>
            <a:pPr algn="ctr"/>
            <a:r>
              <a:rPr lang="es-CR" dirty="0" smtClean="0"/>
              <a:t>El concepto de variabilidad</a:t>
            </a:r>
            <a:endParaRPr lang="es-CR" dirty="0"/>
          </a:p>
        </p:txBody>
      </p:sp>
      <p:graphicFrame>
        <p:nvGraphicFramePr>
          <p:cNvPr id="6" name="Chart 5"/>
          <p:cNvGraphicFramePr/>
          <p:nvPr>
            <p:extLst>
              <p:ext uri="{D42A27DB-BD31-4B8C-83A1-F6EECF244321}">
                <p14:modId xmlns:p14="http://schemas.microsoft.com/office/powerpoint/2010/main" val="4227713483"/>
              </p:ext>
            </p:extLst>
          </p:nvPr>
        </p:nvGraphicFramePr>
        <p:xfrm>
          <a:off x="685800" y="1828800"/>
          <a:ext cx="6400800" cy="2895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6934200" y="1828800"/>
            <a:ext cx="1981200" cy="461665"/>
          </a:xfrm>
          <a:prstGeom prst="rect">
            <a:avLst/>
          </a:prstGeom>
          <a:noFill/>
        </p:spPr>
        <p:txBody>
          <a:bodyPr wrap="square" rtlCol="0">
            <a:spAutoFit/>
          </a:bodyPr>
          <a:lstStyle/>
          <a:p>
            <a:r>
              <a:rPr lang="es-CR" sz="2400" dirty="0" smtClean="0"/>
              <a:t>Promedio = 6</a:t>
            </a:r>
            <a:endParaRPr lang="es-CR" sz="2400" dirty="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7772400" cy="5181600"/>
          </a:xfrm>
        </p:spPr>
        <p:txBody>
          <a:bodyPr>
            <a:normAutofit lnSpcReduction="10000"/>
          </a:bodyPr>
          <a:lstStyle/>
          <a:p>
            <a:r>
              <a:rPr lang="es-CR" dirty="0" smtClean="0"/>
              <a:t>Pequeña variabilidad.</a:t>
            </a:r>
          </a:p>
          <a:p>
            <a:endParaRPr lang="es-CR" dirty="0" smtClean="0"/>
          </a:p>
          <a:p>
            <a:endParaRPr lang="es-CR" dirty="0" smtClean="0"/>
          </a:p>
          <a:p>
            <a:endParaRPr lang="es-CR" dirty="0" smtClean="0"/>
          </a:p>
          <a:p>
            <a:endParaRPr lang="es-CR" dirty="0" smtClean="0"/>
          </a:p>
          <a:p>
            <a:endParaRPr lang="es-CR" dirty="0" smtClean="0"/>
          </a:p>
          <a:p>
            <a:endParaRPr lang="es-CR" dirty="0" smtClean="0"/>
          </a:p>
          <a:p>
            <a:pPr>
              <a:buNone/>
            </a:pPr>
            <a:endParaRPr lang="es-CR" dirty="0" smtClean="0"/>
          </a:p>
          <a:p>
            <a:r>
              <a:rPr lang="es-CR" dirty="0" smtClean="0"/>
              <a:t>Cuando los datos estén concentrados alrededor del promedio, y estos no se alejen mucho, entonces se tendrá un nivel de confianza aceptable para caracterizar a los datos, con un pequeño grado de error asociado.</a:t>
            </a:r>
            <a:endParaRPr lang="es-CR" dirty="0"/>
          </a:p>
        </p:txBody>
      </p:sp>
      <p:sp>
        <p:nvSpPr>
          <p:cNvPr id="4" name="Title 1"/>
          <p:cNvSpPr>
            <a:spLocks noGrp="1"/>
          </p:cNvSpPr>
          <p:nvPr>
            <p:ph type="title"/>
          </p:nvPr>
        </p:nvSpPr>
        <p:spPr>
          <a:xfrm>
            <a:off x="533400" y="0"/>
            <a:ext cx="7772400" cy="1143000"/>
          </a:xfrm>
        </p:spPr>
        <p:txBody>
          <a:bodyPr/>
          <a:lstStyle/>
          <a:p>
            <a:pPr algn="ctr"/>
            <a:r>
              <a:rPr lang="es-CR" dirty="0" smtClean="0"/>
              <a:t>El concepto de variabilidad</a:t>
            </a:r>
            <a:endParaRPr lang="es-CR" dirty="0"/>
          </a:p>
        </p:txBody>
      </p:sp>
      <p:graphicFrame>
        <p:nvGraphicFramePr>
          <p:cNvPr id="5" name="Chart 4"/>
          <p:cNvGraphicFramePr/>
          <p:nvPr>
            <p:extLst>
              <p:ext uri="{D42A27DB-BD31-4B8C-83A1-F6EECF244321}">
                <p14:modId xmlns:p14="http://schemas.microsoft.com/office/powerpoint/2010/main" val="2774918737"/>
              </p:ext>
            </p:extLst>
          </p:nvPr>
        </p:nvGraphicFramePr>
        <p:xfrm>
          <a:off x="1066800" y="1905000"/>
          <a:ext cx="6019800" cy="28956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010400" y="2286000"/>
            <a:ext cx="1981200" cy="461665"/>
          </a:xfrm>
          <a:prstGeom prst="rect">
            <a:avLst/>
          </a:prstGeom>
          <a:noFill/>
        </p:spPr>
        <p:txBody>
          <a:bodyPr wrap="square" rtlCol="0">
            <a:spAutoFit/>
          </a:bodyPr>
          <a:lstStyle/>
          <a:p>
            <a:r>
              <a:rPr lang="es-CR" sz="2400" dirty="0" smtClean="0"/>
              <a:t>Promedio = 6</a:t>
            </a:r>
            <a:endParaRPr lang="es-CR" sz="2400" dirty="0"/>
          </a:p>
        </p:txBody>
      </p:sp>
    </p:spTree>
  </p:cSld>
  <p:clrMapOvr>
    <a:masterClrMapping/>
  </p:clrMapOvr>
  <p:transition>
    <p:push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8153400" cy="5334000"/>
          </a:xfrm>
        </p:spPr>
        <p:txBody>
          <a:bodyPr/>
          <a:lstStyle/>
          <a:p>
            <a:r>
              <a:rPr lang="es-CR" dirty="0" smtClean="0"/>
              <a:t>Mayor variabilidad</a:t>
            </a:r>
          </a:p>
          <a:p>
            <a:endParaRPr lang="es-CR" dirty="0" smtClean="0"/>
          </a:p>
          <a:p>
            <a:endParaRPr lang="es-CR" dirty="0" smtClean="0"/>
          </a:p>
          <a:p>
            <a:pPr>
              <a:buNone/>
            </a:pPr>
            <a:endParaRPr lang="es-CR" dirty="0" smtClean="0"/>
          </a:p>
          <a:p>
            <a:pPr>
              <a:buNone/>
            </a:pPr>
            <a:endParaRPr lang="es-CR" dirty="0" smtClean="0"/>
          </a:p>
          <a:p>
            <a:pPr>
              <a:buNone/>
            </a:pPr>
            <a:endParaRPr lang="es-CR" dirty="0" smtClean="0"/>
          </a:p>
          <a:p>
            <a:pPr>
              <a:buNone/>
            </a:pPr>
            <a:endParaRPr lang="es-CR" dirty="0" smtClean="0"/>
          </a:p>
          <a:p>
            <a:r>
              <a:rPr lang="es-CR" dirty="0" smtClean="0"/>
              <a:t>Cuando los datos estén concentrados alrededor del promedio,  pero estos se alejan relativamente bastante, entonces se tendrá un nivel de confianza no tan bueno para caracterizar a los datos, y un mayor grado de error asociado.</a:t>
            </a:r>
          </a:p>
          <a:p>
            <a:endParaRPr lang="es-CR" dirty="0"/>
          </a:p>
        </p:txBody>
      </p:sp>
      <p:sp>
        <p:nvSpPr>
          <p:cNvPr id="4" name="Title 1"/>
          <p:cNvSpPr>
            <a:spLocks noGrp="1"/>
          </p:cNvSpPr>
          <p:nvPr>
            <p:ph type="title"/>
          </p:nvPr>
        </p:nvSpPr>
        <p:spPr>
          <a:xfrm>
            <a:off x="533400" y="0"/>
            <a:ext cx="7772400" cy="1143000"/>
          </a:xfrm>
        </p:spPr>
        <p:txBody>
          <a:bodyPr/>
          <a:lstStyle/>
          <a:p>
            <a:pPr algn="ctr"/>
            <a:r>
              <a:rPr lang="es-CR" dirty="0" smtClean="0"/>
              <a:t>El concepto de variabilidad</a:t>
            </a:r>
            <a:endParaRPr lang="es-CR" dirty="0"/>
          </a:p>
        </p:txBody>
      </p:sp>
      <p:graphicFrame>
        <p:nvGraphicFramePr>
          <p:cNvPr id="5" name="Chart 4"/>
          <p:cNvGraphicFramePr/>
          <p:nvPr>
            <p:extLst>
              <p:ext uri="{D42A27DB-BD31-4B8C-83A1-F6EECF244321}">
                <p14:modId xmlns:p14="http://schemas.microsoft.com/office/powerpoint/2010/main" val="43384667"/>
              </p:ext>
            </p:extLst>
          </p:nvPr>
        </p:nvGraphicFramePr>
        <p:xfrm>
          <a:off x="990600" y="1752600"/>
          <a:ext cx="57912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781800" y="1828800"/>
            <a:ext cx="1981200" cy="461665"/>
          </a:xfrm>
          <a:prstGeom prst="rect">
            <a:avLst/>
          </a:prstGeom>
          <a:noFill/>
        </p:spPr>
        <p:txBody>
          <a:bodyPr wrap="square" rtlCol="0">
            <a:spAutoFit/>
          </a:bodyPr>
          <a:lstStyle/>
          <a:p>
            <a:r>
              <a:rPr lang="es-CR" sz="2400" dirty="0" smtClean="0"/>
              <a:t>Promedio = 6</a:t>
            </a:r>
            <a:endParaRPr lang="es-CR" sz="2400" dirty="0"/>
          </a:p>
        </p:txBody>
      </p:sp>
    </p:spTree>
  </p:cSld>
  <p:clrMapOvr>
    <a:masterClrMapping/>
  </p:clrMapOvr>
  <p:transition>
    <p:cover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8153400" cy="5257800"/>
          </a:xfrm>
        </p:spPr>
        <p:txBody>
          <a:bodyPr>
            <a:normAutofit/>
          </a:bodyPr>
          <a:lstStyle/>
          <a:p>
            <a:r>
              <a:rPr lang="es-CR" dirty="0" smtClean="0"/>
              <a:t>Variabilidad extrema</a:t>
            </a:r>
          </a:p>
          <a:p>
            <a:endParaRPr lang="es-CR" dirty="0" smtClean="0"/>
          </a:p>
          <a:p>
            <a:endParaRPr lang="es-CR" dirty="0" smtClean="0"/>
          </a:p>
          <a:p>
            <a:endParaRPr lang="es-CR" dirty="0" smtClean="0"/>
          </a:p>
          <a:p>
            <a:endParaRPr lang="es-CR" dirty="0" smtClean="0"/>
          </a:p>
          <a:p>
            <a:pPr>
              <a:buNone/>
            </a:pPr>
            <a:endParaRPr lang="es-CR" dirty="0" smtClean="0"/>
          </a:p>
          <a:p>
            <a:endParaRPr lang="es-CR" dirty="0" smtClean="0"/>
          </a:p>
          <a:p>
            <a:r>
              <a:rPr lang="es-CR" dirty="0" smtClean="0"/>
              <a:t>Cuando los datos no están concentrados alrededor del promedio,  y estos se alejan bastante del promedio, el nivel confianza será muy malo, y habrá un grado de error asociado bastante grande. </a:t>
            </a:r>
          </a:p>
          <a:p>
            <a:endParaRPr lang="es-CR" dirty="0" smtClean="0"/>
          </a:p>
          <a:p>
            <a:endParaRPr lang="es-CR" dirty="0" smtClean="0"/>
          </a:p>
          <a:p>
            <a:endParaRPr lang="es-CR" dirty="0"/>
          </a:p>
        </p:txBody>
      </p:sp>
      <p:sp>
        <p:nvSpPr>
          <p:cNvPr id="4" name="Title 1"/>
          <p:cNvSpPr>
            <a:spLocks noGrp="1"/>
          </p:cNvSpPr>
          <p:nvPr>
            <p:ph type="title"/>
          </p:nvPr>
        </p:nvSpPr>
        <p:spPr>
          <a:xfrm>
            <a:off x="685800" y="0"/>
            <a:ext cx="7772400" cy="1143000"/>
          </a:xfrm>
        </p:spPr>
        <p:txBody>
          <a:bodyPr/>
          <a:lstStyle/>
          <a:p>
            <a:pPr algn="ctr"/>
            <a:r>
              <a:rPr lang="es-CR" dirty="0" smtClean="0"/>
              <a:t>El concepto de variabilidad</a:t>
            </a:r>
            <a:endParaRPr lang="es-CR" dirty="0"/>
          </a:p>
        </p:txBody>
      </p:sp>
      <p:graphicFrame>
        <p:nvGraphicFramePr>
          <p:cNvPr id="5" name="Chart 4"/>
          <p:cNvGraphicFramePr/>
          <p:nvPr>
            <p:extLst>
              <p:ext uri="{D42A27DB-BD31-4B8C-83A1-F6EECF244321}">
                <p14:modId xmlns:p14="http://schemas.microsoft.com/office/powerpoint/2010/main" val="3729573482"/>
              </p:ext>
            </p:extLst>
          </p:nvPr>
        </p:nvGraphicFramePr>
        <p:xfrm>
          <a:off x="838200" y="1752600"/>
          <a:ext cx="63246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162800" y="1828800"/>
            <a:ext cx="1981200" cy="461665"/>
          </a:xfrm>
          <a:prstGeom prst="rect">
            <a:avLst/>
          </a:prstGeom>
          <a:noFill/>
        </p:spPr>
        <p:txBody>
          <a:bodyPr wrap="square" rtlCol="0">
            <a:spAutoFit/>
          </a:bodyPr>
          <a:lstStyle/>
          <a:p>
            <a:r>
              <a:rPr lang="es-CR" sz="2400" dirty="0" smtClean="0"/>
              <a:t>Promedio = 6</a:t>
            </a:r>
            <a:endParaRPr lang="es-CR" sz="2400" dirty="0"/>
          </a:p>
        </p:txBody>
      </p:sp>
    </p:spTree>
  </p:cSld>
  <p:clrMapOvr>
    <a:masterClrMapping/>
  </p:clrMapOvr>
  <p:transition>
    <p:cov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447800"/>
            <a:ext cx="7772400" cy="4572000"/>
          </a:xfrm>
        </p:spPr>
        <p:txBody>
          <a:bodyPr/>
          <a:lstStyle/>
          <a:p>
            <a:r>
              <a:rPr lang="es-CR" dirty="0" smtClean="0"/>
              <a:t>Por lo tanto, se evidencia que las MDP no son suficientes para describir un conjunto de datos, y la necesidad de aplicar también una medida de variabilidad.</a:t>
            </a:r>
          </a:p>
          <a:p>
            <a:endParaRPr lang="es-CR" dirty="0" smtClean="0"/>
          </a:p>
          <a:p>
            <a:r>
              <a:rPr lang="es-CR" dirty="0" smtClean="0"/>
              <a:t>Dentro de cualquier aplicación y área que requiera de la Estadística, es necesario estudiar la variabilidad. </a:t>
            </a:r>
          </a:p>
          <a:p>
            <a:endParaRPr lang="es-CR" dirty="0" smtClean="0"/>
          </a:p>
          <a:p>
            <a:pPr>
              <a:buNone/>
            </a:pPr>
            <a:endParaRPr lang="es-CR" dirty="0"/>
          </a:p>
        </p:txBody>
      </p:sp>
      <p:sp>
        <p:nvSpPr>
          <p:cNvPr id="4" name="Title 1"/>
          <p:cNvSpPr>
            <a:spLocks noGrp="1"/>
          </p:cNvSpPr>
          <p:nvPr>
            <p:ph type="title"/>
          </p:nvPr>
        </p:nvSpPr>
        <p:spPr>
          <a:xfrm>
            <a:off x="685800" y="0"/>
            <a:ext cx="7772400" cy="1143000"/>
          </a:xfrm>
        </p:spPr>
        <p:txBody>
          <a:bodyPr/>
          <a:lstStyle/>
          <a:p>
            <a:pPr algn="ctr"/>
            <a:r>
              <a:rPr lang="es-CR" dirty="0" smtClean="0"/>
              <a:t>El concepto de variabilidad</a:t>
            </a:r>
            <a:endParaRPr lang="es-CR" dirty="0"/>
          </a:p>
        </p:txBody>
      </p:sp>
      <p:pic>
        <p:nvPicPr>
          <p:cNvPr id="27650" name="Picture 2" descr="http://www.uwsp.edu/PSYCH/stat/5/ranggood.gif"/>
          <p:cNvPicPr>
            <a:picLocks noChangeAspect="1" noChangeArrowheads="1"/>
          </p:cNvPicPr>
          <p:nvPr/>
        </p:nvPicPr>
        <p:blipFill>
          <a:blip r:embed="rId2" cstate="print"/>
          <a:srcRect/>
          <a:stretch>
            <a:fillRect/>
          </a:stretch>
        </p:blipFill>
        <p:spPr bwMode="auto">
          <a:xfrm>
            <a:off x="228600" y="3952875"/>
            <a:ext cx="4857750" cy="2905125"/>
          </a:xfrm>
          <a:prstGeom prst="rect">
            <a:avLst/>
          </a:prstGeom>
          <a:noFill/>
        </p:spPr>
      </p:pic>
      <p:pic>
        <p:nvPicPr>
          <p:cNvPr id="27652" name="Picture 4" descr="http://www.isixsigma.com/library/graphics/c021021_f.gif"/>
          <p:cNvPicPr>
            <a:picLocks noChangeAspect="1" noChangeArrowheads="1"/>
          </p:cNvPicPr>
          <p:nvPr/>
        </p:nvPicPr>
        <p:blipFill>
          <a:blip r:embed="rId3" cstate="print"/>
          <a:srcRect/>
          <a:stretch>
            <a:fillRect/>
          </a:stretch>
        </p:blipFill>
        <p:spPr bwMode="auto">
          <a:xfrm>
            <a:off x="6629400" y="3657600"/>
            <a:ext cx="2088159" cy="3048000"/>
          </a:xfrm>
          <a:prstGeom prst="rect">
            <a:avLst/>
          </a:prstGeom>
          <a:noFill/>
        </p:spPr>
      </p:pic>
    </p:spTree>
  </p:cSld>
  <p:clrMapOvr>
    <a:masterClrMapping/>
  </p:clrMapOvr>
  <p:transition>
    <p:cover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0"/>
            <a:ext cx="7772400" cy="1143000"/>
          </a:xfrm>
        </p:spPr>
        <p:txBody>
          <a:bodyPr/>
          <a:lstStyle/>
          <a:p>
            <a:pPr algn="ctr"/>
            <a:r>
              <a:rPr lang="es-CR" dirty="0" smtClean="0"/>
              <a:t>Medidas de variabilidad</a:t>
            </a:r>
            <a:endParaRPr lang="es-CR" dirty="0"/>
          </a:p>
        </p:txBody>
      </p:sp>
      <p:sp>
        <p:nvSpPr>
          <p:cNvPr id="3" name="Content Placeholder 2"/>
          <p:cNvSpPr>
            <a:spLocks noGrp="1"/>
          </p:cNvSpPr>
          <p:nvPr>
            <p:ph sz="quarter" idx="1"/>
          </p:nvPr>
        </p:nvSpPr>
        <p:spPr>
          <a:xfrm>
            <a:off x="304800" y="1295400"/>
            <a:ext cx="5791200" cy="5257800"/>
          </a:xfrm>
        </p:spPr>
        <p:txBody>
          <a:bodyPr>
            <a:normAutofit lnSpcReduction="10000"/>
          </a:bodyPr>
          <a:lstStyle/>
          <a:p>
            <a:pPr algn="just"/>
            <a:r>
              <a:rPr lang="es-CR" dirty="0" smtClean="0"/>
              <a:t>Existen diferentes formas de medir la dispersión o variabilidad de los datos.</a:t>
            </a:r>
          </a:p>
          <a:p>
            <a:pPr algn="just"/>
            <a:endParaRPr lang="es-CR" dirty="0" smtClean="0"/>
          </a:p>
          <a:p>
            <a:pPr algn="just"/>
            <a:r>
              <a:rPr lang="es-CR" dirty="0" smtClean="0"/>
              <a:t>La elección de cierta medida depende de la situación y de las posibles ventajas en relación a las otras medidas.</a:t>
            </a:r>
          </a:p>
          <a:p>
            <a:pPr algn="just"/>
            <a:endParaRPr lang="es-CR" dirty="0" smtClean="0"/>
          </a:p>
          <a:p>
            <a:pPr algn="just"/>
            <a:r>
              <a:rPr lang="es-CR" dirty="0" smtClean="0"/>
              <a:t>Las medidas de variabilidad más corrientes son:</a:t>
            </a:r>
          </a:p>
          <a:p>
            <a:pPr algn="just">
              <a:buNone/>
            </a:pPr>
            <a:r>
              <a:rPr lang="es-CR" dirty="0" smtClean="0"/>
              <a:t>	-El recorrido o amplitud.</a:t>
            </a:r>
          </a:p>
          <a:p>
            <a:pPr algn="just">
              <a:buNone/>
            </a:pPr>
            <a:r>
              <a:rPr lang="es-CR" dirty="0" smtClean="0"/>
              <a:t>	-La desviación media (DM).</a:t>
            </a:r>
          </a:p>
          <a:p>
            <a:pPr algn="just">
              <a:buNone/>
            </a:pPr>
            <a:r>
              <a:rPr lang="es-CR" dirty="0" smtClean="0"/>
              <a:t>	-La variancia y desviación estándar (DE).</a:t>
            </a:r>
          </a:p>
          <a:p>
            <a:pPr>
              <a:buNone/>
            </a:pPr>
            <a:endParaRPr lang="es-CR" dirty="0" smtClean="0"/>
          </a:p>
        </p:txBody>
      </p:sp>
      <p:pic>
        <p:nvPicPr>
          <p:cNvPr id="32770" name="Picture 2" descr="http://www.guychurch.com/wp-content/uploads/2014/02/pay-attention.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104" t="5996" r="10345" b="9932"/>
          <a:stretch/>
        </p:blipFill>
        <p:spPr bwMode="auto">
          <a:xfrm>
            <a:off x="6492766" y="1447800"/>
            <a:ext cx="2245704" cy="1905001"/>
          </a:xfrm>
          <a:prstGeom prst="rect">
            <a:avLst/>
          </a:prstGeom>
          <a:noFill/>
          <a:extLst>
            <a:ext uri="{909E8E84-426E-40DD-AFC4-6F175D3DCCD1}">
              <a14:hiddenFill xmlns:a14="http://schemas.microsoft.com/office/drawing/2010/main">
                <a:solidFill>
                  <a:srgbClr val="FFFFFF"/>
                </a:solidFill>
              </a14:hiddenFill>
            </a:ext>
          </a:extLst>
        </p:spPr>
      </p:pic>
      <p:pic>
        <p:nvPicPr>
          <p:cNvPr id="32772" name="Picture 4" descr="https://juanenriquevieyragil.files.wordpress.com/2012/02/payattention.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2766" y="3886200"/>
            <a:ext cx="1889234"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l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smtClean="0"/>
              <a:t>Índice</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concepto de variabilidad</a:t>
            </a:r>
            <a:endParaRPr lang="es-CR" dirty="0"/>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Recorrido o amplitud</a:t>
            </a:r>
            <a:endParaRPr lang="es-CR" dirty="0"/>
          </a:p>
        </p:txBody>
      </p:sp>
    </p:spTree>
    <p:extLst>
      <p:ext uri="{BB962C8B-B14F-4D97-AF65-F5344CB8AC3E}">
        <p14:creationId xmlns:p14="http://schemas.microsoft.com/office/powerpoint/2010/main" val="34549765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pPr algn="ctr"/>
            <a:r>
              <a:rPr lang="es-CR" dirty="0" smtClean="0"/>
              <a:t>Recorrido o amplitud</a:t>
            </a:r>
            <a:endParaRPr lang="es-CR" dirty="0"/>
          </a:p>
        </p:txBody>
      </p:sp>
      <p:sp>
        <p:nvSpPr>
          <p:cNvPr id="3" name="Content Placeholder 2"/>
          <p:cNvSpPr>
            <a:spLocks noGrp="1"/>
          </p:cNvSpPr>
          <p:nvPr>
            <p:ph sz="quarter" idx="1"/>
          </p:nvPr>
        </p:nvSpPr>
        <p:spPr>
          <a:xfrm>
            <a:off x="381000" y="1371600"/>
            <a:ext cx="7772400" cy="4572000"/>
          </a:xfrm>
        </p:spPr>
        <p:txBody>
          <a:bodyPr/>
          <a:lstStyle/>
          <a:p>
            <a:r>
              <a:rPr lang="es-CR" dirty="0" smtClean="0"/>
              <a:t>La forma más simple de apreciar la variabilidad es considerando los valores extremos del conjunto de datos (el valor menor y el valor mayor).</a:t>
            </a:r>
          </a:p>
          <a:p>
            <a:endParaRPr lang="es-CR" dirty="0" smtClean="0"/>
          </a:p>
          <a:p>
            <a:r>
              <a:rPr lang="es-CR" dirty="0" smtClean="0"/>
              <a:t>La diferencia ente el valor mayor y el menor  del conjunto de datos da origen al recorrido o amplitud.</a:t>
            </a:r>
          </a:p>
          <a:p>
            <a:endParaRPr lang="es-CR" dirty="0" smtClean="0"/>
          </a:p>
          <a:p>
            <a:pPr>
              <a:buNone/>
            </a:pPr>
            <a:endParaRPr lang="es-CR" dirty="0"/>
          </a:p>
        </p:txBody>
      </p:sp>
      <p:sp>
        <p:nvSpPr>
          <p:cNvPr id="4" name="Rectangle 3"/>
          <p:cNvSpPr/>
          <p:nvPr/>
        </p:nvSpPr>
        <p:spPr>
          <a:xfrm>
            <a:off x="1447800" y="4800600"/>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Recorrido = Valor mayor – valor menor </a:t>
            </a:r>
            <a:endParaRPr lang="es-CR" sz="2400" dirty="0"/>
          </a:p>
        </p:txBody>
      </p:sp>
    </p:spTree>
  </p:cSld>
  <p:clrMapOvr>
    <a:masterClrMapping/>
  </p:clrMapOvr>
  <p:transition>
    <p:cover dir="l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219200"/>
            <a:ext cx="7772400" cy="5410200"/>
          </a:xfrm>
        </p:spPr>
        <p:txBody>
          <a:bodyPr/>
          <a:lstStyle/>
          <a:p>
            <a:r>
              <a:rPr lang="es-CR" dirty="0" smtClean="0"/>
              <a:t>El cálculo es muy simple. Considérese las siguientes edades:</a:t>
            </a:r>
          </a:p>
          <a:p>
            <a:endParaRPr lang="es-CR" dirty="0" smtClean="0"/>
          </a:p>
          <a:p>
            <a:pPr algn="ctr">
              <a:buNone/>
            </a:pPr>
            <a:r>
              <a:rPr lang="es-CR" dirty="0" smtClean="0"/>
              <a:t>19, 20, 21, 20, 21, 19, 18, 22, 20, 19, 23. </a:t>
            </a:r>
          </a:p>
          <a:p>
            <a:pPr algn="ctr">
              <a:buNone/>
            </a:pPr>
            <a:endParaRPr lang="es-CR" dirty="0" smtClean="0"/>
          </a:p>
          <a:p>
            <a:pPr algn="ctr">
              <a:buNone/>
            </a:pPr>
            <a:endParaRPr lang="es-CR" dirty="0" smtClean="0"/>
          </a:p>
          <a:p>
            <a:pPr algn="ctr">
              <a:buNone/>
            </a:pPr>
            <a:endParaRPr lang="es-CR" dirty="0" smtClean="0"/>
          </a:p>
          <a:p>
            <a:pPr>
              <a:buNone/>
            </a:pPr>
            <a:endParaRPr lang="es-CR" dirty="0" smtClean="0"/>
          </a:p>
          <a:p>
            <a:pPr>
              <a:buNone/>
            </a:pPr>
            <a:endParaRPr lang="es-CR" dirty="0" smtClean="0"/>
          </a:p>
          <a:p>
            <a:r>
              <a:rPr lang="es-CR" dirty="0" smtClean="0"/>
              <a:t>En este caso se tiene que las edades tienen una dispersión o amplitud de 5 años. Dependiendo del contexto, puede ser mucho o poco.</a:t>
            </a:r>
          </a:p>
        </p:txBody>
      </p:sp>
      <p:sp>
        <p:nvSpPr>
          <p:cNvPr id="5" name="Title 1"/>
          <p:cNvSpPr>
            <a:spLocks noGrp="1"/>
          </p:cNvSpPr>
          <p:nvPr>
            <p:ph type="title"/>
          </p:nvPr>
        </p:nvSpPr>
        <p:spPr>
          <a:xfrm>
            <a:off x="533400" y="0"/>
            <a:ext cx="7772400" cy="990600"/>
          </a:xfrm>
        </p:spPr>
        <p:txBody>
          <a:bodyPr/>
          <a:lstStyle/>
          <a:p>
            <a:pPr algn="ctr"/>
            <a:r>
              <a:rPr lang="es-CR" dirty="0" smtClean="0"/>
              <a:t>Recorrido o amplitud</a:t>
            </a:r>
            <a:endParaRPr lang="es-CR" dirty="0"/>
          </a:p>
        </p:txBody>
      </p:sp>
      <p:sp>
        <p:nvSpPr>
          <p:cNvPr id="6" name="Rectangle 5"/>
          <p:cNvSpPr/>
          <p:nvPr/>
        </p:nvSpPr>
        <p:spPr>
          <a:xfrm>
            <a:off x="1600200" y="3352800"/>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Recorrido = 23 – 18 =5</a:t>
            </a:r>
            <a:endParaRPr lang="es-CR" sz="2400" dirty="0"/>
          </a:p>
        </p:txBody>
      </p:sp>
    </p:spTree>
  </p:cSld>
  <p:clrMapOvr>
    <a:masterClrMapping/>
  </p:clrMapOvr>
  <p:transition>
    <p:cover dir="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8229600" cy="5105400"/>
          </a:xfrm>
        </p:spPr>
        <p:txBody>
          <a:bodyPr/>
          <a:lstStyle/>
          <a:p>
            <a:r>
              <a:rPr lang="es-CR" dirty="0" smtClean="0"/>
              <a:t>Supongamos que en el conjunto de datos se incluye el número “32”, lo cual daría el siguiente conjunto de datos:</a:t>
            </a:r>
          </a:p>
          <a:p>
            <a:endParaRPr lang="es-CR" dirty="0" smtClean="0"/>
          </a:p>
          <a:p>
            <a:pPr algn="ctr">
              <a:buNone/>
            </a:pPr>
            <a:r>
              <a:rPr lang="es-CR" dirty="0" smtClean="0"/>
              <a:t>19, 20, 21, 20, 21, 19, 18, 22, 20, 19, 23, 32. </a:t>
            </a:r>
          </a:p>
          <a:p>
            <a:pPr algn="ctr">
              <a:buNone/>
            </a:pPr>
            <a:endParaRPr lang="es-CR" dirty="0" smtClean="0"/>
          </a:p>
          <a:p>
            <a:pPr algn="ctr">
              <a:buNone/>
            </a:pPr>
            <a:endParaRPr lang="es-CR" dirty="0" smtClean="0"/>
          </a:p>
          <a:p>
            <a:pPr algn="ctr">
              <a:buNone/>
            </a:pPr>
            <a:endParaRPr lang="es-CR" dirty="0" smtClean="0"/>
          </a:p>
          <a:p>
            <a:pPr algn="ctr">
              <a:buNone/>
            </a:pPr>
            <a:endParaRPr lang="es-CR" dirty="0" smtClean="0"/>
          </a:p>
          <a:p>
            <a:r>
              <a:rPr lang="es-CR" dirty="0" smtClean="0"/>
              <a:t>La edad tiene una amplitud de 14 años. De nuevo, dependiendo del contexto se puede considerar mucho o poco. </a:t>
            </a:r>
          </a:p>
          <a:p>
            <a:pPr>
              <a:buNone/>
            </a:pPr>
            <a:endParaRPr lang="es-CR" dirty="0" smtClean="0"/>
          </a:p>
          <a:p>
            <a:pPr>
              <a:buNone/>
            </a:pPr>
            <a:endParaRPr lang="es-CR" dirty="0"/>
          </a:p>
        </p:txBody>
      </p:sp>
      <p:sp>
        <p:nvSpPr>
          <p:cNvPr id="4" name="Title 1"/>
          <p:cNvSpPr>
            <a:spLocks noGrp="1"/>
          </p:cNvSpPr>
          <p:nvPr>
            <p:ph type="title"/>
          </p:nvPr>
        </p:nvSpPr>
        <p:spPr>
          <a:xfrm>
            <a:off x="533400" y="0"/>
            <a:ext cx="7772400" cy="1143000"/>
          </a:xfrm>
        </p:spPr>
        <p:txBody>
          <a:bodyPr/>
          <a:lstStyle/>
          <a:p>
            <a:pPr algn="ctr"/>
            <a:r>
              <a:rPr lang="es-CR" dirty="0" smtClean="0"/>
              <a:t>Recorrido o amplitud</a:t>
            </a:r>
            <a:endParaRPr lang="es-CR" dirty="0"/>
          </a:p>
        </p:txBody>
      </p:sp>
      <p:sp>
        <p:nvSpPr>
          <p:cNvPr id="5" name="Rectangle 4"/>
          <p:cNvSpPr/>
          <p:nvPr/>
        </p:nvSpPr>
        <p:spPr>
          <a:xfrm>
            <a:off x="1676400" y="3505200"/>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Recorrido =32– 18 =14</a:t>
            </a:r>
            <a:endParaRPr lang="es-CR" sz="2400" dirty="0"/>
          </a:p>
        </p:txBody>
      </p:sp>
    </p:spTree>
  </p:cSld>
  <p:clrMapOvr>
    <a:masterClrMapping/>
  </p:clrMapOvr>
  <p:transition>
    <p:cover dir="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6096000" cy="5181600"/>
          </a:xfrm>
        </p:spPr>
        <p:txBody>
          <a:bodyPr>
            <a:normAutofit fontScale="92500" lnSpcReduction="10000"/>
          </a:bodyPr>
          <a:lstStyle/>
          <a:p>
            <a:pPr algn="just"/>
            <a:r>
              <a:rPr lang="es-CR" dirty="0" smtClean="0"/>
              <a:t>El recorrido es una medida que se ve influenciada 100% por los valores extremos, y únicamente describe la lejanía absoluta que hay entre los datos.</a:t>
            </a:r>
          </a:p>
          <a:p>
            <a:pPr algn="just"/>
            <a:endParaRPr lang="es-CR" dirty="0" smtClean="0"/>
          </a:p>
          <a:p>
            <a:pPr algn="just"/>
            <a:r>
              <a:rPr lang="es-CR" dirty="0" smtClean="0"/>
              <a:t>El recorrido no es muy usado debido a ciertas limitaciones:</a:t>
            </a:r>
          </a:p>
          <a:p>
            <a:pPr algn="just">
              <a:buNone/>
            </a:pPr>
            <a:r>
              <a:rPr lang="es-CR" dirty="0" smtClean="0"/>
              <a:t>	-No toma en cuenta todas las observaciones del grupo, sino únicamente el valor mayor y el menor.</a:t>
            </a:r>
          </a:p>
          <a:p>
            <a:pPr algn="just">
              <a:buNone/>
            </a:pPr>
            <a:r>
              <a:rPr lang="es-CR" dirty="0" smtClean="0"/>
              <a:t>	-El aumentar el número de observaciones casi nunca produce información útil en la variabilidad.</a:t>
            </a:r>
          </a:p>
          <a:p>
            <a:pPr algn="just">
              <a:buNone/>
            </a:pPr>
            <a:endParaRPr lang="es-CR" dirty="0" smtClean="0"/>
          </a:p>
          <a:p>
            <a:pPr algn="just"/>
            <a:r>
              <a:rPr lang="es-CR" dirty="0" smtClean="0"/>
              <a:t>Es por lo anterior que se debe recurrir a otras medidas.</a:t>
            </a:r>
          </a:p>
          <a:p>
            <a:pPr>
              <a:buNone/>
            </a:pPr>
            <a:endParaRPr lang="es-CR" dirty="0" smtClean="0"/>
          </a:p>
          <a:p>
            <a:pPr>
              <a:buNone/>
            </a:pPr>
            <a:endParaRPr lang="es-CR" dirty="0" smtClean="0"/>
          </a:p>
          <a:p>
            <a:pPr>
              <a:buNone/>
            </a:pPr>
            <a:endParaRPr lang="es-CR" dirty="0" smtClean="0"/>
          </a:p>
          <a:p>
            <a:pPr>
              <a:buNone/>
            </a:pPr>
            <a:endParaRPr lang="es-CR" dirty="0" smtClean="0"/>
          </a:p>
          <a:p>
            <a:pPr>
              <a:buNone/>
            </a:pPr>
            <a:endParaRPr lang="es-CR" dirty="0" smtClean="0"/>
          </a:p>
        </p:txBody>
      </p:sp>
      <p:sp>
        <p:nvSpPr>
          <p:cNvPr id="4" name="Title 1"/>
          <p:cNvSpPr>
            <a:spLocks noGrp="1"/>
          </p:cNvSpPr>
          <p:nvPr>
            <p:ph type="title"/>
          </p:nvPr>
        </p:nvSpPr>
        <p:spPr>
          <a:xfrm>
            <a:off x="533400" y="0"/>
            <a:ext cx="7772400" cy="1143000"/>
          </a:xfrm>
        </p:spPr>
        <p:txBody>
          <a:bodyPr/>
          <a:lstStyle/>
          <a:p>
            <a:pPr algn="ctr"/>
            <a:r>
              <a:rPr lang="es-CR" dirty="0" smtClean="0"/>
              <a:t>Recorrido o amplitud</a:t>
            </a:r>
            <a:endParaRPr lang="es-CR" dirty="0"/>
          </a:p>
        </p:txBody>
      </p:sp>
      <p:pic>
        <p:nvPicPr>
          <p:cNvPr id="22530" name="Picture 2" descr="https://marionaranjo.files.wordpress.com/2010/12/lopd_blo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0" y="1447800"/>
            <a:ext cx="20574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blinds/>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smtClean="0"/>
              <a:t>Índice</a:t>
            </a:r>
            <a:endParaRPr lang="es-CR" dirty="0"/>
          </a:p>
        </p:txBody>
      </p:sp>
      <p:sp>
        <p:nvSpPr>
          <p:cNvPr id="4"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concepto de variabilidad</a:t>
            </a:r>
            <a:endParaRPr lang="es-CR" dirty="0"/>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Recorrido o amplitud</a:t>
            </a:r>
            <a:endParaRPr lang="es-CR" dirty="0"/>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Intervalo de cuartiles</a:t>
            </a:r>
            <a:endParaRPr lang="es-CR" dirty="0"/>
          </a:p>
        </p:txBody>
      </p:sp>
    </p:spTree>
    <p:extLst>
      <p:ext uri="{BB962C8B-B14F-4D97-AF65-F5344CB8AC3E}">
        <p14:creationId xmlns:p14="http://schemas.microsoft.com/office/powerpoint/2010/main" val="1900347294"/>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52400"/>
            <a:ext cx="7772400" cy="651430"/>
          </a:xfrm>
        </p:spPr>
        <p:txBody>
          <a:bodyPr>
            <a:normAutofit fontScale="90000"/>
          </a:bodyPr>
          <a:lstStyle/>
          <a:p>
            <a:pPr algn="ctr"/>
            <a:r>
              <a:rPr lang="es-CR" dirty="0" smtClean="0"/>
              <a:t>Intervalo de cuartiles</a:t>
            </a:r>
            <a:endParaRPr lang="es-ES" dirty="0"/>
          </a:p>
        </p:txBody>
      </p:sp>
      <p:sp>
        <p:nvSpPr>
          <p:cNvPr id="3" name="Marcador de contenido 2"/>
          <p:cNvSpPr>
            <a:spLocks noGrp="1"/>
          </p:cNvSpPr>
          <p:nvPr>
            <p:ph sz="quarter" idx="1"/>
          </p:nvPr>
        </p:nvSpPr>
        <p:spPr>
          <a:xfrm>
            <a:off x="228600" y="914400"/>
            <a:ext cx="6553200" cy="5715000"/>
          </a:xfrm>
        </p:spPr>
        <p:txBody>
          <a:bodyPr>
            <a:normAutofit lnSpcReduction="10000"/>
          </a:bodyPr>
          <a:lstStyle/>
          <a:p>
            <a:pPr algn="just"/>
            <a:r>
              <a:rPr lang="es-CR" dirty="0" smtClean="0"/>
              <a:t>Conocido también como Amplitud del </a:t>
            </a:r>
            <a:r>
              <a:rPr lang="es-CR" dirty="0" err="1" smtClean="0"/>
              <a:t>intercuartil</a:t>
            </a:r>
            <a:r>
              <a:rPr lang="es-CR" dirty="0" smtClean="0"/>
              <a:t>, constituye otra medida de variabilidad.</a:t>
            </a:r>
          </a:p>
          <a:p>
            <a:pPr algn="just"/>
            <a:endParaRPr lang="es-CR" dirty="0"/>
          </a:p>
          <a:p>
            <a:pPr algn="just"/>
            <a:r>
              <a:rPr lang="es-CR" dirty="0" smtClean="0"/>
              <a:t>Se expresa mediante la fórmula:</a:t>
            </a:r>
          </a:p>
          <a:p>
            <a:pPr algn="just"/>
            <a:endParaRPr lang="es-CR" dirty="0"/>
          </a:p>
          <a:p>
            <a:pPr algn="just"/>
            <a:endParaRPr lang="es-CR" dirty="0" smtClean="0"/>
          </a:p>
          <a:p>
            <a:pPr algn="just"/>
            <a:endParaRPr lang="es-CR" dirty="0"/>
          </a:p>
          <a:p>
            <a:pPr algn="just"/>
            <a:r>
              <a:rPr lang="es-CR" dirty="0" smtClean="0"/>
              <a:t>La medida indica donde se aglomera el 50% de los datos respecto a la mediana.</a:t>
            </a:r>
          </a:p>
          <a:p>
            <a:pPr algn="just"/>
            <a:endParaRPr lang="es-CR" dirty="0"/>
          </a:p>
          <a:p>
            <a:pPr algn="just"/>
            <a:r>
              <a:rPr lang="es-CR" dirty="0" smtClean="0"/>
              <a:t>Permite saber tanto donde está el 50% aglomeración central (posición), como el rango de tal aglomeración (variabilidad). </a:t>
            </a:r>
          </a:p>
        </p:txBody>
      </p:sp>
      <mc:AlternateContent xmlns:mc="http://schemas.openxmlformats.org/markup-compatibility/2006">
        <mc:Choice xmlns:a14="http://schemas.microsoft.com/office/drawing/2010/main" Requires="a14">
          <p:sp>
            <p:nvSpPr>
              <p:cNvPr id="4" name="Rectángulo 3"/>
              <p:cNvSpPr/>
              <p:nvPr/>
            </p:nvSpPr>
            <p:spPr>
              <a:xfrm>
                <a:off x="2819400" y="2971800"/>
                <a:ext cx="2535309"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s-ES" sz="2800">
                          <a:latin typeface="Cambria Math" panose="02040503050406030204" pitchFamily="18" charset="0"/>
                        </a:rPr>
                        <m:t>I</m:t>
                      </m:r>
                      <m:r>
                        <m:rPr>
                          <m:sty m:val="p"/>
                        </m:rPr>
                        <a:rPr lang="es-ES" sz="2800" i="0">
                          <a:latin typeface="Cambria Math" panose="02040503050406030204" pitchFamily="18" charset="0"/>
                        </a:rPr>
                        <m:t>QR</m:t>
                      </m:r>
                      <m:r>
                        <a:rPr lang="es-ES" sz="2800" i="0">
                          <a:latin typeface="Cambria Math" panose="02040503050406030204" pitchFamily="18" charset="0"/>
                        </a:rPr>
                        <m:t>=</m:t>
                      </m:r>
                      <m:sSub>
                        <m:sSubPr>
                          <m:ctrlPr>
                            <a:rPr lang="es-ES" sz="2800" i="1">
                              <a:latin typeface="Cambria Math" panose="02040503050406030204" pitchFamily="18" charset="0"/>
                            </a:rPr>
                          </m:ctrlPr>
                        </m:sSubPr>
                        <m:e>
                          <m:r>
                            <m:rPr>
                              <m:sty m:val="p"/>
                            </m:rPr>
                            <a:rPr lang="es-ES" sz="2800" i="0">
                              <a:latin typeface="Cambria Math" panose="02040503050406030204" pitchFamily="18" charset="0"/>
                            </a:rPr>
                            <m:t>Q</m:t>
                          </m:r>
                        </m:e>
                        <m:sub>
                          <m:r>
                            <a:rPr lang="es-ES" sz="2800" i="0">
                              <a:latin typeface="Cambria Math" panose="02040503050406030204" pitchFamily="18" charset="0"/>
                            </a:rPr>
                            <m:t>3</m:t>
                          </m:r>
                        </m:sub>
                      </m:sSub>
                      <m:r>
                        <a:rPr lang="es-ES" sz="2800" i="0">
                          <a:latin typeface="Cambria Math" panose="02040503050406030204" pitchFamily="18" charset="0"/>
                        </a:rPr>
                        <m:t>−</m:t>
                      </m:r>
                      <m:sSub>
                        <m:sSubPr>
                          <m:ctrlPr>
                            <a:rPr lang="es-ES" sz="2800" i="1">
                              <a:latin typeface="Cambria Math" panose="02040503050406030204" pitchFamily="18" charset="0"/>
                            </a:rPr>
                          </m:ctrlPr>
                        </m:sSubPr>
                        <m:e>
                          <m:r>
                            <a:rPr lang="es-ES" sz="2800" i="1">
                              <a:latin typeface="Cambria Math" panose="02040503050406030204" pitchFamily="18" charset="0"/>
                            </a:rPr>
                            <m:t>𝑄</m:t>
                          </m:r>
                        </m:e>
                        <m:sub>
                          <m:r>
                            <a:rPr lang="es-ES" sz="2800" i="0">
                              <a:latin typeface="Cambria Math" panose="02040503050406030204" pitchFamily="18" charset="0"/>
                            </a:rPr>
                            <m:t>1</m:t>
                          </m:r>
                        </m:sub>
                      </m:sSub>
                    </m:oMath>
                  </m:oMathPara>
                </a14:m>
                <a:endParaRPr lang="es-ES" sz="2800" dirty="0"/>
              </a:p>
            </p:txBody>
          </p:sp>
        </mc:Choice>
        <mc:Fallback>
          <p:sp>
            <p:nvSpPr>
              <p:cNvPr id="4" name="Rectángulo 3"/>
              <p:cNvSpPr>
                <a:spLocks noRot="1" noChangeAspect="1" noMove="1" noResize="1" noEditPoints="1" noAdjustHandles="1" noChangeArrowheads="1" noChangeShapeType="1" noTextEdit="1"/>
              </p:cNvSpPr>
              <p:nvPr/>
            </p:nvSpPr>
            <p:spPr>
              <a:xfrm>
                <a:off x="2819400" y="2971800"/>
                <a:ext cx="2535309" cy="523220"/>
              </a:xfrm>
              <a:prstGeom prst="rect">
                <a:avLst/>
              </a:prstGeom>
              <a:blipFill rotWithShape="0">
                <a:blip r:embed="rId2"/>
                <a:stretch>
                  <a:fillRect/>
                </a:stretch>
              </a:blipFill>
            </p:spPr>
            <p:txBody>
              <a:bodyPr/>
              <a:lstStyle/>
              <a:p>
                <a:r>
                  <a:rPr lang="es-ES">
                    <a:noFill/>
                  </a:rPr>
                  <a:t> </a:t>
                </a:r>
              </a:p>
            </p:txBody>
          </p:sp>
        </mc:Fallback>
      </mc:AlternateContent>
      <p:pic>
        <p:nvPicPr>
          <p:cNvPr id="23554" name="Picture 2" descr="http://pad1.whstatic.com/images/thumb/3/32/Find-the-IQR-Step-2-Version-2.jpg/728px-Find-the-IQR-Step-2-Version-2.jpg"/>
          <p:cNvPicPr>
            <a:picLocks noChangeAspect="1" noChangeArrowheads="1"/>
          </p:cNvPicPr>
          <p:nvPr/>
        </p:nvPicPr>
        <p:blipFill rotWithShape="1">
          <a:blip r:embed="rId3">
            <a:extLst>
              <a:ext uri="{28A0092B-C50C-407E-A947-70E740481C1C}">
                <a14:useLocalDpi xmlns:a14="http://schemas.microsoft.com/office/drawing/2010/main" val="0"/>
              </a:ext>
            </a:extLst>
          </a:blip>
          <a:srcRect l="4350" t="31777" r="3342" b="31593"/>
          <a:stretch/>
        </p:blipFill>
        <p:spPr bwMode="auto">
          <a:xfrm>
            <a:off x="5354709" y="1676400"/>
            <a:ext cx="3584446" cy="1066800"/>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www.manbiz.com/wp-content/uploads/2016/01/On-Site-Search-Tip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9835" y="3886200"/>
            <a:ext cx="2008914" cy="2008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79873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572589" y="2177"/>
            <a:ext cx="7772400" cy="868362"/>
          </a:xfrm>
        </p:spPr>
        <p:txBody>
          <a:bodyPr/>
          <a:lstStyle/>
          <a:p>
            <a:pPr algn="ctr"/>
            <a:r>
              <a:rPr lang="es-CR" dirty="0" smtClean="0"/>
              <a:t>Intervalo de cuartiles</a:t>
            </a:r>
            <a:endParaRPr lang="es-ES" dirty="0"/>
          </a:p>
        </p:txBody>
      </p:sp>
      <p:pic>
        <p:nvPicPr>
          <p:cNvPr id="22530" name="Picture 2" descr="https://www.mathsisfun.com/data/images/interquartile-rang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40" y="5257800"/>
            <a:ext cx="4084320" cy="1384515"/>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Résultat de recherche d'images pour &quot;interquartiles&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947056"/>
            <a:ext cx="6553200" cy="3763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558261"/>
      </p:ext>
    </p:extLst>
  </p:cSld>
  <p:clrMapOvr>
    <a:masterClrMapping/>
  </p:clrMapOvr>
  <p:transition spd="slow">
    <p:randomBar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smtClean="0"/>
              <a:t>Índice</a:t>
            </a:r>
            <a:endParaRPr lang="es-CR" dirty="0"/>
          </a:p>
        </p:txBody>
      </p:sp>
      <p:sp>
        <p:nvSpPr>
          <p:cNvPr id="4"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concepto de variabilidad</a:t>
            </a:r>
            <a:endParaRPr lang="es-CR" dirty="0"/>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Recorrido o amplitud</a:t>
            </a:r>
            <a:endParaRPr lang="es-CR" dirty="0"/>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Intervalo </a:t>
            </a:r>
            <a:r>
              <a:rPr lang="es-CR" dirty="0" err="1" smtClean="0"/>
              <a:t>intercuartilo</a:t>
            </a:r>
            <a:endParaRPr lang="es-CR" dirty="0"/>
          </a:p>
        </p:txBody>
      </p:sp>
      <p:sp>
        <p:nvSpPr>
          <p:cNvPr id="13" name="12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a:t>
            </a:r>
            <a:r>
              <a:rPr lang="es-CR" dirty="0" smtClean="0"/>
              <a:t>desviación media</a:t>
            </a:r>
            <a:endParaRPr lang="es-CR" dirty="0"/>
          </a:p>
        </p:txBody>
      </p:sp>
      <p:sp>
        <p:nvSpPr>
          <p:cNvPr id="14" name="12 Rectángulo redondeado"/>
          <p:cNvSpPr/>
          <p:nvPr/>
        </p:nvSpPr>
        <p:spPr>
          <a:xfrm>
            <a:off x="5868144"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desviación estándar</a:t>
            </a:r>
            <a:endParaRPr lang="es-CR" dirty="0"/>
          </a:p>
        </p:txBody>
      </p:sp>
      <p:sp>
        <p:nvSpPr>
          <p:cNvPr id="15" name="7 Elipse"/>
          <p:cNvSpPr/>
          <p:nvPr/>
        </p:nvSpPr>
        <p:spPr>
          <a:xfrm>
            <a:off x="4572000"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6</a:t>
            </a:r>
            <a:endParaRPr lang="es-CR" dirty="0"/>
          </a:p>
        </p:txBody>
      </p:sp>
    </p:spTree>
    <p:extLst>
      <p:ext uri="{BB962C8B-B14F-4D97-AF65-F5344CB8AC3E}">
        <p14:creationId xmlns:p14="http://schemas.microsoft.com/office/powerpoint/2010/main" val="1552305764"/>
      </p:ext>
    </p:extLst>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066800"/>
          </a:xfrm>
        </p:spPr>
        <p:txBody>
          <a:bodyPr/>
          <a:lstStyle/>
          <a:p>
            <a:pPr algn="ctr"/>
            <a:r>
              <a:rPr lang="es-CR" dirty="0" smtClean="0"/>
              <a:t>La desviación media </a:t>
            </a:r>
            <a:endParaRPr lang="es-CR" dirty="0"/>
          </a:p>
        </p:txBody>
      </p:sp>
      <p:sp>
        <p:nvSpPr>
          <p:cNvPr id="3" name="Content Placeholder 2"/>
          <p:cNvSpPr>
            <a:spLocks noGrp="1"/>
          </p:cNvSpPr>
          <p:nvPr>
            <p:ph sz="quarter" idx="1"/>
          </p:nvPr>
        </p:nvSpPr>
        <p:spPr>
          <a:xfrm>
            <a:off x="228600" y="1371600"/>
            <a:ext cx="6019800" cy="5105400"/>
          </a:xfrm>
        </p:spPr>
        <p:txBody>
          <a:bodyPr>
            <a:normAutofit lnSpcReduction="10000"/>
          </a:bodyPr>
          <a:lstStyle/>
          <a:p>
            <a:pPr algn="just"/>
            <a:r>
              <a:rPr lang="es-CR" dirty="0" smtClean="0"/>
              <a:t>Dadas las limitaciones del recorrido, es necesario definir una medida de dispersión que tome en cuenta en el cálculo todos los datos.</a:t>
            </a:r>
          </a:p>
          <a:p>
            <a:pPr algn="just"/>
            <a:endParaRPr lang="es-CR" dirty="0" smtClean="0"/>
          </a:p>
          <a:p>
            <a:pPr algn="just"/>
            <a:r>
              <a:rPr lang="es-CR" dirty="0" smtClean="0"/>
              <a:t>La medida tiene que estar basada en las desviaciones o diferencias de los datos individuales respecto a un valor central o típico (como el promedio).</a:t>
            </a:r>
          </a:p>
          <a:p>
            <a:pPr algn="just"/>
            <a:endParaRPr lang="es-CR" dirty="0" smtClean="0"/>
          </a:p>
          <a:p>
            <a:pPr algn="just"/>
            <a:r>
              <a:rPr lang="es-CR" dirty="0" smtClean="0"/>
              <a:t>La  mejor opción es considerar la suma de las desviaciones de los datos con respecto al promedio.</a:t>
            </a:r>
            <a:endParaRPr lang="es-CR" dirty="0"/>
          </a:p>
        </p:txBody>
      </p:sp>
      <p:pic>
        <p:nvPicPr>
          <p:cNvPr id="23554" name="Picture 2" descr="http://img.androidsis.com/wp-content/uploads/2013/08/Cid-0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6280" r="22323"/>
          <a:stretch/>
        </p:blipFill>
        <p:spPr bwMode="auto">
          <a:xfrm>
            <a:off x="6553200" y="1342696"/>
            <a:ext cx="2296181"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blinds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3138" y="1169276"/>
            <a:ext cx="6553200" cy="4191000"/>
          </a:xfrm>
        </p:spPr>
        <p:txBody>
          <a:bodyPr>
            <a:normAutofit lnSpcReduction="10000"/>
          </a:bodyPr>
          <a:lstStyle/>
          <a:p>
            <a:pPr algn="just"/>
            <a:r>
              <a:rPr lang="es-CR" dirty="0" smtClean="0"/>
              <a:t>Sin embargo, si esto se hiciera de buenas a primeras, esta opción siempre arrojaría valores iguales a “0”.</a:t>
            </a:r>
          </a:p>
          <a:p>
            <a:pPr algn="just"/>
            <a:endParaRPr lang="es-CR" dirty="0" smtClean="0"/>
          </a:p>
          <a:p>
            <a:pPr algn="just"/>
            <a:r>
              <a:rPr lang="es-CR" dirty="0" smtClean="0"/>
              <a:t>Para obviar este problema, se suele usar los valores absolutos de las diferencias, y dividirlas por el número de datos para obtener una medida de dispersión promedio o por observación.</a:t>
            </a:r>
          </a:p>
          <a:p>
            <a:pPr algn="just"/>
            <a:endParaRPr lang="es-CR" dirty="0" smtClean="0"/>
          </a:p>
          <a:p>
            <a:pPr algn="just"/>
            <a:r>
              <a:rPr lang="es-CR" dirty="0" smtClean="0"/>
              <a:t>Así se origina la desviación media:</a:t>
            </a:r>
          </a:p>
        </p:txBody>
      </p:sp>
      <p:sp>
        <p:nvSpPr>
          <p:cNvPr id="4" name="Title 1"/>
          <p:cNvSpPr>
            <a:spLocks noGrp="1"/>
          </p:cNvSpPr>
          <p:nvPr>
            <p:ph type="title"/>
          </p:nvPr>
        </p:nvSpPr>
        <p:spPr>
          <a:xfrm>
            <a:off x="424355" y="152400"/>
            <a:ext cx="7772400" cy="838200"/>
          </a:xfrm>
        </p:spPr>
        <p:txBody>
          <a:bodyPr/>
          <a:lstStyle/>
          <a:p>
            <a:pPr algn="ctr"/>
            <a:r>
              <a:rPr lang="es-CR" dirty="0" smtClean="0"/>
              <a:t>La desviación media </a:t>
            </a:r>
            <a:endParaRPr lang="es-CR" dirty="0"/>
          </a:p>
        </p:txBody>
      </p:sp>
      <p:sp>
        <p:nvSpPr>
          <p:cNvPr id="5" name="Rectangle 4"/>
          <p:cNvSpPr/>
          <p:nvPr/>
        </p:nvSpPr>
        <p:spPr>
          <a:xfrm>
            <a:off x="1600200" y="5257800"/>
            <a:ext cx="67056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DM =                          = (</a:t>
            </a:r>
            <a:r>
              <a:rPr lang="es-CR" sz="2400" u="sng" dirty="0" smtClean="0"/>
              <a:t>desviaciones absolutas</a:t>
            </a:r>
            <a:r>
              <a:rPr lang="es-CR" sz="2400" dirty="0" smtClean="0"/>
              <a:t>)</a:t>
            </a:r>
            <a:br>
              <a:rPr lang="es-CR" sz="2400" dirty="0" smtClean="0"/>
            </a:br>
            <a:r>
              <a:rPr lang="es-CR" sz="2400" dirty="0" smtClean="0"/>
              <a:t>                                       (número de datos)</a:t>
            </a:r>
            <a:endParaRPr lang="es-CR" sz="2400" dirty="0"/>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48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048000" y="5334000"/>
            <a:ext cx="1600200" cy="994063"/>
          </a:xfrm>
          <a:prstGeom prst="rect">
            <a:avLst/>
          </a:prstGeom>
          <a:noFill/>
        </p:spPr>
      </p:pic>
      <p:pic>
        <p:nvPicPr>
          <p:cNvPr id="24578" name="Picture 2" descr="http://www.tuexpertomovil.com/wp-content/uploads/2014/10/borrar_forma_segura_datos_almacenados_android_0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552" t="4266" r="25241"/>
          <a:stretch/>
        </p:blipFill>
        <p:spPr bwMode="auto">
          <a:xfrm>
            <a:off x="6934199" y="1508234"/>
            <a:ext cx="2013697" cy="23997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7772400" cy="4572000"/>
          </a:xfrm>
        </p:spPr>
        <p:txBody>
          <a:bodyPr/>
          <a:lstStyle/>
          <a:p>
            <a:r>
              <a:rPr lang="es-CR" dirty="0" smtClean="0"/>
              <a:t>Sea el siguiente conjunto de datos:</a:t>
            </a:r>
          </a:p>
          <a:p>
            <a:endParaRPr lang="es-CR" dirty="0" smtClean="0"/>
          </a:p>
          <a:p>
            <a:pPr algn="ctr">
              <a:buNone/>
            </a:pPr>
            <a:r>
              <a:rPr lang="es-CR" dirty="0" smtClean="0"/>
              <a:t>3, 10, 2, 8 y 7.</a:t>
            </a:r>
          </a:p>
          <a:p>
            <a:pPr>
              <a:buNone/>
            </a:pPr>
            <a:endParaRPr lang="es-CR" dirty="0" smtClean="0"/>
          </a:p>
          <a:p>
            <a:pPr>
              <a:buNone/>
            </a:pPr>
            <a:r>
              <a:rPr lang="es-CR" dirty="0" smtClean="0"/>
              <a:t>El promedio:</a:t>
            </a:r>
          </a:p>
          <a:p>
            <a:pPr>
              <a:buNone/>
            </a:pPr>
            <a:endParaRPr lang="es-CR" dirty="0" smtClean="0"/>
          </a:p>
          <a:p>
            <a:r>
              <a:rPr lang="es-CR" dirty="0" smtClean="0"/>
              <a:t>La DM se expresa: </a:t>
            </a:r>
          </a:p>
          <a:p>
            <a:pPr>
              <a:buNone/>
            </a:pPr>
            <a:endParaRPr lang="es-CR" dirty="0" smtClean="0"/>
          </a:p>
        </p:txBody>
      </p:sp>
      <p:sp>
        <p:nvSpPr>
          <p:cNvPr id="4" name="Title 1"/>
          <p:cNvSpPr>
            <a:spLocks noGrp="1"/>
          </p:cNvSpPr>
          <p:nvPr>
            <p:ph type="title"/>
          </p:nvPr>
        </p:nvSpPr>
        <p:spPr>
          <a:xfrm>
            <a:off x="533400" y="0"/>
            <a:ext cx="7772400" cy="1066800"/>
          </a:xfrm>
        </p:spPr>
        <p:txBody>
          <a:bodyPr/>
          <a:lstStyle/>
          <a:p>
            <a:pPr algn="ctr"/>
            <a:r>
              <a:rPr lang="es-CR" dirty="0" smtClean="0"/>
              <a:t>La desviación media </a:t>
            </a:r>
            <a:endParaRPr lang="es-CR" dirty="0"/>
          </a:p>
        </p:txBody>
      </p:sp>
      <p:sp>
        <p:nvSpPr>
          <p:cNvPr id="194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9457"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286000" y="3048000"/>
            <a:ext cx="1143000" cy="644769"/>
          </a:xfrm>
          <a:prstGeom prst="rect">
            <a:avLst/>
          </a:prstGeom>
          <a:noFill/>
        </p:spPr>
      </p:pic>
      <p:graphicFrame>
        <p:nvGraphicFramePr>
          <p:cNvPr id="19459" name="Object 3"/>
          <p:cNvGraphicFramePr>
            <a:graphicFrameLocks noChangeAspect="1"/>
          </p:cNvGraphicFramePr>
          <p:nvPr/>
        </p:nvGraphicFramePr>
        <p:xfrm>
          <a:off x="3124200" y="4419600"/>
          <a:ext cx="3048000" cy="2226777"/>
        </p:xfrm>
        <a:graphic>
          <a:graphicData uri="http://schemas.openxmlformats.org/presentationml/2006/ole">
            <mc:AlternateContent xmlns:mc="http://schemas.openxmlformats.org/markup-compatibility/2006">
              <mc:Choice xmlns:v="urn:schemas-microsoft-com:vml" Requires="v">
                <p:oleObj spid="_x0000_s19527" name="Worksheet" r:id="rId4" imgW="1838297" imgH="1342920" progId="">
                  <p:embed/>
                </p:oleObj>
              </mc:Choice>
              <mc:Fallback>
                <p:oleObj name="Worksheet" r:id="rId4" imgW="1838297" imgH="1342920" progId="">
                  <p:embed/>
                  <p:pic>
                    <p:nvPicPr>
                      <p:cNvPr id="0" name="Picture 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4419600"/>
                        <a:ext cx="3048000" cy="2226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503" name="Picture 47" descr="http://www.awkum.edu.pk/images/result-2013.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67400" y="1295400"/>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hecke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752600"/>
            <a:ext cx="8382000" cy="4800600"/>
          </a:xfrm>
        </p:spPr>
        <p:txBody>
          <a:bodyPr/>
          <a:lstStyle/>
          <a:p>
            <a:r>
              <a:rPr lang="es-CR" dirty="0" smtClean="0"/>
              <a:t>DM =                        = </a:t>
            </a:r>
            <a:r>
              <a:rPr lang="es-CR" u="sng" dirty="0" smtClean="0"/>
              <a:t>14</a:t>
            </a:r>
            <a:r>
              <a:rPr lang="es-CR" dirty="0" smtClean="0"/>
              <a:t> </a:t>
            </a:r>
          </a:p>
          <a:p>
            <a:pPr>
              <a:buNone/>
            </a:pPr>
            <a:r>
              <a:rPr lang="es-CR" dirty="0" smtClean="0"/>
              <a:t>                                            5</a:t>
            </a:r>
          </a:p>
          <a:p>
            <a:pPr>
              <a:buNone/>
            </a:pPr>
            <a:endParaRPr lang="es-CR" dirty="0" smtClean="0"/>
          </a:p>
          <a:p>
            <a:pPr>
              <a:buNone/>
            </a:pPr>
            <a:r>
              <a:rPr lang="es-CR" dirty="0" smtClean="0"/>
              <a:t>                                     = 2.8</a:t>
            </a:r>
          </a:p>
          <a:p>
            <a:pPr>
              <a:buNone/>
            </a:pPr>
            <a:endParaRPr lang="es-CR" dirty="0" smtClean="0"/>
          </a:p>
          <a:p>
            <a:pPr>
              <a:buNone/>
            </a:pPr>
            <a:r>
              <a:rPr lang="es-CR" dirty="0" smtClean="0"/>
              <a:t>Por lo tanto, la desviación media de los datos es de 2,8.</a:t>
            </a:r>
          </a:p>
          <a:p>
            <a:pPr>
              <a:buNone/>
            </a:pPr>
            <a:endParaRPr lang="es-CR" dirty="0" smtClean="0"/>
          </a:p>
          <a:p>
            <a:r>
              <a:rPr lang="es-CR" dirty="0" smtClean="0"/>
              <a:t>Sin embargo, ahora es importante saber si 2.8 es un valor “grande” o “pequeño”; o más importante es si los datos poseen mucha o poca </a:t>
            </a:r>
            <a:r>
              <a:rPr lang="es-CR" dirty="0" err="1" smtClean="0"/>
              <a:t>varabilidad</a:t>
            </a:r>
            <a:r>
              <a:rPr lang="es-CR" dirty="0" smtClean="0"/>
              <a:t>.</a:t>
            </a:r>
          </a:p>
          <a:p>
            <a:pPr>
              <a:buNone/>
            </a:pPr>
            <a:endParaRPr lang="es-CR" dirty="0" smtClean="0"/>
          </a:p>
          <a:p>
            <a:pPr>
              <a:buNone/>
            </a:pPr>
            <a:endParaRPr lang="es-CR" dirty="0" smtClean="0"/>
          </a:p>
          <a:p>
            <a:pPr>
              <a:buNone/>
            </a:pPr>
            <a:endParaRPr lang="es-CR" dirty="0" smtClean="0"/>
          </a:p>
          <a:p>
            <a:pPr>
              <a:buNone/>
            </a:pPr>
            <a:endParaRPr lang="es-CR" dirty="0"/>
          </a:p>
        </p:txBody>
      </p:sp>
      <p:sp>
        <p:nvSpPr>
          <p:cNvPr id="4" name="Title 1"/>
          <p:cNvSpPr>
            <a:spLocks noGrp="1"/>
          </p:cNvSpPr>
          <p:nvPr>
            <p:ph type="title"/>
          </p:nvPr>
        </p:nvSpPr>
        <p:spPr>
          <a:xfrm>
            <a:off x="533400" y="0"/>
            <a:ext cx="7772400" cy="1066800"/>
          </a:xfrm>
        </p:spPr>
        <p:txBody>
          <a:bodyPr/>
          <a:lstStyle/>
          <a:p>
            <a:pPr algn="ctr"/>
            <a:r>
              <a:rPr lang="es-CR" dirty="0" smtClean="0"/>
              <a:t>La desviación media </a:t>
            </a:r>
            <a:endParaRPr lang="es-CR" dirty="0"/>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524000" y="1520537"/>
            <a:ext cx="1600200" cy="994063"/>
          </a:xfrm>
          <a:prstGeom prst="rect">
            <a:avLst/>
          </a:prstGeom>
          <a:noFill/>
        </p:spPr>
      </p:pic>
      <p:pic>
        <p:nvPicPr>
          <p:cNvPr id="25602" name="Picture 2" descr="http://sekho.com.pk/wp-content/uploads/2014/09/sargodha-board-inter-part-2-2nd-year-Result-2014-12th-cla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0" y="1446068"/>
            <a:ext cx="1828800" cy="21370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hecke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6019800" cy="5105400"/>
          </a:xfrm>
        </p:spPr>
        <p:txBody>
          <a:bodyPr>
            <a:normAutofit fontScale="92500"/>
          </a:bodyPr>
          <a:lstStyle/>
          <a:p>
            <a:pPr algn="just"/>
            <a:r>
              <a:rPr lang="es-CR" dirty="0" smtClean="0"/>
              <a:t>El tamaño de la desviación media va a depender mucho de la medida que se esté utilizando.  Sin embargo el resultado por si solo no dice nada.</a:t>
            </a:r>
          </a:p>
          <a:p>
            <a:pPr algn="just"/>
            <a:endParaRPr lang="es-CR" dirty="0" smtClean="0"/>
          </a:p>
          <a:p>
            <a:pPr algn="just"/>
            <a:r>
              <a:rPr lang="es-CR" dirty="0" smtClean="0"/>
              <a:t>Si la desviación media se utiliza como la desviación estándar, para saber si los datos son muy o pocos dispersos podemos utilizar el criterio de que si el 95% de los datos están “± 2” desviaciones, entonces no hay tanta variabilidad.</a:t>
            </a:r>
          </a:p>
          <a:p>
            <a:pPr algn="just"/>
            <a:endParaRPr lang="es-CR" dirty="0" smtClean="0"/>
          </a:p>
          <a:p>
            <a:pPr algn="just"/>
            <a:r>
              <a:rPr lang="es-CR" dirty="0" smtClean="0"/>
              <a:t>El criterio anterior aplica a conjunto mayores a 30.</a:t>
            </a:r>
          </a:p>
        </p:txBody>
      </p:sp>
      <p:sp>
        <p:nvSpPr>
          <p:cNvPr id="4" name="Title 1"/>
          <p:cNvSpPr>
            <a:spLocks noGrp="1"/>
          </p:cNvSpPr>
          <p:nvPr>
            <p:ph type="title"/>
          </p:nvPr>
        </p:nvSpPr>
        <p:spPr>
          <a:xfrm>
            <a:off x="533400" y="0"/>
            <a:ext cx="7772400" cy="1066800"/>
          </a:xfrm>
        </p:spPr>
        <p:txBody>
          <a:bodyPr/>
          <a:lstStyle/>
          <a:p>
            <a:pPr algn="ctr"/>
            <a:r>
              <a:rPr lang="es-CR" dirty="0" smtClean="0"/>
              <a:t>La desviación media </a:t>
            </a:r>
            <a:endParaRPr lang="es-CR" dirty="0"/>
          </a:p>
        </p:txBody>
      </p:sp>
      <p:sp>
        <p:nvSpPr>
          <p:cNvPr id="2" name="AutoShape 2" descr="data:image/png;base64,iVBORw0KGgoAAAANSUhEUgAAAQsAAAC8CAMAAABYM3sZAAABklBMVEX///8A/4BXV1f/AAAA/4M9REAAbzgAAAAA8XlEREQA/4Xx8fH7+/sAdwC5ubkA7nMAozOWvZbW1tZEPT1vb2/i4uK1tbXp6en/0tKfn5//ZGTNzc2Xl5f/mJj/4+NRUVHAwMBGRkZmZmaJiYl7e3umpqYAwWH/7e3IyMgA/4z/iooAjkcAmU3/9vaPj49zc3McHBwzMzMApFL/paX/x8cAWCy8jUcARSP/6Oj/R0f/cnL/q6v/JSX/Li7/2dn/traWtFpc3nAvLy8AhEL/VVUAIRAAZzOkp1QASiXaYzKBxWNq1mtA7Xf4JRP/v7/gWS30MBjSbziKvl//Pz/HAAAAymZ5zGYAs1oAMhnEg0LtQCDqAAD/j4//eHjdTU1ZVwDTpZg2AACHAAClAACTOjqTqankJSWcenq0nFDjIgB2AADSZ2e8rZsAhwDMPh8xeTmSq39hs08LGRE9aj1UZDKvkJBMAAB1kZGkNgDMU0PVvLS9cmF/ZTHMeDycrljuPh93kEicVyxZgkFiXi/AiES3ZTP8XWXLAAAOkElEQVR4nO2djV8btxnHddY1tu8Ot73EZxwbsI0NNi8GE5JAgBAIS5oECAmhJCHZunbdSNc129p1W9cm3dv/PUlnOGzfnaS7k877fO4XPuEltiN9efTo0fNIMlhMJbK1CFIgka1UwuJcCQtHCQtHCQtHCQtHCQtHCQtHCQtHCQtHCQtHCQtHCQtHCQtHCQtHCQtHCQtHCQtHCQtHw8DCyOVyZtyNAEPCwrIaV+JuBBgOFkh6wuJcCQtHCQtHCQtHCQtHCQtHCQtHCQtHCQtHCQtHCQtHCQtHxkLcLQDDwaKw/cHhyT4wjJjbETeL26Mz8FxroytxtiVeFn8ZW4c92hmLsTWxsnj9PQFwsLu19d3ulk1jdS225sTI4hrp+4OnmqaomUuaqrVuPCY/Go2pQfGxICge3NdUBSlzCX9SM/ffxwgjNhZruNNbu4TEGQtEY/ch+vFePDDiYoGtYi/TJeGwQDQ+jc0yYmKBURxsnaO4wEJRH8YFIx4WZIDsOigusrBhxDFMYmGxeXICYeYCih4WsQ2TOFgYv/vqqy8eXUTRy6I7TKS3Kw4Wv/8cHvxryoeFbRnSg64YWNxC/Xyp9tiB2sfCtoxrkhsmn8UY6uW/Z3tQTB0d97FQtg7kuwzpLFZ2ULSZ6R0gS0tz/SzUrT0Ib8ltmnQWoxCeLPV3fGCM4HgcyoYhnQU8gf897u94v+/E0l5CuDEts2myWWzCZ7A10G83For6BMIZmW2TzGITGf6dwW67s3gH4fptiY2Ty2IZoXinDaJwZaFoyDDgvLzWSWVhzKAV2SOXXruzUJ/KjbjksuhbkVFYKJpcGDJZGBsQvncbIV4slF2p86pMFq9RzzKuKLxYqFvvIdyU1T6JLG4fQvjCHYUXC0X7CcIdWTUkeSymkVX85N5jbxaKgkLxdUktlMfCK7TwZ6G+QE8bl9NCeSwwCnfHqWia6mkX6n+QYchZsEpjgcumHv3NPL/5/K4nC3lpHVkscOL7U6/++tmFHXFJGSWSWMxfhfDxrld3/XynvWCVskaTxAJNp+8z3t31ZaHgqrMMGHJYkPnUw3HSWagHEK5KWKPJYbFKQeHPQsk8hlDCxgwpLPZRwOS6PGVkoZ5CeCh+y44UFmg+PfVFQWGhqI9l1I5ksBiF8MBzPmVj8Q6xWBbdThks8Hzq6y2oLBTtPholotspgcU8+p36k6CzIJkM0e5TAosNCB9QzILOQr0D4SvBDRXPYhlNIj4RJyMLZfclXBUciYtngScRSj/d6mb9wknxfbEtFc5iH8I9yiSiHh1NUVmo94UXCESzMG5B+IQ2icwN1pZdDEO49xTNAk8iVG/BMkbsRIbQtgpmMX33R2psQUyDzkLJ7P3zux2Ro0Qwi1uIhUcZgJsFSeqILBCIZTG6/vLkBgMKJhbK7s8/wkOBuxDEsrgGT24wdJKRhXr8Vui+JaEspiG8NLjvJDiLo+MnIt2nUBZoPj1i8RaMLNB886nInLhQFrgMwGQWSsazJtALA7G4Kqy5IlngtTrl93x+OoAcI1FVlcIO15qFbfsUyGJ0w6ckgqUtzd61h5A2N4sMQ12anZ3t3+PX95QbEO6ImkoEsrjmXVa3bWEpnU7/Agdi6hz66qamXUefnvtHZupLCEXt4RLHYs2vlox7NZW+15pKf6KhuTKtoK8ymZvXWy1KkKreEFdFE8cC7/r26xhikVG069cJC1Vp3by3lH6+NEddu+OzimJaLIzFDG1R1sPiXus4fQmPmfRdmmHc4YzEa9mOjj83O9kiANvZDgDtbHbbZYNLL4u8aZLHGKaZB8A0TQAKZvdnfJo/hHDLP7d9zgI5UeQn0pemPmm15tK02RWngV+zN+QKAtHBXasDULHwsfkOmHB/aA8Ls9xuFzGKYrtdzufa7bYFFibLkzo3iukd/1pyLwu1tTSX+eTe7rGmtNKztMznowMeGPUCAFnMYhKAnIV/MpEvMrBoIztIISPQawCUiviKvA5Y4AcBSEmEVh46952qdnRdxb5zLj3XWqLahaJxFY4GWWQb2dSE2/1/PSzKZyyuYBb4J9VKo5APMERQa19Qs3b2nKreu3mUJnOqehd9ukcPQLUDjmJJPwujBizTHjp8LEqN3MRkvcgNYx+xaNH7RGIt9XhOm5rFsZai3Z1licXVXY6N4n0s9O6A52bRLIICes5knpcFijjfsXRKtSNv5Sz2poXgZ897wb4hY+HMd05i3wkwihzqT43GotdfABPhwCbBzWKMJcnZK7bl7BmLpxzlVTSnmqBhglwn2wa17Wq2DurZTtPlkT0sKo1KZRLkC0a7Umk0zXSz0iwVK5Uyp/vEG5L8Ik43FAxu4oJwsST6KlpvfNG0GjrI54HesJqgkrOsHDAti9Ms5unz6SALpvzFudRHIrYtCYg7qRuSwrNQtD0BBQIBLCC9OhSahaKg9Sp3gUD3jxqjZ7HsfRogQhaBCgR2rOUpTxam//M8hVHc50URwC7UB9zHFPW6f6DkbRftYNdUj/lt8PXqF0sNsV+tA95tS6Wy/797s6A9012v6GX1AbHVlvtFCu88MJoeS7Jz+fgLHKlxC1/jwes4mfYcuAjyJcVTtKWEn++kPnlQKMra4+9VoDFiBxnsuxAaFdoj/Fjobd71+soqv7MgCsJC0U4heyLYKFNDRt85tegWtfto5RCFFtzzaWAWyu4e+yip06Nn//gCL3g5RObTIJ0KyELFLoNtIBsMYRQl1mKg6Qgns+7zOs4wLEiQsc5UIcgyPIbCosBzxyhyFjAYisAsthjdZ7PB8CBaDG6xuwx8jOphoC4FZqEop2xXyZRZAkfqesQtAeSqseAjJAQL7QELDCvH0gMqC+bwk9wqFxBFcBZkd98GrW0dph7Q16lmm+mF8E1RfifKBLGwb5+i7E9hrGvQWRh1hlfCaT2P6xwEs1C0OzT/yXrhNkP+osCQ78SRxYNAUVZoFvZVXD4bVFjaz8qCJeJCAefj4Ch8z+pShcslfgk/6vqUh4VrYeWi8EbnoJGFQjnDzQIj4xeLs0ScHCwoUds0sgrIto/TXeHsous/ve5PsZgTdGwsfNe7oVEo4fyFYh9g9bAMttCCg4Vvwu92eBRhWdiHNl0tg2UW5GNR8Y7nMYrT4M4iGhYExqpLKpiS+g7CAjS9ws/RPYZjhuJZKJknbjCMSY6sA3N9xGNmwlYBn4btSAQs8DlvuDfQPZ40JTOLQtvlZVdwygI+DDtComBhZ/zWey2DL33NXjfLD65LpldhiHV6xCzInuC+N6rgy15z1BAHX3gjmgESEQtFwTAuTq0VvtofTz211uuHSLR56nIZZwBFw0I7fQMvLNTwNkZRLHrXezj/D2+EdxVE0bBQPxy5CKNYEsei98XRAHnzp0iMQomMxUcjfxyH56vWRT4UnHsOzhdpK1dP3n4D/zDyYQQ9CFo3c3mdj0Y+BvPrJ29IobXKiYKTxVn4iXObEL6KiIXbndiBRFiA8a8/xjlQl3kvUhZ2xLWML588+dVnYCQaFm53pQd7IcICkNzrb3/DfbKCk4VxBcwvE6OYN4AREYtoxwgWCgGffQHnOfcw8e5RKnyJg4q9GXyrUWQsIvSdNguw/OrXONTgg8HLYuaXn58XJIaYBfjyMxJ3cV2MwMEChZ2vkFF8D691cQ8xi3LJTs3Db34QwuIfP5wQ1n89m1iHl4VRxiHy6x347BkyYtYdbsws5sdWn6F5e3UTmGepjGFl0SxfsRciK39/Rn57jNulGVlsrpIlKfwbHh6NatUaYhaldDrdXZTpK+RdouDOIcsEy8Bi/jZZjyK+awB8jXNF6D9rDC0LHR/MSTv7Rmbs3yK8Rd3NRGex9pq81PraWWnKJP+Z8f/CAkxfs40DjlF2QPqxmN65ikReZmbcMbIhZwGKqHV98fftcWIc67g/Ozws5sexVpz3eN3oe3ounV7E3IeUBfJnLonq6VXnrVr3V0gX+3NTLiw2oaMxpFcDfsdqk8X7sLLw0D7uzOsLneu/EdSFxf7ZY1fHKRteRkbsaxrCS7mksTyM8iDNl4Wt0XEeFrnFy11NVLO++vbb7Ac0/Zn6CCL6C7G82OW3lylNrlYnup3rDCRDXVhYFRpbDhmcOUd/cadn/DSwX9ONBXs1li490jdeZ9mlyayBbSWi7UKP1C48DuUH00B5Me73Zx8mJSwcJSwcBWLBfb5dsAzUIF3PG6USKBhmSQfoqzxqZZPv/EsgFpG68whUuIJrp9VisZizasViWS+jv/KpMv34TI8CsYjUnYPJqq0gx9tsFer4+PkEmhequSIOHGrIdos1XvMNyKJxOTsJtgH+yNrfdCrbfAdvIlSXBW4ZPtdQL6RR9Fnh7lgwFuRijVyjZJab+TIuUFUq2SgjNE7hUy4LOcwia5W6dmHkZbFok/C01i6kimZhsVbbboYYNwWcJGuEsapGqla2UrVaKm9la6kGsFKpui64ntpV1y6Mermw0DDxN3qopUIuhz/CyDDwYgX93aiQ60sMI8AlP4FYVPWyZRVNfHLJLAPyTT7U3FLDVh1W5JAI/RSqtwKxQNN4LofvIcsDHTlr8g3nvo9e5bnO+Hm2Cr9SiKE2HHHnpBl8Qo1OQ8FCn6Tc0kFTIZLpfBhY6Gj1XAgFw7KAs0nbNEGwuzuGgYWBMehh3hkUzUKOZegG+5GRHgVicZlcQdaVefGbmITm9xSKfKuVStVCgc/C4kSQQRMwBjcdv58DDc4rAKIXYlED1QoKwUHNQEYSbIYOyKJi6o0GWpZ0cKpssRNBdBBKhEWWLBrls2g09XQJpJuoAVVghYotolAfC0M2izreyIa+nBiCMWJZ2F+QxErKQJNKuRjEhYViURsWFroO8siJ4w8UCheA3gwyKwVbj2AWC4RFFf3J5WLLXESqQCyKoJTXLWCg+KaBgxyLe4vtUGoYYq1hUcLCUcLCUcLCUcLCUcLCUcLCUQosphLZWvwfTNt0f8yApUI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4" descr="data:image/png;base64,iVBORw0KGgoAAAANSUhEUgAAAQsAAAC8CAMAAABYM3sZAAABklBMVEX///8A/4BXV1f/AAAA/4M9REAAbzgAAAAA8XlEREQA/4Xx8fH7+/sAdwC5ubkA7nMAozOWvZbW1tZEPT1vb2/i4uK1tbXp6en/0tKfn5//ZGTNzc2Xl5f/mJj/4+NRUVHAwMBGRkZmZmaJiYl7e3umpqYAwWH/7e3IyMgA/4z/iooAjkcAmU3/9vaPj49zc3McHBwzMzMApFL/paX/x8cAWCy8jUcARSP/6Oj/R0f/cnL/q6v/JSX/Li7/2dn/traWtFpc3nAvLy8AhEL/VVUAIRAAZzOkp1QASiXaYzKBxWNq1mtA7Xf4JRP/v7/gWS30MBjSbziKvl//Pz/HAAAAymZ5zGYAs1oAMhnEg0LtQCDqAAD/j4//eHjdTU1ZVwDTpZg2AACHAAClAACTOjqTqankJSWcenq0nFDjIgB2AADSZ2e8rZsAhwDMPh8xeTmSq39hs08LGRE9aj1UZDKvkJBMAAB1kZGkNgDMU0PVvLS9cmF/ZTHMeDycrljuPh93kEicVyxZgkFiXi/AiES3ZTP8XWXLAAAOkElEQVR4nO2djV8btxnHddY1tu8Ot73EZxwbsI0NNi8GE5JAgBAIS5oECAmhJCHZunbdSNc129p1W9cm3dv/PUlnOGzfnaS7k877fO4XPuEltiN9efTo0fNIMlhMJbK1CFIgka1UwuJcCQtHCQtHCQtHCQtHCQtHCQtHCQtHCQtHCQtHCQtHCQtHCQtHCQtHCQtHCQtHCQtHCQtHw8DCyOVyZtyNAEPCwrIaV+JuBBgOFkh6wuJcCQtHCQtHCQtHCQtHCQtHCQtHCQtHCQtHCQtHCQtHCQtHxkLcLQDDwaKw/cHhyT4wjJjbETeL26Mz8FxroytxtiVeFn8ZW4c92hmLsTWxsnj9PQFwsLu19d3ulk1jdS225sTI4hrp+4OnmqaomUuaqrVuPCY/Go2pQfGxICge3NdUBSlzCX9SM/ffxwgjNhZruNNbu4TEGQtEY/ch+vFePDDiYoGtYi/TJeGwQDQ+jc0yYmKBURxsnaO4wEJRH8YFIx4WZIDsOigusrBhxDFMYmGxeXICYeYCih4WsQ2TOFgYv/vqqy8eXUTRy6I7TKS3Kw4Wv/8cHvxryoeFbRnSg64YWNxC/Xyp9tiB2sfCtoxrkhsmn8UY6uW/Z3tQTB0d97FQtg7kuwzpLFZ2ULSZ6R0gS0tz/SzUrT0Ib8ltmnQWoxCeLPV3fGCM4HgcyoYhnQU8gf897u94v+/E0l5CuDEts2myWWzCZ7A10G83For6BMIZmW2TzGITGf6dwW67s3gH4fptiY2Ty2IZoXinDaJwZaFoyDDgvLzWSWVhzKAV2SOXXruzUJ/KjbjksuhbkVFYKJpcGDJZGBsQvncbIV4slF2p86pMFq9RzzKuKLxYqFvvIdyU1T6JLG4fQvjCHYUXC0X7CcIdWTUkeSymkVX85N5jbxaKgkLxdUktlMfCK7TwZ6G+QE8bl9NCeSwwCnfHqWia6mkX6n+QYchZsEpjgcumHv3NPL/5/K4nC3lpHVkscOL7U6/++tmFHXFJGSWSWMxfhfDxrld3/XynvWCVskaTxAJNp+8z3t31ZaHgqrMMGHJYkPnUw3HSWagHEK5KWKPJYbFKQeHPQsk8hlDCxgwpLPZRwOS6PGVkoZ5CeCh+y44UFmg+PfVFQWGhqI9l1I5ksBiF8MBzPmVj8Q6xWBbdThks8Hzq6y2oLBTtPholotspgcU8+p36k6CzIJkM0e5TAosNCB9QzILOQr0D4SvBDRXPYhlNIj4RJyMLZfclXBUciYtngScRSj/d6mb9wknxfbEtFc5iH8I9yiSiHh1NUVmo94UXCESzMG5B+IQ2icwN1pZdDEO49xTNAk8iVG/BMkbsRIbQtgpmMX33R2psQUyDzkLJ7P3zux2Ro0Qwi1uIhUcZgJsFSeqILBCIZTG6/vLkBgMKJhbK7s8/wkOBuxDEsrgGT24wdJKRhXr8Vui+JaEspiG8NLjvJDiLo+MnIt2nUBZoPj1i8RaMLNB886nInLhQFrgMwGQWSsazJtALA7G4Kqy5IlngtTrl93x+OoAcI1FVlcIO15qFbfsUyGJ0w6ckgqUtzd61h5A2N4sMQ12anZ3t3+PX95QbEO6ImkoEsrjmXVa3bWEpnU7/Agdi6hz66qamXUefnvtHZupLCEXt4RLHYs2vlox7NZW+15pKf6KhuTKtoK8ymZvXWy1KkKreEFdFE8cC7/r26xhikVG069cJC1Vp3by3lH6+NEddu+OzimJaLIzFDG1R1sPiXus4fQmPmfRdmmHc4YzEa9mOjj83O9kiANvZDgDtbHbbZYNLL4u8aZLHGKaZB8A0TQAKZvdnfJo/hHDLP7d9zgI5UeQn0pemPmm15tK02RWngV+zN+QKAtHBXasDULHwsfkOmHB/aA8Ls9xuFzGKYrtdzufa7bYFFibLkzo3iukd/1pyLwu1tTSX+eTe7rGmtNKztMznowMeGPUCAFnMYhKAnIV/MpEvMrBoIztIISPQawCUiviKvA5Y4AcBSEmEVh46952qdnRdxb5zLj3XWqLahaJxFY4GWWQb2dSE2/1/PSzKZyyuYBb4J9VKo5APMERQa19Qs3b2nKreu3mUJnOqehd9ukcPQLUDjmJJPwujBizTHjp8LEqN3MRkvcgNYx+xaNH7RGIt9XhOm5rFsZai3Z1licXVXY6N4n0s9O6A52bRLIICes5knpcFijjfsXRKtSNv5Sz2poXgZ897wb4hY+HMd05i3wkwihzqT43GotdfABPhwCbBzWKMJcnZK7bl7BmLpxzlVTSnmqBhglwn2wa17Wq2DurZTtPlkT0sKo1KZRLkC0a7Umk0zXSz0iwVK5Uyp/vEG5L8Ik43FAxu4oJwsST6KlpvfNG0GjrI54HesJqgkrOsHDAti9Ms5unz6SALpvzFudRHIrYtCYg7qRuSwrNQtD0BBQIBLCC9OhSahaKg9Sp3gUD3jxqjZ7HsfRogQhaBCgR2rOUpTxam//M8hVHc50URwC7UB9zHFPW6f6DkbRftYNdUj/lt8PXqF0sNsV+tA95tS6Wy/797s6A9012v6GX1AbHVlvtFCu88MJoeS7Jz+fgLHKlxC1/jwes4mfYcuAjyJcVTtKWEn++kPnlQKMra4+9VoDFiBxnsuxAaFdoj/Fjobd71+soqv7MgCsJC0U4heyLYKFNDRt85tegWtfto5RCFFtzzaWAWyu4e+yip06Nn//gCL3g5RObTIJ0KyELFLoNtIBsMYRQl1mKg6Qgns+7zOs4wLEiQsc5UIcgyPIbCosBzxyhyFjAYisAsthjdZ7PB8CBaDG6xuwx8jOphoC4FZqEop2xXyZRZAkfqesQtAeSqseAjJAQL7QELDCvH0gMqC+bwk9wqFxBFcBZkd98GrW0dph7Q16lmm+mF8E1RfifKBLGwb5+i7E9hrGvQWRh1hlfCaT2P6xwEs1C0OzT/yXrhNkP+osCQ78SRxYNAUVZoFvZVXD4bVFjaz8qCJeJCAefj4Ch8z+pShcslfgk/6vqUh4VrYeWi8EbnoJGFQjnDzQIj4xeLs0ScHCwoUds0sgrIto/TXeHsous/ve5PsZgTdGwsfNe7oVEo4fyFYh9g9bAMttCCg4Vvwu92eBRhWdiHNl0tg2UW5GNR8Y7nMYrT4M4iGhYExqpLKpiS+g7CAjS9ws/RPYZjhuJZKJknbjCMSY6sA3N9xGNmwlYBn4btSAQs8DlvuDfQPZ40JTOLQtvlZVdwygI+DDtComBhZ/zWey2DL33NXjfLD65LpldhiHV6xCzInuC+N6rgy15z1BAHX3gjmgESEQtFwTAuTq0VvtofTz211uuHSLR56nIZZwBFw0I7fQMvLNTwNkZRLHrXezj/D2+EdxVE0bBQPxy5CKNYEsei98XRAHnzp0iMQomMxUcjfxyH56vWRT4UnHsOzhdpK1dP3n4D/zDyYQQ9CFo3c3mdj0Y+BvPrJ29IobXKiYKTxVn4iXObEL6KiIXbndiBRFiA8a8/xjlQl3kvUhZ2xLWML588+dVnYCQaFm53pQd7IcICkNzrb3/DfbKCk4VxBcwvE6OYN4AREYtoxwgWCgGffQHnOfcw8e5RKnyJg4q9GXyrUWQsIvSdNguw/OrXONTgg8HLYuaXn58XJIaYBfjyMxJ3cV2MwMEChZ2vkFF8D691cQ8xi3LJTs3Db34QwuIfP5wQ1n89m1iHl4VRxiHy6x347BkyYtYdbsws5sdWn6F5e3UTmGepjGFl0SxfsRciK39/Rn57jNulGVlsrpIlKfwbHh6NatUaYhaldDrdXZTpK+RdouDOIcsEy8Bi/jZZjyK+awB8jXNF6D9rDC0LHR/MSTv7Rmbs3yK8Rd3NRGex9pq81PraWWnKJP+Z8f/CAkxfs40DjlF2QPqxmN65ikReZmbcMbIhZwGKqHV98fftcWIc67g/Ozws5sexVpz3eN3oe3ounV7E3IeUBfJnLonq6VXnrVr3V0gX+3NTLiw2oaMxpFcDfsdqk8X7sLLw0D7uzOsLneu/EdSFxf7ZY1fHKRteRkbsaxrCS7mksTyM8iDNl4Wt0XEeFrnFy11NVLO++vbb7Ac0/Zn6CCL6C7G82OW3lylNrlYnup3rDCRDXVhYFRpbDhmcOUd/cadn/DSwX9ONBXs1li490jdeZ9mlyayBbSWi7UKP1C48DuUH00B5Me73Zx8mJSwcJSwcBWLBfb5dsAzUIF3PG6USKBhmSQfoqzxqZZPv/EsgFpG68whUuIJrp9VisZizasViWS+jv/KpMv34TI8CsYjUnYPJqq0gx9tsFer4+PkEmhequSIOHGrIdos1XvMNyKJxOTsJtgH+yNrfdCrbfAdvIlSXBW4ZPtdQL6RR9Fnh7lgwFuRijVyjZJab+TIuUFUq2SgjNE7hUy4LOcwia5W6dmHkZbFok/C01i6kimZhsVbbboYYNwWcJGuEsapGqla2UrVaKm9la6kGsFKpui64ntpV1y6Mermw0DDxN3qopUIuhz/CyDDwYgX93aiQ60sMI8AlP4FYVPWyZRVNfHLJLAPyTT7U3FLDVh1W5JAI/RSqtwKxQNN4LofvIcsDHTlr8g3nvo9e5bnO+Hm2Cr9SiKE2HHHnpBl8Qo1OQ8FCn6Tc0kFTIZLpfBhY6Gj1XAgFw7KAs0nbNEGwuzuGgYWBMehh3hkUzUKOZegG+5GRHgVicZlcQdaVefGbmITm9xSKfKuVStVCgc/C4kSQQRMwBjcdv58DDc4rAKIXYlED1QoKwUHNQEYSbIYOyKJi6o0GWpZ0cKpssRNBdBBKhEWWLBrls2g09XQJpJuoAVVghYotolAfC0M2izreyIa+nBiCMWJZ2F+QxErKQJNKuRjEhYViURsWFroO8siJ4w8UCheA3gwyKwVbj2AWC4RFFf3J5WLLXESqQCyKoJTXLWCg+KaBgxyLe4vtUGoYYq1hUcLCUcLCUcLCUcLCUcLCUcLCUQosphLZWvwfTNt0f8yApUI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6" descr="data:image/png;base64,iVBORw0KGgoAAAANSUhEUgAAAQsAAAC8CAMAAABYM3sZAAABklBMVEX///8A/4BXV1f/AAAA/4M9REAAbzgAAAAA8XlEREQA/4Xx8fH7+/sAdwC5ubkA7nMAozOWvZbW1tZEPT1vb2/i4uK1tbXp6en/0tKfn5//ZGTNzc2Xl5f/mJj/4+NRUVHAwMBGRkZmZmaJiYl7e3umpqYAwWH/7e3IyMgA/4z/iooAjkcAmU3/9vaPj49zc3McHBwzMzMApFL/paX/x8cAWCy8jUcARSP/6Oj/R0f/cnL/q6v/JSX/Li7/2dn/traWtFpc3nAvLy8AhEL/VVUAIRAAZzOkp1QASiXaYzKBxWNq1mtA7Xf4JRP/v7/gWS30MBjSbziKvl//Pz/HAAAAymZ5zGYAs1oAMhnEg0LtQCDqAAD/j4//eHjdTU1ZVwDTpZg2AACHAAClAACTOjqTqankJSWcenq0nFDjIgB2AADSZ2e8rZsAhwDMPh8xeTmSq39hs08LGRE9aj1UZDKvkJBMAAB1kZGkNgDMU0PVvLS9cmF/ZTHMeDycrljuPh93kEicVyxZgkFiXi/AiES3ZTP8XWXLAAAOkElEQVR4nO2djV8btxnHddY1tu8Ot73EZxwbsI0NNi8GE5JAgBAIS5oECAmhJCHZunbdSNc129p1W9cm3dv/PUlnOGzfnaS7k877fO4XPuEltiN9efTo0fNIMlhMJbK1CFIgka1UwuJcCQtHCQtHCQtHCQtHCQtHCQtHCQtHCQtHCQtHCQtHCQtHCQtHCQtHCQtHCQtHCQtHCQtHw8DCyOVyZtyNAEPCwrIaV+JuBBgOFkh6wuJcCQtHCQtHCQtHCQtHCQtHCQtHCQtHCQtHCQtHCQtHCQtHxkLcLQDDwaKw/cHhyT4wjJjbETeL26Mz8FxroytxtiVeFn8ZW4c92hmLsTWxsnj9PQFwsLu19d3ulk1jdS225sTI4hrp+4OnmqaomUuaqrVuPCY/Go2pQfGxICge3NdUBSlzCX9SM/ffxwgjNhZruNNbu4TEGQtEY/ch+vFePDDiYoGtYi/TJeGwQDQ+jc0yYmKBURxsnaO4wEJRH8YFIx4WZIDsOigusrBhxDFMYmGxeXICYeYCih4WsQ2TOFgYv/vqqy8eXUTRy6I7TKS3Kw4Wv/8cHvxryoeFbRnSg64YWNxC/Xyp9tiB2sfCtoxrkhsmn8UY6uW/Z3tQTB0d97FQtg7kuwzpLFZ2ULSZ6R0gS0tz/SzUrT0Ib8ltmnQWoxCeLPV3fGCM4HgcyoYhnQU8gf897u94v+/E0l5CuDEts2myWWzCZ7A10G83For6BMIZmW2TzGITGf6dwW67s3gH4fptiY2Ty2IZoXinDaJwZaFoyDDgvLzWSWVhzKAV2SOXXruzUJ/KjbjksuhbkVFYKJpcGDJZGBsQvncbIV4slF2p86pMFq9RzzKuKLxYqFvvIdyU1T6JLG4fQvjCHYUXC0X7CcIdWTUkeSymkVX85N5jbxaKgkLxdUktlMfCK7TwZ6G+QE8bl9NCeSwwCnfHqWia6mkX6n+QYchZsEpjgcumHv3NPL/5/K4nC3lpHVkscOL7U6/++tmFHXFJGSWSWMxfhfDxrld3/XynvWCVskaTxAJNp+8z3t31ZaHgqrMMGHJYkPnUw3HSWagHEK5KWKPJYbFKQeHPQsk8hlDCxgwpLPZRwOS6PGVkoZ5CeCh+y44UFmg+PfVFQWGhqI9l1I5ksBiF8MBzPmVj8Q6xWBbdThks8Hzq6y2oLBTtPholotspgcU8+p36k6CzIJkM0e5TAosNCB9QzILOQr0D4SvBDRXPYhlNIj4RJyMLZfclXBUciYtngScRSj/d6mb9wknxfbEtFc5iH8I9yiSiHh1NUVmo94UXCESzMG5B+IQ2icwN1pZdDEO49xTNAk8iVG/BMkbsRIbQtgpmMX33R2psQUyDzkLJ7P3zux2Ro0Qwi1uIhUcZgJsFSeqILBCIZTG6/vLkBgMKJhbK7s8/wkOBuxDEsrgGT24wdJKRhXr8Vui+JaEspiG8NLjvJDiLo+MnIt2nUBZoPj1i8RaMLNB886nInLhQFrgMwGQWSsazJtALA7G4Kqy5IlngtTrl93x+OoAcI1FVlcIO15qFbfsUyGJ0w6ckgqUtzd61h5A2N4sMQ12anZ3t3+PX95QbEO6ImkoEsrjmXVa3bWEpnU7/Agdi6hz66qamXUefnvtHZupLCEXt4RLHYs2vlox7NZW+15pKf6KhuTKtoK8ymZvXWy1KkKreEFdFE8cC7/r26xhikVG069cJC1Vp3by3lH6+NEddu+OzimJaLIzFDG1R1sPiXus4fQmPmfRdmmHc4YzEa9mOjj83O9kiANvZDgDtbHbbZYNLL4u8aZLHGKaZB8A0TQAKZvdnfJo/hHDLP7d9zgI5UeQn0pemPmm15tK02RWngV+zN+QKAtHBXasDULHwsfkOmHB/aA8Ls9xuFzGKYrtdzufa7bYFFibLkzo3iukd/1pyLwu1tTSX+eTe7rGmtNKztMznowMeGPUCAFnMYhKAnIV/MpEvMrBoIztIISPQawCUiviKvA5Y4AcBSEmEVh46952qdnRdxb5zLj3XWqLahaJxFY4GWWQb2dSE2/1/PSzKZyyuYBb4J9VKo5APMERQa19Qs3b2nKreu3mUJnOqehd9ukcPQLUDjmJJPwujBizTHjp8LEqN3MRkvcgNYx+xaNH7RGIt9XhOm5rFsZai3Z1licXVXY6N4n0s9O6A52bRLIICes5knpcFijjfsXRKtSNv5Sz2poXgZ897wb4hY+HMd05i3wkwihzqT43GotdfABPhwCbBzWKMJcnZK7bl7BmLpxzlVTSnmqBhglwn2wa17Wq2DurZTtPlkT0sKo1KZRLkC0a7Umk0zXSz0iwVK5Uyp/vEG5L8Ik43FAxu4oJwsST6KlpvfNG0GjrI54HesJqgkrOsHDAti9Ms5unz6SALpvzFudRHIrYtCYg7qRuSwrNQtD0BBQIBLCC9OhSahaKg9Sp3gUD3jxqjZ7HsfRogQhaBCgR2rOUpTxam//M8hVHc50URwC7UB9zHFPW6f6DkbRftYNdUj/lt8PXqF0sNsV+tA95tS6Wy/797s6A9012v6GX1AbHVlvtFCu88MJoeS7Jz+fgLHKlxC1/jwes4mfYcuAjyJcVTtKWEn++kPnlQKMra4+9VoDFiBxnsuxAaFdoj/Fjobd71+soqv7MgCsJC0U4heyLYKFNDRt85tegWtfto5RCFFtzzaWAWyu4e+yip06Nn//gCL3g5RObTIJ0KyELFLoNtIBsMYRQl1mKg6Qgns+7zOs4wLEiQsc5UIcgyPIbCosBzxyhyFjAYisAsthjdZ7PB8CBaDG6xuwx8jOphoC4FZqEop2xXyZRZAkfqesQtAeSqseAjJAQL7QELDCvH0gMqC+bwk9wqFxBFcBZkd98GrW0dph7Q16lmm+mF8E1RfifKBLGwb5+i7E9hrGvQWRh1hlfCaT2P6xwEs1C0OzT/yXrhNkP+osCQ78SRxYNAUVZoFvZVXD4bVFjaz8qCJeJCAefj4Ch8z+pShcslfgk/6vqUh4VrYeWi8EbnoJGFQjnDzQIj4xeLs0ScHCwoUds0sgrIto/TXeHsous/ve5PsZgTdGwsfNe7oVEo4fyFYh9g9bAMttCCg4Vvwu92eBRhWdiHNl0tg2UW5GNR8Y7nMYrT4M4iGhYExqpLKpiS+g7CAjS9ws/RPYZjhuJZKJknbjCMSY6sA3N9xGNmwlYBn4btSAQs8DlvuDfQPZ40JTOLQtvlZVdwygI+DDtComBhZ/zWey2DL33NXjfLD65LpldhiHV6xCzInuC+N6rgy15z1BAHX3gjmgESEQtFwTAuTq0VvtofTz211uuHSLR56nIZZwBFw0I7fQMvLNTwNkZRLHrXezj/D2+EdxVE0bBQPxy5CKNYEsei98XRAHnzp0iMQomMxUcjfxyH56vWRT4UnHsOzhdpK1dP3n4D/zDyYQQ9CFo3c3mdj0Y+BvPrJ29IobXKiYKTxVn4iXObEL6KiIXbndiBRFiA8a8/xjlQl3kvUhZ2xLWML588+dVnYCQaFm53pQd7IcICkNzrb3/DfbKCk4VxBcwvE6OYN4AREYtoxwgWCgGffQHnOfcw8e5RKnyJg4q9GXyrUWQsIvSdNguw/OrXONTgg8HLYuaXn58XJIaYBfjyMxJ3cV2MwMEChZ2vkFF8D691cQ8xi3LJTs3Db34QwuIfP5wQ1n89m1iHl4VRxiHy6x347BkyYtYdbsws5sdWn6F5e3UTmGepjGFl0SxfsRciK39/Rn57jNulGVlsrpIlKfwbHh6NatUaYhaldDrdXZTpK+RdouDOIcsEy8Bi/jZZjyK+awB8jXNF6D9rDC0LHR/MSTv7Rmbs3yK8Rd3NRGex9pq81PraWWnKJP+Z8f/CAkxfs40DjlF2QPqxmN65ikReZmbcMbIhZwGKqHV98fftcWIc67g/Ozws5sexVpz3eN3oe3ounV7E3IeUBfJnLonq6VXnrVr3V0gX+3NTLiw2oaMxpFcDfsdqk8X7sLLw0D7uzOsLneu/EdSFxf7ZY1fHKRteRkbsaxrCS7mksTyM8iDNl4Wt0XEeFrnFy11NVLO++vbb7Ac0/Zn6CCL6C7G82OW3lylNrlYnup3rDCRDXVhYFRpbDhmcOUd/cadn/DSwX9ONBXs1li490jdeZ9mlyayBbSWi7UKP1C48DuUH00B5Me73Zx8mJSwcJSwcBWLBfb5dsAzUIF3PG6USKBhmSQfoqzxqZZPv/EsgFpG68whUuIJrp9VisZizasViWS+jv/KpMv34TI8CsYjUnYPJqq0gx9tsFer4+PkEmhequSIOHGrIdos1XvMNyKJxOTsJtgH+yNrfdCrbfAdvIlSXBW4ZPtdQL6RR9Fnh7lgwFuRijVyjZJab+TIuUFUq2SgjNE7hUy4LOcwia5W6dmHkZbFok/C01i6kimZhsVbbboYYNwWcJGuEsapGqla2UrVaKm9la6kGsFKpui64ntpV1y6Mermw0DDxN3qopUIuhz/CyDDwYgX93aiQ60sMI8AlP4FYVPWyZRVNfHLJLAPyTT7U3FLDVh1W5JAI/RSqtwKxQNN4LofvIcsDHTlr8g3nvo9e5bnO+Hm2Cr9SiKE2HHHnpBl8Qo1OQ8FCn6Tc0kFTIZLpfBhY6Gj1XAgFw7KAs0nbNEGwuzuGgYWBMehh3hkUzUKOZegG+5GRHgVicZlcQdaVefGbmITm9xSKfKuVStVCgc/C4kSQQRMwBjcdv58DDc4rAKIXYlED1QoKwUHNQEYSbIYOyKJi6o0GWpZ0cKpssRNBdBBKhEWWLBrls2g09XQJpJuoAVVghYotolAfC0M2izreyIa+nBiCMWJZ2F+QxErKQJNKuRjEhYViURsWFroO8siJ4w8UCheA3gwyKwVbj2AWC4RFFf3J5WLLXESqQCyKoJTXLWCg+KaBgxyLe4vtUGoYYq1hUcLCUcLCUcLCUcLCUcLCUcLCUQosphLZWvwfTNt0f8yApUI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26632" name="Picture 8" descr="http://pages.wustl.edu/files/pages/imce/montgomery/norm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2362200"/>
            <a:ext cx="2057400" cy="243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mb/>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990600"/>
            <a:ext cx="8610600" cy="5486400"/>
          </a:xfrm>
        </p:spPr>
        <p:txBody>
          <a:bodyPr/>
          <a:lstStyle/>
          <a:p>
            <a:r>
              <a:rPr lang="es-CR" dirty="0" smtClean="0"/>
              <a:t>Para el presente caso, como tan sólo hay 5 datos el criterio </a:t>
            </a:r>
            <a:r>
              <a:rPr lang="es-CR" dirty="0" err="1" smtClean="0"/>
              <a:t>anterio</a:t>
            </a:r>
            <a:r>
              <a:rPr lang="es-CR" dirty="0" smtClean="0"/>
              <a:t> no aplica.</a:t>
            </a:r>
          </a:p>
          <a:p>
            <a:endParaRPr lang="es-CR" dirty="0" smtClean="0"/>
          </a:p>
          <a:p>
            <a:pPr>
              <a:buNone/>
            </a:pPr>
            <a:endParaRPr lang="es-CR" dirty="0" smtClean="0"/>
          </a:p>
          <a:p>
            <a:pPr>
              <a:buNone/>
            </a:pPr>
            <a:endParaRPr lang="es-CR" dirty="0" smtClean="0"/>
          </a:p>
          <a:p>
            <a:endParaRPr lang="es-CR" dirty="0" smtClean="0"/>
          </a:p>
          <a:p>
            <a:r>
              <a:rPr lang="es-CR" dirty="0" smtClean="0"/>
              <a:t>Sin embargo, si observamos la distribución de datos, se observa una gran variabilidad del conjunto.</a:t>
            </a:r>
          </a:p>
          <a:p>
            <a:endParaRPr lang="es-CR" dirty="0" smtClean="0"/>
          </a:p>
          <a:p>
            <a:pPr>
              <a:buNone/>
            </a:pPr>
            <a:endParaRPr lang="es-CR" dirty="0"/>
          </a:p>
        </p:txBody>
      </p:sp>
      <p:sp>
        <p:nvSpPr>
          <p:cNvPr id="4" name="Title 1"/>
          <p:cNvSpPr>
            <a:spLocks noGrp="1"/>
          </p:cNvSpPr>
          <p:nvPr>
            <p:ph type="title"/>
          </p:nvPr>
        </p:nvSpPr>
        <p:spPr>
          <a:xfrm>
            <a:off x="533400" y="0"/>
            <a:ext cx="7772400" cy="914400"/>
          </a:xfrm>
        </p:spPr>
        <p:txBody>
          <a:bodyPr/>
          <a:lstStyle/>
          <a:p>
            <a:pPr algn="ctr"/>
            <a:r>
              <a:rPr lang="es-CR" dirty="0" smtClean="0"/>
              <a:t>La desviación media </a:t>
            </a:r>
            <a:endParaRPr lang="es-CR" dirty="0"/>
          </a:p>
        </p:txBody>
      </p:sp>
      <p:cxnSp>
        <p:nvCxnSpPr>
          <p:cNvPr id="6" name="Straight Connector 5"/>
          <p:cNvCxnSpPr/>
          <p:nvPr/>
        </p:nvCxnSpPr>
        <p:spPr>
          <a:xfrm>
            <a:off x="762000" y="3124200"/>
            <a:ext cx="7467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5400000">
            <a:off x="4267200" y="3124200"/>
            <a:ext cx="609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685800" y="3124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8077200" y="3124200"/>
            <a:ext cx="15240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6" name="Chart 15"/>
          <p:cNvGraphicFramePr/>
          <p:nvPr>
            <p:extLst>
              <p:ext uri="{D42A27DB-BD31-4B8C-83A1-F6EECF244321}">
                <p14:modId xmlns:p14="http://schemas.microsoft.com/office/powerpoint/2010/main" val="3449791459"/>
              </p:ext>
            </p:extLst>
          </p:nvPr>
        </p:nvGraphicFramePr>
        <p:xfrm>
          <a:off x="2133600" y="4648200"/>
          <a:ext cx="4953000" cy="220980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457200" y="3200400"/>
            <a:ext cx="457200" cy="369332"/>
          </a:xfrm>
          <a:prstGeom prst="rect">
            <a:avLst/>
          </a:prstGeom>
          <a:noFill/>
        </p:spPr>
        <p:txBody>
          <a:bodyPr wrap="square" rtlCol="0">
            <a:spAutoFit/>
          </a:bodyPr>
          <a:lstStyle/>
          <a:p>
            <a:pPr algn="ctr"/>
            <a:r>
              <a:rPr lang="es-CR" dirty="0" smtClean="0"/>
              <a:t>0</a:t>
            </a:r>
          </a:p>
        </p:txBody>
      </p:sp>
      <p:sp>
        <p:nvSpPr>
          <p:cNvPr id="18" name="TextBox 17"/>
          <p:cNvSpPr txBox="1"/>
          <p:nvPr/>
        </p:nvSpPr>
        <p:spPr>
          <a:xfrm>
            <a:off x="7924800" y="3276600"/>
            <a:ext cx="457200" cy="369332"/>
          </a:xfrm>
          <a:prstGeom prst="rect">
            <a:avLst/>
          </a:prstGeom>
          <a:noFill/>
        </p:spPr>
        <p:txBody>
          <a:bodyPr wrap="square" rtlCol="0">
            <a:spAutoFit/>
          </a:bodyPr>
          <a:lstStyle/>
          <a:p>
            <a:pPr algn="ctr"/>
            <a:r>
              <a:rPr lang="es-CR" dirty="0" smtClean="0"/>
              <a:t>12</a:t>
            </a:r>
          </a:p>
        </p:txBody>
      </p:sp>
      <p:sp>
        <p:nvSpPr>
          <p:cNvPr id="19" name="TextBox 18"/>
          <p:cNvSpPr txBox="1"/>
          <p:nvPr/>
        </p:nvSpPr>
        <p:spPr>
          <a:xfrm>
            <a:off x="4343400" y="3429000"/>
            <a:ext cx="457200" cy="369332"/>
          </a:xfrm>
          <a:prstGeom prst="rect">
            <a:avLst/>
          </a:prstGeom>
          <a:noFill/>
        </p:spPr>
        <p:txBody>
          <a:bodyPr wrap="square" rtlCol="0">
            <a:spAutoFit/>
          </a:bodyPr>
          <a:lstStyle/>
          <a:p>
            <a:pPr algn="ctr"/>
            <a:r>
              <a:rPr lang="es-CR" dirty="0" smtClean="0"/>
              <a:t>6</a:t>
            </a:r>
          </a:p>
        </p:txBody>
      </p:sp>
      <p:sp>
        <p:nvSpPr>
          <p:cNvPr id="21" name="Right Brace 20"/>
          <p:cNvSpPr/>
          <p:nvPr/>
        </p:nvSpPr>
        <p:spPr>
          <a:xfrm rot="16200000">
            <a:off x="3619500" y="1790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2" name="Right Brace 21"/>
          <p:cNvSpPr/>
          <p:nvPr/>
        </p:nvSpPr>
        <p:spPr>
          <a:xfrm rot="16200000">
            <a:off x="5067300" y="1790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3" name="Right Brace 22"/>
          <p:cNvSpPr/>
          <p:nvPr/>
        </p:nvSpPr>
        <p:spPr>
          <a:xfrm rot="16200000">
            <a:off x="6515100" y="1790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4" name="Right Brace 23"/>
          <p:cNvSpPr/>
          <p:nvPr/>
        </p:nvSpPr>
        <p:spPr>
          <a:xfrm rot="16200000">
            <a:off x="2171700" y="1790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5" name="TextBox 24"/>
          <p:cNvSpPr txBox="1"/>
          <p:nvPr/>
        </p:nvSpPr>
        <p:spPr>
          <a:xfrm>
            <a:off x="1905000" y="1752600"/>
            <a:ext cx="990600" cy="381000"/>
          </a:xfrm>
          <a:prstGeom prst="rect">
            <a:avLst/>
          </a:prstGeom>
          <a:noFill/>
        </p:spPr>
        <p:txBody>
          <a:bodyPr wrap="square" rtlCol="0">
            <a:spAutoFit/>
          </a:bodyPr>
          <a:lstStyle/>
          <a:p>
            <a:pPr algn="ctr"/>
            <a:r>
              <a:rPr lang="es-CR" dirty="0" smtClean="0"/>
              <a:t>-1 DM</a:t>
            </a:r>
            <a:endParaRPr lang="es-CR" dirty="0"/>
          </a:p>
        </p:txBody>
      </p:sp>
      <p:sp>
        <p:nvSpPr>
          <p:cNvPr id="26" name="TextBox 25"/>
          <p:cNvSpPr txBox="1"/>
          <p:nvPr/>
        </p:nvSpPr>
        <p:spPr>
          <a:xfrm>
            <a:off x="3352800" y="1752600"/>
            <a:ext cx="990600" cy="381000"/>
          </a:xfrm>
          <a:prstGeom prst="rect">
            <a:avLst/>
          </a:prstGeom>
          <a:noFill/>
        </p:spPr>
        <p:txBody>
          <a:bodyPr wrap="square" rtlCol="0">
            <a:spAutoFit/>
          </a:bodyPr>
          <a:lstStyle/>
          <a:p>
            <a:pPr algn="ctr"/>
            <a:r>
              <a:rPr lang="es-CR" dirty="0" smtClean="0"/>
              <a:t>-1 DM</a:t>
            </a:r>
            <a:endParaRPr lang="es-CR" dirty="0"/>
          </a:p>
        </p:txBody>
      </p:sp>
      <p:sp>
        <p:nvSpPr>
          <p:cNvPr id="27" name="TextBox 26"/>
          <p:cNvSpPr txBox="1"/>
          <p:nvPr/>
        </p:nvSpPr>
        <p:spPr>
          <a:xfrm>
            <a:off x="4724400" y="1752600"/>
            <a:ext cx="990600" cy="381000"/>
          </a:xfrm>
          <a:prstGeom prst="rect">
            <a:avLst/>
          </a:prstGeom>
          <a:noFill/>
        </p:spPr>
        <p:txBody>
          <a:bodyPr wrap="square" rtlCol="0">
            <a:spAutoFit/>
          </a:bodyPr>
          <a:lstStyle/>
          <a:p>
            <a:pPr algn="ctr"/>
            <a:r>
              <a:rPr lang="es-CR" dirty="0" smtClean="0"/>
              <a:t>1 DM</a:t>
            </a:r>
            <a:endParaRPr lang="es-CR" dirty="0"/>
          </a:p>
        </p:txBody>
      </p:sp>
      <p:sp>
        <p:nvSpPr>
          <p:cNvPr id="28" name="TextBox 27"/>
          <p:cNvSpPr txBox="1"/>
          <p:nvPr/>
        </p:nvSpPr>
        <p:spPr>
          <a:xfrm>
            <a:off x="6248400" y="1752600"/>
            <a:ext cx="990600" cy="381000"/>
          </a:xfrm>
          <a:prstGeom prst="rect">
            <a:avLst/>
          </a:prstGeom>
          <a:noFill/>
        </p:spPr>
        <p:txBody>
          <a:bodyPr wrap="square" rtlCol="0">
            <a:spAutoFit/>
          </a:bodyPr>
          <a:lstStyle/>
          <a:p>
            <a:pPr algn="ctr"/>
            <a:r>
              <a:rPr lang="es-CR" dirty="0" smtClean="0"/>
              <a:t>1 DM</a:t>
            </a:r>
            <a:endParaRPr lang="es-CR" dirty="0"/>
          </a:p>
        </p:txBody>
      </p:sp>
      <p:sp>
        <p:nvSpPr>
          <p:cNvPr id="29" name="TextBox 28"/>
          <p:cNvSpPr txBox="1"/>
          <p:nvPr/>
        </p:nvSpPr>
        <p:spPr>
          <a:xfrm>
            <a:off x="2819400" y="2667001"/>
            <a:ext cx="609600" cy="369332"/>
          </a:xfrm>
          <a:prstGeom prst="rect">
            <a:avLst/>
          </a:prstGeom>
          <a:noFill/>
        </p:spPr>
        <p:txBody>
          <a:bodyPr wrap="square" rtlCol="0">
            <a:spAutoFit/>
          </a:bodyPr>
          <a:lstStyle/>
          <a:p>
            <a:pPr algn="ctr"/>
            <a:r>
              <a:rPr lang="es-CR" dirty="0" smtClean="0"/>
              <a:t>3.2</a:t>
            </a:r>
            <a:endParaRPr lang="es-CR" dirty="0"/>
          </a:p>
        </p:txBody>
      </p:sp>
      <p:sp>
        <p:nvSpPr>
          <p:cNvPr id="30" name="TextBox 29"/>
          <p:cNvSpPr txBox="1"/>
          <p:nvPr/>
        </p:nvSpPr>
        <p:spPr>
          <a:xfrm>
            <a:off x="1371600" y="2667000"/>
            <a:ext cx="609600" cy="369332"/>
          </a:xfrm>
          <a:prstGeom prst="rect">
            <a:avLst/>
          </a:prstGeom>
          <a:noFill/>
        </p:spPr>
        <p:txBody>
          <a:bodyPr wrap="square" rtlCol="0">
            <a:spAutoFit/>
          </a:bodyPr>
          <a:lstStyle/>
          <a:p>
            <a:pPr algn="ctr"/>
            <a:r>
              <a:rPr lang="es-CR" dirty="0" smtClean="0"/>
              <a:t>0.4</a:t>
            </a:r>
            <a:endParaRPr lang="es-CR" dirty="0"/>
          </a:p>
        </p:txBody>
      </p:sp>
      <p:sp>
        <p:nvSpPr>
          <p:cNvPr id="31" name="TextBox 30"/>
          <p:cNvSpPr txBox="1"/>
          <p:nvPr/>
        </p:nvSpPr>
        <p:spPr>
          <a:xfrm>
            <a:off x="5715000" y="2667000"/>
            <a:ext cx="609600" cy="369332"/>
          </a:xfrm>
          <a:prstGeom prst="rect">
            <a:avLst/>
          </a:prstGeom>
          <a:noFill/>
        </p:spPr>
        <p:txBody>
          <a:bodyPr wrap="square" rtlCol="0">
            <a:spAutoFit/>
          </a:bodyPr>
          <a:lstStyle/>
          <a:p>
            <a:pPr algn="ctr"/>
            <a:r>
              <a:rPr lang="es-CR" dirty="0" smtClean="0"/>
              <a:t>8.8</a:t>
            </a:r>
            <a:endParaRPr lang="es-CR" dirty="0"/>
          </a:p>
        </p:txBody>
      </p:sp>
      <p:sp>
        <p:nvSpPr>
          <p:cNvPr id="32" name="TextBox 31"/>
          <p:cNvSpPr txBox="1"/>
          <p:nvPr/>
        </p:nvSpPr>
        <p:spPr>
          <a:xfrm>
            <a:off x="7162800" y="2667000"/>
            <a:ext cx="609600" cy="369332"/>
          </a:xfrm>
          <a:prstGeom prst="rect">
            <a:avLst/>
          </a:prstGeom>
          <a:noFill/>
        </p:spPr>
        <p:txBody>
          <a:bodyPr wrap="square" rtlCol="0">
            <a:spAutoFit/>
          </a:bodyPr>
          <a:lstStyle/>
          <a:p>
            <a:pPr algn="ctr"/>
            <a:r>
              <a:rPr lang="es-CR" dirty="0" smtClean="0"/>
              <a:t>11.5</a:t>
            </a:r>
            <a:endParaRPr lang="es-CR" dirty="0"/>
          </a:p>
        </p:txBody>
      </p:sp>
      <p:cxnSp>
        <p:nvCxnSpPr>
          <p:cNvPr id="34" name="Straight Connector 33"/>
          <p:cNvCxnSpPr/>
          <p:nvPr/>
        </p:nvCxnSpPr>
        <p:spPr>
          <a:xfrm rot="5400000" flipH="1" flipV="1">
            <a:off x="20955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flipH="1" flipV="1">
            <a:off x="27813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flipV="1">
            <a:off x="51435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flipH="1" flipV="1">
            <a:off x="56007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flipH="1" flipV="1">
            <a:off x="65913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1981200" y="3352800"/>
            <a:ext cx="381000" cy="381000"/>
          </a:xfrm>
          <a:prstGeom prst="rect">
            <a:avLst/>
          </a:prstGeom>
          <a:noFill/>
        </p:spPr>
        <p:txBody>
          <a:bodyPr wrap="square" rtlCol="0">
            <a:spAutoFit/>
          </a:bodyPr>
          <a:lstStyle/>
          <a:p>
            <a:r>
              <a:rPr lang="es-CR" dirty="0" smtClean="0"/>
              <a:t>2</a:t>
            </a:r>
            <a:endParaRPr lang="es-CR" dirty="0"/>
          </a:p>
        </p:txBody>
      </p:sp>
      <p:sp>
        <p:nvSpPr>
          <p:cNvPr id="40" name="TextBox 39"/>
          <p:cNvSpPr txBox="1"/>
          <p:nvPr/>
        </p:nvSpPr>
        <p:spPr>
          <a:xfrm>
            <a:off x="2743200" y="3352800"/>
            <a:ext cx="381000" cy="381000"/>
          </a:xfrm>
          <a:prstGeom prst="rect">
            <a:avLst/>
          </a:prstGeom>
          <a:noFill/>
        </p:spPr>
        <p:txBody>
          <a:bodyPr wrap="square" rtlCol="0">
            <a:spAutoFit/>
          </a:bodyPr>
          <a:lstStyle/>
          <a:p>
            <a:r>
              <a:rPr lang="es-CR" dirty="0" smtClean="0"/>
              <a:t>3</a:t>
            </a:r>
            <a:endParaRPr lang="es-CR" dirty="0"/>
          </a:p>
        </p:txBody>
      </p:sp>
      <p:sp>
        <p:nvSpPr>
          <p:cNvPr id="41" name="TextBox 40"/>
          <p:cNvSpPr txBox="1"/>
          <p:nvPr/>
        </p:nvSpPr>
        <p:spPr>
          <a:xfrm>
            <a:off x="5105400" y="3352800"/>
            <a:ext cx="381000" cy="381000"/>
          </a:xfrm>
          <a:prstGeom prst="rect">
            <a:avLst/>
          </a:prstGeom>
          <a:noFill/>
        </p:spPr>
        <p:txBody>
          <a:bodyPr wrap="square" rtlCol="0">
            <a:spAutoFit/>
          </a:bodyPr>
          <a:lstStyle/>
          <a:p>
            <a:r>
              <a:rPr lang="es-CR" dirty="0" smtClean="0"/>
              <a:t>7</a:t>
            </a:r>
            <a:endParaRPr lang="es-CR" dirty="0"/>
          </a:p>
        </p:txBody>
      </p:sp>
      <p:sp>
        <p:nvSpPr>
          <p:cNvPr id="42" name="TextBox 41"/>
          <p:cNvSpPr txBox="1"/>
          <p:nvPr/>
        </p:nvSpPr>
        <p:spPr>
          <a:xfrm>
            <a:off x="5562600" y="3352800"/>
            <a:ext cx="381000" cy="381000"/>
          </a:xfrm>
          <a:prstGeom prst="rect">
            <a:avLst/>
          </a:prstGeom>
          <a:noFill/>
        </p:spPr>
        <p:txBody>
          <a:bodyPr wrap="square" rtlCol="0">
            <a:spAutoFit/>
          </a:bodyPr>
          <a:lstStyle/>
          <a:p>
            <a:r>
              <a:rPr lang="es-CR" dirty="0" smtClean="0"/>
              <a:t>8</a:t>
            </a:r>
            <a:endParaRPr lang="es-CR" dirty="0"/>
          </a:p>
        </p:txBody>
      </p:sp>
      <p:sp>
        <p:nvSpPr>
          <p:cNvPr id="43" name="TextBox 42"/>
          <p:cNvSpPr txBox="1"/>
          <p:nvPr/>
        </p:nvSpPr>
        <p:spPr>
          <a:xfrm>
            <a:off x="6553200" y="3352801"/>
            <a:ext cx="457200" cy="369332"/>
          </a:xfrm>
          <a:prstGeom prst="rect">
            <a:avLst/>
          </a:prstGeom>
          <a:noFill/>
        </p:spPr>
        <p:txBody>
          <a:bodyPr wrap="square" rtlCol="0">
            <a:spAutoFit/>
          </a:bodyPr>
          <a:lstStyle/>
          <a:p>
            <a:r>
              <a:rPr lang="es-CR" dirty="0" smtClean="0"/>
              <a:t>10</a:t>
            </a:r>
            <a:endParaRPr lang="es-CR" dirty="0"/>
          </a:p>
        </p:txBody>
      </p:sp>
    </p:spTree>
  </p:cSld>
  <p:clrMapOvr>
    <a:masterClrMapping/>
  </p:clrMapOvr>
  <p:transition>
    <p:comb/>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7772400" cy="4572000"/>
          </a:xfrm>
        </p:spPr>
        <p:txBody>
          <a:bodyPr/>
          <a:lstStyle/>
          <a:p>
            <a:r>
              <a:rPr lang="es-CR" dirty="0" smtClean="0"/>
              <a:t>Debido principalmente a la falta de requerimientos teóricos y muchas veces prácticos, la desviación media no es la medida de dispersión más utilizada.</a:t>
            </a:r>
          </a:p>
          <a:p>
            <a:endParaRPr lang="es-CR" dirty="0" smtClean="0"/>
          </a:p>
          <a:p>
            <a:r>
              <a:rPr lang="es-CR" dirty="0" smtClean="0"/>
              <a:t>Por eso se debe recurrir la gran mayoría de veces a la variancia y desviación estándar.</a:t>
            </a:r>
            <a:endParaRPr lang="es-CR" dirty="0"/>
          </a:p>
        </p:txBody>
      </p:sp>
      <p:sp>
        <p:nvSpPr>
          <p:cNvPr id="4" name="Title 1"/>
          <p:cNvSpPr>
            <a:spLocks noGrp="1"/>
          </p:cNvSpPr>
          <p:nvPr>
            <p:ph type="title"/>
          </p:nvPr>
        </p:nvSpPr>
        <p:spPr>
          <a:xfrm>
            <a:off x="533400" y="0"/>
            <a:ext cx="7772400" cy="914400"/>
          </a:xfrm>
        </p:spPr>
        <p:txBody>
          <a:bodyPr/>
          <a:lstStyle/>
          <a:p>
            <a:pPr algn="ctr"/>
            <a:r>
              <a:rPr lang="es-CR" dirty="0" smtClean="0"/>
              <a:t>La desviación media </a:t>
            </a:r>
            <a:endParaRPr lang="es-CR" dirty="0"/>
          </a:p>
        </p:txBody>
      </p:sp>
      <p:sp>
        <p:nvSpPr>
          <p:cNvPr id="153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536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514600" y="4572000"/>
            <a:ext cx="3040380" cy="1066800"/>
          </a:xfrm>
          <a:prstGeom prst="rect">
            <a:avLst/>
          </a:prstGeom>
          <a:noFill/>
        </p:spPr>
      </p:pic>
    </p:spTree>
  </p:cSld>
  <p:clrMapOvr>
    <a:masterClrMapping/>
  </p:clrMapOvr>
  <p:transition>
    <p:comb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smtClean="0"/>
              <a:t>Índice</a:t>
            </a:r>
            <a:endParaRPr lang="es-CR" dirty="0"/>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Introducción</a:t>
            </a:r>
            <a:endParaRPr lang="es-CR" dirty="0"/>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concepto de variabilidad</a:t>
            </a:r>
            <a:endParaRPr lang="es-CR" dirty="0"/>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Recorrido o amplitud</a:t>
            </a:r>
            <a:endParaRPr lang="es-CR" dirty="0"/>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desviación media</a:t>
            </a:r>
            <a:endParaRPr lang="es-CR" dirty="0"/>
          </a:p>
        </p:txBody>
      </p:sp>
      <p:sp>
        <p:nvSpPr>
          <p:cNvPr id="13" name="12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desviación estándar</a:t>
            </a:r>
            <a:endParaRPr lang="es-CR" dirty="0"/>
          </a:p>
        </p:txBody>
      </p:sp>
    </p:spTree>
    <p:extLst>
      <p:ext uri="{BB962C8B-B14F-4D97-AF65-F5344CB8AC3E}">
        <p14:creationId xmlns:p14="http://schemas.microsoft.com/office/powerpoint/2010/main" val="34549765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sp>
        <p:nvSpPr>
          <p:cNvPr id="3" name="Content Placeholder 2"/>
          <p:cNvSpPr>
            <a:spLocks noGrp="1"/>
          </p:cNvSpPr>
          <p:nvPr>
            <p:ph sz="quarter" idx="1"/>
          </p:nvPr>
        </p:nvSpPr>
        <p:spPr>
          <a:xfrm>
            <a:off x="457200" y="1295400"/>
            <a:ext cx="5638800" cy="5334000"/>
          </a:xfrm>
        </p:spPr>
        <p:txBody>
          <a:bodyPr>
            <a:normAutofit fontScale="92500" lnSpcReduction="10000"/>
          </a:bodyPr>
          <a:lstStyle/>
          <a:p>
            <a:pPr algn="just"/>
            <a:r>
              <a:rPr lang="es-CR" dirty="0" smtClean="0"/>
              <a:t>La variancia y la desviación estándar son las medidas de dispersión más cómodas y útiles que reúnen numerosas ventajas prácticas y teóricas.</a:t>
            </a:r>
          </a:p>
          <a:p>
            <a:pPr algn="just"/>
            <a:endParaRPr lang="es-CR" dirty="0" smtClean="0"/>
          </a:p>
          <a:p>
            <a:pPr algn="just"/>
            <a:r>
              <a:rPr lang="es-CR" dirty="0" smtClean="0"/>
              <a:t>Como para la DM, se toma en cuenta las desviaciones o diferencias de todos los datos con respecto al promedio.</a:t>
            </a:r>
          </a:p>
          <a:p>
            <a:pPr algn="just"/>
            <a:endParaRPr lang="es-CR" dirty="0" smtClean="0"/>
          </a:p>
          <a:p>
            <a:pPr algn="just"/>
            <a:r>
              <a:rPr lang="es-CR" dirty="0" smtClean="0"/>
              <a:t>Sin embargo, en esta ocasión en vez de considerar las desviaciones absolutas de cada dato con respecto al promedio, se van a considerar las desviaciones cuadráticas de los datos con respecto al promedio.</a:t>
            </a:r>
            <a:endParaRPr lang="es-CR" dirty="0"/>
          </a:p>
        </p:txBody>
      </p:sp>
      <p:pic>
        <p:nvPicPr>
          <p:cNvPr id="27650" name="Picture 2" descr="http://www.socialresearchmethods.net/kb/Assets/images/statdes3.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6131" y="1533196"/>
            <a:ext cx="2514600" cy="1772307"/>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http://crop.unl.edu/claes/SALTA/Henderson/StandardDeviationDefn.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6131" y="4114800"/>
            <a:ext cx="2343150" cy="12954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Ba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772400" cy="4572000"/>
          </a:xfrm>
        </p:spPr>
        <p:txBody>
          <a:bodyPr/>
          <a:lstStyle/>
          <a:p>
            <a:pPr algn="just"/>
            <a:r>
              <a:rPr lang="es-CR" dirty="0" smtClean="0"/>
              <a:t>Las desviaciones cuadráticas permiten obtener la medida de dispersión denominada “variancia”. Si a la variancia se le aplica una raíz cuadrada, entonces se puede obtener la desviación estándar o desviación típica.</a:t>
            </a:r>
          </a:p>
          <a:p>
            <a:pPr algn="just"/>
            <a:endParaRPr lang="es-CR" dirty="0" smtClean="0"/>
          </a:p>
          <a:p>
            <a:pPr algn="just"/>
            <a:r>
              <a:rPr lang="es-CR" dirty="0" smtClean="0"/>
              <a:t>La variancia se formula de la siguiente forma:</a:t>
            </a:r>
          </a:p>
          <a:p>
            <a:endParaRPr lang="es-CR" dirty="0" smtClean="0"/>
          </a:p>
          <a:p>
            <a:pPr>
              <a:buNone/>
            </a:pPr>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sp>
        <p:nvSpPr>
          <p:cNvPr id="5" name="Rectangle 4"/>
          <p:cNvSpPr/>
          <p:nvPr/>
        </p:nvSpPr>
        <p:spPr>
          <a:xfrm>
            <a:off x="609600" y="4191000"/>
            <a:ext cx="73152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Variancia =                          = (</a:t>
            </a:r>
            <a:r>
              <a:rPr lang="es-CR" sz="2400" u="sng" dirty="0" smtClean="0"/>
              <a:t>desviaciones absolutas</a:t>
            </a:r>
            <a:r>
              <a:rPr lang="es-CR" sz="2400" dirty="0" smtClean="0"/>
              <a:t>)</a:t>
            </a:r>
            <a:br>
              <a:rPr lang="es-CR" sz="2400" dirty="0" smtClean="0"/>
            </a:br>
            <a:r>
              <a:rPr lang="es-CR" sz="2400" dirty="0" smtClean="0"/>
              <a:t>                                          (número de datos)</a:t>
            </a:r>
            <a:endParaRPr lang="es-CR" sz="2400" dirty="0"/>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331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667000" y="4267200"/>
            <a:ext cx="1584960" cy="609600"/>
          </a:xfrm>
          <a:prstGeom prst="rect">
            <a:avLst/>
          </a:prstGeom>
          <a:noFill/>
        </p:spPr>
      </p:pic>
    </p:spTree>
  </p:cSld>
  <p:clrMapOvr>
    <a:masterClrMapping/>
  </p:clrMapOvr>
  <p:transition>
    <p:randomBar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8153400" cy="5105400"/>
          </a:xfrm>
        </p:spPr>
        <p:txBody>
          <a:bodyPr/>
          <a:lstStyle/>
          <a:p>
            <a:r>
              <a:rPr lang="es-CR" dirty="0" smtClean="0"/>
              <a:t>La desviación estándar (DE) se describe de la siguiente forma:</a:t>
            </a:r>
          </a:p>
          <a:p>
            <a:endParaRPr lang="es-CR" dirty="0" smtClean="0"/>
          </a:p>
          <a:p>
            <a:endParaRPr lang="es-CR" dirty="0" smtClean="0"/>
          </a:p>
          <a:p>
            <a:endParaRPr lang="es-CR" dirty="0" smtClean="0"/>
          </a:p>
          <a:p>
            <a:endParaRPr lang="es-CR" dirty="0" smtClean="0"/>
          </a:p>
          <a:p>
            <a:pPr>
              <a:buNone/>
            </a:pPr>
            <a:endParaRPr lang="es-CR" dirty="0" smtClean="0"/>
          </a:p>
          <a:p>
            <a:r>
              <a:rPr lang="es-CR" dirty="0" smtClean="0"/>
              <a:t>La desviación estándar nos indica cuánto se alejan, en promedio, las observaciones de la media aritmética del conjunto.</a:t>
            </a:r>
          </a:p>
          <a:p>
            <a:endParaRPr lang="es-CR" dirty="0" smtClean="0"/>
          </a:p>
          <a:p>
            <a:r>
              <a:rPr lang="es-CR" dirty="0" smtClean="0"/>
              <a:t>Es la medida de dispersión más usada en estadística, tanto en aspectos descriptivos como analíticos. </a:t>
            </a:r>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sp>
        <p:nvSpPr>
          <p:cNvPr id="5" name="Rectangle 4"/>
          <p:cNvSpPr/>
          <p:nvPr/>
        </p:nvSpPr>
        <p:spPr>
          <a:xfrm>
            <a:off x="685800" y="2209800"/>
            <a:ext cx="7315200" cy="13716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smtClean="0"/>
              <a:t>DE =                          = (</a:t>
            </a:r>
            <a:r>
              <a:rPr lang="es-CR" sz="2400" u="sng" dirty="0" smtClean="0"/>
              <a:t>desviaciones absolutas</a:t>
            </a:r>
            <a:r>
              <a:rPr lang="es-CR" sz="2400" dirty="0" smtClean="0"/>
              <a:t>)</a:t>
            </a:r>
            <a:br>
              <a:rPr lang="es-CR" sz="2400" dirty="0" smtClean="0"/>
            </a:br>
            <a:r>
              <a:rPr lang="es-CR" sz="2400" dirty="0" smtClean="0"/>
              <a:t>                                          (número de datos)</a:t>
            </a:r>
            <a:endParaRPr lang="es-CR" sz="2400" dirty="0"/>
          </a:p>
        </p:txBody>
      </p:sp>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645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6451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362200" y="2209800"/>
            <a:ext cx="1676400" cy="990600"/>
          </a:xfrm>
          <a:prstGeom prst="rect">
            <a:avLst/>
          </a:prstGeom>
          <a:noFill/>
        </p:spPr>
      </p:pic>
    </p:spTree>
  </p:cSld>
  <p:clrMapOvr>
    <a:masterClrMapping/>
  </p:clrMapOvr>
  <p:transition>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6096000" cy="5029200"/>
          </a:xfrm>
        </p:spPr>
        <p:txBody>
          <a:bodyPr>
            <a:normAutofit lnSpcReduction="10000"/>
          </a:bodyPr>
          <a:lstStyle/>
          <a:p>
            <a:pPr algn="just"/>
            <a:r>
              <a:rPr lang="es-CR" dirty="0" smtClean="0"/>
              <a:t>Para fines prácticos, la medida de dispersión que se utiliza en informes, reportes, descripciones y se interpreta es la desviación estándar. </a:t>
            </a:r>
          </a:p>
          <a:p>
            <a:pPr algn="just"/>
            <a:endParaRPr lang="es-CR" dirty="0" smtClean="0"/>
          </a:p>
          <a:p>
            <a:pPr algn="just"/>
            <a:r>
              <a:rPr lang="es-CR" dirty="0" smtClean="0"/>
              <a:t>La variancia se utiliza para facilitar los cálculos, pero no se interpreta ni nada por el estilo, ya que las medidas están modificadas por el cuadro, e interesa la medida original de la variable.</a:t>
            </a:r>
          </a:p>
          <a:p>
            <a:pPr algn="just"/>
            <a:endParaRPr lang="es-CR" dirty="0" smtClean="0"/>
          </a:p>
          <a:p>
            <a:pPr algn="just"/>
            <a:r>
              <a:rPr lang="es-CR" dirty="0" smtClean="0"/>
              <a:t>De ahí que si interpretamos algo será la DE.</a:t>
            </a:r>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pic>
        <p:nvPicPr>
          <p:cNvPr id="28674" name="Picture 2" descr="http://image.mathcaptain.com/cms/images/41/graphing-standard-deviati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200" y="1524000"/>
            <a:ext cx="2362200"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newsfla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7772400" cy="4572000"/>
          </a:xfrm>
        </p:spPr>
        <p:txBody>
          <a:bodyPr/>
          <a:lstStyle/>
          <a:p>
            <a:r>
              <a:rPr lang="es-CR" dirty="0" smtClean="0"/>
              <a:t>Para el cálculo de la variancia se puede proceder de dos formas. La primera es la forma “normal” y la otra es la “simplificada”.</a:t>
            </a:r>
          </a:p>
          <a:p>
            <a:endParaRPr lang="es-CR" dirty="0" smtClean="0"/>
          </a:p>
          <a:p>
            <a:r>
              <a:rPr lang="es-CR" dirty="0" smtClean="0"/>
              <a:t>El cálculo de la variancia “normal”, cuando se tiene una muestra de “n” datos, se expresa como “S</a:t>
            </a:r>
            <a:r>
              <a:rPr lang="es-CR" baseline="30000" dirty="0" smtClean="0"/>
              <a:t>2</a:t>
            </a:r>
            <a:r>
              <a:rPr lang="es-CR" dirty="0" smtClean="0"/>
              <a:t>” , se denota:</a:t>
            </a:r>
          </a:p>
          <a:p>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4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667000" y="4572000"/>
            <a:ext cx="2971800" cy="11430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7772400" cy="5410200"/>
          </a:xfrm>
        </p:spPr>
        <p:txBody>
          <a:bodyPr>
            <a:normAutofit/>
          </a:bodyPr>
          <a:lstStyle/>
          <a:p>
            <a:r>
              <a:rPr lang="es-CR" dirty="0" smtClean="0"/>
              <a:t>Sea el conjunto de datos anterior, </a:t>
            </a:r>
          </a:p>
          <a:p>
            <a:pPr algn="ctr">
              <a:buNone/>
            </a:pPr>
            <a:r>
              <a:rPr lang="es-CR" dirty="0" smtClean="0"/>
              <a:t>3, 10, 2, 8, 7.</a:t>
            </a:r>
          </a:p>
          <a:p>
            <a:pPr>
              <a:buNone/>
            </a:pPr>
            <a:endParaRPr lang="es-CR" dirty="0" smtClean="0"/>
          </a:p>
          <a:p>
            <a:r>
              <a:rPr lang="es-CR" dirty="0" smtClean="0"/>
              <a:t>Para obtener la variancia:</a:t>
            </a:r>
          </a:p>
          <a:p>
            <a:endParaRPr lang="es-CR" dirty="0" smtClean="0"/>
          </a:p>
          <a:p>
            <a:pPr>
              <a:buNone/>
            </a:pPr>
            <a:endParaRPr lang="es-CR" dirty="0" smtClean="0"/>
          </a:p>
          <a:p>
            <a:pPr>
              <a:buNone/>
            </a:pPr>
            <a:endParaRPr lang="es-CR" dirty="0" smtClean="0"/>
          </a:p>
          <a:p>
            <a:pPr>
              <a:buNone/>
            </a:pPr>
            <a:r>
              <a:rPr lang="es-CR" dirty="0" smtClean="0"/>
              <a:t>  	</a:t>
            </a:r>
          </a:p>
          <a:p>
            <a:pPr>
              <a:buNone/>
            </a:pPr>
            <a:r>
              <a:rPr lang="es-CR" dirty="0" smtClean="0"/>
              <a:t>			          </a:t>
            </a:r>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02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400800" y="3505200"/>
            <a:ext cx="1215736" cy="685800"/>
          </a:xfrm>
          <a:prstGeom prst="rect">
            <a:avLst/>
          </a:prstGeom>
          <a:noFill/>
        </p:spPr>
      </p:pic>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027"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990600" y="5562600"/>
            <a:ext cx="5049520" cy="1066800"/>
          </a:xfrm>
          <a:prstGeom prst="rect">
            <a:avLst/>
          </a:prstGeom>
          <a:noFill/>
        </p:spPr>
      </p:pic>
      <p:graphicFrame>
        <p:nvGraphicFramePr>
          <p:cNvPr id="8" name="Table 7"/>
          <p:cNvGraphicFramePr>
            <a:graphicFrameLocks noGrp="1"/>
          </p:cNvGraphicFramePr>
          <p:nvPr/>
        </p:nvGraphicFramePr>
        <p:xfrm>
          <a:off x="2362200" y="3200400"/>
          <a:ext cx="2971800" cy="2133600"/>
        </p:xfrm>
        <a:graphic>
          <a:graphicData uri="http://schemas.openxmlformats.org/drawingml/2006/table">
            <a:tbl>
              <a:tblPr/>
              <a:tblGrid>
                <a:gridCol w="990600"/>
                <a:gridCol w="990600"/>
                <a:gridCol w="990600"/>
              </a:tblGrid>
              <a:tr h="304800">
                <a:tc>
                  <a:txBody>
                    <a:bodyPr/>
                    <a:lstStyle/>
                    <a:p>
                      <a:pPr algn="ctr" fontAlgn="b"/>
                      <a:r>
                        <a:rPr lang="es-CR" sz="2000" b="0" i="0" u="none" strike="noStrike" dirty="0">
                          <a:solidFill>
                            <a:srgbClr val="000000"/>
                          </a:solidFill>
                          <a:latin typeface="Calibri"/>
                        </a:rPr>
                        <a:t>xi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xi -x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(xi-x)^2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4800">
                <a:tc>
                  <a:txBody>
                    <a:bodyPr/>
                    <a:lstStyle/>
                    <a:p>
                      <a:pPr algn="ctr" fontAlgn="b"/>
                      <a:r>
                        <a:rPr lang="es-CR" sz="2000" b="0" i="0" u="none" strike="noStrike">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000" b="0" i="0" u="none" strike="noStrike" dirty="0">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000" b="0" i="0" u="none" strike="noStrike">
                          <a:solidFill>
                            <a:srgbClr val="000000"/>
                          </a:solidFill>
                          <a:latin typeface="Calibri"/>
                        </a:rPr>
                        <a:t>9</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r>
              <a:tr h="304800">
                <a:tc>
                  <a:txBody>
                    <a:bodyPr/>
                    <a:lstStyle/>
                    <a:p>
                      <a:pPr algn="ctr" fontAlgn="b"/>
                      <a:r>
                        <a:rPr lang="es-CR" sz="2000" b="0" i="0" u="none" strike="noStrike">
                          <a:solidFill>
                            <a:srgbClr val="000000"/>
                          </a:solidFill>
                          <a:latin typeface="Calibri"/>
                        </a:rPr>
                        <a:t>10</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4</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16</a:t>
                      </a:r>
                    </a:p>
                  </a:txBody>
                  <a:tcPr marL="0" marR="0" marT="0" marB="0" anchor="b">
                    <a:lnL>
                      <a:noFill/>
                    </a:lnL>
                    <a:lnR>
                      <a:noFill/>
                    </a:lnR>
                    <a:lnT>
                      <a:noFill/>
                    </a:lnT>
                    <a:lnB>
                      <a:noFill/>
                    </a:lnB>
                  </a:tcPr>
                </a:tc>
              </a:tr>
              <a:tr h="304800">
                <a:tc>
                  <a:txBody>
                    <a:bodyPr/>
                    <a:lstStyle/>
                    <a:p>
                      <a:pPr algn="ctr" fontAlgn="b"/>
                      <a:r>
                        <a:rPr lang="es-CR" sz="20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s-CR" sz="2000" b="0" i="0" u="none" strike="noStrike">
                          <a:solidFill>
                            <a:srgbClr val="000000"/>
                          </a:solidFill>
                          <a:latin typeface="Calibri"/>
                        </a:rPr>
                        <a:t>-4</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16</a:t>
                      </a:r>
                    </a:p>
                  </a:txBody>
                  <a:tcPr marL="0" marR="0" marT="0" marB="0" anchor="b">
                    <a:lnL>
                      <a:noFill/>
                    </a:lnL>
                    <a:lnR>
                      <a:noFill/>
                    </a:lnR>
                    <a:lnT>
                      <a:noFill/>
                    </a:lnT>
                    <a:lnB>
                      <a:noFill/>
                    </a:lnB>
                  </a:tcPr>
                </a:tc>
              </a:tr>
              <a:tr h="304800">
                <a:tc>
                  <a:txBody>
                    <a:bodyPr/>
                    <a:lstStyle/>
                    <a:p>
                      <a:pPr algn="ctr" fontAlgn="b"/>
                      <a:r>
                        <a:rPr lang="es-CR" sz="2000" b="0" i="0" u="none" strike="noStrike">
                          <a:solidFill>
                            <a:srgbClr val="000000"/>
                          </a:solidFill>
                          <a:latin typeface="Calibri"/>
                        </a:rPr>
                        <a:t>8</a:t>
                      </a:r>
                    </a:p>
                  </a:txBody>
                  <a:tcPr marL="0" marR="0" marT="0" marB="0" anchor="b">
                    <a:lnL>
                      <a:noFill/>
                    </a:lnL>
                    <a:lnR>
                      <a:noFill/>
                    </a:lnR>
                    <a:lnT>
                      <a:noFill/>
                    </a:lnT>
                    <a:lnB>
                      <a:noFill/>
                    </a:lnB>
                  </a:tcPr>
                </a:tc>
                <a:tc>
                  <a:txBody>
                    <a:bodyPr/>
                    <a:lstStyle/>
                    <a:p>
                      <a:pPr algn="ctr" fontAlgn="b"/>
                      <a:r>
                        <a:rPr lang="es-CR" sz="20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4</a:t>
                      </a:r>
                    </a:p>
                  </a:txBody>
                  <a:tcPr marL="0" marR="0" marT="0" marB="0" anchor="b">
                    <a:lnL>
                      <a:noFill/>
                    </a:lnL>
                    <a:lnR>
                      <a:noFill/>
                    </a:lnR>
                    <a:lnT>
                      <a:noFill/>
                    </a:lnT>
                    <a:lnB>
                      <a:noFill/>
                    </a:lnB>
                  </a:tcPr>
                </a:tc>
              </a:tr>
              <a:tr h="304800">
                <a:tc>
                  <a:txBody>
                    <a:bodyPr/>
                    <a:lstStyle/>
                    <a:p>
                      <a:pPr algn="ctr" fontAlgn="b"/>
                      <a:r>
                        <a:rPr lang="es-CR" sz="2000" b="0" i="0" u="none" strike="noStrike">
                          <a:solidFill>
                            <a:srgbClr val="000000"/>
                          </a:solidFill>
                          <a:latin typeface="Calibri"/>
                        </a:rPr>
                        <a:t>7</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1</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1</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r>
              <a:tr h="304800">
                <a:tc>
                  <a:txBody>
                    <a:bodyPr/>
                    <a:lstStyle/>
                    <a:p>
                      <a:pPr algn="ctr" fontAlgn="b"/>
                      <a:r>
                        <a:rPr lang="es-CR" sz="2000" b="0" i="0" u="none" strike="noStrike">
                          <a:solidFill>
                            <a:srgbClr val="000000"/>
                          </a:solidFill>
                          <a:latin typeface="Calibri"/>
                        </a:rPr>
                        <a:t>30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46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7924800" cy="5181600"/>
          </a:xfrm>
        </p:spPr>
        <p:txBody>
          <a:bodyPr>
            <a:normAutofit/>
          </a:bodyPr>
          <a:lstStyle/>
          <a:p>
            <a:r>
              <a:rPr lang="es-CR" dirty="0" smtClean="0"/>
              <a:t>Por lo tanto la variancia es igual a 11.5. </a:t>
            </a:r>
          </a:p>
          <a:p>
            <a:endParaRPr lang="es-CR" dirty="0" smtClean="0"/>
          </a:p>
          <a:p>
            <a:r>
              <a:rPr lang="es-CR" dirty="0" smtClean="0"/>
              <a:t>Para obtener la desviación estándar lo que tenemos que hacer es sacar raíz cuadrada al resultado anterior.</a:t>
            </a:r>
          </a:p>
          <a:p>
            <a:endParaRPr lang="es-CR" dirty="0" smtClean="0"/>
          </a:p>
          <a:p>
            <a:endParaRPr lang="es-CR" dirty="0" smtClean="0"/>
          </a:p>
          <a:p>
            <a:endParaRPr lang="es-CR" dirty="0" smtClean="0"/>
          </a:p>
          <a:p>
            <a:endParaRPr lang="es-CR" dirty="0" smtClean="0"/>
          </a:p>
          <a:p>
            <a:r>
              <a:rPr lang="es-CR" dirty="0" smtClean="0"/>
              <a:t>Nótese que este es el resultado que se interpreta, pero esto lo haremos más adelante. </a:t>
            </a:r>
          </a:p>
          <a:p>
            <a:endParaRPr lang="es-CR" dirty="0" smtClean="0"/>
          </a:p>
          <a:p>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812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066800" y="3505200"/>
            <a:ext cx="5494867" cy="838200"/>
          </a:xfrm>
          <a:prstGeom prst="rect">
            <a:avLst/>
          </a:prstGeom>
          <a:noFill/>
        </p:spPr>
      </p:pic>
    </p:spTree>
  </p:cSld>
  <p:clrMapOvr>
    <a:masterClrMapping/>
  </p:clrMapOvr>
  <p:transition>
    <p:circl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7772400" cy="5029200"/>
          </a:xfrm>
        </p:spPr>
        <p:txBody>
          <a:bodyPr/>
          <a:lstStyle/>
          <a:p>
            <a:r>
              <a:rPr lang="es-CR" dirty="0" smtClean="0"/>
              <a:t>La otra forma para obtener la variancia “simplificada” se denota de la siguiente forma:</a:t>
            </a:r>
          </a:p>
          <a:p>
            <a:endParaRPr lang="es-CR" dirty="0" smtClean="0"/>
          </a:p>
          <a:p>
            <a:endParaRPr lang="es-CR" dirty="0" smtClean="0"/>
          </a:p>
          <a:p>
            <a:endParaRPr lang="es-CR" dirty="0" smtClean="0"/>
          </a:p>
          <a:p>
            <a:endParaRPr lang="es-CR" dirty="0" smtClean="0"/>
          </a:p>
          <a:p>
            <a:endParaRPr lang="es-CR" dirty="0" smtClean="0"/>
          </a:p>
          <a:p>
            <a:r>
              <a:rPr lang="es-CR" dirty="0" smtClean="0"/>
              <a:t>Para obtener la variancia mediante este método, se utiliza las observaciones individuales en todo momento.</a:t>
            </a:r>
          </a:p>
          <a:p>
            <a:endParaRPr lang="es-CR" dirty="0" smtClean="0"/>
          </a:p>
          <a:p>
            <a:endParaRPr lang="es-CR" dirty="0" smtClean="0"/>
          </a:p>
          <a:p>
            <a:endParaRPr lang="es-CR" dirty="0" smtClean="0"/>
          </a:p>
          <a:p>
            <a:endParaRPr lang="es-CR" dirty="0" smtClean="0"/>
          </a:p>
          <a:p>
            <a:endParaRPr lang="es-CR" dirty="0" smtClean="0"/>
          </a:p>
          <a:p>
            <a:pPr>
              <a:buNone/>
            </a:pPr>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710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447800" y="2747139"/>
            <a:ext cx="3124200" cy="1295399"/>
          </a:xfrm>
          <a:prstGeom prst="rect">
            <a:avLst/>
          </a:prstGeom>
          <a:noFill/>
        </p:spPr>
      </p:pic>
      <p:sp>
        <p:nvSpPr>
          <p:cNvPr id="593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 name="Picture 2" descr="http://sekho.com.pk/wp-content/uploads/2014/09/sargodha-board-inter-part-2-2nd-year-Result-2014-12th-cla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0" y="2133600"/>
            <a:ext cx="1828800" cy="21370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trips dir="ru"/>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371600"/>
            <a:ext cx="7772400" cy="4876800"/>
          </a:xfrm>
        </p:spPr>
        <p:txBody>
          <a:bodyPr>
            <a:normAutofit/>
          </a:bodyPr>
          <a:lstStyle/>
          <a:p>
            <a:r>
              <a:rPr lang="es-CR" dirty="0" smtClean="0"/>
              <a:t>1. Se obtiene el cuadro de todas las Xi observaciones:</a:t>
            </a:r>
          </a:p>
          <a:p>
            <a:endParaRPr lang="es-CR" dirty="0" smtClean="0"/>
          </a:p>
          <a:p>
            <a:pPr>
              <a:buNone/>
            </a:pPr>
            <a:endParaRPr lang="es-CR" dirty="0" smtClean="0"/>
          </a:p>
          <a:p>
            <a:endParaRPr lang="es-CR" dirty="0" smtClean="0"/>
          </a:p>
          <a:p>
            <a:endParaRPr lang="es-CR" dirty="0" smtClean="0"/>
          </a:p>
          <a:p>
            <a:endParaRPr lang="es-CR" dirty="0" smtClean="0"/>
          </a:p>
          <a:p>
            <a:endParaRPr lang="es-CR" dirty="0" smtClean="0"/>
          </a:p>
          <a:p>
            <a:r>
              <a:rPr lang="es-CR" dirty="0" smtClean="0"/>
              <a:t>2. Se obtiene la suma de todas las observaciones, se suma el cuadrado y finalmente se divide por el número de observaciones.</a:t>
            </a:r>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graphicFrame>
        <p:nvGraphicFramePr>
          <p:cNvPr id="5" name="Table 4"/>
          <p:cNvGraphicFramePr>
            <a:graphicFrameLocks noGrp="1"/>
          </p:cNvGraphicFramePr>
          <p:nvPr/>
        </p:nvGraphicFramePr>
        <p:xfrm>
          <a:off x="3200400" y="1905000"/>
          <a:ext cx="2362200" cy="2285997"/>
        </p:xfrm>
        <a:graphic>
          <a:graphicData uri="http://schemas.openxmlformats.org/drawingml/2006/table">
            <a:tbl>
              <a:tblPr/>
              <a:tblGrid>
                <a:gridCol w="1181100"/>
                <a:gridCol w="1181100"/>
              </a:tblGrid>
              <a:tr h="326571">
                <a:tc>
                  <a:txBody>
                    <a:bodyPr/>
                    <a:lstStyle/>
                    <a:p>
                      <a:pPr algn="ctr" fontAlgn="b"/>
                      <a:r>
                        <a:rPr lang="es-CR" sz="2000" b="0" i="0" u="none" strike="noStrike" dirty="0">
                          <a:solidFill>
                            <a:srgbClr val="000000"/>
                          </a:solidFill>
                          <a:latin typeface="Calibri"/>
                        </a:rPr>
                        <a:t>xi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xi ^2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6571">
                <a:tc>
                  <a:txBody>
                    <a:bodyPr/>
                    <a:lstStyle/>
                    <a:p>
                      <a:pPr algn="ctr" fontAlgn="b"/>
                      <a:r>
                        <a:rPr lang="es-CR" sz="2000" b="0" i="0" u="none" strike="noStrike" dirty="0">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000" b="0" i="0" u="none" strike="noStrike" dirty="0">
                          <a:solidFill>
                            <a:srgbClr val="000000"/>
                          </a:solidFill>
                          <a:latin typeface="Calibri"/>
                        </a:rPr>
                        <a:t>9</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r>
              <a:tr h="326571">
                <a:tc>
                  <a:txBody>
                    <a:bodyPr/>
                    <a:lstStyle/>
                    <a:p>
                      <a:pPr algn="ctr" fontAlgn="b"/>
                      <a:r>
                        <a:rPr lang="es-CR" sz="2000" b="0" i="0" u="none" strike="noStrike">
                          <a:solidFill>
                            <a:srgbClr val="000000"/>
                          </a:solidFill>
                          <a:latin typeface="Calibri"/>
                        </a:rPr>
                        <a:t>10</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100</a:t>
                      </a:r>
                    </a:p>
                  </a:txBody>
                  <a:tcPr marL="0" marR="0" marT="0" marB="0" anchor="b">
                    <a:lnL>
                      <a:noFill/>
                    </a:lnL>
                    <a:lnR>
                      <a:noFill/>
                    </a:lnR>
                    <a:lnT>
                      <a:noFill/>
                    </a:lnT>
                    <a:lnB>
                      <a:noFill/>
                    </a:lnB>
                  </a:tcPr>
                </a:tc>
              </a:tr>
              <a:tr h="326571">
                <a:tc>
                  <a:txBody>
                    <a:bodyPr/>
                    <a:lstStyle/>
                    <a:p>
                      <a:pPr algn="ctr" fontAlgn="b"/>
                      <a:r>
                        <a:rPr lang="es-CR" sz="20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4</a:t>
                      </a:r>
                    </a:p>
                  </a:txBody>
                  <a:tcPr marL="0" marR="0" marT="0" marB="0" anchor="b">
                    <a:lnL>
                      <a:noFill/>
                    </a:lnL>
                    <a:lnR>
                      <a:noFill/>
                    </a:lnR>
                    <a:lnT>
                      <a:noFill/>
                    </a:lnT>
                    <a:lnB>
                      <a:noFill/>
                    </a:lnB>
                  </a:tcPr>
                </a:tc>
              </a:tr>
              <a:tr h="326571">
                <a:tc>
                  <a:txBody>
                    <a:bodyPr/>
                    <a:lstStyle/>
                    <a:p>
                      <a:pPr algn="ctr" fontAlgn="b"/>
                      <a:r>
                        <a:rPr lang="es-CR" sz="2000" b="0" i="0" u="none" strike="noStrike">
                          <a:solidFill>
                            <a:srgbClr val="000000"/>
                          </a:solidFill>
                          <a:latin typeface="Calibri"/>
                        </a:rPr>
                        <a:t>8</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64</a:t>
                      </a:r>
                    </a:p>
                  </a:txBody>
                  <a:tcPr marL="0" marR="0" marT="0" marB="0" anchor="b">
                    <a:lnL>
                      <a:noFill/>
                    </a:lnL>
                    <a:lnR>
                      <a:noFill/>
                    </a:lnR>
                    <a:lnT>
                      <a:noFill/>
                    </a:lnT>
                    <a:lnB>
                      <a:noFill/>
                    </a:lnB>
                  </a:tcPr>
                </a:tc>
              </a:tr>
              <a:tr h="326571">
                <a:tc>
                  <a:txBody>
                    <a:bodyPr/>
                    <a:lstStyle/>
                    <a:p>
                      <a:pPr algn="ctr" fontAlgn="b"/>
                      <a:r>
                        <a:rPr lang="es-CR" sz="2000" b="0" i="0" u="none" strike="noStrike">
                          <a:solidFill>
                            <a:srgbClr val="000000"/>
                          </a:solidFill>
                          <a:latin typeface="Calibri"/>
                        </a:rPr>
                        <a:t>7</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49</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r>
              <a:tr h="326571">
                <a:tc>
                  <a:txBody>
                    <a:bodyPr/>
                    <a:lstStyle/>
                    <a:p>
                      <a:pPr algn="ctr" fontAlgn="b"/>
                      <a:r>
                        <a:rPr lang="es-CR" sz="2000" b="0" i="0" u="none" strike="noStrike">
                          <a:solidFill>
                            <a:srgbClr val="000000"/>
                          </a:solidFill>
                          <a:latin typeface="Calibri"/>
                        </a:rPr>
                        <a:t>30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226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6"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048000" y="5638800"/>
            <a:ext cx="4904678" cy="990600"/>
          </a:xfrm>
          <a:prstGeom prst="rect">
            <a:avLst/>
          </a:prstGeom>
          <a:noFill/>
        </p:spPr>
      </p:pic>
    </p:spTree>
  </p:cSld>
  <p:clrMapOvr>
    <a:masterClrMapping/>
  </p:clrMapOvr>
  <p:transition>
    <p:strips dir="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447800"/>
            <a:ext cx="7772400" cy="4572000"/>
          </a:xfrm>
        </p:spPr>
        <p:txBody>
          <a:bodyPr/>
          <a:lstStyle/>
          <a:p>
            <a:r>
              <a:rPr lang="es-CR" dirty="0" smtClean="0"/>
              <a:t>3. Se obtiene los términos cuadráticos:</a:t>
            </a:r>
          </a:p>
          <a:p>
            <a:endParaRPr lang="es-CR" dirty="0" smtClean="0"/>
          </a:p>
          <a:p>
            <a:endParaRPr lang="es-CR" dirty="0" smtClean="0"/>
          </a:p>
          <a:p>
            <a:endParaRPr lang="es-CR" dirty="0" smtClean="0"/>
          </a:p>
          <a:p>
            <a:endParaRPr lang="es-CR" dirty="0" smtClean="0"/>
          </a:p>
          <a:p>
            <a:r>
              <a:rPr lang="es-CR" dirty="0" smtClean="0"/>
              <a:t>Finalmente se obtiene la variancia:</a:t>
            </a:r>
          </a:p>
          <a:p>
            <a:endParaRPr lang="es-CR" dirty="0" smtClean="0"/>
          </a:p>
          <a:p>
            <a:pPr>
              <a:buNone/>
            </a:pPr>
            <a:r>
              <a:rPr lang="es-CR" dirty="0" smtClean="0"/>
              <a:t> </a:t>
            </a:r>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sp>
        <p:nvSpPr>
          <p:cNvPr id="450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5057"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905000" y="2209800"/>
            <a:ext cx="5257800" cy="861935"/>
          </a:xfrm>
          <a:prstGeom prst="rect">
            <a:avLst/>
          </a:prstGeom>
          <a:noFill/>
        </p:spPr>
      </p:pic>
      <p:sp>
        <p:nvSpPr>
          <p:cNvPr id="450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505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981200" y="4724400"/>
            <a:ext cx="4724401" cy="1143000"/>
          </a:xfrm>
          <a:prstGeom prst="rect">
            <a:avLst/>
          </a:prstGeom>
          <a:noFill/>
        </p:spPr>
      </p:pic>
    </p:spTree>
  </p:cSld>
  <p:clrMapOvr>
    <a:masterClrMapping/>
  </p:clrMapOvr>
  <p:transition>
    <p:strips/>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219200"/>
            <a:ext cx="7772400" cy="5410200"/>
          </a:xfrm>
        </p:spPr>
        <p:txBody>
          <a:bodyPr>
            <a:normAutofit/>
          </a:bodyPr>
          <a:lstStyle/>
          <a:p>
            <a:r>
              <a:rPr lang="es-CR" dirty="0" smtClean="0"/>
              <a:t>Finalmente, la desviación estándar es la raíz cuadrado de la varianza. </a:t>
            </a:r>
          </a:p>
          <a:p>
            <a:endParaRPr lang="es-CR" dirty="0" smtClean="0"/>
          </a:p>
          <a:p>
            <a:endParaRPr lang="es-CR" dirty="0" smtClean="0"/>
          </a:p>
          <a:p>
            <a:endParaRPr lang="es-CR" dirty="0" smtClean="0"/>
          </a:p>
          <a:p>
            <a:r>
              <a:rPr lang="es-CR" dirty="0" smtClean="0"/>
              <a:t>La desviación estándar es de 3.39. Se interpretaría como la desviación con respecto al promedio.</a:t>
            </a:r>
          </a:p>
          <a:p>
            <a:endParaRPr lang="es-CR" dirty="0" smtClean="0"/>
          </a:p>
          <a:p>
            <a:r>
              <a:rPr lang="es-CR" dirty="0" smtClean="0"/>
              <a:t>Al igual que para la DM, interesa saber si el valor de la DE es grande o pequeño; y finalmente valorar la magnitud de la dispersión de los datos. De nuevo, el valor por si mismo no dice mucho.</a:t>
            </a:r>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981200" y="2362200"/>
            <a:ext cx="4191000" cy="639305"/>
          </a:xfrm>
          <a:prstGeom prst="rect">
            <a:avLst/>
          </a:prstGeom>
          <a:noFill/>
        </p:spPr>
      </p:pic>
    </p:spTree>
  </p:cSld>
  <p:clrMapOvr>
    <a:masterClrMapping/>
  </p:clrMapOvr>
  <p:transition>
    <p:strips dir="l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6019800" cy="5410200"/>
          </a:xfrm>
        </p:spPr>
        <p:txBody>
          <a:bodyPr>
            <a:normAutofit/>
          </a:bodyPr>
          <a:lstStyle/>
          <a:p>
            <a:pPr algn="just"/>
            <a:r>
              <a:rPr lang="es-CR" dirty="0" smtClean="0"/>
              <a:t>Si los datos son muy o pocos dispersos podemos utilizar el criterio de que si el 95% de los datos están “± 2” desviaciones, entonces no hay tanta variabilidad.</a:t>
            </a:r>
          </a:p>
          <a:p>
            <a:pPr algn="just"/>
            <a:endParaRPr lang="es-CR" dirty="0" smtClean="0"/>
          </a:p>
          <a:p>
            <a:pPr algn="just"/>
            <a:r>
              <a:rPr lang="es-CR" dirty="0" smtClean="0"/>
              <a:t>Sin embargo, este regla aplica para tamaños de muestra superior a 30.</a:t>
            </a:r>
          </a:p>
          <a:p>
            <a:pPr algn="just"/>
            <a:endParaRPr lang="es-CR" dirty="0" smtClean="0"/>
          </a:p>
          <a:p>
            <a:pPr algn="just"/>
            <a:r>
              <a:rPr lang="es-CR" dirty="0" smtClean="0"/>
              <a:t>Como se observó anteriormente, la distribución de los es muy dispersa, y además, realmente una dispersión de 3.4 alrededor de la media es muy grande.</a:t>
            </a:r>
            <a:endParaRPr lang="es-CR" dirty="0"/>
          </a:p>
        </p:txBody>
      </p:sp>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pic>
        <p:nvPicPr>
          <p:cNvPr id="5" name="Picture 47" descr="http://www.awkum.edu.pk/images/result-201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0269" y="1295400"/>
            <a:ext cx="20574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orient="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0"/>
            <a:ext cx="8153400" cy="990600"/>
          </a:xfrm>
        </p:spPr>
        <p:txBody>
          <a:bodyPr/>
          <a:lstStyle/>
          <a:p>
            <a:pPr algn="ctr"/>
            <a:r>
              <a:rPr lang="es-CR" dirty="0" smtClean="0"/>
              <a:t>Variancia y desviación estándar</a:t>
            </a:r>
            <a:endParaRPr lang="es-CR" dirty="0"/>
          </a:p>
        </p:txBody>
      </p:sp>
      <p:sp>
        <p:nvSpPr>
          <p:cNvPr id="28" name="Content Placeholder 2"/>
          <p:cNvSpPr txBox="1">
            <a:spLocks/>
          </p:cNvSpPr>
          <p:nvPr/>
        </p:nvSpPr>
        <p:spPr>
          <a:xfrm>
            <a:off x="228600" y="1143000"/>
            <a:ext cx="8610600" cy="5486400"/>
          </a:xfrm>
          <a:prstGeom prst="rect">
            <a:avLst/>
          </a:prstGeom>
        </p:spPr>
        <p:txBody>
          <a:bodyPr vert="horz">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s-CR" sz="2600" b="0" i="0" u="none" strike="noStrike" kern="1200" cap="none" spc="0" normalizeH="0" baseline="0" noProof="0" dirty="0" smtClean="0">
                <a:ln>
                  <a:noFill/>
                </a:ln>
                <a:solidFill>
                  <a:schemeClr val="tx1"/>
                </a:solidFill>
                <a:effectLst/>
                <a:uLnTx/>
                <a:uFillTx/>
                <a:latin typeface="+mn-lt"/>
                <a:ea typeface="+mn-ea"/>
                <a:cs typeface="+mn-cs"/>
              </a:rPr>
              <a:t>Como tan sólo hay 5 datos el criterio anterior no aplica. Pero su</a:t>
            </a:r>
            <a:r>
              <a:rPr kumimoji="0" lang="es-CR" sz="2600" b="0" i="0" u="none" strike="noStrike" kern="1200" cap="none" spc="0" normalizeH="0" noProof="0" dirty="0" smtClean="0">
                <a:ln>
                  <a:noFill/>
                </a:ln>
                <a:solidFill>
                  <a:schemeClr val="tx1"/>
                </a:solidFill>
                <a:effectLst/>
                <a:uLnTx/>
                <a:uFillTx/>
                <a:latin typeface="+mn-lt"/>
                <a:ea typeface="+mn-ea"/>
                <a:cs typeface="+mn-cs"/>
              </a:rPr>
              <a:t> representación</a:t>
            </a:r>
            <a:r>
              <a:rPr lang="es-CR" sz="2600" dirty="0" smtClean="0"/>
              <a:t> se muestra a continuación:</a:t>
            </a:r>
            <a:endParaRPr kumimoji="0" lang="es-CR"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s-CR"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lang="es-CR" sz="2600" noProof="0" dirty="0" smtClean="0"/>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s-CR"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s-CR" sz="2600" b="0" i="0" u="none" strike="noStrike" kern="1200" cap="none" spc="0" normalizeH="0" baseline="0" noProof="0" dirty="0" smtClean="0">
                <a:ln>
                  <a:noFill/>
                </a:ln>
                <a:solidFill>
                  <a:schemeClr val="tx1"/>
                </a:solidFill>
                <a:effectLst/>
                <a:uLnTx/>
                <a:uFillTx/>
                <a:latin typeface="+mn-lt"/>
                <a:ea typeface="+mn-ea"/>
                <a:cs typeface="+mn-cs"/>
              </a:rPr>
              <a:t>Antes se había</a:t>
            </a:r>
            <a:r>
              <a:rPr kumimoji="0" lang="es-CR" sz="2600" b="0" i="0" u="none" strike="noStrike" kern="1200" cap="none" spc="0" normalizeH="0" noProof="0" dirty="0" smtClean="0">
                <a:ln>
                  <a:noFill/>
                </a:ln>
                <a:solidFill>
                  <a:schemeClr val="tx1"/>
                </a:solidFill>
                <a:effectLst/>
                <a:uLnTx/>
                <a:uFillTx/>
                <a:latin typeface="+mn-lt"/>
                <a:ea typeface="+mn-ea"/>
                <a:cs typeface="+mn-cs"/>
              </a:rPr>
              <a:t> observado que los datos están muy </a:t>
            </a:r>
            <a:r>
              <a:rPr lang="es-CR" sz="2600" dirty="0" smtClean="0"/>
              <a:t>dispersos alrededor del promedio</a:t>
            </a:r>
            <a:r>
              <a:rPr kumimoji="0" lang="es-CR" sz="2600" b="0" i="0" u="none" strike="noStrike" kern="1200" cap="none" spc="0" normalizeH="0" baseline="0" noProof="0" dirty="0" smtClean="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s-CR"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p:txBody>
      </p:sp>
      <p:cxnSp>
        <p:nvCxnSpPr>
          <p:cNvPr id="29" name="Straight Connector 28"/>
          <p:cNvCxnSpPr/>
          <p:nvPr/>
        </p:nvCxnSpPr>
        <p:spPr>
          <a:xfrm>
            <a:off x="762000" y="3886200"/>
            <a:ext cx="7467600"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600200" y="4050268"/>
            <a:ext cx="457200" cy="369332"/>
          </a:xfrm>
          <a:prstGeom prst="rect">
            <a:avLst/>
          </a:prstGeom>
          <a:noFill/>
        </p:spPr>
        <p:txBody>
          <a:bodyPr wrap="square" rtlCol="0">
            <a:spAutoFit/>
          </a:bodyPr>
          <a:lstStyle/>
          <a:p>
            <a:pPr algn="ctr"/>
            <a:r>
              <a:rPr lang="es-CR" dirty="0" smtClean="0"/>
              <a:t>0</a:t>
            </a:r>
          </a:p>
        </p:txBody>
      </p:sp>
      <p:sp>
        <p:nvSpPr>
          <p:cNvPr id="31" name="TextBox 30"/>
          <p:cNvSpPr txBox="1"/>
          <p:nvPr/>
        </p:nvSpPr>
        <p:spPr>
          <a:xfrm>
            <a:off x="7162800" y="3962400"/>
            <a:ext cx="457200" cy="369332"/>
          </a:xfrm>
          <a:prstGeom prst="rect">
            <a:avLst/>
          </a:prstGeom>
          <a:noFill/>
        </p:spPr>
        <p:txBody>
          <a:bodyPr wrap="square" rtlCol="0">
            <a:spAutoFit/>
          </a:bodyPr>
          <a:lstStyle/>
          <a:p>
            <a:pPr algn="ctr"/>
            <a:r>
              <a:rPr lang="es-CR" dirty="0" smtClean="0"/>
              <a:t>12</a:t>
            </a:r>
          </a:p>
        </p:txBody>
      </p:sp>
      <p:sp>
        <p:nvSpPr>
          <p:cNvPr id="32" name="TextBox 31"/>
          <p:cNvSpPr txBox="1"/>
          <p:nvPr/>
        </p:nvSpPr>
        <p:spPr>
          <a:xfrm>
            <a:off x="4343400" y="4114800"/>
            <a:ext cx="457200" cy="369332"/>
          </a:xfrm>
          <a:prstGeom prst="rect">
            <a:avLst/>
          </a:prstGeom>
          <a:noFill/>
        </p:spPr>
        <p:txBody>
          <a:bodyPr wrap="square" rtlCol="0">
            <a:spAutoFit/>
          </a:bodyPr>
          <a:lstStyle/>
          <a:p>
            <a:pPr algn="ctr"/>
            <a:r>
              <a:rPr lang="es-CR" dirty="0" smtClean="0"/>
              <a:t>6</a:t>
            </a:r>
          </a:p>
        </p:txBody>
      </p:sp>
      <p:sp>
        <p:nvSpPr>
          <p:cNvPr id="33" name="Right Brace 32"/>
          <p:cNvSpPr/>
          <p:nvPr/>
        </p:nvSpPr>
        <p:spPr>
          <a:xfrm rot="16200000">
            <a:off x="3619500" y="2552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4" name="Right Brace 33"/>
          <p:cNvSpPr/>
          <p:nvPr/>
        </p:nvSpPr>
        <p:spPr>
          <a:xfrm rot="16200000">
            <a:off x="5067300" y="2552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5" name="Right Brace 34"/>
          <p:cNvSpPr/>
          <p:nvPr/>
        </p:nvSpPr>
        <p:spPr>
          <a:xfrm rot="16200000">
            <a:off x="6515100" y="2552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6" name="Right Brace 35"/>
          <p:cNvSpPr/>
          <p:nvPr/>
        </p:nvSpPr>
        <p:spPr>
          <a:xfrm rot="16200000">
            <a:off x="2171700" y="2552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7" name="TextBox 36"/>
          <p:cNvSpPr txBox="1"/>
          <p:nvPr/>
        </p:nvSpPr>
        <p:spPr>
          <a:xfrm>
            <a:off x="1905000" y="2514600"/>
            <a:ext cx="990600" cy="381000"/>
          </a:xfrm>
          <a:prstGeom prst="rect">
            <a:avLst/>
          </a:prstGeom>
          <a:noFill/>
        </p:spPr>
        <p:txBody>
          <a:bodyPr wrap="square" rtlCol="0">
            <a:spAutoFit/>
          </a:bodyPr>
          <a:lstStyle/>
          <a:p>
            <a:pPr algn="ctr"/>
            <a:r>
              <a:rPr lang="es-CR" dirty="0" smtClean="0"/>
              <a:t>-1 DE</a:t>
            </a:r>
            <a:endParaRPr lang="es-CR" dirty="0"/>
          </a:p>
        </p:txBody>
      </p:sp>
      <p:sp>
        <p:nvSpPr>
          <p:cNvPr id="38" name="TextBox 37"/>
          <p:cNvSpPr txBox="1"/>
          <p:nvPr/>
        </p:nvSpPr>
        <p:spPr>
          <a:xfrm>
            <a:off x="3352800" y="2514600"/>
            <a:ext cx="990600" cy="381000"/>
          </a:xfrm>
          <a:prstGeom prst="rect">
            <a:avLst/>
          </a:prstGeom>
          <a:noFill/>
        </p:spPr>
        <p:txBody>
          <a:bodyPr wrap="square" rtlCol="0">
            <a:spAutoFit/>
          </a:bodyPr>
          <a:lstStyle/>
          <a:p>
            <a:pPr algn="ctr"/>
            <a:r>
              <a:rPr lang="es-CR" dirty="0" smtClean="0"/>
              <a:t>-1 DE</a:t>
            </a:r>
            <a:endParaRPr lang="es-CR" dirty="0"/>
          </a:p>
        </p:txBody>
      </p:sp>
      <p:sp>
        <p:nvSpPr>
          <p:cNvPr id="39" name="TextBox 38"/>
          <p:cNvSpPr txBox="1"/>
          <p:nvPr/>
        </p:nvSpPr>
        <p:spPr>
          <a:xfrm>
            <a:off x="4724400" y="2514600"/>
            <a:ext cx="990600" cy="381000"/>
          </a:xfrm>
          <a:prstGeom prst="rect">
            <a:avLst/>
          </a:prstGeom>
          <a:noFill/>
        </p:spPr>
        <p:txBody>
          <a:bodyPr wrap="square" rtlCol="0">
            <a:spAutoFit/>
          </a:bodyPr>
          <a:lstStyle/>
          <a:p>
            <a:pPr algn="ctr"/>
            <a:r>
              <a:rPr lang="es-CR" dirty="0" smtClean="0"/>
              <a:t>1 DE</a:t>
            </a:r>
            <a:endParaRPr lang="es-CR" dirty="0"/>
          </a:p>
        </p:txBody>
      </p:sp>
      <p:sp>
        <p:nvSpPr>
          <p:cNvPr id="40" name="TextBox 39"/>
          <p:cNvSpPr txBox="1"/>
          <p:nvPr/>
        </p:nvSpPr>
        <p:spPr>
          <a:xfrm>
            <a:off x="6248400" y="2514600"/>
            <a:ext cx="990600" cy="381000"/>
          </a:xfrm>
          <a:prstGeom prst="rect">
            <a:avLst/>
          </a:prstGeom>
          <a:noFill/>
        </p:spPr>
        <p:txBody>
          <a:bodyPr wrap="square" rtlCol="0">
            <a:spAutoFit/>
          </a:bodyPr>
          <a:lstStyle/>
          <a:p>
            <a:pPr algn="ctr"/>
            <a:r>
              <a:rPr lang="es-CR" dirty="0" smtClean="0"/>
              <a:t>1 DE</a:t>
            </a:r>
            <a:endParaRPr lang="es-CR" dirty="0"/>
          </a:p>
        </p:txBody>
      </p:sp>
      <p:sp>
        <p:nvSpPr>
          <p:cNvPr id="41" name="TextBox 40"/>
          <p:cNvSpPr txBox="1"/>
          <p:nvPr/>
        </p:nvSpPr>
        <p:spPr>
          <a:xfrm>
            <a:off x="2819400" y="3429001"/>
            <a:ext cx="609600" cy="369332"/>
          </a:xfrm>
          <a:prstGeom prst="rect">
            <a:avLst/>
          </a:prstGeom>
          <a:noFill/>
        </p:spPr>
        <p:txBody>
          <a:bodyPr wrap="square" rtlCol="0">
            <a:spAutoFit/>
          </a:bodyPr>
          <a:lstStyle/>
          <a:p>
            <a:pPr algn="ctr"/>
            <a:r>
              <a:rPr lang="es-CR" dirty="0" smtClean="0"/>
              <a:t>2.61</a:t>
            </a:r>
            <a:endParaRPr lang="es-CR" dirty="0"/>
          </a:p>
        </p:txBody>
      </p:sp>
      <p:sp>
        <p:nvSpPr>
          <p:cNvPr id="42" name="TextBox 41"/>
          <p:cNvSpPr txBox="1"/>
          <p:nvPr/>
        </p:nvSpPr>
        <p:spPr>
          <a:xfrm>
            <a:off x="1295400" y="3429000"/>
            <a:ext cx="762000" cy="369332"/>
          </a:xfrm>
          <a:prstGeom prst="rect">
            <a:avLst/>
          </a:prstGeom>
          <a:noFill/>
        </p:spPr>
        <p:txBody>
          <a:bodyPr wrap="square" rtlCol="0">
            <a:spAutoFit/>
          </a:bodyPr>
          <a:lstStyle/>
          <a:p>
            <a:pPr algn="ctr"/>
            <a:r>
              <a:rPr lang="es-CR" dirty="0" smtClean="0"/>
              <a:t>-0.78</a:t>
            </a:r>
            <a:endParaRPr lang="es-CR" dirty="0"/>
          </a:p>
        </p:txBody>
      </p:sp>
      <p:sp>
        <p:nvSpPr>
          <p:cNvPr id="43" name="TextBox 42"/>
          <p:cNvSpPr txBox="1"/>
          <p:nvPr/>
        </p:nvSpPr>
        <p:spPr>
          <a:xfrm>
            <a:off x="5715000" y="3429000"/>
            <a:ext cx="609600" cy="369332"/>
          </a:xfrm>
          <a:prstGeom prst="rect">
            <a:avLst/>
          </a:prstGeom>
          <a:noFill/>
        </p:spPr>
        <p:txBody>
          <a:bodyPr wrap="square" rtlCol="0">
            <a:spAutoFit/>
          </a:bodyPr>
          <a:lstStyle/>
          <a:p>
            <a:pPr algn="ctr"/>
            <a:r>
              <a:rPr lang="es-CR" dirty="0" smtClean="0"/>
              <a:t>9.39</a:t>
            </a:r>
            <a:endParaRPr lang="es-CR" dirty="0"/>
          </a:p>
        </p:txBody>
      </p:sp>
      <p:sp>
        <p:nvSpPr>
          <p:cNvPr id="44" name="TextBox 43"/>
          <p:cNvSpPr txBox="1"/>
          <p:nvPr/>
        </p:nvSpPr>
        <p:spPr>
          <a:xfrm>
            <a:off x="7162800" y="3429001"/>
            <a:ext cx="838200" cy="369332"/>
          </a:xfrm>
          <a:prstGeom prst="rect">
            <a:avLst/>
          </a:prstGeom>
          <a:noFill/>
        </p:spPr>
        <p:txBody>
          <a:bodyPr wrap="square" rtlCol="0">
            <a:spAutoFit/>
          </a:bodyPr>
          <a:lstStyle/>
          <a:p>
            <a:pPr algn="ctr"/>
            <a:r>
              <a:rPr lang="es-CR" dirty="0" smtClean="0"/>
              <a:t>12.78</a:t>
            </a:r>
            <a:endParaRPr lang="es-CR" dirty="0"/>
          </a:p>
        </p:txBody>
      </p:sp>
      <p:sp>
        <p:nvSpPr>
          <p:cNvPr id="46" name="TextBox 45"/>
          <p:cNvSpPr txBox="1"/>
          <p:nvPr/>
        </p:nvSpPr>
        <p:spPr>
          <a:xfrm>
            <a:off x="2514600" y="4114800"/>
            <a:ext cx="381000" cy="381000"/>
          </a:xfrm>
          <a:prstGeom prst="rect">
            <a:avLst/>
          </a:prstGeom>
          <a:noFill/>
        </p:spPr>
        <p:txBody>
          <a:bodyPr wrap="square" rtlCol="0">
            <a:spAutoFit/>
          </a:bodyPr>
          <a:lstStyle/>
          <a:p>
            <a:r>
              <a:rPr lang="es-CR" dirty="0" smtClean="0"/>
              <a:t>2</a:t>
            </a:r>
            <a:endParaRPr lang="es-CR" dirty="0"/>
          </a:p>
        </p:txBody>
      </p:sp>
      <p:sp>
        <p:nvSpPr>
          <p:cNvPr id="47" name="TextBox 46"/>
          <p:cNvSpPr txBox="1"/>
          <p:nvPr/>
        </p:nvSpPr>
        <p:spPr>
          <a:xfrm>
            <a:off x="3352800" y="4114800"/>
            <a:ext cx="381000" cy="381000"/>
          </a:xfrm>
          <a:prstGeom prst="rect">
            <a:avLst/>
          </a:prstGeom>
          <a:noFill/>
        </p:spPr>
        <p:txBody>
          <a:bodyPr wrap="square" rtlCol="0">
            <a:spAutoFit/>
          </a:bodyPr>
          <a:lstStyle/>
          <a:p>
            <a:r>
              <a:rPr lang="es-CR" dirty="0" smtClean="0"/>
              <a:t>3</a:t>
            </a:r>
            <a:endParaRPr lang="es-CR" dirty="0"/>
          </a:p>
        </p:txBody>
      </p:sp>
      <p:sp>
        <p:nvSpPr>
          <p:cNvPr id="48" name="TextBox 47"/>
          <p:cNvSpPr txBox="1"/>
          <p:nvPr/>
        </p:nvSpPr>
        <p:spPr>
          <a:xfrm>
            <a:off x="5105400" y="4114800"/>
            <a:ext cx="381000" cy="381000"/>
          </a:xfrm>
          <a:prstGeom prst="rect">
            <a:avLst/>
          </a:prstGeom>
          <a:noFill/>
        </p:spPr>
        <p:txBody>
          <a:bodyPr wrap="square" rtlCol="0">
            <a:spAutoFit/>
          </a:bodyPr>
          <a:lstStyle/>
          <a:p>
            <a:r>
              <a:rPr lang="es-CR" dirty="0" smtClean="0"/>
              <a:t>7</a:t>
            </a:r>
            <a:endParaRPr lang="es-CR" dirty="0"/>
          </a:p>
        </p:txBody>
      </p:sp>
      <p:sp>
        <p:nvSpPr>
          <p:cNvPr id="49" name="TextBox 48"/>
          <p:cNvSpPr txBox="1"/>
          <p:nvPr/>
        </p:nvSpPr>
        <p:spPr>
          <a:xfrm>
            <a:off x="5562600" y="4114800"/>
            <a:ext cx="381000" cy="381000"/>
          </a:xfrm>
          <a:prstGeom prst="rect">
            <a:avLst/>
          </a:prstGeom>
          <a:noFill/>
        </p:spPr>
        <p:txBody>
          <a:bodyPr wrap="square" rtlCol="0">
            <a:spAutoFit/>
          </a:bodyPr>
          <a:lstStyle/>
          <a:p>
            <a:r>
              <a:rPr lang="es-CR" dirty="0" smtClean="0"/>
              <a:t>8</a:t>
            </a:r>
            <a:endParaRPr lang="es-CR" dirty="0"/>
          </a:p>
        </p:txBody>
      </p:sp>
      <p:sp>
        <p:nvSpPr>
          <p:cNvPr id="50" name="TextBox 49"/>
          <p:cNvSpPr txBox="1"/>
          <p:nvPr/>
        </p:nvSpPr>
        <p:spPr>
          <a:xfrm>
            <a:off x="6172200" y="4038600"/>
            <a:ext cx="457200" cy="369332"/>
          </a:xfrm>
          <a:prstGeom prst="rect">
            <a:avLst/>
          </a:prstGeom>
          <a:noFill/>
        </p:spPr>
        <p:txBody>
          <a:bodyPr wrap="square" rtlCol="0">
            <a:spAutoFit/>
          </a:bodyPr>
          <a:lstStyle/>
          <a:p>
            <a:r>
              <a:rPr lang="es-CR" dirty="0" smtClean="0"/>
              <a:t>10</a:t>
            </a:r>
            <a:endParaRPr lang="es-CR" dirty="0"/>
          </a:p>
        </p:txBody>
      </p:sp>
      <p:cxnSp>
        <p:nvCxnSpPr>
          <p:cNvPr id="51" name="Straight Connector 50"/>
          <p:cNvCxnSpPr/>
          <p:nvPr/>
        </p:nvCxnSpPr>
        <p:spPr>
          <a:xfrm rot="5400000">
            <a:off x="17526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25908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4290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5400000">
            <a:off x="51816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5400000">
            <a:off x="63246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56388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5400000">
            <a:off x="73152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a:endCxn id="32" idx="0"/>
          </p:cNvCxnSpPr>
          <p:nvPr/>
        </p:nvCxnSpPr>
        <p:spPr>
          <a:xfrm rot="5400000">
            <a:off x="4381500" y="3924300"/>
            <a:ext cx="381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dissolv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762000" y="228600"/>
            <a:ext cx="7772400" cy="868362"/>
          </a:xfrm>
        </p:spPr>
        <p:txBody>
          <a:bodyPr/>
          <a:lstStyle/>
          <a:p>
            <a:pPr algn="ctr"/>
            <a:r>
              <a:rPr lang="es-CR" dirty="0" smtClean="0"/>
              <a:t>Índice</a:t>
            </a:r>
            <a:endParaRPr lang="es-CR" dirty="0"/>
          </a:p>
        </p:txBody>
      </p:sp>
      <p:sp>
        <p:nvSpPr>
          <p:cNvPr id="7"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7</a:t>
            </a:r>
            <a:endParaRPr lang="es-CR" dirty="0"/>
          </a:p>
        </p:txBody>
      </p:sp>
      <p:sp>
        <p:nvSpPr>
          <p:cNvPr id="8"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Coeficiente de variación</a:t>
            </a:r>
            <a:endParaRPr lang="es-CR" dirty="0"/>
          </a:p>
        </p:txBody>
      </p:sp>
    </p:spTree>
    <p:extLst>
      <p:ext uri="{BB962C8B-B14F-4D97-AF65-F5344CB8AC3E}">
        <p14:creationId xmlns:p14="http://schemas.microsoft.com/office/powerpoint/2010/main" val="287013537"/>
      </p:ext>
    </p:extLst>
  </p:cSld>
  <p:clrMapOvr>
    <a:masterClrMapping/>
  </p:clrMapOvr>
  <p:transition spd="slow">
    <p:push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76200"/>
            <a:ext cx="7772400" cy="715962"/>
          </a:xfrm>
        </p:spPr>
        <p:txBody>
          <a:bodyPr>
            <a:normAutofit fontScale="90000"/>
          </a:bodyPr>
          <a:lstStyle/>
          <a:p>
            <a:pPr algn="ctr"/>
            <a:r>
              <a:rPr lang="es-CR" dirty="0" smtClean="0"/>
              <a:t>Coeficiente de variación</a:t>
            </a:r>
            <a:endParaRPr lang="es-ES" dirty="0"/>
          </a:p>
        </p:txBody>
      </p:sp>
      <p:sp>
        <p:nvSpPr>
          <p:cNvPr id="3" name="Marcador de contenido 2"/>
          <p:cNvSpPr>
            <a:spLocks noGrp="1"/>
          </p:cNvSpPr>
          <p:nvPr>
            <p:ph sz="quarter" idx="1"/>
          </p:nvPr>
        </p:nvSpPr>
        <p:spPr>
          <a:xfrm>
            <a:off x="228600" y="914400"/>
            <a:ext cx="6629400" cy="5867400"/>
          </a:xfrm>
        </p:spPr>
        <p:txBody>
          <a:bodyPr>
            <a:normAutofit fontScale="92500"/>
          </a:bodyPr>
          <a:lstStyle/>
          <a:p>
            <a:pPr algn="just"/>
            <a:r>
              <a:rPr lang="es-CR" sz="2400" dirty="0"/>
              <a:t>La </a:t>
            </a:r>
            <a:r>
              <a:rPr lang="es-CR" sz="2400" dirty="0" smtClean="0"/>
              <a:t>desviación estándar </a:t>
            </a:r>
            <a:r>
              <a:rPr lang="es-CR" sz="2400" dirty="0"/>
              <a:t>es </a:t>
            </a:r>
            <a:r>
              <a:rPr lang="es-CR" sz="2400" dirty="0" smtClean="0"/>
              <a:t>útil </a:t>
            </a:r>
            <a:r>
              <a:rPr lang="es-CR" sz="2400" dirty="0"/>
              <a:t>como medida </a:t>
            </a:r>
            <a:r>
              <a:rPr lang="es-CR" sz="2400" dirty="0" smtClean="0"/>
              <a:t>de variación </a:t>
            </a:r>
            <a:r>
              <a:rPr lang="es-CR" sz="2400" dirty="0"/>
              <a:t>en un determinado conjunto de datos</a:t>
            </a:r>
            <a:r>
              <a:rPr lang="es-CR" sz="2400" dirty="0" smtClean="0"/>
              <a:t>.</a:t>
            </a:r>
          </a:p>
          <a:p>
            <a:pPr marL="0" indent="0" algn="just">
              <a:buNone/>
            </a:pPr>
            <a:endParaRPr lang="es-CR" sz="2400" dirty="0" smtClean="0"/>
          </a:p>
          <a:p>
            <a:pPr algn="just"/>
            <a:r>
              <a:rPr lang="es-CR" sz="2400" dirty="0" smtClean="0"/>
              <a:t>Cuando </a:t>
            </a:r>
            <a:r>
              <a:rPr lang="es-CR" sz="2400" dirty="0"/>
              <a:t>se </a:t>
            </a:r>
            <a:r>
              <a:rPr lang="es-CR" sz="2400" dirty="0" smtClean="0"/>
              <a:t>quiere comparar </a:t>
            </a:r>
            <a:r>
              <a:rPr lang="es-CR" sz="2400" dirty="0"/>
              <a:t>la </a:t>
            </a:r>
            <a:r>
              <a:rPr lang="es-CR" sz="2400" dirty="0" smtClean="0"/>
              <a:t>dispersión </a:t>
            </a:r>
            <a:r>
              <a:rPr lang="es-CR" sz="2400" dirty="0"/>
              <a:t>de dos conjuntos de datos, la </a:t>
            </a:r>
            <a:r>
              <a:rPr lang="es-CR" sz="2400" dirty="0" smtClean="0"/>
              <a:t>comparación </a:t>
            </a:r>
            <a:r>
              <a:rPr lang="es-CR" sz="2400" dirty="0"/>
              <a:t>de las </a:t>
            </a:r>
            <a:r>
              <a:rPr lang="es-CR" sz="2400" dirty="0" smtClean="0"/>
              <a:t>dos desviaciones estándar </a:t>
            </a:r>
            <a:r>
              <a:rPr lang="es-CR" sz="2400" dirty="0"/>
              <a:t>puede dar un resultado equivocado</a:t>
            </a:r>
            <a:r>
              <a:rPr lang="es-CR" sz="2400" dirty="0" smtClean="0"/>
              <a:t>.</a:t>
            </a:r>
          </a:p>
          <a:p>
            <a:pPr algn="just"/>
            <a:endParaRPr lang="es-CR" sz="2400" dirty="0"/>
          </a:p>
          <a:p>
            <a:pPr algn="just"/>
            <a:r>
              <a:rPr lang="es-ES" sz="2400" dirty="0"/>
              <a:t>Esto puede ocurrir </a:t>
            </a:r>
            <a:r>
              <a:rPr lang="es-ES" sz="2400" dirty="0" smtClean="0"/>
              <a:t>si </a:t>
            </a:r>
            <a:r>
              <a:rPr lang="es-CR" sz="2400" dirty="0" smtClean="0"/>
              <a:t>las </a:t>
            </a:r>
            <a:r>
              <a:rPr lang="es-CR" sz="2400" dirty="0"/>
              <a:t>dos variables involucradas tienen medidas en diferentes </a:t>
            </a:r>
            <a:r>
              <a:rPr lang="es-CR" sz="2400" dirty="0" smtClean="0"/>
              <a:t>unidades o provienen de dos tipos de población.</a:t>
            </a:r>
          </a:p>
          <a:p>
            <a:pPr algn="just"/>
            <a:endParaRPr lang="es-CR" sz="2400" dirty="0"/>
          </a:p>
          <a:p>
            <a:pPr algn="just"/>
            <a:r>
              <a:rPr lang="es-CR" sz="2400" dirty="0" smtClean="0"/>
              <a:t>Ejemplo: </a:t>
            </a:r>
            <a:r>
              <a:rPr lang="es-CR" sz="2400" dirty="0"/>
              <a:t>los pesos de los </a:t>
            </a:r>
            <a:r>
              <a:rPr lang="es-CR" sz="2400" dirty="0" smtClean="0"/>
              <a:t>niños </a:t>
            </a:r>
            <a:r>
              <a:rPr lang="es-CR" sz="2400" dirty="0"/>
              <a:t>de </a:t>
            </a:r>
            <a:r>
              <a:rPr lang="es-CR" sz="2400" dirty="0" smtClean="0"/>
              <a:t>primer grado </a:t>
            </a:r>
            <a:r>
              <a:rPr lang="es-CR" sz="2400" dirty="0"/>
              <a:t>de primaria son comparadas contra la </a:t>
            </a:r>
            <a:r>
              <a:rPr lang="es-CR" sz="2400" dirty="0" smtClean="0"/>
              <a:t>desviación estándar </a:t>
            </a:r>
            <a:r>
              <a:rPr lang="es-CR" sz="2400" dirty="0"/>
              <a:t>de los pesos </a:t>
            </a:r>
            <a:r>
              <a:rPr lang="es-CR" sz="2400" dirty="0" smtClean="0"/>
              <a:t>de los </a:t>
            </a:r>
            <a:r>
              <a:rPr lang="es-CR" sz="2400" dirty="0"/>
              <a:t>estudiantes de </a:t>
            </a:r>
            <a:r>
              <a:rPr lang="es-CR" sz="2400" dirty="0" smtClean="0"/>
              <a:t>primer año de universidad, </a:t>
            </a:r>
            <a:r>
              <a:rPr lang="es-ES" sz="2400" dirty="0"/>
              <a:t>esta </a:t>
            </a:r>
            <a:r>
              <a:rPr lang="es-ES" sz="2400" dirty="0"/>
              <a:t>ú</a:t>
            </a:r>
            <a:r>
              <a:rPr lang="es-ES" sz="2400" dirty="0" smtClean="0"/>
              <a:t>ltima </a:t>
            </a:r>
            <a:r>
              <a:rPr lang="es-CR" sz="2400" dirty="0" smtClean="0"/>
              <a:t>es numéricamente </a:t>
            </a:r>
            <a:r>
              <a:rPr lang="es-CR" sz="2400" dirty="0"/>
              <a:t>mayor que la anterior</a:t>
            </a:r>
            <a:r>
              <a:rPr lang="es-CR" sz="2400" dirty="0" smtClean="0"/>
              <a:t>, d</a:t>
            </a:r>
            <a:r>
              <a:rPr lang="es-CR" sz="2000" dirty="0" smtClean="0"/>
              <a:t>ebido </a:t>
            </a:r>
            <a:r>
              <a:rPr lang="es-CR" sz="2000" dirty="0"/>
              <a:t>a que los pesos mismos son </a:t>
            </a:r>
            <a:r>
              <a:rPr lang="es-CR" sz="2000" dirty="0" smtClean="0"/>
              <a:t>mayores y </a:t>
            </a:r>
            <a:r>
              <a:rPr lang="es-CR" sz="2000" dirty="0"/>
              <a:t>no porque la </a:t>
            </a:r>
            <a:r>
              <a:rPr lang="es-CR" sz="2000" dirty="0" smtClean="0"/>
              <a:t>dispersión </a:t>
            </a:r>
            <a:r>
              <a:rPr lang="es-CR" sz="2000" dirty="0"/>
              <a:t>sea mayor</a:t>
            </a:r>
            <a:endParaRPr lang="es-ES" sz="2400" dirty="0"/>
          </a:p>
        </p:txBody>
      </p:sp>
      <p:pic>
        <p:nvPicPr>
          <p:cNvPr id="24578" name="Picture 2" descr="http://3.bp.blogspot.com/-VsKmn_H3N-Q/VWOwXpK88rI/AAAAAAAAAQo/t0f79tzc384/s1600/Coeficiente%2Bde%2Bvariaci%25C3%25B3n%2Bde%2BPearson.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8557" y="1828800"/>
            <a:ext cx="1526815" cy="1119188"/>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http://thumbs.dreamstime.com/z/comparaci%C3%B3n-manzana-pera-y-naranja-38934677.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435" t="20898" r="8642" b="23094"/>
          <a:stretch/>
        </p:blipFill>
        <p:spPr bwMode="auto">
          <a:xfrm>
            <a:off x="7202307" y="4572000"/>
            <a:ext cx="16002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758163"/>
      </p:ext>
    </p:extLst>
  </p:cSld>
  <p:clrMapOvr>
    <a:masterClrMapping/>
  </p:clrMapOvr>
  <p:transition spd="slow">
    <p:push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52400" y="914400"/>
            <a:ext cx="6324600" cy="5943600"/>
          </a:xfrm>
        </p:spPr>
        <p:txBody>
          <a:bodyPr>
            <a:normAutofit lnSpcReduction="10000"/>
          </a:bodyPr>
          <a:lstStyle/>
          <a:p>
            <a:pPr algn="just"/>
            <a:r>
              <a:rPr lang="es-CR" dirty="0" smtClean="0"/>
              <a:t>Se necesita una medida de variancia relativa en lugar de una de variancia absoluta. </a:t>
            </a:r>
          </a:p>
          <a:p>
            <a:pPr algn="just"/>
            <a:endParaRPr lang="es-CR" dirty="0"/>
          </a:p>
          <a:p>
            <a:pPr algn="just"/>
            <a:r>
              <a:rPr lang="es-CR" dirty="0" smtClean="0"/>
              <a:t>Esta medida se conoce como </a:t>
            </a:r>
            <a:r>
              <a:rPr lang="es-CR" i="1" dirty="0" smtClean="0"/>
              <a:t>coeficiente de variación, </a:t>
            </a:r>
            <a:r>
              <a:rPr lang="es-CR" dirty="0" smtClean="0"/>
              <a:t>el cual expresa la desviación estándar como un porcentaje de la media.  Se expresa como: </a:t>
            </a:r>
          </a:p>
          <a:p>
            <a:pPr algn="just"/>
            <a:endParaRPr lang="es-CR" dirty="0"/>
          </a:p>
          <a:p>
            <a:pPr algn="just"/>
            <a:endParaRPr lang="es-CR" dirty="0" smtClean="0"/>
          </a:p>
          <a:p>
            <a:pPr algn="just"/>
            <a:r>
              <a:rPr lang="es-CR" dirty="0" smtClean="0"/>
              <a:t>Como la media y desviación estándar se expresan en la misma unidad de medición, la unidad de medición se cancela al calcular el coeficiente de variación. Esto hace que se obtenga una medida independiente de la unidad de medición</a:t>
            </a:r>
            <a:endParaRPr lang="es-ES" dirty="0"/>
          </a:p>
        </p:txBody>
      </p:sp>
      <p:sp>
        <p:nvSpPr>
          <p:cNvPr id="4" name="Título 1"/>
          <p:cNvSpPr>
            <a:spLocks noGrp="1"/>
          </p:cNvSpPr>
          <p:nvPr>
            <p:ph type="title"/>
          </p:nvPr>
        </p:nvSpPr>
        <p:spPr>
          <a:xfrm>
            <a:off x="914400" y="76200"/>
            <a:ext cx="7772400" cy="715962"/>
          </a:xfrm>
        </p:spPr>
        <p:txBody>
          <a:bodyPr>
            <a:normAutofit fontScale="90000"/>
          </a:bodyPr>
          <a:lstStyle/>
          <a:p>
            <a:pPr algn="ctr"/>
            <a:r>
              <a:rPr lang="es-CR" dirty="0" smtClean="0"/>
              <a:t>Coeficiente de variación</a:t>
            </a:r>
            <a:endParaRPr lang="es-ES" dirty="0"/>
          </a:p>
        </p:txBody>
      </p:sp>
      <mc:AlternateContent xmlns:mc="http://schemas.openxmlformats.org/markup-compatibility/2006">
        <mc:Choice xmlns:a14="http://schemas.microsoft.com/office/drawing/2010/main" Requires="a14">
          <p:sp>
            <p:nvSpPr>
              <p:cNvPr id="5" name="Rectángulo 4"/>
              <p:cNvSpPr/>
              <p:nvPr/>
            </p:nvSpPr>
            <p:spPr>
              <a:xfrm>
                <a:off x="2362200" y="3523825"/>
                <a:ext cx="2190793" cy="72475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s-ES" sz="2400">
                          <a:latin typeface="Cambria Math" panose="02040503050406030204" pitchFamily="18" charset="0"/>
                        </a:rPr>
                        <m:t>C</m:t>
                      </m:r>
                      <m:r>
                        <a:rPr lang="es-ES" sz="2400" i="0">
                          <a:latin typeface="Cambria Math" panose="02040503050406030204" pitchFamily="18" charset="0"/>
                        </a:rPr>
                        <m:t>.</m:t>
                      </m:r>
                      <m:r>
                        <m:rPr>
                          <m:sty m:val="p"/>
                        </m:rPr>
                        <a:rPr lang="es-ES" sz="2400" i="0">
                          <a:latin typeface="Cambria Math" panose="02040503050406030204" pitchFamily="18" charset="0"/>
                        </a:rPr>
                        <m:t>V</m:t>
                      </m:r>
                      <m:r>
                        <a:rPr lang="es-ES" sz="2400" i="0">
                          <a:latin typeface="Cambria Math" panose="02040503050406030204" pitchFamily="18" charset="0"/>
                        </a:rPr>
                        <m:t>.= </m:t>
                      </m:r>
                      <m:f>
                        <m:fPr>
                          <m:ctrlPr>
                            <a:rPr lang="es-ES" sz="2400" i="1">
                              <a:latin typeface="Cambria Math" panose="02040503050406030204" pitchFamily="18" charset="0"/>
                            </a:rPr>
                          </m:ctrlPr>
                        </m:fPr>
                        <m:num>
                          <m:r>
                            <a:rPr lang="es-ES" sz="2400" i="1">
                              <a:latin typeface="Cambria Math" panose="02040503050406030204" pitchFamily="18" charset="0"/>
                            </a:rPr>
                            <m:t>𝑠</m:t>
                          </m:r>
                        </m:num>
                        <m:den>
                          <m:acc>
                            <m:accPr>
                              <m:chr m:val="̅"/>
                              <m:ctrlPr>
                                <a:rPr lang="es-ES" sz="2400" i="1">
                                  <a:latin typeface="Cambria Math" panose="02040503050406030204" pitchFamily="18" charset="0"/>
                                </a:rPr>
                              </m:ctrlPr>
                            </m:accPr>
                            <m:e>
                              <m:r>
                                <a:rPr lang="es-ES" sz="2400" i="1">
                                  <a:latin typeface="Cambria Math" panose="02040503050406030204" pitchFamily="18" charset="0"/>
                                </a:rPr>
                                <m:t>𝑥</m:t>
                              </m:r>
                            </m:e>
                          </m:acc>
                        </m:den>
                      </m:f>
                      <m:r>
                        <a:rPr lang="es-ES" sz="2400" i="0">
                          <a:latin typeface="Cambria Math" panose="02040503050406030204" pitchFamily="18" charset="0"/>
                        </a:rPr>
                        <m:t>∗100</m:t>
                      </m:r>
                    </m:oMath>
                  </m:oMathPara>
                </a14:m>
                <a:endParaRPr lang="es-ES" sz="2400" dirty="0"/>
              </a:p>
            </p:txBody>
          </p:sp>
        </mc:Choice>
        <mc:Fallback>
          <p:sp>
            <p:nvSpPr>
              <p:cNvPr id="5" name="Rectángulo 4"/>
              <p:cNvSpPr>
                <a:spLocks noRot="1" noChangeAspect="1" noMove="1" noResize="1" noEditPoints="1" noAdjustHandles="1" noChangeArrowheads="1" noChangeShapeType="1" noTextEdit="1"/>
              </p:cNvSpPr>
              <p:nvPr/>
            </p:nvSpPr>
            <p:spPr>
              <a:xfrm>
                <a:off x="2362200" y="3523825"/>
                <a:ext cx="2190793" cy="724750"/>
              </a:xfrm>
              <a:prstGeom prst="rect">
                <a:avLst/>
              </a:prstGeom>
              <a:blipFill rotWithShape="0">
                <a:blip r:embed="rId2"/>
                <a:stretch>
                  <a:fillRect/>
                </a:stretch>
              </a:blipFill>
            </p:spPr>
            <p:txBody>
              <a:bodyPr/>
              <a:lstStyle/>
              <a:p>
                <a:r>
                  <a:rPr lang="es-ES">
                    <a:noFill/>
                  </a:rPr>
                  <a:t> </a:t>
                </a:r>
              </a:p>
            </p:txBody>
          </p:sp>
        </mc:Fallback>
      </mc:AlternateContent>
      <p:sp>
        <p:nvSpPr>
          <p:cNvPr id="7" name="AutoShape 4" descr="data:image/jpeg;base64,/9j/4AAQSkZJRgABAQAAAQABAAD/2wCEAAkGBxAPDxAPDxAPDQ8QEBAQDw4WDxANEhAQFhEYFhYRFRUYHSggGB8lGxMWITEhJSkrLi4uGB8zODMtNygtLysBCgoKDg0OFxAQGywaHR83KzcrKystKys3LzU3Ky0uNTU3KystLTcrKy0rLS0tKystLy0rKysrLS0tMC03Ny0rN//AABEIAOEA4QMBIgACEQEDEQH/xAAbAAEAAgMBAQAAAAAAAAAAAAAAAQYDBAUCB//EAEEQAAICAQEFBQUGAwQLAQAAAAABAgMRBAUGEiExE0FRYXEigZGhsSMyUmJywQcU0UJUkuEVM0NTgpOissLw8ST/xAAZAQEBAQEBAQAAAAAAAAAAAAAAAQQDAgX/xAAkEQEAAgICAQIHAAAAAAAAAAAAAQIDEQQhMRJRBRMiMkFh0f/aAAwDAQACEQMRAD8A+4gAAAAAAAAAAAAAAAAAAAAAAAAAAAAAAAAAAAAIJAAAAAAAAAAAAAAAAAAAAADzKSR4doGUGLtQrQMoITySAAAAAAAAAAAAAAAAAAAAAAAAAAAAAADDfeo+v0J1FvBFy8PqceeoyBtyuPLuNJ3Hh2gdBXEq45vbDtwOpC/BuU2qS8+9HBV5sabVcMk+7v8AQDtghMkAAAAAAAAAAAAAAAAAAAAAAAAAAAOTty7HDHxyzjO03N5Z4sj+j/yf+RxJWgbvanntvMxabTymuL7sOifVyfhFd55jppWycalKzHJtc4p/mn0XosgZXqF4mfS1uz7rivWWDLp92JvnZaoflhHL/wAUv6G9Ddqlf7TUN+PbSj9Cdr01pbNuXSKl6SX7mvLig8STi/B8jqPYSX3NRqq/S9yXwlk09Zs3WKL4bYaqP4ZR7KfxXJsdjs7Ot4qovw5fBm2VHZW3exk6L4Sq55w1iUfP8y80WWWtrWFxx9pZXNPMX0ZUbIITySAAAAAAAAAAAAAAAAABBIAAAAABW974YVc/WL9/NfRlcpkm8yeIrmy67fqjLTW8TwlHiT8Gua/p7yj7Mo7azEv9XW05L8UvB+K/97+QdzRad6lKU8w0+PZh92Vq88dI+S6ndrtjCKjBKMV0ikkkaKs5EOYG7LVM8/zLNJyPLkB0I6l+JmhqjlcZsaWLk/JdWBsbS0NWphw2R84yXKUH4xfcUPalV2jt4ZS4mlmE10nDPh3Nd6PorK5vdR2lbSSc4JTh59cx9Gsr/wCAdPdTaHb0Z/C+H5HaKRudqHVU+fsyfEotYlju4vB+JbdHrI25x1XX+oG0AAAAAgEgAAAAAAAAAAAAAAAg1NZtCFXXm/BAcjfXUcNEa847SfP9MVxP6Z9xx9j1cEFlYb5teb7v2MW9G0ndKHLCiuFLznZCD+UmdTSe0kQZ4ntI9wqMsaijX4Rwm4qTLXVBdU39ANKjTSm+XTvZ066lFYXx8SXbFL9kjVu1b/srHn1A2mcPeGa5Yabw01yeOmM/Fnu++T6ts420beTA5+h1DjhZLJsC77ZL8UZL9/2Pn1W0l2kornwzxJeGeZdt1LOO9Nd0JN/T9wLmAAAAAAAAAAAAAAAAAQ2BINeeoXdzNe7WuKz7PoBk2hq1XHl1+hRtrbT5vmbm2Nt14k5zjB9+ZJJ+j7yo6+cpWyrScpxayl7XVZTWOq59RtfTOt/htay/irlP8KjL3RthJ/KLLhsl8UV39CjRhY261BWJJdpwtTklJSjJcvJv5Fi3K1uYuqb+0pl2c/F46S965k2LlVUbMaT3p48kZiowqkiVJnAGnOk1bazqtGC2jPkBwNVyKxtrUcMZPwWX5Ivs9BD+1mXyRRf4lbYhVV/IaaMf5jUpKfClmFTffjxxj0yBw9xt356+F9in2XHf2nE48WYxzGK+c/gj6lsLYsNJXwxbnN/fseE35JdyNXcrY60ejqrxiXDFy5YfTv8Ar7zvASAAAAAgAkACCQAAAAhkZA9HO2lq1GSi3hYy/Py+Rrbc3l0mjj9talLurXtTf/Cj5dvR/EntrIdjTGNcG8uTfHNPu5cl8/cc7ZaV6mWzBwM+aPVWvXv4fR7doeBqzvcupXNh7dq1VSshLylF9Yy70zdt2jCKy5I6RO2W1ZrMxPUw+Z75q7/SFtMVOyUnGVcUnJ8Ml3e9Msmi0t1UdMtQuztuiqpVyk48LWeCc+Hm4vGPVmLW7e1lts46SFWmi3wvWShx3Sj4Vx7lzfN/QuW7e6Okr0q1t0Z6vVyjKyWoum7JcSb4eFfdilhckjlTHq0z7tvI5fzcVKa+1T5K2Tz206ZrlFwUYRis84qOMP38z1TO3TThqISdtkVi5YUXbDOeSXLK7jPfHEmeGdWB9O3Y25VrKYyrlnlzXRxfemu5nbPhcYW0WdvpZumz+1+Cf6o9Pf8AQvGwd+pzSjqqHGXTtIe0n54f7E2L4Dk07xaSX+2jB+E1Kt/9SPVm8Wiisy1VCXj2kSjqHmTKntD+Iez6k1CyWpn3RrrnNN/qaUfmcG3ejV658MYvRUS5KEPtdTavDK5QXpz8wLHvLvLGjiqoSt1CXNcuClY+/Y+706srW4u7M773tDV5sbk3By6zlj73odnYu6WVF3x7OpPiVGcynLOeK2XeXOEFFJJJJcklywgJRIAAAAAAAAAAAADy5GltPadeng5zlhLhyvDLwmfF99d/dXO22hWOmuMscMPZcl4uXXw7znkyRSNtfD4luTeaxMRrzt9U2/vno9HlTsVliT+yg1KWfB/h958x3k/ihqbsxp//ADQ/LLM2vOXd7viU3RaDVax5ri+Hvsk+GK88s62ztkaWNvZRjbtjWf3ehN1w/XPKSXqZptkyfqH2q4eHxO5+u3vP8cjTU6vXTxVCy5vrN8TXq5M7Gn3f0tE1HV2z1upf3dBpou6bf4ZOOcF/2ZuPrtRFLW3Q2fpv7jpXiTXhZdjr6fEu2wd3NJoIcGlohSn96eHKyb8ZzlmUn6s6UwRHlk5Pxa9+qqBs3c7XauChKFOwtJ17KEY36ua/NN4UH8S3aHcPQ1JZjbc11lZdZa38WWfBJoiNPj3vNp3KsbY3NpvcJVNaXgXC1GtOMo93LKw/M29txVGjVUOns1rxxjP7fM7hXN7rPZrj+pleVE1MOZruJu3o1ZcgMWAo88puPo8EtkxYGzVqbcY4014OCZubP2I9bYq52RgsNpqpS6eWUaFbLBuxZw6ivzbXxWCahdujov4f6WDTnKdr9FBfBFj0OzKaFiquEPNLm/V9TcBUQkSAAAAAAACCQAAAAhkgD5lvvXGnVzt1N7ortceBuKlCS4EuBeeU8lRs0depuhPRaO3W3zxCKlxRpWOtrm0ouPPrk+720xmsSjGa8GlJfBkxrSWFhJd2MHmaxLpTJak7r0+c7N/hxbeoy2pqHOKw/wCR0/2FC/LOX3pr0wXzZey6NLWqtNVXRWukIRUV78dTcwSWI082tNvIACvIAABU97ZZsjHwgvnkthU95Y5vf6YgVW+BoWs7ltRz9XpuQHMcwpmb/Rd8qrL4Q4q63ibXX1S8u80K5Ngb9UztbJsxOEvCUX8GcTT1tnc0FWMAfSkyTX0NvHXCXjFfE2AAAAAAAAAAAAAAACCQAIJAAAAAAAAAFX3kj9svOC+pZytb0tKyD/K/qBxZIwXVEyvI7TIFm3PqX8tKLSadk014rBRt4Nk/ymplWl9nL26v0Nvl7mmi+bovNU/Kz9kYd99ndrpu0S9ul8XrB8pL4c/cBSNMjr6VHK0zOnp5gXDd67Nbi+sZcvR/55OsVjYWo4bEs8pez/QsyAkAAAAAAAAAAAAAAAAAAAAAAAAAACob3S+2ivyL6st5Ud7F9tH9C+rA4DRDMvCebFyYFx3Tq4dLF985Tl88fsde6tSjKL5qSaa8mjX2TVwUVR6Yrjn1ay/qbTA+QW5qsnW+sJyh/heP2PcNSzPvXVwa2/HfLi+Kyc6AHb2VqpO6tZ6zj/3H0tHzLd6GdTTn/eRPpqAkAAAAAAAAAAAAAAAAAAAAAAAAAACq7wR473jniMV8s/uWiUsZb6JZKdqdcnOUu+TbAxfybNbU6Zr0Nla1EvUp+YF1rWEl4JITeE2+iy2a2y9V2tUZ9/NP1TwbUugHyrbM3dfZZ+KT9y7l8jFTo36HW2xoXprmn92Tbrljk456eq6GCi1AbmxtI4W1z5ezJN+mS/ootOpSLDsHX8blW3nCyvJd6+YHaAAAAAAAAAAAAAAAAAAAAgCQAAAAHmccrD5p8n6Fa1O59cm3XdbXn+z7NiXx5/Ms4Apstyp92rf/ACl/U9VbmTTXFqpNeCrSf1LgANbZ+jjRVGuGWo55t5bbeW2bIAGrtDQ13w7O2PHH3pp+Ka5plX1G5TTbp1Diu6M4cWPesFyAFIW6Gq/vFX+GZ3dgbEem4pTs7Wcklnh4Ul1ePE7QAhEgAAAAAAAAAAABAZIAhEgACAAJAAAAAAAAAAAAAAAAAAAAAAAAAAAAAAAB/9k="/>
          <p:cNvSpPr>
            <a:spLocks noChangeAspect="1" noChangeArrowheads="1"/>
          </p:cNvSpPr>
          <p:nvPr/>
        </p:nvSpPr>
        <p:spPr bwMode="auto">
          <a:xfrm>
            <a:off x="10287000" y="355415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25606" name="Picture 6" descr="https://40.media.tumblr.com/5639facc6f3642ca927c9d7cc66dfc3e/tumblr_my971aicLe1sxpql3o1_4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600200"/>
            <a:ext cx="2133599"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5608" name="Picture 8" descr="http://www.intronis.com/wp-content/uploads/2014/03/tape-measur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4495800"/>
            <a:ext cx="22860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358131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52400" y="1143000"/>
            <a:ext cx="7086600" cy="5257800"/>
          </a:xfrm>
        </p:spPr>
        <p:txBody>
          <a:bodyPr/>
          <a:lstStyle/>
          <a:p>
            <a:pPr algn="just"/>
            <a:r>
              <a:rPr lang="es-CR" dirty="0" smtClean="0"/>
              <a:t>En la comparación de dos tipos de población, personas con edades promedio de 11 años, y personas con edades promedio de 25 años, se desea saber cuál posee mayor variabilidad, los pesos de los de 25 años o los de los 11 años.</a:t>
            </a:r>
          </a:p>
          <a:p>
            <a:pPr algn="just"/>
            <a:endParaRPr lang="es-CR" dirty="0"/>
          </a:p>
          <a:p>
            <a:pPr algn="just"/>
            <a:r>
              <a:rPr lang="es-CR" dirty="0" smtClean="0"/>
              <a:t>Los datos son los siguientes </a:t>
            </a:r>
            <a:endParaRPr lang="es-ES" dirty="0"/>
          </a:p>
        </p:txBody>
      </p:sp>
      <p:sp>
        <p:nvSpPr>
          <p:cNvPr id="4" name="Título 1"/>
          <p:cNvSpPr>
            <a:spLocks noGrp="1"/>
          </p:cNvSpPr>
          <p:nvPr>
            <p:ph type="title"/>
          </p:nvPr>
        </p:nvSpPr>
        <p:spPr>
          <a:xfrm>
            <a:off x="838200" y="152400"/>
            <a:ext cx="7772400" cy="715962"/>
          </a:xfrm>
        </p:spPr>
        <p:txBody>
          <a:bodyPr>
            <a:normAutofit fontScale="90000"/>
          </a:bodyPr>
          <a:lstStyle/>
          <a:p>
            <a:pPr algn="ctr"/>
            <a:r>
              <a:rPr lang="es-CR" dirty="0" smtClean="0"/>
              <a:t>Coeficiente de variación</a:t>
            </a:r>
            <a:endParaRPr lang="es-ES" dirty="0"/>
          </a:p>
        </p:txBody>
      </p:sp>
      <p:graphicFrame>
        <p:nvGraphicFramePr>
          <p:cNvPr id="5" name="Tabla 4"/>
          <p:cNvGraphicFramePr>
            <a:graphicFrameLocks noGrp="1"/>
          </p:cNvGraphicFramePr>
          <p:nvPr>
            <p:extLst>
              <p:ext uri="{D42A27DB-BD31-4B8C-83A1-F6EECF244321}">
                <p14:modId xmlns:p14="http://schemas.microsoft.com/office/powerpoint/2010/main" val="1020253540"/>
              </p:ext>
            </p:extLst>
          </p:nvPr>
        </p:nvGraphicFramePr>
        <p:xfrm>
          <a:off x="1165328" y="4571999"/>
          <a:ext cx="4572000" cy="1828801"/>
        </p:xfrm>
        <a:graphic>
          <a:graphicData uri="http://schemas.openxmlformats.org/drawingml/2006/table">
            <a:tbl>
              <a:tblPr firstRow="1" firstCol="1" bandRow="1">
                <a:tableStyleId>{7E9639D4-E3E2-4D34-9284-5A2195B3D0D7}</a:tableStyleId>
              </a:tblPr>
              <a:tblGrid>
                <a:gridCol w="1796942"/>
                <a:gridCol w="1479658"/>
                <a:gridCol w="1295400"/>
              </a:tblGrid>
              <a:tr h="463674">
                <a:tc>
                  <a:txBody>
                    <a:bodyPr/>
                    <a:lstStyle/>
                    <a:p>
                      <a:pPr>
                        <a:lnSpc>
                          <a:spcPct val="107000"/>
                        </a:lnSpc>
                        <a:spcAft>
                          <a:spcPts val="0"/>
                        </a:spcAft>
                      </a:pPr>
                      <a:r>
                        <a:rPr lang="es-ES" sz="1200" dirty="0">
                          <a:effectLst/>
                        </a:rPr>
                        <a:t> </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dirty="0">
                          <a:effectLst/>
                        </a:rPr>
                        <a:t>Muestra 1</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dirty="0">
                          <a:effectLst/>
                        </a:rPr>
                        <a:t>Muestra 2</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437779">
                <a:tc>
                  <a:txBody>
                    <a:bodyPr/>
                    <a:lstStyle/>
                    <a:p>
                      <a:pPr>
                        <a:lnSpc>
                          <a:spcPct val="107000"/>
                        </a:lnSpc>
                        <a:spcAft>
                          <a:spcPts val="0"/>
                        </a:spcAft>
                      </a:pPr>
                      <a:r>
                        <a:rPr lang="es-ES" sz="1200">
                          <a:effectLst/>
                        </a:rPr>
                        <a:t>Edad</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25 años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11 años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463674">
                <a:tc>
                  <a:txBody>
                    <a:bodyPr/>
                    <a:lstStyle/>
                    <a:p>
                      <a:pPr>
                        <a:lnSpc>
                          <a:spcPct val="107000"/>
                        </a:lnSpc>
                        <a:spcAft>
                          <a:spcPts val="0"/>
                        </a:spcAft>
                      </a:pPr>
                      <a:r>
                        <a:rPr lang="es-ES" sz="1200">
                          <a:effectLst/>
                        </a:rPr>
                        <a:t>Peso medio</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145 libras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80 libras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463674">
                <a:tc>
                  <a:txBody>
                    <a:bodyPr/>
                    <a:lstStyle/>
                    <a:p>
                      <a:pPr>
                        <a:lnSpc>
                          <a:spcPct val="107000"/>
                        </a:lnSpc>
                        <a:spcAft>
                          <a:spcPts val="0"/>
                        </a:spcAft>
                      </a:pPr>
                      <a:r>
                        <a:rPr lang="es-ES" sz="1200" dirty="0">
                          <a:effectLst/>
                        </a:rPr>
                        <a:t>Desviación estándar</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10 libras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dirty="0">
                          <a:effectLst/>
                        </a:rPr>
                        <a:t>10 libras</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bl>
          </a:graphicData>
        </a:graphic>
      </p:graphicFrame>
      <p:pic>
        <p:nvPicPr>
          <p:cNvPr id="21506" name="Picture 2" descr="http://www.allianceforkids.org/wp-content/uploads/2015/08/happy-kids-clipart-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4600" y="2895600"/>
            <a:ext cx="2500473" cy="1355725"/>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www.docteurclic.com/galerie-photos/image_4834_m.jpg"/>
          <p:cNvPicPr>
            <a:picLocks noChangeAspect="1" noChangeArrowheads="1"/>
          </p:cNvPicPr>
          <p:nvPr/>
        </p:nvPicPr>
        <p:blipFill rotWithShape="1">
          <a:blip r:embed="rId3">
            <a:extLst>
              <a:ext uri="{28A0092B-C50C-407E-A947-70E740481C1C}">
                <a14:useLocalDpi xmlns:a14="http://schemas.microsoft.com/office/drawing/2010/main" val="0"/>
              </a:ext>
            </a:extLst>
          </a:blip>
          <a:srcRect l="7000" t="14030" r="6000" b="15151"/>
          <a:stretch/>
        </p:blipFill>
        <p:spPr bwMode="auto">
          <a:xfrm>
            <a:off x="6254355" y="4699430"/>
            <a:ext cx="2570718" cy="1566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102652"/>
      </p:ext>
    </p:extLst>
  </p:cSld>
  <p:clrMapOvr>
    <a:masterClrMapping/>
  </p:clrMapOvr>
  <p:transition spd="slow">
    <p:randomBar dir="vert"/>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228600" y="914400"/>
            <a:ext cx="6553200" cy="5715000"/>
          </a:xfrm>
        </p:spPr>
        <p:txBody>
          <a:bodyPr>
            <a:normAutofit fontScale="92500" lnSpcReduction="10000"/>
          </a:bodyPr>
          <a:lstStyle/>
          <a:p>
            <a:pPr algn="just"/>
            <a:r>
              <a:rPr lang="es-CR" dirty="0" smtClean="0"/>
              <a:t>Una comparación de las desviaciones estándar puede conducir a la conclusión de que las dos muestras poseen igual variabilidad. Sin embargo, si se calcula el coeficiente de variación se obtiene por grupo:</a:t>
            </a:r>
          </a:p>
          <a:p>
            <a:pPr algn="just"/>
            <a:endParaRPr lang="es-CR" dirty="0"/>
          </a:p>
          <a:p>
            <a:pPr algn="just"/>
            <a:endParaRPr lang="es-CR" dirty="0" smtClean="0"/>
          </a:p>
          <a:p>
            <a:pPr algn="just"/>
            <a:endParaRPr lang="es-CR" dirty="0"/>
          </a:p>
          <a:p>
            <a:pPr algn="just"/>
            <a:endParaRPr lang="es-CR" dirty="0" smtClean="0"/>
          </a:p>
          <a:p>
            <a:pPr marL="0" indent="0" algn="just">
              <a:buNone/>
            </a:pPr>
            <a:r>
              <a:rPr lang="es-CR" dirty="0" smtClean="0"/>
              <a:t>….la impresión </a:t>
            </a:r>
            <a:r>
              <a:rPr lang="es-CR" dirty="0"/>
              <a:t>recibida es </a:t>
            </a:r>
            <a:r>
              <a:rPr lang="es-CR" dirty="0" smtClean="0"/>
              <a:t>diferente</a:t>
            </a:r>
          </a:p>
          <a:p>
            <a:pPr marL="0" indent="0" algn="just">
              <a:buNone/>
            </a:pPr>
            <a:endParaRPr lang="es-CR" dirty="0"/>
          </a:p>
          <a:p>
            <a:pPr algn="just"/>
            <a:r>
              <a:rPr lang="es-CR" dirty="0" smtClean="0"/>
              <a:t>Como </a:t>
            </a:r>
            <a:r>
              <a:rPr lang="es-CR" dirty="0"/>
              <a:t>e</a:t>
            </a:r>
            <a:r>
              <a:rPr lang="es-CR" dirty="0" smtClean="0"/>
              <a:t>l CV es independiente de la escala de medición, constituye una estadística útil para compara la variabilidad de dos o más variables en medidas en escalas diferentes.</a:t>
            </a:r>
            <a:endParaRPr lang="es-ES" dirty="0"/>
          </a:p>
        </p:txBody>
      </p:sp>
      <p:sp>
        <p:nvSpPr>
          <p:cNvPr id="4" name="Título 1"/>
          <p:cNvSpPr>
            <a:spLocks noGrp="1"/>
          </p:cNvSpPr>
          <p:nvPr>
            <p:ph type="title"/>
          </p:nvPr>
        </p:nvSpPr>
        <p:spPr>
          <a:xfrm>
            <a:off x="838200" y="152400"/>
            <a:ext cx="7772400" cy="715962"/>
          </a:xfrm>
        </p:spPr>
        <p:txBody>
          <a:bodyPr>
            <a:normAutofit fontScale="90000"/>
          </a:bodyPr>
          <a:lstStyle/>
          <a:p>
            <a:pPr algn="ctr"/>
            <a:r>
              <a:rPr lang="es-CR" dirty="0" smtClean="0"/>
              <a:t>Coeficiente de variación</a:t>
            </a:r>
            <a:endParaRPr lang="es-ES" dirty="0"/>
          </a:p>
        </p:txBody>
      </p:sp>
      <mc:AlternateContent xmlns:mc="http://schemas.openxmlformats.org/markup-compatibility/2006">
        <mc:Choice xmlns:a14="http://schemas.microsoft.com/office/drawing/2010/main" Requires="a14">
          <p:sp>
            <p:nvSpPr>
              <p:cNvPr id="5" name="Rectángulo 4"/>
              <p:cNvSpPr/>
              <p:nvPr/>
            </p:nvSpPr>
            <p:spPr>
              <a:xfrm>
                <a:off x="1333500" y="2514600"/>
                <a:ext cx="4572000" cy="1411220"/>
              </a:xfrm>
              <a:prstGeom prst="rect">
                <a:avLst/>
              </a:prstGeom>
            </p:spPr>
            <p:txBody>
              <a:bodyPr>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Personas</m:t>
                      </m:r>
                      <m:r>
                        <a:rPr lang="es-ES">
                          <a:latin typeface="Cambria Math" panose="02040503050406030204" pitchFamily="18" charset="0"/>
                          <a:ea typeface="Times New Roman" panose="02020603050405020304" pitchFamily="18" charset="0"/>
                          <a:cs typeface="Times New Roman" panose="02020603050405020304" pitchFamily="18" charset="0"/>
                        </a:rPr>
                        <m:t> 25 </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a</m:t>
                      </m:r>
                      <m:r>
                        <a:rPr lang="es-ES">
                          <a:latin typeface="Cambria Math" panose="02040503050406030204" pitchFamily="18" charset="0"/>
                          <a:ea typeface="Times New Roman" panose="02020603050405020304" pitchFamily="18" charset="0"/>
                          <a:cs typeface="Times New Roman" panose="02020603050405020304" pitchFamily="18" charset="0"/>
                        </a:rPr>
                        <m:t>ñ</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os</m:t>
                      </m:r>
                      <m:r>
                        <a:rPr lang="es-ES">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C</m:t>
                      </m:r>
                      <m:r>
                        <a:rPr lang="es-ES">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V</m:t>
                      </m:r>
                      <m:r>
                        <a:rPr lang="es-ES">
                          <a:latin typeface="Cambria Math" panose="02040503050406030204" pitchFamily="18" charset="0"/>
                          <a:ea typeface="Times New Roman" panose="02020603050405020304" pitchFamily="18" charset="0"/>
                          <a:cs typeface="Times New Roman" panose="02020603050405020304" pitchFamily="18" charset="0"/>
                        </a:rPr>
                        <m:t>.= </m:t>
                      </m:r>
                      <m:f>
                        <m:fPr>
                          <m:ctrlPr>
                            <a:rPr lang="es-ES"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ES" i="1">
                              <a:effectLst/>
                              <a:latin typeface="Cambria Math" panose="02040503050406030204" pitchFamily="18" charset="0"/>
                              <a:ea typeface="Times New Roman" panose="02020603050405020304" pitchFamily="18" charset="0"/>
                              <a:cs typeface="Times New Roman" panose="02020603050405020304" pitchFamily="18" charset="0"/>
                            </a:rPr>
                            <m:t>10</m:t>
                          </m:r>
                        </m:num>
                        <m:den>
                          <m:r>
                            <a:rPr lang="es-ES" i="1">
                              <a:effectLst/>
                              <a:latin typeface="Cambria Math" panose="02040503050406030204" pitchFamily="18" charset="0"/>
                              <a:ea typeface="Times New Roman" panose="02020603050405020304" pitchFamily="18" charset="0"/>
                              <a:cs typeface="Times New Roman" panose="02020603050405020304" pitchFamily="18" charset="0"/>
                            </a:rPr>
                            <m:t>145</m:t>
                          </m:r>
                        </m:den>
                      </m:f>
                      <m:r>
                        <a:rPr lang="es-ES" i="1">
                          <a:effectLst/>
                          <a:latin typeface="Cambria Math" panose="02040503050406030204" pitchFamily="18" charset="0"/>
                          <a:ea typeface="Times New Roman" panose="02020603050405020304" pitchFamily="18" charset="0"/>
                          <a:cs typeface="Times New Roman" panose="02020603050405020304" pitchFamily="18" charset="0"/>
                        </a:rPr>
                        <m:t>∗100=6.9</m:t>
                      </m:r>
                    </m:oMath>
                  </m:oMathPara>
                </a14:m>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Personas</m:t>
                      </m:r>
                      <m:r>
                        <a:rPr lang="es-ES">
                          <a:effectLst/>
                          <a:latin typeface="Cambria Math" panose="02040503050406030204" pitchFamily="18" charset="0"/>
                          <a:ea typeface="Times New Roman" panose="02020603050405020304" pitchFamily="18" charset="0"/>
                          <a:cs typeface="Times New Roman" panose="02020603050405020304" pitchFamily="18" charset="0"/>
                        </a:rPr>
                        <m:t> 11 </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a</m:t>
                      </m:r>
                      <m:r>
                        <a:rPr lang="es-ES">
                          <a:effectLst/>
                          <a:latin typeface="Cambria Math" panose="02040503050406030204" pitchFamily="18" charset="0"/>
                          <a:ea typeface="Times New Roman" panose="02020603050405020304" pitchFamily="18" charset="0"/>
                          <a:cs typeface="Times New Roman" panose="02020603050405020304" pitchFamily="18" charset="0"/>
                        </a:rPr>
                        <m:t>ñ</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os</m:t>
                      </m:r>
                      <m:r>
                        <a:rPr lang="es-ES">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C</m:t>
                      </m:r>
                      <m:r>
                        <a:rPr lang="es-ES">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V</m:t>
                      </m:r>
                      <m:r>
                        <a:rPr lang="es-ES">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ES"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ES" i="1">
                              <a:effectLst/>
                              <a:latin typeface="Cambria Math" panose="02040503050406030204" pitchFamily="18" charset="0"/>
                              <a:ea typeface="Times New Roman" panose="02020603050405020304" pitchFamily="18" charset="0"/>
                              <a:cs typeface="Times New Roman" panose="02020603050405020304" pitchFamily="18" charset="0"/>
                            </a:rPr>
                            <m:t>10</m:t>
                          </m:r>
                        </m:num>
                        <m:den>
                          <m:r>
                            <a:rPr lang="es-ES" i="1">
                              <a:effectLst/>
                              <a:latin typeface="Cambria Math" panose="02040503050406030204" pitchFamily="18" charset="0"/>
                              <a:ea typeface="Times New Roman" panose="02020603050405020304" pitchFamily="18" charset="0"/>
                              <a:cs typeface="Times New Roman" panose="02020603050405020304" pitchFamily="18" charset="0"/>
                            </a:rPr>
                            <m:t>80</m:t>
                          </m:r>
                        </m:den>
                      </m:f>
                      <m:r>
                        <a:rPr lang="es-ES" i="1">
                          <a:effectLst/>
                          <a:latin typeface="Cambria Math" panose="02040503050406030204" pitchFamily="18" charset="0"/>
                          <a:ea typeface="Times New Roman" panose="02020603050405020304" pitchFamily="18" charset="0"/>
                          <a:cs typeface="Times New Roman" panose="02020603050405020304" pitchFamily="18" charset="0"/>
                        </a:rPr>
                        <m:t>∗100=12.5</m:t>
                      </m:r>
                    </m:oMath>
                  </m:oMathPara>
                </a14:m>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5" name="Rectángulo 4"/>
              <p:cNvSpPr>
                <a:spLocks noRot="1" noChangeAspect="1" noMove="1" noResize="1" noEditPoints="1" noAdjustHandles="1" noChangeArrowheads="1" noChangeShapeType="1" noTextEdit="1"/>
              </p:cNvSpPr>
              <p:nvPr/>
            </p:nvSpPr>
            <p:spPr>
              <a:xfrm>
                <a:off x="1333500" y="2514600"/>
                <a:ext cx="4572000" cy="1411220"/>
              </a:xfrm>
              <a:prstGeom prst="rect">
                <a:avLst/>
              </a:prstGeom>
              <a:blipFill rotWithShape="0">
                <a:blip r:embed="rId2"/>
                <a:stretch>
                  <a:fillRect/>
                </a:stretch>
              </a:blipFill>
            </p:spPr>
            <p:txBody>
              <a:bodyPr/>
              <a:lstStyle/>
              <a:p>
                <a:r>
                  <a:rPr lang="es-ES">
                    <a:noFill/>
                  </a:rPr>
                  <a:t> </a:t>
                </a:r>
              </a:p>
            </p:txBody>
          </p:sp>
        </mc:Fallback>
      </mc:AlternateContent>
      <p:pic>
        <p:nvPicPr>
          <p:cNvPr id="26626" name="Picture 2" descr="http://az616578.vo.msecnd.net/files/2016/03/13/635935021239233410-1074524803_OlympicaMath.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875" b="17570"/>
          <a:stretch/>
        </p:blipFill>
        <p:spPr bwMode="auto">
          <a:xfrm>
            <a:off x="6801855" y="2038735"/>
            <a:ext cx="2115519" cy="1371600"/>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http://quickstationary.com/stationary/scales/56e06db64b9c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5234" y="3899694"/>
            <a:ext cx="1654369" cy="2050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385860"/>
      </p:ext>
    </p:extLst>
  </p:cSld>
  <p:clrMapOvr>
    <a:masterClrMapping/>
  </p:clrMapOvr>
  <p:transition spd="med">
    <p:pull/>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7772400" cy="914400"/>
          </a:xfrm>
        </p:spPr>
        <p:txBody>
          <a:bodyPr/>
          <a:lstStyle/>
          <a:p>
            <a:pPr algn="ctr"/>
            <a:r>
              <a:rPr lang="es-CR" dirty="0" smtClean="0"/>
              <a:t>Reseñas finales</a:t>
            </a:r>
            <a:endParaRPr lang="es-CR" dirty="0"/>
          </a:p>
        </p:txBody>
      </p:sp>
      <p:sp>
        <p:nvSpPr>
          <p:cNvPr id="3" name="Content Placeholder 2"/>
          <p:cNvSpPr>
            <a:spLocks noGrp="1"/>
          </p:cNvSpPr>
          <p:nvPr>
            <p:ph sz="quarter" idx="1"/>
          </p:nvPr>
        </p:nvSpPr>
        <p:spPr>
          <a:xfrm>
            <a:off x="381000" y="990600"/>
            <a:ext cx="5410200" cy="5562600"/>
          </a:xfrm>
        </p:spPr>
        <p:txBody>
          <a:bodyPr>
            <a:normAutofit fontScale="92500" lnSpcReduction="10000"/>
          </a:bodyPr>
          <a:lstStyle/>
          <a:p>
            <a:pPr algn="just"/>
            <a:r>
              <a:rPr lang="es-CR" sz="2400" dirty="0" smtClean="0"/>
              <a:t>Para tener idea de la dispersión, se puede utilizar tanto el criterio numérico como gráfico.</a:t>
            </a:r>
          </a:p>
          <a:p>
            <a:pPr algn="just"/>
            <a:endParaRPr lang="es-CR" sz="2400" dirty="0" smtClean="0"/>
          </a:p>
          <a:p>
            <a:pPr algn="just"/>
            <a:r>
              <a:rPr lang="es-CR" sz="2400" dirty="0" smtClean="0"/>
              <a:t>El conocer las medidas de posición como variabilidad no sólo  es una buena herramienta para la descripción; todos los métodos </a:t>
            </a:r>
            <a:r>
              <a:rPr lang="es-CR" sz="2400" dirty="0" err="1" smtClean="0"/>
              <a:t>inferenciales</a:t>
            </a:r>
            <a:r>
              <a:rPr lang="es-CR" sz="2400" dirty="0" smtClean="0"/>
              <a:t> utilizan medidas de variabilidad.</a:t>
            </a:r>
          </a:p>
          <a:p>
            <a:pPr algn="just"/>
            <a:endParaRPr lang="es-CR" sz="2400" dirty="0" smtClean="0"/>
          </a:p>
          <a:p>
            <a:pPr algn="just"/>
            <a:r>
              <a:rPr lang="es-CR" sz="2400" dirty="0" smtClean="0"/>
              <a:t>Obtener conjuntamente el promedio y la desviación estándar es útil tanto en la estandarización (prueba de hipótesis), como en la estimación (intervalos de confianza).</a:t>
            </a:r>
          </a:p>
          <a:p>
            <a:pPr algn="just"/>
            <a:endParaRPr lang="es-CR" sz="2400" dirty="0" smtClean="0"/>
          </a:p>
          <a:p>
            <a:pPr algn="just"/>
            <a:r>
              <a:rPr lang="es-CR" sz="2400" dirty="0" smtClean="0"/>
              <a:t>Esto último es parte de la Estadística </a:t>
            </a:r>
            <a:r>
              <a:rPr lang="es-CR" sz="2400" dirty="0" err="1" smtClean="0"/>
              <a:t>Inferencial</a:t>
            </a:r>
            <a:r>
              <a:rPr lang="es-CR" sz="2400" dirty="0" smtClean="0"/>
              <a:t>, y se estudiar en próximos capítulos.</a:t>
            </a:r>
          </a:p>
        </p:txBody>
      </p:sp>
      <p:pic>
        <p:nvPicPr>
          <p:cNvPr id="29698" name="Picture 2" descr="http://www.ikweethet.be/inf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8920" t="6989" r="4368" b="4736"/>
          <a:stretch/>
        </p:blipFill>
        <p:spPr bwMode="auto">
          <a:xfrm>
            <a:off x="6172200" y="1227082"/>
            <a:ext cx="2477814" cy="2522483"/>
          </a:xfrm>
          <a:prstGeom prst="rect">
            <a:avLst/>
          </a:prstGeom>
          <a:noFill/>
          <a:extLst>
            <a:ext uri="{909E8E84-426E-40DD-AFC4-6F175D3DCCD1}">
              <a14:hiddenFill xmlns:a14="http://schemas.microsoft.com/office/drawing/2010/main">
                <a:solidFill>
                  <a:srgbClr val="FFFFFF"/>
                </a:solidFill>
              </a14:hiddenFill>
            </a:ext>
          </a:extLst>
        </p:spPr>
      </p:pic>
      <p:pic>
        <p:nvPicPr>
          <p:cNvPr id="29700" name="Picture 4" descr="http://cdn2.benzinga.com/files/imagecache/1024x768xUP/images/story/2012/shutterstock_7163604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289" t="11135"/>
          <a:stretch/>
        </p:blipFill>
        <p:spPr bwMode="auto">
          <a:xfrm>
            <a:off x="6172200" y="4191000"/>
            <a:ext cx="2477814" cy="2209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dirty="0"/>
          </a:p>
        </p:txBody>
      </p:sp>
      <p:sp>
        <p:nvSpPr>
          <p:cNvPr id="3" name="2 Marcador de contenido"/>
          <p:cNvSpPr>
            <a:spLocks noGrp="1"/>
          </p:cNvSpPr>
          <p:nvPr>
            <p:ph sz="quarter" idx="1"/>
          </p:nvPr>
        </p:nvSpPr>
        <p:spPr/>
        <p:txBody>
          <a:bodyPr/>
          <a:lstStyle/>
          <a:p>
            <a:endParaRPr lang="es-CR"/>
          </a:p>
        </p:txBody>
      </p:sp>
      <p:pic>
        <p:nvPicPr>
          <p:cNvPr id="52226" name="Picture 2" descr="http://www.granadablogs.com/pateandoelmundo/wp-content/uploads/2009/10/_074.jpg"/>
          <p:cNvPicPr>
            <a:picLocks noChangeAspect="1" noChangeArrowheads="1"/>
          </p:cNvPicPr>
          <p:nvPr/>
        </p:nvPicPr>
        <p:blipFill>
          <a:blip r:embed="rId2" cstate="print"/>
          <a:srcRect/>
          <a:stretch>
            <a:fillRect/>
          </a:stretch>
        </p:blipFill>
        <p:spPr bwMode="auto">
          <a:xfrm>
            <a:off x="0" y="0"/>
            <a:ext cx="9144000" cy="6891240"/>
          </a:xfrm>
          <a:prstGeom prst="rect">
            <a:avLst/>
          </a:prstGeom>
          <a:noFill/>
        </p:spPr>
      </p:pic>
    </p:spTree>
    <p:extLst>
      <p:ext uri="{BB962C8B-B14F-4D97-AF65-F5344CB8AC3E}">
        <p14:creationId xmlns:p14="http://schemas.microsoft.com/office/powerpoint/2010/main" val="3687827704"/>
      </p:ext>
    </p:extLst>
  </p:cSld>
  <p:clrMapOvr>
    <a:masterClrMapping/>
  </p:clrMapOvr>
  <p:transition>
    <p:cut thruBlk="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988</TotalTime>
  <Words>2741</Words>
  <Application>Microsoft Office PowerPoint</Application>
  <PresentationFormat>Presentación en pantalla (4:3)</PresentationFormat>
  <Paragraphs>496</Paragraphs>
  <Slides>55</Slides>
  <Notes>0</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55</vt:i4>
      </vt:variant>
    </vt:vector>
  </HeadingPairs>
  <TitlesOfParts>
    <vt:vector size="64" baseType="lpstr">
      <vt:lpstr>Arial</vt:lpstr>
      <vt:lpstr>Calibri</vt:lpstr>
      <vt:lpstr>Cambria Math</vt:lpstr>
      <vt:lpstr>Franklin Gothic Book</vt:lpstr>
      <vt:lpstr>Perpetua</vt:lpstr>
      <vt:lpstr>Times New Roman</vt:lpstr>
      <vt:lpstr>Wingdings 2</vt:lpstr>
      <vt:lpstr>Equity</vt:lpstr>
      <vt:lpstr>Worksheet</vt:lpstr>
      <vt:lpstr>Medidas de variabilidad</vt:lpstr>
      <vt:lpstr>Recapitulando…..</vt:lpstr>
      <vt:lpstr>Índice</vt:lpstr>
      <vt:lpstr>Índice</vt:lpstr>
      <vt:lpstr>Índice</vt:lpstr>
      <vt:lpstr>Introducción</vt:lpstr>
      <vt:lpstr>Introducción</vt:lpstr>
      <vt:lpstr>Presentación de PowerPoint</vt:lpstr>
      <vt:lpstr>Introducción</vt:lpstr>
      <vt:lpstr>Índice</vt:lpstr>
      <vt:lpstr>El concepto de variabilidad</vt:lpstr>
      <vt:lpstr>El concepto de variabilidad</vt:lpstr>
      <vt:lpstr>El concepto de variabilidad</vt:lpstr>
      <vt:lpstr>El concepto de variabilidad</vt:lpstr>
      <vt:lpstr>El concepto de variabilidad</vt:lpstr>
      <vt:lpstr>El concepto de variabilidad</vt:lpstr>
      <vt:lpstr>El concepto de variabilidad</vt:lpstr>
      <vt:lpstr>Medidas de variabilidad</vt:lpstr>
      <vt:lpstr>Índice</vt:lpstr>
      <vt:lpstr>Recorrido o amplitud</vt:lpstr>
      <vt:lpstr>Recorrido o amplitud</vt:lpstr>
      <vt:lpstr>Recorrido o amplitud</vt:lpstr>
      <vt:lpstr>Recorrido o amplitud</vt:lpstr>
      <vt:lpstr>Índice</vt:lpstr>
      <vt:lpstr>Intervalo de cuartiles</vt:lpstr>
      <vt:lpstr>Intervalo de cuartiles</vt:lpstr>
      <vt:lpstr>Índice</vt:lpstr>
      <vt:lpstr>La desviación media </vt:lpstr>
      <vt:lpstr>La desviación media </vt:lpstr>
      <vt:lpstr>La desviación media </vt:lpstr>
      <vt:lpstr>La desviación media </vt:lpstr>
      <vt:lpstr>La desviación media </vt:lpstr>
      <vt:lpstr>La desviación media </vt:lpstr>
      <vt:lpstr>La desviación media </vt:lpstr>
      <vt:lpstr>Índice</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Índice</vt:lpstr>
      <vt:lpstr>Coeficiente de variación</vt:lpstr>
      <vt:lpstr>Coeficiente de variación</vt:lpstr>
      <vt:lpstr>Coeficiente de variación</vt:lpstr>
      <vt:lpstr>Coeficiente de variación</vt:lpstr>
      <vt:lpstr>Reseñas finales</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Medidas de variabilidad</dc:title>
  <dc:creator>Oscar</dc:creator>
  <cp:lastModifiedBy>Oscar</cp:lastModifiedBy>
  <cp:revision>118</cp:revision>
  <dcterms:created xsi:type="dcterms:W3CDTF">2006-08-16T00:00:00Z</dcterms:created>
  <dcterms:modified xsi:type="dcterms:W3CDTF">2016-05-12T16:06:05Z</dcterms:modified>
</cp:coreProperties>
</file>