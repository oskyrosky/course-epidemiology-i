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6" r:id="rId5"/>
    <p:sldId id="259" r:id="rId6"/>
    <p:sldId id="287" r:id="rId7"/>
    <p:sldId id="260" r:id="rId8"/>
    <p:sldId id="261" r:id="rId9"/>
    <p:sldId id="300" r:id="rId10"/>
    <p:sldId id="262" r:id="rId11"/>
    <p:sldId id="288" r:id="rId12"/>
    <p:sldId id="263" r:id="rId13"/>
    <p:sldId id="289" r:id="rId14"/>
    <p:sldId id="264" r:id="rId15"/>
    <p:sldId id="290" r:id="rId16"/>
    <p:sldId id="265" r:id="rId17"/>
    <p:sldId id="291" r:id="rId18"/>
    <p:sldId id="266" r:id="rId19"/>
    <p:sldId id="292" r:id="rId20"/>
    <p:sldId id="267" r:id="rId21"/>
    <p:sldId id="293" r:id="rId22"/>
    <p:sldId id="268" r:id="rId23"/>
    <p:sldId id="294" r:id="rId24"/>
    <p:sldId id="269" r:id="rId25"/>
    <p:sldId id="295" r:id="rId26"/>
    <p:sldId id="270" r:id="rId27"/>
    <p:sldId id="296" r:id="rId28"/>
    <p:sldId id="271" r:id="rId29"/>
    <p:sldId id="297" r:id="rId30"/>
    <p:sldId id="272" r:id="rId31"/>
    <p:sldId id="299" r:id="rId32"/>
    <p:sldId id="273" r:id="rId33"/>
    <p:sldId id="274" r:id="rId34"/>
    <p:sldId id="302" r:id="rId35"/>
    <p:sldId id="275" r:id="rId36"/>
    <p:sldId id="276" r:id="rId37"/>
    <p:sldId id="277" r:id="rId38"/>
    <p:sldId id="278" r:id="rId39"/>
    <p:sldId id="304" r:id="rId40"/>
    <p:sldId id="279" r:id="rId41"/>
    <p:sldId id="280" r:id="rId42"/>
    <p:sldId id="281" r:id="rId43"/>
    <p:sldId id="282" r:id="rId44"/>
    <p:sldId id="307" r:id="rId45"/>
    <p:sldId id="305" r:id="rId46"/>
    <p:sldId id="283" r:id="rId47"/>
    <p:sldId id="306" r:id="rId48"/>
    <p:sldId id="284" r:id="rId4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>
      <p:cViewPr varScale="1">
        <p:scale>
          <a:sx n="70" d="100"/>
          <a:sy n="70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10/05/2016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814638" y="5805264"/>
            <a:ext cx="6329362" cy="720080"/>
          </a:xfrm>
        </p:spPr>
        <p:txBody>
          <a:bodyPr>
            <a:normAutofit/>
          </a:bodyPr>
          <a:lstStyle/>
          <a:p>
            <a:r>
              <a:rPr lang="es-CR" sz="3200" dirty="0" smtClean="0"/>
              <a:t>Oscar Centeno Mora</a:t>
            </a:r>
            <a:endParaRPr lang="es-CR" sz="3200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R" dirty="0" smtClean="0"/>
              <a:t>Estadística como disciplina científica, métodos de recolección y tipos de datos</a:t>
            </a:r>
            <a:endParaRPr lang="es-CR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116632"/>
            <a:ext cx="7772400" cy="692696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Introducción</a:t>
            </a:r>
            <a:endParaRPr lang="es-C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06" y="928670"/>
            <a:ext cx="6156778" cy="5740690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En la clase anterior se introdujo la Estadística y ciertos conceptos básicos asociados. 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Seguiremos estudiando los diferentes componentes de la Estadística, pero se aumentará el nivel de especificación.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Los temas de este capítulo están enfocados en mostrar que la Estadística es una disciplina científica. 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Se presentan las principales etapas que determinan un estudio científico, las técnicas de recolección de datos, los tipos de datos,  las formas de recolectar datos y la evaluación de la calidad de datos.</a:t>
            </a:r>
          </a:p>
        </p:txBody>
      </p:sp>
      <p:pic>
        <p:nvPicPr>
          <p:cNvPr id="23554" name="Picture 2" descr="http://static-p3.fotolia.com/jpg/00/04/81/18/400_F_4811870_4Xsg4miDi8kTbDMTU7PETKzfEr7VN7p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31586" y="967088"/>
            <a:ext cx="2416654" cy="2000264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Esquema del presenta capítulo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214414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Estadística como disciplina científica </a:t>
            </a:r>
            <a:endParaRPr lang="es-CR" dirty="0"/>
          </a:p>
        </p:txBody>
      </p:sp>
      <p:sp>
        <p:nvSpPr>
          <p:cNvPr id="5" name="4 Rectángulo"/>
          <p:cNvSpPr/>
          <p:nvPr/>
        </p:nvSpPr>
        <p:spPr>
          <a:xfrm>
            <a:off x="5357818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Fases de una investigación en estadística</a:t>
            </a:r>
            <a:endParaRPr lang="es-CR" dirty="0"/>
          </a:p>
        </p:txBody>
      </p:sp>
      <p:sp>
        <p:nvSpPr>
          <p:cNvPr id="6" name="5 Rectángulo"/>
          <p:cNvSpPr/>
          <p:nvPr/>
        </p:nvSpPr>
        <p:spPr>
          <a:xfrm>
            <a:off x="1285852" y="335756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Técnicas de recolección de datos</a:t>
            </a:r>
            <a:endParaRPr lang="es-CR" dirty="0"/>
          </a:p>
        </p:txBody>
      </p:sp>
      <p:sp>
        <p:nvSpPr>
          <p:cNvPr id="7" name="6 Rectángulo"/>
          <p:cNvSpPr/>
          <p:nvPr/>
        </p:nvSpPr>
        <p:spPr>
          <a:xfrm>
            <a:off x="5214942" y="342900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datos</a:t>
            </a:r>
            <a:endParaRPr lang="es-CR" dirty="0"/>
          </a:p>
        </p:txBody>
      </p:sp>
      <p:sp>
        <p:nvSpPr>
          <p:cNvPr id="8" name="7 Rectángulo"/>
          <p:cNvSpPr/>
          <p:nvPr/>
        </p:nvSpPr>
        <p:spPr>
          <a:xfrm>
            <a:off x="1285852" y="521495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Formas de recolección de datos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142844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0" name="9 Elipse"/>
          <p:cNvSpPr/>
          <p:nvPr/>
        </p:nvSpPr>
        <p:spPr>
          <a:xfrm>
            <a:off x="4286248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1" name="10 Elipse"/>
          <p:cNvSpPr/>
          <p:nvPr/>
        </p:nvSpPr>
        <p:spPr>
          <a:xfrm>
            <a:off x="214282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12" name="11 Elipse"/>
          <p:cNvSpPr/>
          <p:nvPr/>
        </p:nvSpPr>
        <p:spPr>
          <a:xfrm>
            <a:off x="4286248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13" name="12 Elipse"/>
          <p:cNvSpPr/>
          <p:nvPr/>
        </p:nvSpPr>
        <p:spPr>
          <a:xfrm>
            <a:off x="285720" y="550070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14" name="13 Elipse"/>
          <p:cNvSpPr/>
          <p:nvPr/>
        </p:nvSpPr>
        <p:spPr>
          <a:xfrm>
            <a:off x="4214810" y="550070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6</a:t>
            </a:r>
            <a:endParaRPr lang="es-CR" dirty="0"/>
          </a:p>
        </p:txBody>
      </p:sp>
      <p:sp>
        <p:nvSpPr>
          <p:cNvPr id="15" name="14 Rectángulo"/>
          <p:cNvSpPr/>
          <p:nvPr/>
        </p:nvSpPr>
        <p:spPr>
          <a:xfrm>
            <a:off x="5143504" y="521495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Evaluación de la calidad de los datos</a:t>
            </a:r>
            <a:endParaRPr lang="es-CR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Esquema del presenta capítulo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214414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Estadística como disciplina científica 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142844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616909730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786874" cy="857232"/>
          </a:xfrm>
        </p:spPr>
        <p:txBody>
          <a:bodyPr>
            <a:normAutofit/>
          </a:bodyPr>
          <a:lstStyle/>
          <a:p>
            <a:r>
              <a:rPr lang="es-CR" dirty="0" smtClean="0"/>
              <a:t>La Estadística como disciplina científica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6357982" cy="5669252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dirty="0" smtClean="0"/>
              <a:t>Según la definición de Estadística del cap. 1:</a:t>
            </a:r>
          </a:p>
          <a:p>
            <a:pPr marL="0" indent="0" algn="just">
              <a:buNone/>
            </a:pPr>
            <a:endParaRPr lang="es-CR" dirty="0" smtClean="0"/>
          </a:p>
          <a:p>
            <a:pPr algn="just">
              <a:buNone/>
            </a:pPr>
            <a:r>
              <a:rPr lang="es-CR" dirty="0" smtClean="0"/>
              <a:t>	“Es la disciplina científica dedicada al desarrollo y la aplicación de la teoría y las técnicas apropiadas para la recolección, clasificación, presentación, análisis e interpretación de información cuantitativa obtenida por muestreo, observación o experimentación”.</a:t>
            </a:r>
          </a:p>
          <a:p>
            <a:pPr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Esta definición estructura que la estadística es una disciplina que consta de varias etapas o fases.  </a:t>
            </a:r>
          </a:p>
          <a:p>
            <a:pPr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Estas etapas definen el método investigación.</a:t>
            </a:r>
          </a:p>
        </p:txBody>
      </p:sp>
      <p:pic>
        <p:nvPicPr>
          <p:cNvPr id="21506" name="Picture 2" descr="http://www.castleton.edu/math/statistics/SIG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928670"/>
            <a:ext cx="1891393" cy="3000396"/>
          </a:xfrm>
          <a:prstGeom prst="rect">
            <a:avLst/>
          </a:prstGeom>
          <a:noFill/>
        </p:spPr>
      </p:pic>
      <p:pic>
        <p:nvPicPr>
          <p:cNvPr id="21508" name="Picture 4" descr="http://www.idgresearch.com/wp-content/themes/idg-one/images/puzzle-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3929066"/>
            <a:ext cx="2357454" cy="2571768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79512" y="51488"/>
            <a:ext cx="8786874" cy="857232"/>
          </a:xfrm>
        </p:spPr>
        <p:txBody>
          <a:bodyPr>
            <a:normAutofit/>
          </a:bodyPr>
          <a:lstStyle/>
          <a:p>
            <a:r>
              <a:rPr lang="es-CR" dirty="0" smtClean="0"/>
              <a:t>La Estadística como disciplina científica</a:t>
            </a:r>
            <a:endParaRPr lang="es-CR" dirty="0"/>
          </a:p>
        </p:txBody>
      </p:sp>
      <p:sp>
        <p:nvSpPr>
          <p:cNvPr id="5" name="4 Elipse"/>
          <p:cNvSpPr/>
          <p:nvPr/>
        </p:nvSpPr>
        <p:spPr>
          <a:xfrm>
            <a:off x="380768" y="1340768"/>
            <a:ext cx="5271352" cy="5256584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 redondeado"/>
          <p:cNvSpPr/>
          <p:nvPr/>
        </p:nvSpPr>
        <p:spPr>
          <a:xfrm>
            <a:off x="7164288" y="1052736"/>
            <a:ext cx="1728192" cy="86409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Método de investigación</a:t>
            </a:r>
            <a:endParaRPr lang="es-CR" dirty="0"/>
          </a:p>
        </p:txBody>
      </p:sp>
      <p:sp>
        <p:nvSpPr>
          <p:cNvPr id="7" name="6 Elipse"/>
          <p:cNvSpPr/>
          <p:nvPr/>
        </p:nvSpPr>
        <p:spPr>
          <a:xfrm>
            <a:off x="1331640" y="2348880"/>
            <a:ext cx="1224136" cy="9361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T3</a:t>
            </a:r>
            <a:endParaRPr lang="es-CR" dirty="0"/>
          </a:p>
        </p:txBody>
      </p:sp>
      <p:sp>
        <p:nvSpPr>
          <p:cNvPr id="8" name="7 Elipse"/>
          <p:cNvSpPr/>
          <p:nvPr/>
        </p:nvSpPr>
        <p:spPr>
          <a:xfrm>
            <a:off x="1115616" y="4032960"/>
            <a:ext cx="1224136" cy="9361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T2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3016444" y="1797244"/>
            <a:ext cx="1224136" cy="9361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T4</a:t>
            </a:r>
            <a:endParaRPr lang="es-CR" dirty="0"/>
          </a:p>
        </p:txBody>
      </p:sp>
      <p:sp>
        <p:nvSpPr>
          <p:cNvPr id="10" name="9 Elipse"/>
          <p:cNvSpPr/>
          <p:nvPr/>
        </p:nvSpPr>
        <p:spPr>
          <a:xfrm>
            <a:off x="3781769" y="3037852"/>
            <a:ext cx="1224136" cy="9361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T5</a:t>
            </a:r>
            <a:endParaRPr lang="es-CR" dirty="0"/>
          </a:p>
        </p:txBody>
      </p:sp>
      <p:sp>
        <p:nvSpPr>
          <p:cNvPr id="11" name="10 Elipse"/>
          <p:cNvSpPr/>
          <p:nvPr/>
        </p:nvSpPr>
        <p:spPr>
          <a:xfrm>
            <a:off x="2004110" y="5301208"/>
            <a:ext cx="1224136" cy="9361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T1</a:t>
            </a:r>
            <a:endParaRPr lang="es-CR" dirty="0"/>
          </a:p>
        </p:txBody>
      </p:sp>
      <p:sp>
        <p:nvSpPr>
          <p:cNvPr id="12" name="11 Elipse"/>
          <p:cNvSpPr/>
          <p:nvPr/>
        </p:nvSpPr>
        <p:spPr>
          <a:xfrm>
            <a:off x="3794867" y="4653136"/>
            <a:ext cx="1224136" cy="9361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</a:t>
            </a:r>
            <a:endParaRPr lang="es-CR" dirty="0"/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3781769" y="1484784"/>
            <a:ext cx="323850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>
            <a:off x="3228246" y="5769260"/>
            <a:ext cx="323850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 redondeado"/>
          <p:cNvSpPr/>
          <p:nvPr/>
        </p:nvSpPr>
        <p:spPr>
          <a:xfrm>
            <a:off x="6732240" y="5337212"/>
            <a:ext cx="1728192" cy="86409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Técnica de investigación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415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6286544" cy="542928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CR" dirty="0" smtClean="0"/>
              <a:t>A grosso modo, las etapas del método científico o de investigación buscan, la mayoría de veces, resultados empírico (a partir de datos) para poder definir o demostrar cierto hecho.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Esto es lo que hace de la estadística una disciplina científica.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Ejemplos:</a:t>
            </a:r>
          </a:p>
          <a:p>
            <a:pPr algn="just">
              <a:buNone/>
            </a:pPr>
            <a:r>
              <a:rPr lang="es-CR" dirty="0" smtClean="0"/>
              <a:t>- Evaluación de un medicamente.            </a:t>
            </a:r>
          </a:p>
          <a:p>
            <a:pPr algn="just">
              <a:buNone/>
            </a:pPr>
            <a:r>
              <a:rPr lang="es-CR" dirty="0" smtClean="0"/>
              <a:t>-Estudio epidemiológico.</a:t>
            </a:r>
          </a:p>
          <a:p>
            <a:pPr algn="just">
              <a:buNone/>
            </a:pPr>
            <a:r>
              <a:rPr lang="es-CR" dirty="0" smtClean="0"/>
              <a:t>-Conocer la opinión pública</a:t>
            </a:r>
          </a:p>
          <a:p>
            <a:pPr algn="just">
              <a:buNone/>
            </a:pPr>
            <a:r>
              <a:rPr lang="es-CR" dirty="0" smtClean="0"/>
              <a:t>-Un estudio sociológico</a:t>
            </a:r>
          </a:p>
          <a:p>
            <a:pPr algn="just">
              <a:buNone/>
            </a:pPr>
            <a:r>
              <a:rPr lang="es-CR" dirty="0" smtClean="0"/>
              <a:t>-Verificar el momento de resistencia de una viga. 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786874" cy="857232"/>
          </a:xfrm>
        </p:spPr>
        <p:txBody>
          <a:bodyPr>
            <a:normAutofit/>
          </a:bodyPr>
          <a:lstStyle/>
          <a:p>
            <a:r>
              <a:rPr lang="es-CR" dirty="0" smtClean="0"/>
              <a:t>La Estadística como disciplina científica</a:t>
            </a:r>
            <a:endParaRPr lang="es-CR" dirty="0"/>
          </a:p>
        </p:txBody>
      </p:sp>
      <p:pic>
        <p:nvPicPr>
          <p:cNvPr id="20482" name="Picture 2" descr="http://plus.maths.org/issue23/features/data/dat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3701" y="1214422"/>
            <a:ext cx="2294605" cy="2071702"/>
          </a:xfrm>
          <a:prstGeom prst="rect">
            <a:avLst/>
          </a:prstGeom>
          <a:noFill/>
        </p:spPr>
      </p:pic>
      <p:pic>
        <p:nvPicPr>
          <p:cNvPr id="20484" name="Picture 4" descr="http://www.evisos.com.pe/images/advertisements/2008/12/21/ofrezco-terapia-fisica-y-rehabilitacion_9fb7c647_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3662380"/>
            <a:ext cx="3019425" cy="2409826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42844" y="1071546"/>
            <a:ext cx="6357982" cy="5357850"/>
          </a:xfrm>
        </p:spPr>
        <p:txBody>
          <a:bodyPr>
            <a:normAutofit/>
          </a:bodyPr>
          <a:lstStyle/>
          <a:p>
            <a:pPr algn="just"/>
            <a:r>
              <a:rPr lang="es-CR" dirty="0" smtClean="0"/>
              <a:t>Todas las disciplinas realizan investigaciones para ampliar los horizontes en sus campos.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En casi todas las áreas se utiliza la Estadística para verificar y probar el fenómeno puesto en causa.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/>
              <a:t>E</a:t>
            </a:r>
            <a:r>
              <a:rPr lang="es-CR" dirty="0" smtClean="0"/>
              <a:t>s muy importante conocer las diferentes partes que forman una investigación en Estadística. Al pertenecer al método de investigación, se considera como una pequeña variación de otros procesos de investigación.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786874" cy="857232"/>
          </a:xfrm>
        </p:spPr>
        <p:txBody>
          <a:bodyPr>
            <a:normAutofit/>
          </a:bodyPr>
          <a:lstStyle/>
          <a:p>
            <a:r>
              <a:rPr lang="es-CR" dirty="0" smtClean="0"/>
              <a:t>La Estadística como disciplina científica</a:t>
            </a:r>
            <a:endParaRPr lang="es-CR" dirty="0"/>
          </a:p>
        </p:txBody>
      </p:sp>
      <p:pic>
        <p:nvPicPr>
          <p:cNvPr id="19458" name="Picture 2" descr="http://www.texasbeyondhistory.net/kids/images/dr-dirt-research-s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1142984"/>
            <a:ext cx="2428892" cy="2500330"/>
          </a:xfrm>
          <a:prstGeom prst="rect">
            <a:avLst/>
          </a:prstGeom>
          <a:noFill/>
        </p:spPr>
      </p:pic>
      <p:pic>
        <p:nvPicPr>
          <p:cNvPr id="19460" name="Picture 4" descr="http://cdn-flac.ficfiles.com/sites/biensimple/files/img/a/7407248/autoayuda-aprende-terminar-etapas-y-seguir-adelante-460x345-l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3857628"/>
            <a:ext cx="2357454" cy="2714644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Esquema del presenta capítulo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214414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Estadística como disciplina científica </a:t>
            </a:r>
            <a:endParaRPr lang="es-CR" dirty="0"/>
          </a:p>
        </p:txBody>
      </p:sp>
      <p:sp>
        <p:nvSpPr>
          <p:cNvPr id="5" name="4 Rectángulo"/>
          <p:cNvSpPr/>
          <p:nvPr/>
        </p:nvSpPr>
        <p:spPr>
          <a:xfrm>
            <a:off x="5357818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Fases de una investigación en estadística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142844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0" name="9 Elipse"/>
          <p:cNvSpPr/>
          <p:nvPr/>
        </p:nvSpPr>
        <p:spPr>
          <a:xfrm>
            <a:off x="4286248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16345620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42844" y="1071546"/>
            <a:ext cx="7021444" cy="5357850"/>
          </a:xfrm>
        </p:spPr>
        <p:txBody>
          <a:bodyPr>
            <a:normAutofit/>
          </a:bodyPr>
          <a:lstStyle/>
          <a:p>
            <a:r>
              <a:rPr lang="es-CR" sz="2400" dirty="0" smtClean="0"/>
              <a:t>Formalmente consta de 9 fases </a:t>
            </a:r>
            <a:r>
              <a:rPr lang="es-CR" sz="2400" dirty="0"/>
              <a:t>o</a:t>
            </a:r>
            <a:r>
              <a:rPr lang="es-CR" sz="2400" dirty="0" smtClean="0"/>
              <a:t> etapas:</a:t>
            </a:r>
          </a:p>
          <a:p>
            <a:pPr>
              <a:buNone/>
            </a:pPr>
            <a:endParaRPr lang="es-CR" sz="2400" dirty="0" smtClean="0"/>
          </a:p>
          <a:p>
            <a:pPr algn="just">
              <a:buNone/>
            </a:pPr>
            <a:r>
              <a:rPr lang="es-CR" sz="2400" dirty="0" smtClean="0"/>
              <a:t>1. Definición y delimitación del problema de interés.</a:t>
            </a:r>
          </a:p>
          <a:p>
            <a:pPr algn="just">
              <a:buNone/>
            </a:pPr>
            <a:r>
              <a:rPr lang="es-CR" sz="2400" dirty="0" smtClean="0"/>
              <a:t>2. Establecimiento de los propósitos específicos del estudio.</a:t>
            </a:r>
          </a:p>
          <a:p>
            <a:pPr algn="just">
              <a:buNone/>
            </a:pPr>
            <a:r>
              <a:rPr lang="es-CR" sz="2400" dirty="0" smtClean="0"/>
              <a:t>3. Preparación de un plan de trabajo.</a:t>
            </a:r>
          </a:p>
          <a:p>
            <a:pPr algn="just">
              <a:buNone/>
            </a:pPr>
            <a:r>
              <a:rPr lang="es-CR" sz="2400" dirty="0" smtClean="0"/>
              <a:t>4. Construcción de una herramienta de recolección.</a:t>
            </a:r>
          </a:p>
          <a:p>
            <a:pPr algn="just">
              <a:buNone/>
            </a:pPr>
            <a:r>
              <a:rPr lang="es-CR" sz="2400" dirty="0" smtClean="0"/>
              <a:t>5. Diseño y selección de la muestra.</a:t>
            </a:r>
          </a:p>
          <a:p>
            <a:pPr algn="just">
              <a:buNone/>
            </a:pPr>
            <a:r>
              <a:rPr lang="es-CR" sz="2400" dirty="0" smtClean="0"/>
              <a:t>6. Preparación y ejecución del trabajo de campo.</a:t>
            </a:r>
          </a:p>
          <a:p>
            <a:pPr algn="just">
              <a:buNone/>
            </a:pPr>
            <a:r>
              <a:rPr lang="es-CR" sz="2400" dirty="0" smtClean="0"/>
              <a:t>7.  Procesamiento de la información.</a:t>
            </a:r>
          </a:p>
          <a:p>
            <a:pPr algn="just">
              <a:buNone/>
            </a:pPr>
            <a:r>
              <a:rPr lang="es-CR" sz="2400" dirty="0" smtClean="0"/>
              <a:t>8. Análisis e interpretación de los datos.</a:t>
            </a:r>
          </a:p>
          <a:p>
            <a:pPr algn="just">
              <a:buNone/>
            </a:pPr>
            <a:r>
              <a:rPr lang="es-CR" sz="2400" dirty="0" smtClean="0"/>
              <a:t>9. Preparación del informe.</a:t>
            </a:r>
          </a:p>
        </p:txBody>
      </p:sp>
      <p:sp>
        <p:nvSpPr>
          <p:cNvPr id="4" name="3 Cerrar llave"/>
          <p:cNvSpPr/>
          <p:nvPr/>
        </p:nvSpPr>
        <p:spPr>
          <a:xfrm>
            <a:off x="6804248" y="1772816"/>
            <a:ext cx="285752" cy="435771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" name="4 Rectángulo"/>
          <p:cNvSpPr/>
          <p:nvPr/>
        </p:nvSpPr>
        <p:spPr>
          <a:xfrm>
            <a:off x="7380312" y="1737097"/>
            <a:ext cx="1500198" cy="442915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 todo un proceso de investigación también se le conoce como “</a:t>
            </a:r>
            <a:r>
              <a:rPr lang="es-CR" b="1" dirty="0" smtClean="0"/>
              <a:t>cadena de eslabón</a:t>
            </a:r>
            <a:r>
              <a:rPr lang="es-CR" dirty="0" smtClean="0"/>
              <a:t>”</a:t>
            </a:r>
            <a:endParaRPr lang="es-CR" dirty="0"/>
          </a:p>
        </p:txBody>
      </p:sp>
    </p:spTree>
  </p:cSld>
  <p:clrMapOvr>
    <a:masterClrMapping/>
  </p:clrMapOvr>
  <p:transition>
    <p:cover dir="l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484784"/>
            <a:ext cx="5184576" cy="49685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sz="2400" dirty="0" smtClean="0"/>
              <a:t>La ONU desea realizar un estudio en el área de la Salud.</a:t>
            </a:r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r>
              <a:rPr lang="es-CR" sz="2400" dirty="0" smtClean="0"/>
              <a:t>Decide escogerlos a ustedes como grupo de investigación para poder llevar a cabo la investigación.</a:t>
            </a:r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r>
              <a:rPr lang="es-CR" sz="2400" dirty="0" smtClean="0"/>
              <a:t>Habrá que manejar todo lo referente al proyecto: presupuesto, trabajo administrativo, definición del y los objetivos, etc…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72634" y="332656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026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969328"/>
            <a:ext cx="352618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91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6286544" cy="557216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None/>
            </a:pPr>
            <a:r>
              <a:rPr lang="es-CR" dirty="0" smtClean="0"/>
              <a:t>1. </a:t>
            </a:r>
            <a:r>
              <a:rPr lang="es-CR" u="sng" dirty="0" smtClean="0"/>
              <a:t>Definición y delimitación de un problema</a:t>
            </a:r>
          </a:p>
          <a:p>
            <a:pPr marL="514350" indent="-514350"/>
            <a:endParaRPr lang="es-CR" u="sng" dirty="0" smtClean="0"/>
          </a:p>
          <a:p>
            <a:pPr marL="514350" indent="-514350" algn="just"/>
            <a:r>
              <a:rPr lang="es-CR" dirty="0" smtClean="0"/>
              <a:t>Es lo primero que se lleva a cabo en cualquier estudio.</a:t>
            </a:r>
          </a:p>
          <a:p>
            <a:pPr marL="514350" indent="-514350" algn="just">
              <a:buNone/>
            </a:pPr>
            <a:endParaRPr lang="es-CR" dirty="0" smtClean="0"/>
          </a:p>
          <a:p>
            <a:pPr marL="514350" indent="-514350" algn="just"/>
            <a:r>
              <a:rPr lang="es-CR" dirty="0" smtClean="0"/>
              <a:t>Debería siempre responder a un “qué” y “para qué”.</a:t>
            </a:r>
          </a:p>
          <a:p>
            <a:pPr marL="514350" indent="-514350" algn="just">
              <a:buNone/>
            </a:pPr>
            <a:endParaRPr lang="es-CR" dirty="0" smtClean="0"/>
          </a:p>
          <a:p>
            <a:pPr marL="514350" indent="-514350" algn="just"/>
            <a:r>
              <a:rPr lang="es-CR" dirty="0" smtClean="0"/>
              <a:t>En esta parte se delimita la población, la unidad de estudio, características, observación y los tipos de datos que se van a obtener.</a:t>
            </a:r>
          </a:p>
          <a:p>
            <a:pPr marL="514350" indent="-514350" algn="just">
              <a:buNone/>
            </a:pPr>
            <a:endParaRPr lang="es-CR" dirty="0" smtClean="0"/>
          </a:p>
          <a:p>
            <a:pPr marL="514350" indent="-514350" algn="just"/>
            <a:r>
              <a:rPr lang="es-CR" dirty="0" smtClean="0"/>
              <a:t>Se suele revisar la literatura y otros estudios similares.</a:t>
            </a:r>
          </a:p>
          <a:p>
            <a:pPr marL="514350" indent="-514350">
              <a:buNone/>
            </a:pPr>
            <a:endParaRPr lang="es-CR" u="sng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7410" name="Picture 2" descr="http://garaque.files.wordpress.com/2008/05/ini_primer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34900" y="1071546"/>
            <a:ext cx="2366255" cy="2501470"/>
          </a:xfrm>
          <a:prstGeom prst="rect">
            <a:avLst/>
          </a:prstGeom>
          <a:noFill/>
        </p:spPr>
      </p:pic>
      <p:pic>
        <p:nvPicPr>
          <p:cNvPr id="17412" name="Picture 4" descr="http://freeloadz.net/uploads/posts/2009-03/1236182425_point7_wha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8" y="3857628"/>
            <a:ext cx="2214578" cy="2214578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4176464" cy="5256584"/>
          </a:xfrm>
        </p:spPr>
        <p:txBody>
          <a:bodyPr/>
          <a:lstStyle/>
          <a:p>
            <a:r>
              <a:rPr lang="es-CR" dirty="0" smtClean="0"/>
              <a:t>¿ Qué es lo que se va a investigar y para qué?</a:t>
            </a:r>
          </a:p>
          <a:p>
            <a:endParaRPr lang="es-CR" dirty="0"/>
          </a:p>
          <a:p>
            <a:r>
              <a:rPr lang="es-CR" dirty="0" smtClean="0"/>
              <a:t>¿Cuál es la población, la UE, las características y ciertas observaciones asociadas?</a:t>
            </a:r>
          </a:p>
          <a:p>
            <a:endParaRPr lang="es-CR" dirty="0"/>
          </a:p>
          <a:p>
            <a:r>
              <a:rPr lang="es-CR" dirty="0" smtClean="0"/>
              <a:t>¿Qué se podría revisar como literatura o documentos?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18864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5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700808"/>
            <a:ext cx="352618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98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42844" y="1142984"/>
            <a:ext cx="5365260" cy="52864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R" sz="2400" dirty="0" smtClean="0"/>
              <a:t>2. </a:t>
            </a:r>
            <a:r>
              <a:rPr lang="es-CR" sz="2400" u="sng" dirty="0" smtClean="0"/>
              <a:t>Establecimiento de los propósitos del estudio</a:t>
            </a:r>
          </a:p>
          <a:p>
            <a:pPr>
              <a:buNone/>
            </a:pPr>
            <a:endParaRPr lang="es-CR" sz="2400" u="sng" dirty="0" smtClean="0"/>
          </a:p>
          <a:p>
            <a:pPr algn="just"/>
            <a:r>
              <a:rPr lang="es-CR" sz="2400" dirty="0" smtClean="0"/>
              <a:t>Se establecen los objetivos específicos del estudio.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Se menciona la teoría que lo sustenta.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Se menciona la hipótesis que se va someter a prueba.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Esto último depende del tipo de estudio.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6386" name="Picture 2" descr="http://www.feansal.es/images/contenido_web_feansal/objetiv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1571612"/>
            <a:ext cx="2857500" cy="2343151"/>
          </a:xfrm>
          <a:prstGeom prst="rect">
            <a:avLst/>
          </a:prstGeom>
          <a:noFill/>
        </p:spPr>
      </p:pic>
      <p:pic>
        <p:nvPicPr>
          <p:cNvPr id="16388" name="Picture 4" descr="http://www.uam.es/otros/hojavol/hoja9/imagenes09/domin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4786322"/>
            <a:ext cx="2957347" cy="1857388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377280"/>
            <a:ext cx="4608512" cy="5220072"/>
          </a:xfrm>
        </p:spPr>
        <p:txBody>
          <a:bodyPr/>
          <a:lstStyle/>
          <a:p>
            <a:r>
              <a:rPr lang="es-CR" dirty="0" smtClean="0"/>
              <a:t>¿Cuáles serían los objetivos del estudio? </a:t>
            </a:r>
          </a:p>
          <a:p>
            <a:endParaRPr lang="es-CR" dirty="0"/>
          </a:p>
          <a:p>
            <a:r>
              <a:rPr lang="es-CR" dirty="0" smtClean="0"/>
              <a:t>¿Cuáles serían las posibles hipótesis de los investigadores?</a:t>
            </a:r>
          </a:p>
          <a:p>
            <a:endParaRPr lang="es-CR" dirty="0"/>
          </a:p>
          <a:p>
            <a:r>
              <a:rPr lang="es-CR" dirty="0" smtClean="0"/>
              <a:t>¿Qué se especifica en la literatura buscada?</a:t>
            </a:r>
            <a:endParaRPr lang="es-CR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107504" y="188640"/>
            <a:ext cx="8858312" cy="78579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z="3600" smtClean="0"/>
              <a:t>Fases en una investigación en Estadística</a:t>
            </a:r>
            <a:endParaRPr lang="es-CR" sz="3600" dirty="0"/>
          </a:p>
        </p:txBody>
      </p:sp>
      <p:pic>
        <p:nvPicPr>
          <p:cNvPr id="5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700808"/>
            <a:ext cx="352618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38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42844" y="1000108"/>
            <a:ext cx="5653292" cy="5357850"/>
          </a:xfrm>
        </p:spPr>
        <p:txBody>
          <a:bodyPr/>
          <a:lstStyle/>
          <a:p>
            <a:pPr>
              <a:buNone/>
            </a:pPr>
            <a:r>
              <a:rPr lang="es-CR" dirty="0" smtClean="0"/>
              <a:t>3. </a:t>
            </a:r>
            <a:r>
              <a:rPr lang="es-CR" u="sng" dirty="0" smtClean="0"/>
              <a:t>Preparación de un plan de trabajo</a:t>
            </a:r>
          </a:p>
          <a:p>
            <a:pPr>
              <a:buNone/>
            </a:pPr>
            <a:endParaRPr lang="es-CR" u="sng" dirty="0" smtClean="0"/>
          </a:p>
          <a:p>
            <a:pPr algn="just"/>
            <a:r>
              <a:rPr lang="es-CR" dirty="0" smtClean="0"/>
              <a:t>Planear el desarrollo de cualquier actividad.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Se señalan las metas.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Se especifica tiempo, personal y recursos.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En otras palabras, es la planificación de la investigación.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5362" name="Picture 2" descr="http://www.definicionabc.com/wp-content/uploads/planeaci%C3%B3n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60" y="928670"/>
            <a:ext cx="2928957" cy="2928958"/>
          </a:xfrm>
          <a:prstGeom prst="rect">
            <a:avLst/>
          </a:prstGeom>
          <a:noFill/>
        </p:spPr>
      </p:pic>
      <p:pic>
        <p:nvPicPr>
          <p:cNvPr id="15364" name="Picture 4" descr="http://www2.brandonu.ca/business/images/Bb07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4214818"/>
            <a:ext cx="3000364" cy="2250273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484784"/>
            <a:ext cx="4392488" cy="4572000"/>
          </a:xfrm>
        </p:spPr>
        <p:txBody>
          <a:bodyPr/>
          <a:lstStyle/>
          <a:p>
            <a:r>
              <a:rPr lang="es-CR" dirty="0" smtClean="0"/>
              <a:t>¿Cómo se piensa planear el desarrollo de las actividades?</a:t>
            </a:r>
          </a:p>
          <a:p>
            <a:endParaRPr lang="es-CR" dirty="0" smtClean="0"/>
          </a:p>
          <a:p>
            <a:r>
              <a:rPr lang="es-CR" dirty="0" smtClean="0"/>
              <a:t>¿Cuáles van a ser los recursos en términos de tiempo, personal y dinero?</a:t>
            </a:r>
          </a:p>
          <a:p>
            <a:endParaRPr lang="es-CR" dirty="0"/>
          </a:p>
          <a:p>
            <a:r>
              <a:rPr lang="es-CR" dirty="0" smtClean="0"/>
              <a:t>¿Cuál es el cronograma?</a:t>
            </a:r>
            <a:endParaRPr lang="es-CR" dirty="0"/>
          </a:p>
          <a:p>
            <a:endParaRPr lang="es-CR" dirty="0" smtClean="0"/>
          </a:p>
        </p:txBody>
      </p:sp>
      <p:pic>
        <p:nvPicPr>
          <p:cNvPr id="4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484784"/>
            <a:ext cx="352618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</p:spTree>
    <p:extLst>
      <p:ext uri="{BB962C8B-B14F-4D97-AF65-F5344CB8AC3E}">
        <p14:creationId xmlns:p14="http://schemas.microsoft.com/office/powerpoint/2010/main" val="360013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5572164" cy="557216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CR" dirty="0" smtClean="0"/>
              <a:t>4. </a:t>
            </a:r>
            <a:r>
              <a:rPr lang="es-CR" u="sng" dirty="0" smtClean="0"/>
              <a:t>Construcción de la herramienta de recolección</a:t>
            </a:r>
          </a:p>
          <a:p>
            <a:pPr>
              <a:buNone/>
            </a:pPr>
            <a:endParaRPr lang="es-CR" u="sng" dirty="0" smtClean="0"/>
          </a:p>
          <a:p>
            <a:pPr algn="just"/>
            <a:r>
              <a:rPr lang="es-CR" dirty="0" smtClean="0"/>
              <a:t>Para recolectar los datos, se debe construir o tener una herramienta. 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La herramienta va a depender del tipo de estudio.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Los más comunes son los cuestionarios, los plantillas de observación, entre otros.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No siempre se debe construir una herramienta para recolectar datos.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4338" name="Picture 2" descr="http://www.eizie.org/News/1240597089/surve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2557" y="785794"/>
            <a:ext cx="3027161" cy="3143272"/>
          </a:xfrm>
          <a:prstGeom prst="rect">
            <a:avLst/>
          </a:prstGeom>
          <a:noFill/>
        </p:spPr>
      </p:pic>
      <p:pic>
        <p:nvPicPr>
          <p:cNvPr id="14340" name="Picture 4" descr="http://blog.rpu.org/wp-content/uploads/2009/02/survey-300x2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98" y="4286256"/>
            <a:ext cx="2857500" cy="2143125"/>
          </a:xfrm>
          <a:prstGeom prst="rect">
            <a:avLst/>
          </a:prstGeom>
          <a:noFill/>
        </p:spPr>
      </p:pic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340768"/>
            <a:ext cx="5040560" cy="5112568"/>
          </a:xfrm>
        </p:spPr>
        <p:txBody>
          <a:bodyPr/>
          <a:lstStyle/>
          <a:p>
            <a:r>
              <a:rPr lang="es-CR" dirty="0" smtClean="0"/>
              <a:t>¿Se debe de construir una herramienta para recolectar los datos? </a:t>
            </a:r>
          </a:p>
          <a:p>
            <a:endParaRPr lang="es-CR" dirty="0"/>
          </a:p>
          <a:p>
            <a:r>
              <a:rPr lang="es-CR" dirty="0" smtClean="0"/>
              <a:t>¿Cuál es la herramienta a utilizarse para obtener la información?</a:t>
            </a:r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</p:txBody>
      </p:sp>
      <p:pic>
        <p:nvPicPr>
          <p:cNvPr id="4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916832"/>
            <a:ext cx="352618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</p:spTree>
    <p:extLst>
      <p:ext uri="{BB962C8B-B14F-4D97-AF65-F5344CB8AC3E}">
        <p14:creationId xmlns:p14="http://schemas.microsoft.com/office/powerpoint/2010/main" val="179515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00108"/>
            <a:ext cx="6143668" cy="557216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CR" dirty="0" smtClean="0"/>
              <a:t>5. </a:t>
            </a:r>
            <a:r>
              <a:rPr lang="es-CR" u="sng" dirty="0" smtClean="0"/>
              <a:t>Diseño y selección de la muestra</a:t>
            </a:r>
            <a:r>
              <a:rPr lang="es-CR" dirty="0" smtClean="0"/>
              <a:t>.</a:t>
            </a:r>
          </a:p>
          <a:p>
            <a:pPr>
              <a:buNone/>
            </a:pPr>
            <a:endParaRPr lang="es-CR" dirty="0" smtClean="0"/>
          </a:p>
          <a:p>
            <a:pPr algn="just"/>
            <a:r>
              <a:rPr lang="es-CR" b="1" i="1" dirty="0" smtClean="0"/>
              <a:t>Diseño de la muestra</a:t>
            </a:r>
            <a:r>
              <a:rPr lang="es-CR" dirty="0" smtClean="0"/>
              <a:t> se refiere al tipo de muestreo que se va a usar, según las técnicas estadísticas.</a:t>
            </a:r>
          </a:p>
          <a:p>
            <a:pPr marL="0" indent="0" algn="just">
              <a:buNone/>
            </a:pPr>
            <a:r>
              <a:rPr lang="es-CR" dirty="0" smtClean="0"/>
              <a:t> </a:t>
            </a:r>
          </a:p>
          <a:p>
            <a:pPr algn="just"/>
            <a:r>
              <a:rPr lang="es-CR" b="1" i="1" dirty="0" smtClean="0"/>
              <a:t>Selección de la muestra</a:t>
            </a:r>
            <a:r>
              <a:rPr lang="es-CR" dirty="0"/>
              <a:t>,</a:t>
            </a:r>
            <a:r>
              <a:rPr lang="es-CR" dirty="0" smtClean="0"/>
              <a:t> como su nombre lo dice, son las técnicas existentes para </a:t>
            </a:r>
            <a:r>
              <a:rPr lang="es-CR" i="1" dirty="0" smtClean="0"/>
              <a:t>seleccionar</a:t>
            </a:r>
            <a:r>
              <a:rPr lang="es-CR" dirty="0" smtClean="0"/>
              <a:t> las unidades de estudio.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El diseño y la selección de la muestra cambia mucho dependiendo del tipo de estudio o forma de recolectar los datos.  A veces no es estrictamente necesario el diseñar una muestra.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3314" name="Picture 2" descr="http://www.paduiblog.com/uploads/image/Harrisburg%20DUI%20Lawyer%20discussed%20random%20sample%20erro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3702" y="1571612"/>
            <a:ext cx="2264065" cy="2214578"/>
          </a:xfrm>
          <a:prstGeom prst="rect">
            <a:avLst/>
          </a:prstGeom>
          <a:noFill/>
        </p:spPr>
      </p:pic>
      <p:pic>
        <p:nvPicPr>
          <p:cNvPr id="13316" name="Picture 4" descr="http://www.ds4studio.com/web/portfolio/logos/logo_design_newf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6" y="3929066"/>
            <a:ext cx="2486042" cy="2500330"/>
          </a:xfrm>
          <a:prstGeom prst="rect">
            <a:avLst/>
          </a:prstGeom>
          <a:noFill/>
        </p:spPr>
      </p:pic>
    </p:spTree>
  </p:cSld>
  <p:clrMapOvr>
    <a:masterClrMapping/>
  </p:clrMapOvr>
  <p:transition>
    <p:push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340768"/>
            <a:ext cx="4680520" cy="5256584"/>
          </a:xfrm>
        </p:spPr>
        <p:txBody>
          <a:bodyPr/>
          <a:lstStyle/>
          <a:p>
            <a:r>
              <a:rPr lang="es-CR" dirty="0" smtClean="0"/>
              <a:t>¿Debemos de obtener una muestra?</a:t>
            </a:r>
          </a:p>
          <a:p>
            <a:endParaRPr lang="es-CR" dirty="0"/>
          </a:p>
          <a:p>
            <a:r>
              <a:rPr lang="es-CR" dirty="0" smtClean="0"/>
              <a:t>¿Cuál sería el tipo o diseño de la muestra?</a:t>
            </a:r>
          </a:p>
          <a:p>
            <a:endParaRPr lang="es-CR" dirty="0" smtClean="0"/>
          </a:p>
          <a:p>
            <a:r>
              <a:rPr lang="es-CR" dirty="0"/>
              <a:t>¿</a:t>
            </a:r>
            <a:r>
              <a:rPr lang="es-CR" dirty="0" smtClean="0"/>
              <a:t>Cuál es el marco muestral?</a:t>
            </a:r>
          </a:p>
          <a:p>
            <a:endParaRPr lang="es-CR" dirty="0"/>
          </a:p>
          <a:p>
            <a:r>
              <a:rPr lang="es-CR" dirty="0" smtClean="0"/>
              <a:t>¿Cómo se seleccionaran las UE?</a:t>
            </a:r>
            <a:endParaRPr lang="es-CR" dirty="0"/>
          </a:p>
        </p:txBody>
      </p:sp>
      <p:pic>
        <p:nvPicPr>
          <p:cNvPr id="4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628800"/>
            <a:ext cx="3526180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</p:spTree>
    <p:extLst>
      <p:ext uri="{BB962C8B-B14F-4D97-AF65-F5344CB8AC3E}">
        <p14:creationId xmlns:p14="http://schemas.microsoft.com/office/powerpoint/2010/main" val="93733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6000792" cy="550072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CR" dirty="0" smtClean="0"/>
              <a:t>6. </a:t>
            </a:r>
            <a:r>
              <a:rPr lang="es-CR" u="sng" dirty="0" smtClean="0"/>
              <a:t>Preparación y ejecución del trabajo de campo</a:t>
            </a:r>
            <a:r>
              <a:rPr lang="es-CR" dirty="0" smtClean="0"/>
              <a:t>.</a:t>
            </a:r>
          </a:p>
          <a:p>
            <a:pPr>
              <a:buNone/>
            </a:pPr>
            <a:endParaRPr lang="es-CR" dirty="0" smtClean="0"/>
          </a:p>
          <a:p>
            <a:pPr marL="0" indent="0" algn="just">
              <a:buNone/>
            </a:pPr>
            <a:r>
              <a:rPr lang="es-CR" dirty="0" smtClean="0"/>
              <a:t> Se preparan todas las formalidades administrativas para poder ir al campo. Se pueden dar los siguientes escenarios:</a:t>
            </a:r>
          </a:p>
          <a:p>
            <a:pPr algn="just"/>
            <a:endParaRPr lang="es-CR" dirty="0" smtClean="0"/>
          </a:p>
          <a:p>
            <a:pPr algn="just">
              <a:buNone/>
            </a:pPr>
            <a:r>
              <a:rPr lang="es-CR" b="1" i="1" dirty="0" smtClean="0">
                <a:sym typeface="Wingdings" pitchFamily="2" charset="2"/>
              </a:rPr>
              <a:t>Muestreo</a:t>
            </a:r>
            <a:r>
              <a:rPr lang="es-CR" dirty="0" smtClean="0">
                <a:sym typeface="Wingdings" pitchFamily="2" charset="2"/>
              </a:rPr>
              <a:t>: entrevista personal, telefónica, etc.</a:t>
            </a:r>
          </a:p>
          <a:p>
            <a:pPr algn="just">
              <a:buNone/>
            </a:pPr>
            <a:endParaRPr lang="es-CR" dirty="0" smtClean="0"/>
          </a:p>
          <a:p>
            <a:pPr algn="just">
              <a:buNone/>
            </a:pPr>
            <a:r>
              <a:rPr lang="es-CR" b="1" i="1" dirty="0" smtClean="0">
                <a:sym typeface="Wingdings" pitchFamily="2" charset="2"/>
              </a:rPr>
              <a:t>Experimento</a:t>
            </a:r>
            <a:r>
              <a:rPr lang="es-CR" dirty="0" smtClean="0">
                <a:sym typeface="Wingdings" pitchFamily="2" charset="2"/>
              </a:rPr>
              <a:t>: ver los cambios en personas, animales o los cambios de población a población de forma experimental. </a:t>
            </a:r>
          </a:p>
          <a:p>
            <a:pPr algn="just">
              <a:buNone/>
            </a:pPr>
            <a:endParaRPr lang="es-CR" dirty="0" smtClean="0">
              <a:sym typeface="Wingdings" pitchFamily="2" charset="2"/>
            </a:endParaRPr>
          </a:p>
          <a:p>
            <a:pPr algn="just">
              <a:buNone/>
            </a:pPr>
            <a:r>
              <a:rPr lang="es-CR" b="1" i="1" dirty="0" smtClean="0">
                <a:sym typeface="Wingdings" pitchFamily="2" charset="2"/>
              </a:rPr>
              <a:t>Observación</a:t>
            </a:r>
            <a:r>
              <a:rPr lang="es-CR" dirty="0" smtClean="0">
                <a:sym typeface="Wingdings" pitchFamily="2" charset="2"/>
              </a:rPr>
              <a:t>: cuantificar las observaciones.  </a:t>
            </a:r>
            <a:endParaRPr lang="es-CR" dirty="0" smtClean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2290" name="Picture 2" descr="http://www.investic.net/files/images/preparacion.previe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8" y="1142984"/>
            <a:ext cx="1928826" cy="2214578"/>
          </a:xfrm>
          <a:prstGeom prst="rect">
            <a:avLst/>
          </a:prstGeom>
          <a:noFill/>
        </p:spPr>
      </p:pic>
      <p:pic>
        <p:nvPicPr>
          <p:cNvPr id="12292" name="Picture 4" descr="http://www.ujmd.edu.sv/files/images/IMG_015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6" y="3643314"/>
            <a:ext cx="1857388" cy="2571768"/>
          </a:xfrm>
          <a:prstGeom prst="rect">
            <a:avLst/>
          </a:prstGeom>
          <a:noFill/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4968552" cy="5328592"/>
          </a:xfrm>
        </p:spPr>
        <p:txBody>
          <a:bodyPr/>
          <a:lstStyle/>
          <a:p>
            <a:r>
              <a:rPr lang="es-CR" dirty="0" smtClean="0"/>
              <a:t>¿Qué tipos de formalidades se deben de preparar?</a:t>
            </a:r>
          </a:p>
          <a:p>
            <a:endParaRPr lang="es-CR" dirty="0"/>
          </a:p>
          <a:p>
            <a:r>
              <a:rPr lang="es-CR" dirty="0" smtClean="0"/>
              <a:t>¿De acuerdo a cada tipo de escenario, que tipo de preparación de debe de llevar a cabo?</a:t>
            </a:r>
            <a:endParaRPr lang="es-CR" dirty="0"/>
          </a:p>
        </p:txBody>
      </p:sp>
      <p:pic>
        <p:nvPicPr>
          <p:cNvPr id="4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098" y="1340768"/>
            <a:ext cx="3526180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107504" y="-27384"/>
            <a:ext cx="8858312" cy="93610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</p:spTree>
    <p:extLst>
      <p:ext uri="{BB962C8B-B14F-4D97-AF65-F5344CB8AC3E}">
        <p14:creationId xmlns:p14="http://schemas.microsoft.com/office/powerpoint/2010/main" val="14127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42844" y="1000108"/>
            <a:ext cx="6085340" cy="564360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CR" dirty="0" smtClean="0"/>
              <a:t>7. </a:t>
            </a:r>
            <a:r>
              <a:rPr lang="es-CR" u="sng" dirty="0" smtClean="0"/>
              <a:t>Procesamiento de la información</a:t>
            </a:r>
            <a:r>
              <a:rPr lang="es-CR" dirty="0" smtClean="0"/>
              <a:t>. </a:t>
            </a:r>
          </a:p>
          <a:p>
            <a:pPr>
              <a:buNone/>
            </a:pPr>
            <a:r>
              <a:rPr lang="es-CR" dirty="0" smtClean="0"/>
              <a:t> </a:t>
            </a:r>
          </a:p>
          <a:p>
            <a:pPr algn="just"/>
            <a:r>
              <a:rPr lang="es-CR" dirty="0" smtClean="0"/>
              <a:t>Una vez recolectada la información, esta debe ser procesada para poder ser analizada.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La información o datos deben estar en una plantilla como </a:t>
            </a:r>
            <a:r>
              <a:rPr lang="es-CR" dirty="0"/>
              <a:t>E</a:t>
            </a:r>
            <a:r>
              <a:rPr lang="es-CR" dirty="0" smtClean="0"/>
              <a:t>xcel u otro programa para luego realizar los análisis. 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Antes del análisis de los datos se debe de realizar un proceso de revisión, crítica, codificación, control de calidad e inserción de datos.</a:t>
            </a:r>
          </a:p>
          <a:p>
            <a:endParaRPr lang="es-CR" dirty="0" smtClean="0"/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1266" name="Picture 2" descr="http://cspro.blog.com/files/2009/09/cspro_logo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40" y="1714488"/>
            <a:ext cx="2165695" cy="1143008"/>
          </a:xfrm>
          <a:prstGeom prst="rect">
            <a:avLst/>
          </a:prstGeom>
          <a:noFill/>
        </p:spPr>
      </p:pic>
      <p:pic>
        <p:nvPicPr>
          <p:cNvPr id="11268" name="Picture 4" descr="http://data.lib.uci.edu/danalys/images/ICPSR-SPSS/SPSS-imageZ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6" y="3214686"/>
            <a:ext cx="2500330" cy="3143272"/>
          </a:xfrm>
          <a:prstGeom prst="rect">
            <a:avLst/>
          </a:prstGeom>
          <a:noFill/>
        </p:spPr>
      </p:pic>
    </p:spTree>
  </p:cSld>
  <p:clrMapOvr>
    <a:masterClrMapping/>
  </p:clrMapOvr>
  <p:transition>
    <p:push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5040560" cy="5400600"/>
          </a:xfrm>
        </p:spPr>
        <p:txBody>
          <a:bodyPr/>
          <a:lstStyle/>
          <a:p>
            <a:r>
              <a:rPr lang="es-CR" dirty="0" smtClean="0"/>
              <a:t>¿Se debe de procesar la información?</a:t>
            </a:r>
          </a:p>
          <a:p>
            <a:endParaRPr lang="es-CR" dirty="0"/>
          </a:p>
          <a:p>
            <a:r>
              <a:rPr lang="es-CR" dirty="0" smtClean="0"/>
              <a:t>¿Es necesario la parte de revisión, crítica, codificación, etc. ?</a:t>
            </a:r>
          </a:p>
          <a:p>
            <a:endParaRPr lang="es-CR" dirty="0"/>
          </a:p>
          <a:p>
            <a:r>
              <a:rPr lang="es-CR" dirty="0" smtClean="0"/>
              <a:t>¿Cuál software se utilizará para guardar la información?</a:t>
            </a:r>
            <a:endParaRPr lang="es-CR" dirty="0"/>
          </a:p>
        </p:txBody>
      </p:sp>
      <p:pic>
        <p:nvPicPr>
          <p:cNvPr id="4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196752"/>
            <a:ext cx="3166140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980728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</p:spTree>
    <p:extLst>
      <p:ext uri="{BB962C8B-B14F-4D97-AF65-F5344CB8AC3E}">
        <p14:creationId xmlns:p14="http://schemas.microsoft.com/office/powerpoint/2010/main" val="30507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6000792" cy="564360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CR" dirty="0" smtClean="0"/>
              <a:t>8.</a:t>
            </a:r>
            <a:r>
              <a:rPr lang="es-CR" u="sng" dirty="0" smtClean="0"/>
              <a:t> Análisis e interpretación de los datos</a:t>
            </a:r>
            <a:r>
              <a:rPr lang="es-CR" dirty="0" smtClean="0"/>
              <a:t>.</a:t>
            </a:r>
          </a:p>
          <a:p>
            <a:pPr>
              <a:buNone/>
            </a:pPr>
            <a:endParaRPr lang="es-CR" dirty="0" smtClean="0"/>
          </a:p>
          <a:p>
            <a:pPr algn="just"/>
            <a:r>
              <a:rPr lang="es-CR" dirty="0" smtClean="0"/>
              <a:t>Esto depende del tipo de estudio.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Se llevan a cabo todos los análisis e interpretación de la información recolectada. Incluye tanto aspectos descriptivos como otros.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Todas las partes anterior desembocan en este eslabón, la que trata de explicar el qué y el por qué de la investigación.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Muchas veces al analista de datos se le llama hasta esta etapa….</a:t>
            </a:r>
          </a:p>
          <a:p>
            <a:pPr algn="just"/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10242" name="Picture 2" descr="http://www.databasemanagement.be/images/data_analys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8" y="1500174"/>
            <a:ext cx="2357454" cy="1928826"/>
          </a:xfrm>
          <a:prstGeom prst="rect">
            <a:avLst/>
          </a:prstGeom>
          <a:noFill/>
        </p:spPr>
      </p:pic>
      <p:pic>
        <p:nvPicPr>
          <p:cNvPr id="10244" name="Picture 4" descr="http://blog.oregonlive.com/peteramescarlin/large_Stev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8" y="3571876"/>
            <a:ext cx="2444711" cy="3071834"/>
          </a:xfrm>
          <a:prstGeom prst="rect">
            <a:avLst/>
          </a:prstGeom>
          <a:noFill/>
        </p:spPr>
      </p:pic>
    </p:spTree>
  </p:cSld>
  <p:clrMapOvr>
    <a:masterClrMapping/>
  </p:clrMapOvr>
  <p:transition>
    <p:push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319502"/>
            <a:ext cx="4752528" cy="5279583"/>
          </a:xfrm>
        </p:spPr>
        <p:txBody>
          <a:bodyPr/>
          <a:lstStyle/>
          <a:p>
            <a:r>
              <a:rPr lang="es-CR" dirty="0" smtClean="0"/>
              <a:t>¿Se debe de analizar la información?</a:t>
            </a:r>
          </a:p>
          <a:p>
            <a:endParaRPr lang="es-CR" dirty="0"/>
          </a:p>
          <a:p>
            <a:r>
              <a:rPr lang="es-CR" dirty="0" smtClean="0"/>
              <a:t>¿Se deben de analizar datos?</a:t>
            </a:r>
          </a:p>
          <a:p>
            <a:endParaRPr lang="es-CR" dirty="0"/>
          </a:p>
          <a:p>
            <a:r>
              <a:rPr lang="es-CR" dirty="0" smtClean="0"/>
              <a:t>¿Se cuenta con un analista de datos?</a:t>
            </a:r>
          </a:p>
          <a:p>
            <a:endParaRPr lang="es-CR" dirty="0"/>
          </a:p>
          <a:p>
            <a:r>
              <a:rPr lang="es-CR" dirty="0" smtClean="0"/>
              <a:t>¿Cómo se pretende y mediante que herramientas realizar el análisis de la información?</a:t>
            </a:r>
          </a:p>
          <a:p>
            <a:endParaRPr lang="es-CR" dirty="0"/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07504" y="0"/>
            <a:ext cx="8858312" cy="980728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5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340768"/>
            <a:ext cx="3166140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21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285860"/>
            <a:ext cx="5929354" cy="5072098"/>
          </a:xfrm>
        </p:spPr>
        <p:txBody>
          <a:bodyPr/>
          <a:lstStyle/>
          <a:p>
            <a:pPr>
              <a:buNone/>
            </a:pPr>
            <a:r>
              <a:rPr lang="es-CR" dirty="0" smtClean="0"/>
              <a:t>9. </a:t>
            </a:r>
            <a:r>
              <a:rPr lang="es-CR" u="sng" dirty="0" smtClean="0"/>
              <a:t>Preparación del informe.</a:t>
            </a:r>
          </a:p>
          <a:p>
            <a:pPr>
              <a:buNone/>
            </a:pPr>
            <a:endParaRPr lang="es-CR" u="sng" dirty="0" smtClean="0"/>
          </a:p>
          <a:p>
            <a:pPr algn="just"/>
            <a:r>
              <a:rPr lang="es-CR" dirty="0" smtClean="0"/>
              <a:t>Todo las partes anteriores se deben de plasmar en un documento.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El informe sirve para que las personas puedan entender todo el trasfondo de la investigación, y no se omitan detalles importantes.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42844" y="0"/>
            <a:ext cx="8858312" cy="785794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9218" name="Picture 2" descr="http://www.soscanvairet.com/08_2007/inform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7950" y="1000108"/>
            <a:ext cx="2428892" cy="2786082"/>
          </a:xfrm>
          <a:prstGeom prst="rect">
            <a:avLst/>
          </a:prstGeom>
          <a:noFill/>
        </p:spPr>
      </p:pic>
      <p:pic>
        <p:nvPicPr>
          <p:cNvPr id="9220" name="Picture 4" descr="http://codigomorse.net/wp-content/uploads/2009/04/braille_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6" y="4000504"/>
            <a:ext cx="1989294" cy="2214578"/>
          </a:xfrm>
          <a:prstGeom prst="rect">
            <a:avLst/>
          </a:prstGeom>
          <a:noFill/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359442"/>
            <a:ext cx="5040560" cy="5237909"/>
          </a:xfrm>
        </p:spPr>
        <p:txBody>
          <a:bodyPr/>
          <a:lstStyle/>
          <a:p>
            <a:r>
              <a:rPr lang="es-CR" dirty="0" smtClean="0"/>
              <a:t>¿Se debe de redactar un informe?</a:t>
            </a:r>
          </a:p>
          <a:p>
            <a:pPr marL="0" indent="0">
              <a:buNone/>
            </a:pPr>
            <a:endParaRPr lang="es-CR" dirty="0"/>
          </a:p>
          <a:p>
            <a:r>
              <a:rPr lang="es-CR" dirty="0" smtClean="0"/>
              <a:t>¿Quién o quiénes son las personas responsables del informe?</a:t>
            </a:r>
          </a:p>
          <a:p>
            <a:endParaRPr lang="es-CR" dirty="0"/>
          </a:p>
          <a:p>
            <a:r>
              <a:rPr lang="es-CR" dirty="0" smtClean="0"/>
              <a:t>¿Se pensó en cobrar por la redacción del informe?</a:t>
            </a:r>
          </a:p>
          <a:p>
            <a:endParaRPr lang="es-CR" dirty="0" smtClean="0"/>
          </a:p>
          <a:p>
            <a:r>
              <a:rPr lang="es-CR" dirty="0" smtClean="0"/>
              <a:t>¿El informe contiene todas las parte de la investigación?</a:t>
            </a:r>
            <a:endParaRPr lang="es-CR" dirty="0"/>
          </a:p>
          <a:p>
            <a:pPr marL="0" indent="0"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78184" y="0"/>
            <a:ext cx="8858312" cy="980728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5" name="Picture 2" descr="https://www.mcssl.com/content/179059/DistractedIn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359443"/>
            <a:ext cx="3166140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63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643050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R" sz="5400" dirty="0" smtClean="0"/>
              <a:t>¿Por qué decimos que es una cadena de eslabón?</a:t>
            </a:r>
            <a:endParaRPr lang="es-CR" sz="5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142844" y="194934"/>
            <a:ext cx="8858312" cy="929810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Fases en una investigación en Estadística</a:t>
            </a:r>
            <a:endParaRPr lang="es-CR" sz="3600" dirty="0"/>
          </a:p>
        </p:txBody>
      </p:sp>
      <p:pic>
        <p:nvPicPr>
          <p:cNvPr id="8194" name="Picture 2" descr="http://www.agenciadenoticiasuruguaya.com/eslabones%20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3429000"/>
            <a:ext cx="2155689" cy="3000396"/>
          </a:xfrm>
          <a:prstGeom prst="rect">
            <a:avLst/>
          </a:prstGeom>
          <a:noFill/>
        </p:spPr>
      </p:pic>
      <p:pic>
        <p:nvPicPr>
          <p:cNvPr id="8196" name="Picture 4" descr="http://1.bp.blogspot.com/_WYSY4vcAZdU/R7YsUhg2w9I/AAAAAAAAAB8/KXcA8Qg1rSc/s320/eslab%C3%B3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3960" y="3571876"/>
            <a:ext cx="2506734" cy="2714644"/>
          </a:xfrm>
          <a:prstGeom prst="rect">
            <a:avLst/>
          </a:prstGeom>
          <a:noFill/>
        </p:spPr>
      </p:pic>
      <p:pic>
        <p:nvPicPr>
          <p:cNvPr id="8198" name="Picture 6" descr="http://www.cartier.es/var/cartier/storage/images/media/images/show-me/product-visuals/b6012000_1-png/803609-1-eng-MS/b6012000_1-png1_product_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8" y="3429000"/>
            <a:ext cx="3048000" cy="3048001"/>
          </a:xfrm>
          <a:prstGeom prst="rect">
            <a:avLst/>
          </a:prstGeom>
          <a:noFill/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Esquema del presenta capítulo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214414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Estadística como disciplina científica </a:t>
            </a:r>
            <a:endParaRPr lang="es-CR" dirty="0"/>
          </a:p>
        </p:txBody>
      </p:sp>
      <p:sp>
        <p:nvSpPr>
          <p:cNvPr id="5" name="4 Rectángulo"/>
          <p:cNvSpPr/>
          <p:nvPr/>
        </p:nvSpPr>
        <p:spPr>
          <a:xfrm>
            <a:off x="5357818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Fases de una investigación en estadística</a:t>
            </a:r>
            <a:endParaRPr lang="es-CR" dirty="0"/>
          </a:p>
        </p:txBody>
      </p:sp>
      <p:sp>
        <p:nvSpPr>
          <p:cNvPr id="6" name="5 Rectángulo"/>
          <p:cNvSpPr/>
          <p:nvPr/>
        </p:nvSpPr>
        <p:spPr>
          <a:xfrm>
            <a:off x="1285852" y="335756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Técnicas de recolección de datos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142844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0" name="9 Elipse"/>
          <p:cNvSpPr/>
          <p:nvPr/>
        </p:nvSpPr>
        <p:spPr>
          <a:xfrm>
            <a:off x="4286248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1" name="10 Elipse"/>
          <p:cNvSpPr/>
          <p:nvPr/>
        </p:nvSpPr>
        <p:spPr>
          <a:xfrm>
            <a:off x="214282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16345620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2844" y="0"/>
            <a:ext cx="8572560" cy="85723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Las técnicas de recolección de datos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504" y="1196752"/>
            <a:ext cx="5320644" cy="4949172"/>
          </a:xfrm>
        </p:spPr>
        <p:txBody>
          <a:bodyPr/>
          <a:lstStyle/>
          <a:p>
            <a:pPr algn="just"/>
            <a:r>
              <a:rPr lang="es-CR" dirty="0" smtClean="0"/>
              <a:t>Existe una gran cantidad de técnicas para la recolección de los datos.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Con las computadoras las formas de recolección se ha ampliado.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Dependiendo del tipo de estudio es que se prefiere una u otra técnica de recolección.</a:t>
            </a:r>
            <a:endParaRPr lang="es-CR" dirty="0"/>
          </a:p>
        </p:txBody>
      </p:sp>
      <p:pic>
        <p:nvPicPr>
          <p:cNvPr id="7170" name="Picture 2" descr="http://www.micromationinc.com/images/PE01571_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3570" y="1000108"/>
            <a:ext cx="2928958" cy="2336006"/>
          </a:xfrm>
          <a:prstGeom prst="rect">
            <a:avLst/>
          </a:prstGeom>
          <a:noFill/>
        </p:spPr>
      </p:pic>
      <p:pic>
        <p:nvPicPr>
          <p:cNvPr id="7172" name="Picture 4" descr="http://www.precisionresearchinc.com/images/picDataCollec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3571876"/>
            <a:ext cx="2643206" cy="2871483"/>
          </a:xfrm>
          <a:prstGeom prst="rect">
            <a:avLst/>
          </a:prstGeom>
          <a:noFill/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6786610" cy="5598384"/>
          </a:xfrm>
        </p:spPr>
        <p:txBody>
          <a:bodyPr>
            <a:normAutofit/>
          </a:bodyPr>
          <a:lstStyle/>
          <a:p>
            <a:r>
              <a:rPr lang="es-CR" dirty="0" smtClean="0"/>
              <a:t>Ejemplos de recolección de datos:</a:t>
            </a:r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-El cuestionario uno a uno (uno a uno, auto </a:t>
            </a:r>
            <a:r>
              <a:rPr lang="es-CR" dirty="0" err="1" smtClean="0"/>
              <a:t>adminsitrado</a:t>
            </a:r>
            <a:r>
              <a:rPr lang="es-CR" dirty="0" smtClean="0"/>
              <a:t>, e-mail, on-line).</a:t>
            </a:r>
          </a:p>
          <a:p>
            <a:pPr>
              <a:buNone/>
            </a:pPr>
            <a:r>
              <a:rPr lang="es-CR" dirty="0" smtClean="0"/>
              <a:t>-La observación “por conteo uno a uno”.</a:t>
            </a:r>
          </a:p>
          <a:p>
            <a:pPr>
              <a:buNone/>
            </a:pPr>
            <a:r>
              <a:rPr lang="es-CR" dirty="0" smtClean="0"/>
              <a:t>-La observación tipo “fotográfica”.</a:t>
            </a:r>
          </a:p>
          <a:p>
            <a:pPr>
              <a:buNone/>
            </a:pPr>
            <a:r>
              <a:rPr lang="es-CR" dirty="0" smtClean="0"/>
              <a:t>-La recolección por experimentación.</a:t>
            </a:r>
          </a:p>
          <a:p>
            <a:pPr>
              <a:buNone/>
            </a:pPr>
            <a:r>
              <a:rPr lang="es-CR" dirty="0" smtClean="0"/>
              <a:t>-La recolección por obtención directa de cierta</a:t>
            </a:r>
          </a:p>
          <a:p>
            <a:pPr>
              <a:buNone/>
            </a:pPr>
            <a:r>
              <a:rPr lang="es-CR" dirty="0"/>
              <a:t>c</a:t>
            </a:r>
            <a:r>
              <a:rPr lang="es-CR" dirty="0" smtClean="0"/>
              <a:t>aracterística.</a:t>
            </a:r>
          </a:p>
          <a:p>
            <a:pPr>
              <a:buNone/>
            </a:pPr>
            <a:r>
              <a:rPr lang="es-CR" dirty="0" smtClean="0"/>
              <a:t>-Datos disponibles en páginas web.</a:t>
            </a:r>
          </a:p>
          <a:p>
            <a:pPr>
              <a:buNone/>
            </a:pPr>
            <a:r>
              <a:rPr lang="es-CR" dirty="0" smtClean="0"/>
              <a:t>-Generar datos a partir de simulaciones….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Las técnicas de recolección de datos</a:t>
            </a:r>
            <a:endParaRPr lang="es-CR" dirty="0"/>
          </a:p>
        </p:txBody>
      </p:sp>
      <p:pic>
        <p:nvPicPr>
          <p:cNvPr id="6146" name="Picture 2" descr="http://www.blogdetrabajo.com/wp-content/uploads/entrevista_de_trabajo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1214422"/>
            <a:ext cx="2143140" cy="2143140"/>
          </a:xfrm>
          <a:prstGeom prst="rect">
            <a:avLst/>
          </a:prstGeom>
          <a:noFill/>
        </p:spPr>
      </p:pic>
      <p:pic>
        <p:nvPicPr>
          <p:cNvPr id="6148" name="Picture 4" descr="http://www.sierramadrid.info/web/wp-content/uploads/2006/11/Autopista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8" y="3786190"/>
            <a:ext cx="2506595" cy="2571768"/>
          </a:xfrm>
          <a:prstGeom prst="rect">
            <a:avLst/>
          </a:prstGeom>
          <a:noFill/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Esquema del presenta capítulo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214414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Estadística como disciplina científica </a:t>
            </a:r>
            <a:endParaRPr lang="es-CR" dirty="0"/>
          </a:p>
        </p:txBody>
      </p:sp>
      <p:sp>
        <p:nvSpPr>
          <p:cNvPr id="5" name="4 Rectángulo"/>
          <p:cNvSpPr/>
          <p:nvPr/>
        </p:nvSpPr>
        <p:spPr>
          <a:xfrm>
            <a:off x="5357818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Fases de una investigación en estadística</a:t>
            </a:r>
            <a:endParaRPr lang="es-CR" dirty="0"/>
          </a:p>
        </p:txBody>
      </p:sp>
      <p:sp>
        <p:nvSpPr>
          <p:cNvPr id="6" name="5 Rectángulo"/>
          <p:cNvSpPr/>
          <p:nvPr/>
        </p:nvSpPr>
        <p:spPr>
          <a:xfrm>
            <a:off x="1285852" y="335756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Técnicas de recolección de datos</a:t>
            </a:r>
            <a:endParaRPr lang="es-CR" dirty="0"/>
          </a:p>
        </p:txBody>
      </p:sp>
      <p:sp>
        <p:nvSpPr>
          <p:cNvPr id="7" name="6 Rectángulo"/>
          <p:cNvSpPr/>
          <p:nvPr/>
        </p:nvSpPr>
        <p:spPr>
          <a:xfrm>
            <a:off x="5214942" y="342900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datos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142844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0" name="9 Elipse"/>
          <p:cNvSpPr/>
          <p:nvPr/>
        </p:nvSpPr>
        <p:spPr>
          <a:xfrm>
            <a:off x="4286248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1" name="10 Elipse"/>
          <p:cNvSpPr/>
          <p:nvPr/>
        </p:nvSpPr>
        <p:spPr>
          <a:xfrm>
            <a:off x="214282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12" name="11 Elipse"/>
          <p:cNvSpPr/>
          <p:nvPr/>
        </p:nvSpPr>
        <p:spPr>
          <a:xfrm>
            <a:off x="4286248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864020239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50918"/>
            <a:ext cx="8643998" cy="785794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Datos: existentes y no existentes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928670"/>
            <a:ext cx="6072230" cy="57150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CR" dirty="0" smtClean="0"/>
              <a:t>En las investigaciones o estudios, la estadística se utiliza para muchos fines:</a:t>
            </a:r>
          </a:p>
          <a:p>
            <a:pPr algn="just"/>
            <a:endParaRPr lang="es-CR" dirty="0" smtClean="0"/>
          </a:p>
          <a:p>
            <a:pPr algn="just">
              <a:buNone/>
            </a:pPr>
            <a:r>
              <a:rPr lang="es-CR" dirty="0" smtClean="0"/>
              <a:t>1.Con fines de investigación científica (con el fin de conocer / mejorar el conocimiento de un fenómeno).</a:t>
            </a:r>
          </a:p>
          <a:p>
            <a:pPr algn="just">
              <a:buNone/>
            </a:pPr>
            <a:endParaRPr lang="es-CR" dirty="0" smtClean="0"/>
          </a:p>
          <a:p>
            <a:pPr algn="just">
              <a:buNone/>
            </a:pPr>
            <a:r>
              <a:rPr lang="es-CR" dirty="0" smtClean="0"/>
              <a:t>2. Con fines mucho más prácticas y utilitarios como: tomar decisiones, evaluar criterios de calidad, etc.</a:t>
            </a:r>
          </a:p>
          <a:p>
            <a:pPr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Para todo esto es esencial contar con </a:t>
            </a:r>
            <a:r>
              <a:rPr lang="es-CR" b="1" i="1" dirty="0" smtClean="0"/>
              <a:t>datos</a:t>
            </a:r>
            <a:r>
              <a:rPr lang="es-CR" dirty="0" smtClean="0"/>
              <a:t>, por lo que se hacen preguntas tales como qué tipo de datos se quieren para llevar a cabo un estudio, cómo van a ser obtenidos, qué procedimientos y cuidados se van a seguir para lograr que esos datos sean pertinentes y de buena calidad, entre otros.</a:t>
            </a:r>
            <a:endParaRPr lang="es-CR" dirty="0"/>
          </a:p>
        </p:txBody>
      </p:sp>
      <p:pic>
        <p:nvPicPr>
          <p:cNvPr id="5122" name="Picture 2" descr="http://psicologia.laguia2000.com/wp-content/uploads/2007/06/el-conocimiento-cientifico-orig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40" y="1214422"/>
            <a:ext cx="2122303" cy="2500330"/>
          </a:xfrm>
          <a:prstGeom prst="rect">
            <a:avLst/>
          </a:prstGeom>
          <a:noFill/>
        </p:spPr>
      </p:pic>
      <p:pic>
        <p:nvPicPr>
          <p:cNvPr id="5124" name="Picture 4" descr="http://4.bp.blogspot.com/_aaGtfLauudE/SIgOovOfhzI/AAAAAAAABMU/Vb_hdVUoKB8/s320/Concurso%2520para%2520gerenteAppb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2264" y="4071942"/>
            <a:ext cx="2214578" cy="2500330"/>
          </a:xfrm>
          <a:prstGeom prst="rect">
            <a:avLst/>
          </a:prstGeom>
          <a:noFill/>
        </p:spPr>
      </p:pic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8143932" cy="5643602"/>
          </a:xfrm>
        </p:spPr>
        <p:txBody>
          <a:bodyPr>
            <a:normAutofit/>
          </a:bodyPr>
          <a:lstStyle/>
          <a:p>
            <a:pPr algn="just"/>
            <a:r>
              <a:rPr lang="es-CR" dirty="0" smtClean="0"/>
              <a:t>La obtención de la información estadística puede darse de dos formas :</a:t>
            </a:r>
          </a:p>
          <a:p>
            <a:endParaRPr lang="es-CR" dirty="0" smtClean="0"/>
          </a:p>
          <a:p>
            <a:pPr marL="514350" indent="-514350" algn="just">
              <a:buAutoNum type="alphaLcPeriod"/>
            </a:pPr>
            <a:r>
              <a:rPr lang="es-CR" i="1" u="sng" dirty="0" smtClean="0"/>
              <a:t>Los datos requeridos existen</a:t>
            </a:r>
            <a:r>
              <a:rPr lang="es-CR" dirty="0" smtClean="0"/>
              <a:t>, ya sea porque un investigador o institución los recogió para estudiar el mismo problema o alguno similar, o porque son recogidos y publicados regularmente por una institución pública o una agencia privada (</a:t>
            </a:r>
            <a:r>
              <a:rPr lang="es-CR" i="1" dirty="0" smtClean="0"/>
              <a:t>datos existentes</a:t>
            </a:r>
            <a:r>
              <a:rPr lang="es-CR" dirty="0" smtClean="0"/>
              <a:t>). </a:t>
            </a:r>
          </a:p>
          <a:p>
            <a:pPr marL="514350" indent="-514350" algn="just">
              <a:buAutoNum type="alphaLcPeriod"/>
            </a:pPr>
            <a:endParaRPr lang="es-CR" dirty="0" smtClean="0"/>
          </a:p>
          <a:p>
            <a:pPr marL="514350" indent="-514350" algn="just">
              <a:buAutoNum type="alphaLcPeriod"/>
            </a:pPr>
            <a:r>
              <a:rPr lang="es-CR" i="1" u="sng" dirty="0" smtClean="0"/>
              <a:t>Los datos no existen</a:t>
            </a:r>
            <a:r>
              <a:rPr lang="es-CR" dirty="0" smtClean="0"/>
              <a:t>, y se debe definir y ejecutar un procedimiento para obtenerlos (</a:t>
            </a:r>
            <a:r>
              <a:rPr lang="es-CR" i="1" dirty="0" smtClean="0"/>
              <a:t>datos no existentes</a:t>
            </a:r>
            <a:r>
              <a:rPr lang="es-CR" dirty="0" smtClean="0"/>
              <a:t>). </a:t>
            </a:r>
            <a:endParaRPr lang="es-CR" dirty="0"/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214282" y="50918"/>
            <a:ext cx="8643998" cy="785794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Datos: existentes y no existentes</a:t>
            </a:r>
            <a:endParaRPr lang="es-CR" dirty="0"/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6286544" cy="5357850"/>
          </a:xfrm>
        </p:spPr>
        <p:txBody>
          <a:bodyPr>
            <a:normAutofit/>
          </a:bodyPr>
          <a:lstStyle/>
          <a:p>
            <a:r>
              <a:rPr lang="es-CR" dirty="0" smtClean="0"/>
              <a:t>Suele pasar que la información existente no sea del todo apropiada, por lo que el interesado deberá completarla recolectando nueva información.</a:t>
            </a:r>
          </a:p>
          <a:p>
            <a:endParaRPr lang="es-CR" dirty="0" smtClean="0"/>
          </a:p>
          <a:p>
            <a:r>
              <a:rPr lang="es-CR" dirty="0" smtClean="0"/>
              <a:t>Muchas veces se duda de qué tan confiable es la calidad de los datos existentes, por lo que se recomienda recolectar nuevos.</a:t>
            </a:r>
          </a:p>
          <a:p>
            <a:endParaRPr lang="es-CR" dirty="0" smtClean="0"/>
          </a:p>
          <a:p>
            <a:r>
              <a:rPr lang="es-CR" dirty="0" smtClean="0"/>
              <a:t>De igual forma, puede que los datos recolectados corresponde a una época con </a:t>
            </a:r>
            <a:r>
              <a:rPr lang="es-CR" dirty="0"/>
              <a:t/>
            </a:r>
            <a:br>
              <a:rPr lang="es-CR" dirty="0"/>
            </a:br>
            <a:r>
              <a:rPr lang="es-CR" dirty="0" smtClean="0"/>
              <a:t>cierta divergencia que difiere de la actual.</a:t>
            </a:r>
          </a:p>
          <a:p>
            <a:endParaRPr lang="es-CR" dirty="0" smtClean="0"/>
          </a:p>
          <a:p>
            <a:pPr>
              <a:buNone/>
            </a:pPr>
            <a:endParaRPr lang="es-CR" dirty="0"/>
          </a:p>
        </p:txBody>
      </p:sp>
      <p:pic>
        <p:nvPicPr>
          <p:cNvPr id="3074" name="Picture 2" descr="http://www.kuleuven.be/bwm/macec/ne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1071546"/>
            <a:ext cx="2095588" cy="1785950"/>
          </a:xfrm>
          <a:prstGeom prst="rect">
            <a:avLst/>
          </a:prstGeom>
          <a:noFill/>
        </p:spPr>
      </p:pic>
      <p:pic>
        <p:nvPicPr>
          <p:cNvPr id="3076" name="Picture 4" descr="http://lluviadeestrellas.files.wordpress.com/2008/12/tiempo20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12" y="3143248"/>
            <a:ext cx="2579626" cy="3286148"/>
          </a:xfrm>
          <a:prstGeom prst="rect">
            <a:avLst/>
          </a:prstGeom>
          <a:noFill/>
        </p:spPr>
      </p:pic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214282" y="122926"/>
            <a:ext cx="8643998" cy="785794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Datos: existentes y no existentes</a:t>
            </a:r>
            <a:endParaRPr lang="es-CR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6286544" cy="5572164"/>
          </a:xfrm>
        </p:spPr>
        <p:txBody>
          <a:bodyPr>
            <a:normAutofit fontScale="92500"/>
          </a:bodyPr>
          <a:lstStyle/>
          <a:p>
            <a:pPr algn="just"/>
            <a:r>
              <a:rPr lang="es-CR" dirty="0" smtClean="0"/>
              <a:t>Los datos existentes se encuentran en lugares cómo:</a:t>
            </a:r>
          </a:p>
          <a:p>
            <a:pPr algn="just">
              <a:buNone/>
            </a:pPr>
            <a:r>
              <a:rPr lang="es-CR" dirty="0" smtClean="0"/>
              <a:t>-Instituciones públicas</a:t>
            </a:r>
          </a:p>
          <a:p>
            <a:pPr algn="just">
              <a:buNone/>
            </a:pPr>
            <a:r>
              <a:rPr lang="es-CR" dirty="0" smtClean="0"/>
              <a:t>-Registros</a:t>
            </a:r>
            <a:endParaRPr lang="es-CR" dirty="0"/>
          </a:p>
          <a:p>
            <a:pPr algn="just">
              <a:buNone/>
            </a:pPr>
            <a:r>
              <a:rPr lang="es-CR" dirty="0" smtClean="0"/>
              <a:t>-Páginas web</a:t>
            </a:r>
          </a:p>
          <a:p>
            <a:pPr algn="just">
              <a:buNone/>
            </a:pPr>
            <a:r>
              <a:rPr lang="es-CR" dirty="0" smtClean="0"/>
              <a:t>-Informes</a:t>
            </a:r>
          </a:p>
          <a:p>
            <a:pPr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Los datos no existentes, obviamente no existentes y se deben recolectar.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Ahora interesa saber más que todo el procedimiento de recolección de datos por muestreo, por diseño de experimentos y por observación.</a:t>
            </a:r>
            <a:endParaRPr lang="es-CR" dirty="0"/>
          </a:p>
        </p:txBody>
      </p:sp>
      <p:pic>
        <p:nvPicPr>
          <p:cNvPr id="2050" name="Picture 2" descr="http://www.festivalvallenato.com/imgs/valledupar/valledupar_guiaturistica_bancos_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1571612"/>
            <a:ext cx="2779032" cy="2214578"/>
          </a:xfrm>
          <a:prstGeom prst="rect">
            <a:avLst/>
          </a:prstGeom>
          <a:noFill/>
        </p:spPr>
      </p:pic>
      <p:pic>
        <p:nvPicPr>
          <p:cNvPr id="2052" name="Picture 4" descr="http://vivagaleon.blogia.com/upload/20070617164132-question-mark-20-wince-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40" y="4071942"/>
            <a:ext cx="2171714" cy="2286016"/>
          </a:xfrm>
          <a:prstGeom prst="rect">
            <a:avLst/>
          </a:prstGeom>
          <a:noFill/>
        </p:spPr>
      </p:pic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214282" y="116632"/>
            <a:ext cx="8643998" cy="785794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Datos: existentes y no existentes</a:t>
            </a:r>
            <a:endParaRPr lang="es-CR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Esquema del presenta capítulo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214414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Estadística como disciplina científica </a:t>
            </a:r>
            <a:endParaRPr lang="es-CR" dirty="0"/>
          </a:p>
        </p:txBody>
      </p:sp>
      <p:sp>
        <p:nvSpPr>
          <p:cNvPr id="5" name="4 Rectángulo"/>
          <p:cNvSpPr/>
          <p:nvPr/>
        </p:nvSpPr>
        <p:spPr>
          <a:xfrm>
            <a:off x="5357818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Fases de una investigación en estadística</a:t>
            </a:r>
            <a:endParaRPr lang="es-CR" dirty="0"/>
          </a:p>
        </p:txBody>
      </p:sp>
      <p:sp>
        <p:nvSpPr>
          <p:cNvPr id="6" name="5 Rectángulo"/>
          <p:cNvSpPr/>
          <p:nvPr/>
        </p:nvSpPr>
        <p:spPr>
          <a:xfrm>
            <a:off x="1285852" y="335756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Técnicas de recolección de datos</a:t>
            </a:r>
            <a:endParaRPr lang="es-CR" dirty="0"/>
          </a:p>
        </p:txBody>
      </p:sp>
      <p:sp>
        <p:nvSpPr>
          <p:cNvPr id="7" name="6 Rectángulo"/>
          <p:cNvSpPr/>
          <p:nvPr/>
        </p:nvSpPr>
        <p:spPr>
          <a:xfrm>
            <a:off x="5214942" y="342900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datos</a:t>
            </a:r>
            <a:endParaRPr lang="es-CR" dirty="0"/>
          </a:p>
        </p:txBody>
      </p:sp>
      <p:sp>
        <p:nvSpPr>
          <p:cNvPr id="8" name="7 Rectángulo"/>
          <p:cNvSpPr/>
          <p:nvPr/>
        </p:nvSpPr>
        <p:spPr>
          <a:xfrm>
            <a:off x="1285852" y="521495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Formas de recolección de datos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142844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0" name="9 Elipse"/>
          <p:cNvSpPr/>
          <p:nvPr/>
        </p:nvSpPr>
        <p:spPr>
          <a:xfrm>
            <a:off x="4286248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1" name="10 Elipse"/>
          <p:cNvSpPr/>
          <p:nvPr/>
        </p:nvSpPr>
        <p:spPr>
          <a:xfrm>
            <a:off x="214282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12" name="11 Elipse"/>
          <p:cNvSpPr/>
          <p:nvPr/>
        </p:nvSpPr>
        <p:spPr>
          <a:xfrm>
            <a:off x="4286248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13" name="12 Elipse"/>
          <p:cNvSpPr/>
          <p:nvPr/>
        </p:nvSpPr>
        <p:spPr>
          <a:xfrm>
            <a:off x="285720" y="550070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18514092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785794"/>
            <a:ext cx="6715172" cy="5286412"/>
          </a:xfrm>
        </p:spPr>
        <p:txBody>
          <a:bodyPr/>
          <a:lstStyle/>
          <a:p>
            <a:r>
              <a:rPr lang="es-CR" dirty="0" smtClean="0"/>
              <a:t>En general, hay 4 formas de recolectar datos.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643998" cy="785794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Recolección de datos</a:t>
            </a:r>
            <a:endParaRPr lang="es-CR" dirty="0"/>
          </a:p>
        </p:txBody>
      </p:sp>
      <p:sp>
        <p:nvSpPr>
          <p:cNvPr id="5" name="4 Rectángulo"/>
          <p:cNvSpPr/>
          <p:nvPr/>
        </p:nvSpPr>
        <p:spPr>
          <a:xfrm>
            <a:off x="247212" y="3143248"/>
            <a:ext cx="2643206" cy="16430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Recolección de datos por muestreo</a:t>
            </a:r>
            <a:endParaRPr lang="es-CR" sz="2800" dirty="0"/>
          </a:p>
        </p:txBody>
      </p:sp>
      <p:sp>
        <p:nvSpPr>
          <p:cNvPr id="6" name="5 Rectángulo"/>
          <p:cNvSpPr/>
          <p:nvPr/>
        </p:nvSpPr>
        <p:spPr>
          <a:xfrm>
            <a:off x="3214678" y="5107793"/>
            <a:ext cx="2643206" cy="16430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Recolección de datos por diseños experimentales</a:t>
            </a:r>
            <a:endParaRPr lang="es-CR" sz="2800" dirty="0"/>
          </a:p>
        </p:txBody>
      </p:sp>
      <p:sp>
        <p:nvSpPr>
          <p:cNvPr id="7" name="6 Rectángulo"/>
          <p:cNvSpPr/>
          <p:nvPr/>
        </p:nvSpPr>
        <p:spPr>
          <a:xfrm>
            <a:off x="6240154" y="3027563"/>
            <a:ext cx="2643206" cy="18744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Recolección de datos por observación</a:t>
            </a:r>
            <a:endParaRPr lang="es-CR" sz="2800" dirty="0"/>
          </a:p>
        </p:txBody>
      </p:sp>
      <p:sp>
        <p:nvSpPr>
          <p:cNvPr id="8" name="7 Rectángulo"/>
          <p:cNvSpPr/>
          <p:nvPr/>
        </p:nvSpPr>
        <p:spPr>
          <a:xfrm>
            <a:off x="3214678" y="3143248"/>
            <a:ext cx="2643206" cy="16430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Datos</a:t>
            </a:r>
          </a:p>
        </p:txBody>
      </p:sp>
      <p:cxnSp>
        <p:nvCxnSpPr>
          <p:cNvPr id="10" name="9 Conector recto de flecha"/>
          <p:cNvCxnSpPr>
            <a:stCxn id="8" idx="2"/>
            <a:endCxn id="6" idx="0"/>
          </p:cNvCxnSpPr>
          <p:nvPr/>
        </p:nvCxnSpPr>
        <p:spPr>
          <a:xfrm>
            <a:off x="4536281" y="4786322"/>
            <a:ext cx="0" cy="3214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>
            <a:stCxn id="8" idx="3"/>
            <a:endCxn id="7" idx="1"/>
          </p:cNvCxnSpPr>
          <p:nvPr/>
        </p:nvCxnSpPr>
        <p:spPr>
          <a:xfrm>
            <a:off x="5857884" y="3964785"/>
            <a:ext cx="38227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>
            <a:stCxn id="8" idx="1"/>
            <a:endCxn id="5" idx="3"/>
          </p:cNvCxnSpPr>
          <p:nvPr/>
        </p:nvCxnSpPr>
        <p:spPr>
          <a:xfrm flipH="1">
            <a:off x="2890418" y="3964785"/>
            <a:ext cx="3242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5 Rectángulo"/>
          <p:cNvSpPr/>
          <p:nvPr/>
        </p:nvSpPr>
        <p:spPr>
          <a:xfrm>
            <a:off x="3207657" y="1267481"/>
            <a:ext cx="2643206" cy="16430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En la web</a:t>
            </a:r>
            <a:endParaRPr lang="es-CR" sz="2800" dirty="0"/>
          </a:p>
        </p:txBody>
      </p:sp>
      <p:cxnSp>
        <p:nvCxnSpPr>
          <p:cNvPr id="24" name="9 Conector recto de flecha"/>
          <p:cNvCxnSpPr>
            <a:endCxn id="23" idx="2"/>
          </p:cNvCxnSpPr>
          <p:nvPr/>
        </p:nvCxnSpPr>
        <p:spPr>
          <a:xfrm flipV="1">
            <a:off x="4529260" y="2910555"/>
            <a:ext cx="0" cy="232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188640"/>
            <a:ext cx="8572560" cy="792088"/>
          </a:xfrm>
        </p:spPr>
        <p:txBody>
          <a:bodyPr>
            <a:normAutofit/>
          </a:bodyPr>
          <a:lstStyle/>
          <a:p>
            <a:pPr algn="ctr"/>
            <a:r>
              <a:rPr lang="es-CR" sz="3600" dirty="0" smtClean="0"/>
              <a:t>Recolección de datos por muestreo</a:t>
            </a:r>
            <a:endParaRPr lang="es-CR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7072362" cy="5500726"/>
          </a:xfrm>
        </p:spPr>
        <p:txBody>
          <a:bodyPr>
            <a:normAutofit/>
          </a:bodyPr>
          <a:lstStyle/>
          <a:p>
            <a:r>
              <a:rPr lang="es-CR" dirty="0" smtClean="0"/>
              <a:t>Cuando un estudio tiene el carácter de ser una encuesta o similar, y se utiliza el muestreo para seleccionar las unidades de estudio, existen varias técnicas para la recolección de datos.</a:t>
            </a:r>
          </a:p>
          <a:p>
            <a:endParaRPr lang="es-CR" dirty="0" smtClean="0"/>
          </a:p>
          <a:p>
            <a:r>
              <a:rPr lang="es-CR" dirty="0" smtClean="0"/>
              <a:t>Este tipo de técnica es el que posee la mayor cantidad de técnicas, entre algunas por mencionar:</a:t>
            </a:r>
          </a:p>
          <a:p>
            <a:pPr>
              <a:buNone/>
            </a:pPr>
            <a:r>
              <a:rPr lang="es-CR" dirty="0" smtClean="0"/>
              <a:t>	-El cuestionario en forma general</a:t>
            </a:r>
          </a:p>
          <a:p>
            <a:pPr>
              <a:buNone/>
            </a:pPr>
            <a:r>
              <a:rPr lang="es-CR" dirty="0" smtClean="0"/>
              <a:t>	-Entrevista cara a cara.</a:t>
            </a:r>
          </a:p>
          <a:p>
            <a:pPr>
              <a:buNone/>
            </a:pPr>
            <a:r>
              <a:rPr lang="es-CR" dirty="0" smtClean="0"/>
              <a:t>	-Entrevista telefónica.</a:t>
            </a:r>
          </a:p>
          <a:p>
            <a:pPr>
              <a:buNone/>
            </a:pPr>
            <a:r>
              <a:rPr lang="es-CR" dirty="0" smtClean="0"/>
              <a:t>	-Cuestionario online.</a:t>
            </a:r>
          </a:p>
          <a:p>
            <a:pPr>
              <a:buNone/>
            </a:pPr>
            <a:r>
              <a:rPr lang="es-CR" dirty="0" smtClean="0"/>
              <a:t>	-Cuestionario por correo (normal y electrónico).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/>
          </a:p>
        </p:txBody>
      </p:sp>
      <p:pic>
        <p:nvPicPr>
          <p:cNvPr id="4" name="Picture 2" descr="http://www.blogdetrabajo.com/wp-content/uploads/entrevista_de_trabajo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6578" y="4071942"/>
            <a:ext cx="2143140" cy="2143140"/>
          </a:xfrm>
          <a:prstGeom prst="rect">
            <a:avLst/>
          </a:prstGeom>
          <a:noFill/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072594" cy="857232"/>
          </a:xfrm>
        </p:spPr>
        <p:txBody>
          <a:bodyPr>
            <a:normAutofit fontScale="90000"/>
          </a:bodyPr>
          <a:lstStyle/>
          <a:p>
            <a:r>
              <a:rPr lang="es-CR" dirty="0" smtClean="0"/>
              <a:t>Recolección de datos por diseño experimental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5429288" cy="4572000"/>
          </a:xfrm>
        </p:spPr>
        <p:txBody>
          <a:bodyPr/>
          <a:lstStyle/>
          <a:p>
            <a:r>
              <a:rPr lang="es-CR" dirty="0" smtClean="0"/>
              <a:t>Cuando los datos tiene carácter experimental, hay muchas formas de recolectar los datos:</a:t>
            </a:r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-Administración de cuestionario (auto administrado).</a:t>
            </a:r>
          </a:p>
          <a:p>
            <a:pPr>
              <a:buNone/>
            </a:pPr>
            <a:r>
              <a:rPr lang="es-CR" dirty="0" smtClean="0"/>
              <a:t> -</a:t>
            </a:r>
            <a:r>
              <a:rPr lang="es-CR" dirty="0"/>
              <a:t>Por análisis específico o extracción de cierta característica</a:t>
            </a:r>
            <a:endParaRPr lang="es-CR" dirty="0" smtClean="0"/>
          </a:p>
          <a:p>
            <a:pPr>
              <a:buNone/>
            </a:pPr>
            <a:r>
              <a:rPr lang="es-CR" dirty="0" smtClean="0"/>
              <a:t>-Por conteo u observación.</a:t>
            </a:r>
          </a:p>
        </p:txBody>
      </p:sp>
      <p:pic>
        <p:nvPicPr>
          <p:cNvPr id="40962" name="Picture 2" descr="http://www.educacionparapoder.com.ar/images/elaboracionespredictiva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32" y="1274380"/>
            <a:ext cx="3071834" cy="2654673"/>
          </a:xfrm>
          <a:prstGeom prst="rect">
            <a:avLst/>
          </a:prstGeom>
          <a:noFill/>
        </p:spPr>
      </p:pic>
      <p:pic>
        <p:nvPicPr>
          <p:cNvPr id="40964" name="Picture 4" descr="http://escuadrondelaverdad.files.wordpress.com/2009/06/vacun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32" y="4071942"/>
            <a:ext cx="3071834" cy="2567386"/>
          </a:xfrm>
          <a:prstGeom prst="rect">
            <a:avLst/>
          </a:prstGeom>
          <a:noFill/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071546"/>
            <a:ext cx="5857916" cy="5500726"/>
          </a:xfrm>
        </p:spPr>
        <p:txBody>
          <a:bodyPr>
            <a:normAutofit/>
          </a:bodyPr>
          <a:lstStyle/>
          <a:p>
            <a:r>
              <a:rPr lang="es-CR" dirty="0" smtClean="0"/>
              <a:t>En el campo de la estadística, esta forma de recolectar los datos es la menos conocida pero su uso es muy frecuente y flexible.</a:t>
            </a:r>
          </a:p>
          <a:p>
            <a:endParaRPr lang="es-CR" dirty="0" smtClean="0"/>
          </a:p>
          <a:p>
            <a:r>
              <a:rPr lang="es-CR" dirty="0" smtClean="0"/>
              <a:t>Cuando la forma de recolectar datos por los métodos anteriores se dificultan, se utiliza la observación. </a:t>
            </a:r>
          </a:p>
          <a:p>
            <a:endParaRPr lang="es-CR" dirty="0" smtClean="0"/>
          </a:p>
          <a:p>
            <a:r>
              <a:rPr lang="es-CR" dirty="0" smtClean="0"/>
              <a:t>Algunos ejemplos típicos son:</a:t>
            </a:r>
          </a:p>
          <a:p>
            <a:pPr>
              <a:buNone/>
            </a:pPr>
            <a:r>
              <a:rPr lang="es-CR" dirty="0" smtClean="0"/>
              <a:t>	-El conteo (carros).</a:t>
            </a:r>
          </a:p>
          <a:p>
            <a:pPr>
              <a:buNone/>
            </a:pPr>
            <a:r>
              <a:rPr lang="es-CR" dirty="0" smtClean="0"/>
              <a:t>	-La selección (comida).</a:t>
            </a:r>
          </a:p>
          <a:p>
            <a:pPr>
              <a:buNone/>
            </a:pPr>
            <a:r>
              <a:rPr lang="es-CR" dirty="0" smtClean="0"/>
              <a:t>	-</a:t>
            </a:r>
            <a:r>
              <a:rPr lang="es-CR" dirty="0" err="1" smtClean="0"/>
              <a:t>Focus</a:t>
            </a:r>
            <a:r>
              <a:rPr lang="es-CR" dirty="0" smtClean="0"/>
              <a:t> </a:t>
            </a:r>
            <a:r>
              <a:rPr lang="es-CR" dirty="0" err="1" smtClean="0"/>
              <a:t>group</a:t>
            </a:r>
            <a:r>
              <a:rPr lang="es-CR" dirty="0" smtClean="0"/>
              <a:t>…..</a:t>
            </a:r>
          </a:p>
          <a:p>
            <a:endParaRPr lang="es-CR" dirty="0" smtClean="0"/>
          </a:p>
          <a:p>
            <a:endParaRPr lang="es-CR" dirty="0" smtClean="0"/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1406" y="0"/>
            <a:ext cx="9072594" cy="85723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Recolección de datos por observación</a:t>
            </a:r>
            <a:endParaRPr lang="es-CR" dirty="0"/>
          </a:p>
        </p:txBody>
      </p:sp>
      <p:pic>
        <p:nvPicPr>
          <p:cNvPr id="5" name="Picture 4" descr="http://www.sierramadrid.info/web/wp-content/uploads/2006/11/Autopista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7950" y="1000108"/>
            <a:ext cx="2506595" cy="2571768"/>
          </a:xfrm>
          <a:prstGeom prst="rect">
            <a:avLst/>
          </a:prstGeom>
          <a:noFill/>
        </p:spPr>
      </p:pic>
      <p:pic>
        <p:nvPicPr>
          <p:cNvPr id="39938" name="Picture 2" descr="http://www.broadband-finder.co.uk/blog/wp-content/uploads/2008/08/supermarket-shopp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3857628"/>
            <a:ext cx="4194905" cy="2714644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7772400" cy="5544616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Todo está en la web…..</a:t>
            </a:r>
          </a:p>
          <a:p>
            <a:pPr marL="0" indent="0">
              <a:buNone/>
            </a:pPr>
            <a:endParaRPr lang="es-CR" dirty="0"/>
          </a:p>
          <a:p>
            <a:r>
              <a:rPr lang="es-CR" dirty="0" smtClean="0"/>
              <a:t>Cuentas</a:t>
            </a:r>
          </a:p>
          <a:p>
            <a:r>
              <a:rPr lang="es-CR" dirty="0" smtClean="0"/>
              <a:t>Investigaciones</a:t>
            </a:r>
          </a:p>
          <a:p>
            <a:r>
              <a:rPr lang="es-CR" dirty="0" smtClean="0"/>
              <a:t>Información espacial</a:t>
            </a:r>
          </a:p>
          <a:p>
            <a:r>
              <a:rPr lang="es-CR" dirty="0" smtClean="0"/>
              <a:t>Nombres….</a:t>
            </a:r>
          </a:p>
          <a:p>
            <a:r>
              <a:rPr lang="es-CR" dirty="0" smtClean="0"/>
              <a:t>Algo no está en la web?</a:t>
            </a:r>
          </a:p>
          <a:p>
            <a:endParaRPr lang="es-CR" dirty="0"/>
          </a:p>
          <a:p>
            <a:endParaRPr lang="es-CR" dirty="0" smtClean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95057" y="116632"/>
            <a:ext cx="9072594" cy="792088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Recolección de datos en la web</a:t>
            </a:r>
            <a:endParaRPr lang="es-CR" dirty="0"/>
          </a:p>
        </p:txBody>
      </p:sp>
      <p:pic>
        <p:nvPicPr>
          <p:cNvPr id="1026" name="Picture 2" descr="http://datorama.com/wp-content/uploads/2014/05/pc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908720"/>
            <a:ext cx="3276363" cy="327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blogs.deusto.es/master-informatica/wp-content/uploads/2016/01/data_managem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362" y="3727145"/>
            <a:ext cx="3722465" cy="301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37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0"/>
            <a:ext cx="8572560" cy="857232"/>
          </a:xfrm>
        </p:spPr>
        <p:txBody>
          <a:bodyPr/>
          <a:lstStyle/>
          <a:p>
            <a:pPr algn="ctr"/>
            <a:r>
              <a:rPr lang="es-CR" dirty="0" smtClean="0"/>
              <a:t>Esquema del presenta capítulo</a:t>
            </a:r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1214414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Estadística como disciplina científica </a:t>
            </a:r>
            <a:endParaRPr lang="es-CR" dirty="0"/>
          </a:p>
        </p:txBody>
      </p:sp>
      <p:sp>
        <p:nvSpPr>
          <p:cNvPr id="5" name="4 Rectángulo"/>
          <p:cNvSpPr/>
          <p:nvPr/>
        </p:nvSpPr>
        <p:spPr>
          <a:xfrm>
            <a:off x="5357818" y="121442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Fases de una investigación en estadística</a:t>
            </a:r>
            <a:endParaRPr lang="es-CR" dirty="0"/>
          </a:p>
        </p:txBody>
      </p:sp>
      <p:sp>
        <p:nvSpPr>
          <p:cNvPr id="6" name="5 Rectángulo"/>
          <p:cNvSpPr/>
          <p:nvPr/>
        </p:nvSpPr>
        <p:spPr>
          <a:xfrm>
            <a:off x="1285852" y="3357562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Técnicas de recolección de datos</a:t>
            </a:r>
            <a:endParaRPr lang="es-CR" dirty="0"/>
          </a:p>
        </p:txBody>
      </p:sp>
      <p:sp>
        <p:nvSpPr>
          <p:cNvPr id="7" name="6 Rectángulo"/>
          <p:cNvSpPr/>
          <p:nvPr/>
        </p:nvSpPr>
        <p:spPr>
          <a:xfrm>
            <a:off x="5214942" y="342900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Tipos de datos</a:t>
            </a:r>
            <a:endParaRPr lang="es-CR" dirty="0"/>
          </a:p>
        </p:txBody>
      </p:sp>
      <p:sp>
        <p:nvSpPr>
          <p:cNvPr id="8" name="7 Rectángulo"/>
          <p:cNvSpPr/>
          <p:nvPr/>
        </p:nvSpPr>
        <p:spPr>
          <a:xfrm>
            <a:off x="1285852" y="521495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Formas de recolección de datos</a:t>
            </a:r>
            <a:endParaRPr lang="es-CR" dirty="0"/>
          </a:p>
        </p:txBody>
      </p:sp>
      <p:sp>
        <p:nvSpPr>
          <p:cNvPr id="9" name="8 Elipse"/>
          <p:cNvSpPr/>
          <p:nvPr/>
        </p:nvSpPr>
        <p:spPr>
          <a:xfrm>
            <a:off x="142844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CR" dirty="0"/>
          </a:p>
        </p:txBody>
      </p:sp>
      <p:sp>
        <p:nvSpPr>
          <p:cNvPr id="10" name="9 Elipse"/>
          <p:cNvSpPr/>
          <p:nvPr/>
        </p:nvSpPr>
        <p:spPr>
          <a:xfrm>
            <a:off x="4286248" y="1428736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CR" dirty="0"/>
          </a:p>
        </p:txBody>
      </p:sp>
      <p:sp>
        <p:nvSpPr>
          <p:cNvPr id="11" name="10 Elipse"/>
          <p:cNvSpPr/>
          <p:nvPr/>
        </p:nvSpPr>
        <p:spPr>
          <a:xfrm>
            <a:off x="214282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CR" dirty="0"/>
          </a:p>
        </p:txBody>
      </p:sp>
      <p:sp>
        <p:nvSpPr>
          <p:cNvPr id="12" name="11 Elipse"/>
          <p:cNvSpPr/>
          <p:nvPr/>
        </p:nvSpPr>
        <p:spPr>
          <a:xfrm>
            <a:off x="4286248" y="371475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4</a:t>
            </a:r>
            <a:endParaRPr lang="es-CR" dirty="0"/>
          </a:p>
        </p:txBody>
      </p:sp>
      <p:sp>
        <p:nvSpPr>
          <p:cNvPr id="13" name="12 Elipse"/>
          <p:cNvSpPr/>
          <p:nvPr/>
        </p:nvSpPr>
        <p:spPr>
          <a:xfrm>
            <a:off x="285720" y="550070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5</a:t>
            </a:r>
            <a:endParaRPr lang="es-CR" dirty="0"/>
          </a:p>
        </p:txBody>
      </p:sp>
      <p:sp>
        <p:nvSpPr>
          <p:cNvPr id="14" name="13 Elipse"/>
          <p:cNvSpPr/>
          <p:nvPr/>
        </p:nvSpPr>
        <p:spPr>
          <a:xfrm>
            <a:off x="4214810" y="5500702"/>
            <a:ext cx="785818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6</a:t>
            </a:r>
            <a:endParaRPr lang="es-CR" dirty="0"/>
          </a:p>
        </p:txBody>
      </p:sp>
      <p:sp>
        <p:nvSpPr>
          <p:cNvPr id="15" name="14 Rectángulo"/>
          <p:cNvSpPr/>
          <p:nvPr/>
        </p:nvSpPr>
        <p:spPr>
          <a:xfrm>
            <a:off x="5143504" y="5214950"/>
            <a:ext cx="2286016" cy="12144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Evaluación de la calidad de los datos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686239848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572560" cy="1143000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Evaluación de la calidad de los datos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357298"/>
            <a:ext cx="5869886" cy="521497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CR" dirty="0" smtClean="0"/>
              <a:t>Como los datos son la “materia prima” para los futuros análisis, es muy importante evaluar su calidad.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Si los datos son defectuosos, las conclusiones obtenidas de los análisis también lo serán.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Para evaluar la calidad de los datos se puede:</a:t>
            </a:r>
          </a:p>
          <a:p>
            <a:pPr marL="514350" indent="-514350" algn="just">
              <a:buAutoNum type="arabicPeriod"/>
            </a:pPr>
            <a:r>
              <a:rPr lang="es-CR" dirty="0" smtClean="0"/>
              <a:t>Compara con estudios similares.      </a:t>
            </a:r>
          </a:p>
          <a:p>
            <a:pPr marL="514350" indent="-514350" algn="just">
              <a:buAutoNum type="arabicPeriod"/>
            </a:pPr>
            <a:r>
              <a:rPr lang="es-CR" dirty="0" smtClean="0"/>
              <a:t>Verificar la fuente.</a:t>
            </a:r>
          </a:p>
          <a:p>
            <a:pPr marL="514350" indent="-514350" algn="just">
              <a:buAutoNum type="arabicPeriod"/>
            </a:pPr>
            <a:r>
              <a:rPr lang="es-CR" dirty="0" smtClean="0"/>
              <a:t>Investigar técnica utilizada.    </a:t>
            </a:r>
          </a:p>
          <a:p>
            <a:pPr marL="514350" indent="-514350" algn="just">
              <a:buAutoNum type="arabicPeriod"/>
            </a:pPr>
            <a:r>
              <a:rPr lang="es-CR" dirty="0" smtClean="0"/>
              <a:t>Conocer ruta de la información.</a:t>
            </a:r>
          </a:p>
          <a:p>
            <a:pPr marL="514350" indent="-514350" algn="just">
              <a:buAutoNum type="arabicPeriod"/>
            </a:pPr>
            <a:r>
              <a:rPr lang="es-CR" dirty="0" smtClean="0"/>
              <a:t>Otros.</a:t>
            </a:r>
          </a:p>
          <a:p>
            <a:pPr>
              <a:buNone/>
            </a:pPr>
            <a:endParaRPr lang="es-CR" dirty="0"/>
          </a:p>
        </p:txBody>
      </p:sp>
      <p:pic>
        <p:nvPicPr>
          <p:cNvPr id="2050" name="Picture 2" descr="http://www.antoniopainn.com/wp-content/uploads/2014/04/post25-Antonio-Pain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357298"/>
            <a:ext cx="2448272" cy="184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3.bp.blogspot.com/-B4du3_gajtY/Ul5kpZqlQ7I/AAAAAAAACkA/SWy5oPHBUjc/s1600/Evaluar_InfoWe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353" y="3933057"/>
            <a:ext cx="3168352" cy="263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899592" y="1484784"/>
            <a:ext cx="7772400" cy="4572000"/>
          </a:xfrm>
        </p:spPr>
        <p:txBody>
          <a:bodyPr/>
          <a:lstStyle/>
          <a:p>
            <a:endParaRPr lang="es-CR"/>
          </a:p>
        </p:txBody>
      </p:sp>
      <p:pic>
        <p:nvPicPr>
          <p:cNvPr id="2050" name="Picture 2" descr="http://www.ejemplos.co/wp-content/uploads/2015/05/Existen-preguntas-abiertas-y-cerrada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08"/>
            <a:ext cx="9144000" cy="684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0660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37890" name="Picture 2" descr="http://cuentosurbanos.files.wordpress.com/2009/06/the-en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60161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1566</TotalTime>
  <Words>2346</Words>
  <Application>Microsoft Office PowerPoint</Application>
  <PresentationFormat>Presentación en pantalla (4:3)</PresentationFormat>
  <Paragraphs>365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3" baseType="lpstr">
      <vt:lpstr>Franklin Gothic Book</vt:lpstr>
      <vt:lpstr>Perpetua</vt:lpstr>
      <vt:lpstr>Wingdings</vt:lpstr>
      <vt:lpstr>Wingdings 2</vt:lpstr>
      <vt:lpstr>Equidad</vt:lpstr>
      <vt:lpstr>Estadística como disciplina científica, métodos de recolección y tipos de datos</vt:lpstr>
      <vt:lpstr>Introducción</vt:lpstr>
      <vt:lpstr>Esquema del presenta capítulo</vt:lpstr>
      <vt:lpstr>Esquema del presenta capítulo</vt:lpstr>
      <vt:lpstr>La Estadística como disciplina científica</vt:lpstr>
      <vt:lpstr>La Estadística como disciplina científica</vt:lpstr>
      <vt:lpstr>La Estadística como disciplina científica</vt:lpstr>
      <vt:lpstr>La Estadística como disciplina científica</vt:lpstr>
      <vt:lpstr>Esquema del presenta capítulo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Presentación de PowerPoint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Fases en una investigación en Estadística</vt:lpstr>
      <vt:lpstr>Esquema del presenta capítulo</vt:lpstr>
      <vt:lpstr>Las técnicas de recolección de datos</vt:lpstr>
      <vt:lpstr>Las técnicas de recolección de datos</vt:lpstr>
      <vt:lpstr>Esquema del presenta capítulo</vt:lpstr>
      <vt:lpstr>Datos: existentes y no existentes</vt:lpstr>
      <vt:lpstr>Presentación de PowerPoint</vt:lpstr>
      <vt:lpstr>Datos: existentes y no existentes</vt:lpstr>
      <vt:lpstr>Datos: existentes y no existentes</vt:lpstr>
      <vt:lpstr>Esquema del presenta capítulo</vt:lpstr>
      <vt:lpstr>Recolección de datos</vt:lpstr>
      <vt:lpstr>Recolección de datos por muestreo</vt:lpstr>
      <vt:lpstr>Recolección de datos por diseño experimental</vt:lpstr>
      <vt:lpstr>Recolección de datos por observación</vt:lpstr>
      <vt:lpstr>Recolección de datos en la web</vt:lpstr>
      <vt:lpstr>Esquema del presenta capítulo</vt:lpstr>
      <vt:lpstr>Evaluación de la calidad de los datos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Estadística como disciplina científica, métodos de recolección  y tipos de datos</dc:title>
  <dc:creator>Oscar</dc:creator>
  <cp:lastModifiedBy>Oscar</cp:lastModifiedBy>
  <cp:revision>125</cp:revision>
  <dcterms:created xsi:type="dcterms:W3CDTF">2010-05-08T16:36:23Z</dcterms:created>
  <dcterms:modified xsi:type="dcterms:W3CDTF">2016-05-11T05:10:53Z</dcterms:modified>
</cp:coreProperties>
</file>